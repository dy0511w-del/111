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cde04970034a54" /><Relationship Type="http://schemas.openxmlformats.org/officeDocument/2006/relationships/extended-properties" Target="/docProps/app.xml" Id="Rbd6957786ffc4f37" /><Relationship Type="http://schemas.openxmlformats.org/officeDocument/2006/relationships/officeDocument" Target="/ppt/presentation.xml" Id="R493a9072042d461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af5c807d6f941a8"/>
  </p:sldMasterIdLst>
  <p:notesMasterIdLst>
    <p:notesMasterId xmlns:r="http://schemas.openxmlformats.org/officeDocument/2006/relationships" r:id="R92b44b2f63f04188"/>
  </p:notesMasterIdLst>
  <p:sldIdLst>
    <p:sldId xmlns:r="http://schemas.openxmlformats.org/officeDocument/2006/relationships" id="256" r:id="Ra53c227877c54176"/>
    <p:sldId xmlns:r="http://schemas.openxmlformats.org/officeDocument/2006/relationships" id="257" r:id="R17f420668a034988"/>
    <p:sldId xmlns:r="http://schemas.openxmlformats.org/officeDocument/2006/relationships" id="258" r:id="R12640da8034540b8"/>
    <p:sldId xmlns:r="http://schemas.openxmlformats.org/officeDocument/2006/relationships" id="259" r:id="R7f36e0a73bcb42d9"/>
    <p:sldId xmlns:r="http://schemas.openxmlformats.org/officeDocument/2006/relationships" id="260" r:id="Rf0d27d0c92974020"/>
    <p:sldId xmlns:r="http://schemas.openxmlformats.org/officeDocument/2006/relationships" id="261" r:id="R23fbb1e3f67b4948"/>
    <p:sldId xmlns:r="http://schemas.openxmlformats.org/officeDocument/2006/relationships" id="262" r:id="R43a47127c7484982"/>
    <p:sldId xmlns:r="http://schemas.openxmlformats.org/officeDocument/2006/relationships" id="263" r:id="Rc4112e7a351e4c94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ddf8cb944a54c5d" /><Relationship Type="http://schemas.openxmlformats.org/officeDocument/2006/relationships/slideMaster" Target="/ppt/slideMasters/slideMaster1.xml" Id="Reaf5c807d6f941a8" /><Relationship Type="http://schemas.openxmlformats.org/officeDocument/2006/relationships/notesMaster" Target="/ppt/notesMasters/notesMaster1.xml" Id="R92b44b2f63f04188" /><Relationship Type="http://schemas.openxmlformats.org/officeDocument/2006/relationships/presProps" Target="/ppt/presProps.xml" Id="Rf64399a0da4b43d8" /><Relationship Type="http://schemas.openxmlformats.org/officeDocument/2006/relationships/tableStyles" Target="/ppt/tableStyles.xml" Id="Rc358ae6b41de4198" /><Relationship Type="http://schemas.openxmlformats.org/officeDocument/2006/relationships/slide" Target="/ppt/slides/slide1.xml" Id="Ra53c227877c54176" /><Relationship Type="http://schemas.openxmlformats.org/officeDocument/2006/relationships/slide" Target="/ppt/slides/slide2.xml" Id="R17f420668a034988" /><Relationship Type="http://schemas.openxmlformats.org/officeDocument/2006/relationships/slide" Target="/ppt/slides/slide3.xml" Id="R12640da8034540b8" /><Relationship Type="http://schemas.openxmlformats.org/officeDocument/2006/relationships/slide" Target="/ppt/slides/slide4.xml" Id="R7f36e0a73bcb42d9" /><Relationship Type="http://schemas.openxmlformats.org/officeDocument/2006/relationships/slide" Target="/ppt/slides/slide5.xml" Id="Rf0d27d0c92974020" /><Relationship Type="http://schemas.openxmlformats.org/officeDocument/2006/relationships/slide" Target="/ppt/slides/slide6.xml" Id="R23fbb1e3f67b4948" /><Relationship Type="http://schemas.openxmlformats.org/officeDocument/2006/relationships/slide" Target="/ppt/slides/slide7.xml" Id="R43a47127c7484982" /><Relationship Type="http://schemas.openxmlformats.org/officeDocument/2006/relationships/slide" Target="/ppt/slides/slide8.xml" Id="Rc4112e7a351e4c9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7c2ce7588848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9a053045af498f" /><Relationship Type="http://schemas.openxmlformats.org/officeDocument/2006/relationships/notesMaster" Target="/ppt/notesMasters/notesMaster1.xml" Id="Re2128ddbc06140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f376b13fac485c" /><Relationship Type="http://schemas.openxmlformats.org/officeDocument/2006/relationships/notesMaster" Target="/ppt/notesMasters/notesMaster1.xml" Id="R97506c9059e8400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243cb3099942b5" /><Relationship Type="http://schemas.openxmlformats.org/officeDocument/2006/relationships/notesMaster" Target="/ppt/notesMasters/notesMaster1.xml" Id="Re00a96dbd22a473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7ea10320b4449a" /><Relationship Type="http://schemas.openxmlformats.org/officeDocument/2006/relationships/notesMaster" Target="/ppt/notesMasters/notesMaster1.xml" Id="Rcae083a9dc924b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dc353654c04b49" /><Relationship Type="http://schemas.openxmlformats.org/officeDocument/2006/relationships/notesMaster" Target="/ppt/notesMasters/notesMaster1.xml" Id="Rfd04440aa9f0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4b48d7d5ae4688" /><Relationship Type="http://schemas.openxmlformats.org/officeDocument/2006/relationships/notesMaster" Target="/ppt/notesMasters/notesMaster1.xml" Id="R4886bb9749044d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5553bdaf36841e2" /><Relationship Type="http://schemas.openxmlformats.org/officeDocument/2006/relationships/notesMaster" Target="/ppt/notesMasters/notesMaster1.xml" Id="R872dd93a4b274c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44257b96bc43c7" /><Relationship Type="http://schemas.openxmlformats.org/officeDocument/2006/relationships/notesMaster" Target="/ppt/notesMasters/notesMaster1.xml" Id="R6eeb7a7683e44e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群众路线不是抽象词，它要落到听见诉求、办好事情、持续回应。中华企业大厦的物业故事，让我们看到信任怎样在日常里积累。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红绸、飘带、城市剪影、飞鸟等装饰沿用用户参考PDF；章节标题为可编辑文字。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《文汇报》报道，大厦业主变更时，原物业管理方被租户集体挽留。一个重要原因是，物业长期配合党群工作者了解白领党员的情况和需求，也为组织生活和党群活动提供空间。人们记住的，是平时有人联系、遇到事情有人回应。[7]</a:t>
            </a:r>
          </a:p>
          <a:p xmlns:a="http://schemas.openxmlformats.org/drawingml/2006/main">
            <a:r>
              <a:t>这也说明组织力最终要落到群众感受上：党员能不能被看见，党组织做的事情有没有用，影响着人们愿不愿意靠近组织。对团组织来说，党组织的引领和保障也要转化成青年愿意参与、能够参与的工作。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《文汇报》2019-04-23，关于中华企业大厦原物业获租户挽留及长期配合党群工作的报道：https://wenhui.whb.cn/third/jinri/201904/23/257857.html</a:t>
            </a:r>
          </a:p>
          <a:p xmlns:a="http://schemas.openxmlformats.org/drawingml/2006/main">
            <a:r>
              <a:t>照片：参考PDF第8页早期服务点历史照片、第10页静安寺街道社区党群服务中心外观。右图不作为中华企业大厦的现场照片。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静安寺商圈还有一个延伸镜头。文汇报曾记录，越洋广场的青年白领参与垃圾分类改造、组建志愿者队伍，并把行动延伸到周边居民区。地点不是中华企业大厦，但它说明，当实际问题被认真回应，青年可以从服务对象成为治理参与者。[7]</a:t>
            </a:r>
          </a:p>
          <a:p xmlns:a="http://schemas.openxmlformats.org/drawingml/2006/main">
            <a:r>
              <a:t>如果青年只是服务的接受者，联系就可能到此为止；如果青年能提出问题、聚合力量、一起行动，服务就有了更持久的组织基础。这给团组织提供了具体入口：围绕青年真实需求，把服务项目和实践机会送到青年身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《文汇报》2019-04-23，越洋广场青年白领改造垃圾分类设施、组建志愿者队伍并走进景华居民区的报道：https://wenhui.whb.cn/third/jinri/201904/23/257857.html</a:t>
            </a:r>
          </a:p>
          <a:p xmlns:a="http://schemas.openxmlformats.org/drawingml/2006/main">
            <a:r>
              <a:t>照片：参考PDF第3页上海商务楼宇航拍、第12页两张组织活动照片。三张均作场景说明，未将其标注为越洋广场垃圾分类活动的现场照片。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党建引领团建落到工作方法上，就是党组织加强政治引领、组织保障和资源协调；团组织贴近青年，摸清需求，设计青年愿意参与的服务和实践，再把结果反馈回来。团组织不是另起炉灶，而是把党的引领转化成青年身边看得见、参加得了的工作。[13]</a:t>
            </a:r>
          </a:p>
          <a:p xmlns:a="http://schemas.openxmlformats.org/drawingml/2006/main">
            <a:r>
              <a:t>“十五五”规划纲要提出帮助青年解决求学工作、住房保障、社会融入等实际困难，完善利益表达和诉求响应机制，拓展青年参与社会治理的渠道。[14]这与楼宇党建的启示相通：青年既需要有人服务，也需要表达意见、参与行动的空间。</a:t>
            </a:r>
          </a:p>
          <a:p xmlns:a="http://schemas.openxmlformats.org/drawingml/2006/main">
            <a:r>
              <a:t>因此，一座楼宇是否真正成为组织阵地，不能只看挂牌和活动数量，还要看青年提出的需求有没有回音，团组织能不能把青年组织起来，服务能不能持续。青年得到服务、拥有成长和参与机会，党建引领团建才有具体落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新华社，2026-03-20，《关于加强党建带团建工作的意见》：https://www1.xinhuanet.com/politics/zywj/20260320/fb2ae4b861774001b470b1dd5c79db4e/c.html</a:t>
            </a:r>
          </a:p>
          <a:p xmlns:a="http://schemas.openxmlformats.org/drawingml/2006/main">
            <a:r>
              <a:t>“十五五”规划纲要第46章第3节“支持青年发展”，新华社受权发布，2026-03-13：https://www.zyshgzb.gov.cn/n1/2026/0313/c459392-40681735.html</a:t>
            </a:r>
          </a:p>
          <a:p xmlns:a="http://schemas.openxmlformats.org/drawingml/2006/main">
            <a:r>
              <a:t>照片：参考PDF第10页阅读空间、党群服务场所实景，均作功能场景示意。角色分工为依据文稿作出的教学归纳，不是政策文件逐字引语。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真实需求可以转化为青年能够参与的服务岗位。青年可以发挥体力、配送经验和专业知识等不同所长。</a:t>
            </a:r>
          </a:p>
          <a:p xmlns:a="http://schemas.openxmlformats.org/drawingml/2006/main">
            <a:r>
              <a:t>这些历史照片用于说明青年服务的具体工作方法，可配合原稿“青年参与”段落展示，不增加必须朗读的独立故事。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背景与边界</a:t>
            </a:r>
          </a:p>
          <a:p xmlns:a="http://schemas.openxmlformats.org/drawingml/2006/main">
            <a:r>
              <a:t>所示活动发生于2022年上海疫情防控期间，不是高和大厦或越洋广场垃圾分类活动现场。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逐图来源</a:t>
            </a:r>
          </a:p>
          <a:p xmlns:a="http://schemas.openxmlformats.org/drawingml/2006/main">
            <a:r>
              <a:t>A1 青年志愿者采摘蔬菜</a:t>
            </a:r>
          </a:p>
          <a:p xmlns:a="http://schemas.openxmlformats.org/drawingml/2006/main">
            <a:r>
              <a:t>公开存档：https://github.com/kevin-meng/2022shanghai-covid/blob/main/files/love/2022-04-01-p3.jpg</a:t>
            </a:r>
          </a:p>
          <a:p xmlns:a="http://schemas.openxmlformats.org/drawingml/2006/main">
            <a:r>
              <a:t>存档整理：kevin-meng/2022shanghai-covid</a:t>
            </a:r>
          </a:p>
          <a:p xmlns:a="http://schemas.openxmlformats.org/drawingml/2006/main">
            <a:r>
              <a:t>存档日期：2022-04-01；该日期不等同于单张照片的拍摄日期。</a:t>
            </a:r>
          </a:p>
          <a:p xmlns:a="http://schemas.openxmlformats.org/drawingml/2006/main">
            <a:r>
              <a:t>存档所列原文：https://mp.weixin.qq.com/s/FE22gZrgK1qeZf_s36fiqQ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A2 快递员参与社区服务</a:t>
            </a:r>
          </a:p>
          <a:p xmlns:a="http://schemas.openxmlformats.org/drawingml/2006/main">
            <a:r>
              <a:t>公开存档：https://github.com/kevin-meng/2022shanghai-covid/blob/main/files/love/2022-03-21-p5.jpg</a:t>
            </a:r>
          </a:p>
          <a:p xmlns:a="http://schemas.openxmlformats.org/drawingml/2006/main">
            <a:r>
              <a:t>存档整理：kevin-meng/2022shanghai-covid</a:t>
            </a:r>
          </a:p>
          <a:p xmlns:a="http://schemas.openxmlformats.org/drawingml/2006/main">
            <a:r>
              <a:t>存档日期：2022-03-21；该日期不等同于单张照片的拍摄日期。</a:t>
            </a:r>
          </a:p>
          <a:p xmlns:a="http://schemas.openxmlformats.org/drawingml/2006/main">
            <a:r>
              <a:t>存档所列原文：https://mp.weixin.qq.com/s/H28n3Uf0_IIn56mpXj8WHA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A3 法律工作者义务咨询</a:t>
            </a:r>
          </a:p>
          <a:p xmlns:a="http://schemas.openxmlformats.org/drawingml/2006/main">
            <a:r>
              <a:t>公开存档：https://github.com/kevin-meng/2022shanghai-covid/blob/main/files/love/2022-03-21-p3.jpg</a:t>
            </a:r>
          </a:p>
          <a:p xmlns:a="http://schemas.openxmlformats.org/drawingml/2006/main">
            <a:r>
              <a:t>存档整理：kevin-meng/2022shanghai-covid</a:t>
            </a:r>
          </a:p>
          <a:p xmlns:a="http://schemas.openxmlformats.org/drawingml/2006/main">
            <a:r>
              <a:t>存档日期：2022-03-21；该日期不等同于单张照片的拍摄日期。</a:t>
            </a:r>
          </a:p>
          <a:p xmlns:a="http://schemas.openxmlformats.org/drawingml/2006/main">
            <a:r>
              <a:t>存档所列原文：https://mp.weixin.qq.com/s/UrdUqqC4vJt9wIBewpwbkw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基础：为逐图说明青年服务问题的教学适当引用；采用公开存档中的低分辨率照片并保留署名、作品定位与原文索引。未将仓库的软件MIT许可视为图片授权；未添加患者诊断、私人联系方式或未公开个人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把个人热心变成持续的服务，需要培训分工、收集诉求和共同参与。本页为服务实践的工作方法说明。</a:t>
            </a:r>
          </a:p>
          <a:p xmlns:a="http://schemas.openxmlformats.org/drawingml/2006/main">
            <a:r>
              <a:t>这些历史照片用于说明青年服务的具体工作方法，可配合原稿“青年参与”段落展示，不增加必须朗读的独立故事。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背景与边界</a:t>
            </a:r>
          </a:p>
          <a:p xmlns:a="http://schemas.openxmlformats.org/drawingml/2006/main">
            <a:r>
              <a:t>所示活动发生于2022年上海疫情防控期间，不是高和大厦或越洋广场垃圾分类活动现场。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逐图来源</a:t>
            </a:r>
          </a:p>
          <a:p xmlns:a="http://schemas.openxmlformats.org/drawingml/2006/main">
            <a:r>
              <a:t>A4 青年突击队交流工作方法</a:t>
            </a:r>
          </a:p>
          <a:p xmlns:a="http://schemas.openxmlformats.org/drawingml/2006/main">
            <a:r>
              <a:t>公开存档：https://github.com/kevin-meng/2022shanghai-covid/blob/main/files/love/2022-03-26-p3.jpg</a:t>
            </a:r>
          </a:p>
          <a:p xmlns:a="http://schemas.openxmlformats.org/drawingml/2006/main">
            <a:r>
              <a:t>存档整理：kevin-meng/2022shanghai-covid</a:t>
            </a:r>
          </a:p>
          <a:p xmlns:a="http://schemas.openxmlformats.org/drawingml/2006/main">
            <a:r>
              <a:t>存档日期：2022-03-26；该日期不等同于单张照片的拍摄日期。</a:t>
            </a:r>
          </a:p>
          <a:p xmlns:a="http://schemas.openxmlformats.org/drawingml/2006/main">
            <a:r>
              <a:t>存档所列原文：https://mp.weixin.qq.com/s/jxf5HCTcFtbFHItklZodFw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A5 青年社区工作者协调服务</a:t>
            </a:r>
          </a:p>
          <a:p xmlns:a="http://schemas.openxmlformats.org/drawingml/2006/main">
            <a:r>
              <a:t>公开存档：https://github.com/kevin-meng/2022shanghai-covid/blob/main/files/love/2022-03-29-p1.png</a:t>
            </a:r>
          </a:p>
          <a:p xmlns:a="http://schemas.openxmlformats.org/drawingml/2006/main">
            <a:r>
              <a:t>存档整理：kevin-meng/2022shanghai-covid</a:t>
            </a:r>
          </a:p>
          <a:p xmlns:a="http://schemas.openxmlformats.org/drawingml/2006/main">
            <a:r>
              <a:t>存档日期：2022-03-29；该日期不等同于单张照片的拍摄日期。</a:t>
            </a:r>
          </a:p>
          <a:p xmlns:a="http://schemas.openxmlformats.org/drawingml/2006/main">
            <a:r>
              <a:t>存档所列原文：https://mp.weixin.qq.com/s/RyL-bLa-f4Fi2KIncNNSCA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A6 党员与青年工作者投入服务</a:t>
            </a:r>
          </a:p>
          <a:p xmlns:a="http://schemas.openxmlformats.org/drawingml/2006/main">
            <a:r>
              <a:t>公开存档：https://github.com/kevin-meng/2022shanghai-covid/blob/main/files/love/2022-04-02-p3.jpg</a:t>
            </a:r>
          </a:p>
          <a:p xmlns:a="http://schemas.openxmlformats.org/drawingml/2006/main">
            <a:r>
              <a:t>存档整理：kevin-meng/2022shanghai-covid</a:t>
            </a:r>
          </a:p>
          <a:p xmlns:a="http://schemas.openxmlformats.org/drawingml/2006/main">
            <a:r>
              <a:t>存档日期：2022-04-02；该日期不等同于单张照片的拍摄日期。</a:t>
            </a:r>
          </a:p>
          <a:p xmlns:a="http://schemas.openxmlformats.org/drawingml/2006/main">
            <a:r>
              <a:t>存档所列原文：https://mp.weixin.qq.com/s/gq2JBh76nz0gP8hIQAk7eQ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基础：为逐图说明青年服务问题的教学适当引用；采用公开存档中的低分辨率照片并保留署名、作品定位与原文索引。未将仓库的软件MIT许可视为图片授权；未添加患者诊断、私人联系方式或未公开个人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回到那张电话号码小纸条。它做的事很小：让党员知道“有事可以来找我”。但这份主动走到人身边的工作方式，也启发我们怎样做好今天的青年工作。</a:t>
            </a:r>
          </a:p>
          <a:p xmlns:a="http://schemas.openxmlformats.org/drawingml/2006/main">
            <a:r>
              <a:t>作为团员青年，我们可以从团支部身边的一件具体事开始：先听青年在意什么，再依托党组织争取资源和支持，由团组织把青年组织起来共同完成，最后把结果和仍需解决的问题反馈回去。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>小纸条故事的历史依据：《文汇报》2019-04-23：https://wenhui.whb.cn/third/jinri/201904/23/257857.html</a:t>
            </a:r>
          </a:p>
          <a:p xmlns:a="http://schemas.openxmlformats.org/drawingml/2006/main">
            <a:r>
              <a:t>纸条为原生可编辑图形，用于回扣讲述；未填入任何真实电话号码。四步行动为文稿的实践建议。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讲述稿</a:t>
            </a:r>
          </a:p>
          <a:p xmlns:a="http://schemas.openxmlformats.org/drawingml/2006/main">
            <a:r>
              <a:t>这就是党建引领团建：党组织把方向、强保障，团组织联系青年、服务青年、凝聚青年。组织覆盖让人找得到，党员示范让信任立得住，青年参与让组织力有了现实落点。谢谢大家。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事实与图片来源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装饰沿用参考稿；本页为全课三部分的归纳，无新增事实或统计数字。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图片使用基础：用户提供参考素材，按本次演示文稿改编要求沿用。场景示意照片未被认定为所述案例的现场记录；中华企业大厦与越洋广场属于不同地点。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ecdfa76aab44f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0cb9a66a641d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985c1fb720476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b35ba4b30463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6a588f9b654f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7c02794bf340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72E2FA2-1D49-417D-88FE-9BD48447E4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1943100"/>
            <a:ext cx="7315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142EB17-94D8-48E4-A9D4-A3643B67D9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2828925"/>
            <a:ext cx="6400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FB62D8-7832-485D-94A8-7CDDE90C2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143125"/>
            <a:ext cx="731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569F49-8F0E-4E1F-8372-5027307D22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16EAF59-9749-47FB-A047-9AEA06D048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81153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E0649C-87BE-46C7-A526-198F18CE8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0BD0A02-7AF8-4F77-8138-D4B9AB184C0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1C2A4F-27B1-4339-931B-1191F3E839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5A561F-72EA-4676-BDC2-12CCA2B3DA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400050"/>
            <a:ext cx="81153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E4241B0-EC57-4F96-929F-01D32617C65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428750"/>
            <a:ext cx="37719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5bd81e0f93468b" /><Relationship Type="http://schemas.openxmlformats.org/officeDocument/2006/relationships/slideLayout" Target="/ppt/slideLayouts/slideLayout1.xml" Id="Raae344881daf407d" /><Relationship Type="http://schemas.openxmlformats.org/officeDocument/2006/relationships/slideLayout" Target="/ppt/slideLayouts/slideLayout2.xml" Id="Rf9921b802b6149e8" /><Relationship Type="http://schemas.openxmlformats.org/officeDocument/2006/relationships/slideLayout" Target="/ppt/slideLayouts/slideLayout3.xml" Id="R8dbc5c8b50f24716" /><Relationship Type="http://schemas.openxmlformats.org/officeDocument/2006/relationships/slideLayout" Target="/ppt/slideLayouts/slideLayout4.xml" Id="Rb47af47747bc4dcb" /><Relationship Type="http://schemas.openxmlformats.org/officeDocument/2006/relationships/slideLayout" Target="/ppt/slideLayouts/slideLayout5.xml" Id="Re0e6d1eb235b469a" /><Relationship Type="http://schemas.openxmlformats.org/officeDocument/2006/relationships/slideLayout" Target="/ppt/slideLayouts/slideLayout6.xml" Id="Rf9d6a89e71cd44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e344881daf407d"/>
    <p:sldLayoutId xmlns:r="http://schemas.openxmlformats.org/officeDocument/2006/relationships" id="2147483650" r:id="Rf9921b802b6149e8"/>
    <p:sldLayoutId xmlns:r="http://schemas.openxmlformats.org/officeDocument/2006/relationships" id="2147483651" r:id="R8dbc5c8b50f24716"/>
    <p:sldLayoutId xmlns:r="http://schemas.openxmlformats.org/officeDocument/2006/relationships" id="2147483652" r:id="Rb47af47747bc4dcb"/>
    <p:sldLayoutId xmlns:r="http://schemas.openxmlformats.org/officeDocument/2006/relationships" id="2147483653" r:id="Re0e6d1eb235b469a"/>
    <p:sldLayoutId xmlns:r="http://schemas.openxmlformats.org/officeDocument/2006/relationships" id="2147483654" r:id="Rf9d6a89e71cd44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f751f226d4dfd" /><Relationship Type="http://schemas.openxmlformats.org/officeDocument/2006/relationships/image" Target="/ppt/media/image.jpeg" Id="Rea823258d0634927" /><Relationship Type="http://schemas.openxmlformats.org/officeDocument/2006/relationships/image" Target="/ppt/media/image2.jpeg" Id="R837deb34d0324c6f" /><Relationship Type="http://schemas.openxmlformats.org/officeDocument/2006/relationships/image" Target="/ppt/media/image.png" Id="R9b1217c0859b497d" /><Relationship Type="http://schemas.openxmlformats.org/officeDocument/2006/relationships/image" Target="/ppt/media/image2.png" Id="R8dbc6b4f778f423e" /><Relationship Type="http://schemas.openxmlformats.org/officeDocument/2006/relationships/image" Target="/ppt/media/image3.png" Id="R405b5027ec0d45c3" /><Relationship Type="http://schemas.openxmlformats.org/officeDocument/2006/relationships/image" Target="/ppt/media/image4.png" Id="R77732da1cbf04c64" /><Relationship Type="http://schemas.openxmlformats.org/officeDocument/2006/relationships/image" Target="/ppt/media/image5.png" Id="R8c0047505ad34785" /><Relationship Type="http://schemas.openxmlformats.org/officeDocument/2006/relationships/image" Target="/ppt/media/image6.png" Id="Rbccf6c75e6944707" /><Relationship Type="http://schemas.openxmlformats.org/officeDocument/2006/relationships/image" Target="/ppt/media/image7.png" Id="R1d34d6fa11a143e4" /><Relationship Type="http://schemas.openxmlformats.org/officeDocument/2006/relationships/image" Target="/ppt/media/image8.png" Id="R6898a76de2f24089" /><Relationship Type="http://schemas.openxmlformats.org/officeDocument/2006/relationships/notesSlide" Target="/ppt/notesSlides/notesSlide1.xml" Id="Rd4ed91f70d6a44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283bee03914a95" /><Relationship Type="http://schemas.openxmlformats.org/officeDocument/2006/relationships/image" Target="/ppt/media/image9.png" Id="Rf0eed277c0874c68" /><Relationship Type="http://schemas.openxmlformats.org/officeDocument/2006/relationships/image" Target="/ppt/media/image3.jpeg" Id="R71853e0d8abb4014" /><Relationship Type="http://schemas.openxmlformats.org/officeDocument/2006/relationships/image" Target="/ppt/media/image10.png" Id="R68f75317c55e4f4c" /><Relationship Type="http://schemas.openxmlformats.org/officeDocument/2006/relationships/notesSlide" Target="/ppt/notesSlides/notesSlide2.xml" Id="R78ab16160a354d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9639e64cde4d5c" /><Relationship Type="http://schemas.openxmlformats.org/officeDocument/2006/relationships/image" Target="/ppt/media/image11.png" Id="Ra8024bf8536548e5" /><Relationship Type="http://schemas.openxmlformats.org/officeDocument/2006/relationships/image" Target="/ppt/media/image4.jpeg" Id="R1012a6626a8b40cb" /><Relationship Type="http://schemas.openxmlformats.org/officeDocument/2006/relationships/image" Target="/ppt/media/image5.jpeg" Id="R7cf587cca1b14cf5" /><Relationship Type="http://schemas.openxmlformats.org/officeDocument/2006/relationships/image" Target="/ppt/media/image6.jpeg" Id="Rdb986ec79ef94e4b" /><Relationship Type="http://schemas.openxmlformats.org/officeDocument/2006/relationships/notesSlide" Target="/ppt/notesSlides/notesSlide3.xml" Id="Re8757b10b2f24b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cb745b534e458a" /><Relationship Type="http://schemas.openxmlformats.org/officeDocument/2006/relationships/image" Target="/ppt/media/image12.png" Id="Rd5ac4f85075d49c1" /><Relationship Type="http://schemas.openxmlformats.org/officeDocument/2006/relationships/image" Target="/ppt/media/image13.png" Id="R2674ecd541ad4693" /><Relationship Type="http://schemas.openxmlformats.org/officeDocument/2006/relationships/image" Target="/ppt/media/image14.png" Id="R27583be275c84fb2" /><Relationship Type="http://schemas.openxmlformats.org/officeDocument/2006/relationships/notesSlide" Target="/ppt/notesSlides/notesSlide4.xml" Id="R43b65eafd3f443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18f8ab95f14c48" /><Relationship Type="http://schemas.openxmlformats.org/officeDocument/2006/relationships/image" Target="/ppt/media/image15.png" Id="R360af80cddca4474" /><Relationship Type="http://schemas.openxmlformats.org/officeDocument/2006/relationships/image" Target="/ppt/media/image7.jpeg" Id="Rbb8842dee8254f5e" /><Relationship Type="http://schemas.openxmlformats.org/officeDocument/2006/relationships/hyperlink" Target="https://github.com/kevin-meng/2022shanghai-covid/blob/main/files/love/2022-04-01-p3.jpg" TargetMode="External" Id="R01cecb0d56474bbb" /><Relationship Type="http://schemas.openxmlformats.org/officeDocument/2006/relationships/image" Target="/ppt/media/image8.jpeg" Id="R2159206b373e4744" /><Relationship Type="http://schemas.openxmlformats.org/officeDocument/2006/relationships/hyperlink" Target="https://github.com/kevin-meng/2022shanghai-covid/blob/main/files/love/2022-03-21-p5.jpg" TargetMode="External" Id="R15f46472c5ce4adc" /><Relationship Type="http://schemas.openxmlformats.org/officeDocument/2006/relationships/image" Target="/ppt/media/image9.jpeg" Id="R16fd91e1829b43dc" /><Relationship Type="http://schemas.openxmlformats.org/officeDocument/2006/relationships/hyperlink" Target="https://github.com/kevin-meng/2022shanghai-covid/blob/main/files/love/2022-03-21-p3.jpg" TargetMode="External" Id="R523fb072fe844f48" /><Relationship Type="http://schemas.openxmlformats.org/officeDocument/2006/relationships/notesSlide" Target="/ppt/notesSlides/notesSlide5.xml" Id="R79f4d538a55b49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e49d815114236" /><Relationship Type="http://schemas.openxmlformats.org/officeDocument/2006/relationships/image" Target="/ppt/media/image16.png" Id="R0a5aa6c0e6e24994" /><Relationship Type="http://schemas.openxmlformats.org/officeDocument/2006/relationships/image" Target="/ppt/media/image10.jpeg" Id="Rbe83784279834016" /><Relationship Type="http://schemas.openxmlformats.org/officeDocument/2006/relationships/hyperlink" Target="https://github.com/kevin-meng/2022shanghai-covid/blob/main/files/love/2022-03-26-p3.jpg" TargetMode="External" Id="R4cb7a2e3674a41b9" /><Relationship Type="http://schemas.openxmlformats.org/officeDocument/2006/relationships/image" Target="/ppt/media/image11.jpeg" Id="R5a9ef508fa8b464a" /><Relationship Type="http://schemas.openxmlformats.org/officeDocument/2006/relationships/hyperlink" Target="https://github.com/kevin-meng/2022shanghai-covid/blob/main/files/love/2022-03-29-p1.png" TargetMode="External" Id="Rc547bfed430a4e0c" /><Relationship Type="http://schemas.openxmlformats.org/officeDocument/2006/relationships/image" Target="/ppt/media/image12.jpeg" Id="Rabc493fcae4c4dd9" /><Relationship Type="http://schemas.openxmlformats.org/officeDocument/2006/relationships/hyperlink" Target="https://github.com/kevin-meng/2022shanghai-covid/blob/main/files/love/2022-04-02-p3.jpg" TargetMode="External" Id="R839afc5b30ba4c30" /><Relationship Type="http://schemas.openxmlformats.org/officeDocument/2006/relationships/notesSlide" Target="/ppt/notesSlides/notesSlide6.xml" Id="R3a9c2cc59f6447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4d84dde38d4f6a" /><Relationship Type="http://schemas.openxmlformats.org/officeDocument/2006/relationships/image" Target="/ppt/media/image17.png" Id="R0e9b77b3b1884259" /><Relationship Type="http://schemas.openxmlformats.org/officeDocument/2006/relationships/notesSlide" Target="/ppt/notesSlides/notesSlide7.xml" Id="Re6814903e69b4f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345f428534705" /><Relationship Type="http://schemas.openxmlformats.org/officeDocument/2006/relationships/image" Target="/ppt/media/image13.jpeg" Id="R271d3c23c63141ac" /><Relationship Type="http://schemas.openxmlformats.org/officeDocument/2006/relationships/image" Target="/ppt/media/image14.jpeg" Id="Raf3aa789f96547db" /><Relationship Type="http://schemas.openxmlformats.org/officeDocument/2006/relationships/image" Target="/ppt/media/image18.png" Id="R1ccf6fa201dc40a4" /><Relationship Type="http://schemas.openxmlformats.org/officeDocument/2006/relationships/image" Target="/ppt/media/image19.png" Id="Rde50e7e363884c77" /><Relationship Type="http://schemas.openxmlformats.org/officeDocument/2006/relationships/image" Target="/ppt/media/image20.png" Id="Rf2e852d762324236" /><Relationship Type="http://schemas.openxmlformats.org/officeDocument/2006/relationships/image" Target="/ppt/media/image21.png" Id="Re0ec7244aeec48a0" /><Relationship Type="http://schemas.openxmlformats.org/officeDocument/2006/relationships/image" Target="/ppt/media/image22.png" Id="Re49ac8b37b8a45b6" /><Relationship Type="http://schemas.openxmlformats.org/officeDocument/2006/relationships/image" Target="/ppt/media/image23.png" Id="Rc52d6359e3534783" /><Relationship Type="http://schemas.openxmlformats.org/officeDocument/2006/relationships/image" Target="/ppt/media/image24.png" Id="R0cacff1d67764f39" /><Relationship Type="http://schemas.openxmlformats.org/officeDocument/2006/relationships/image" Target="/ppt/media/image25.png" Id="R198dde052b414544" /><Relationship Type="http://schemas.openxmlformats.org/officeDocument/2006/relationships/notesSlide" Target="/ppt/notesSlides/notesSlide8.xml" Id="R9e0491b3ef574d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A90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BA03E-C8EE-40F5-AAEF-4935EA3975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23258d0634927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47000-2B81-4DDD-9EBC-CB704750B4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deb34d0324c6f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457200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EEEF6-4154-441B-BCC2-EA205D49D10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217c0859b497d"/>
          <a:stretch xmlns:a="http://schemas.openxmlformats.org/drawingml/2006/main"/>
        </p:blipFill>
        <p:spPr>
          <a:xfrm xmlns:a="http://schemas.openxmlformats.org/drawingml/2006/main">
            <a:off x="1628775" y="3536439"/>
            <a:ext cx="6305550" cy="1280547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E38E86-4105-405E-BD88-000C040E7E3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c6b4f778f423e"/>
          <a:stretch xmlns:a="http://schemas.openxmlformats.org/drawingml/2006/main"/>
        </p:blipFill>
        <p:spPr>
          <a:xfrm xmlns:a="http://schemas.openxmlformats.org/drawingml/2006/main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385637-D65A-49C8-BAC8-A0E97FCD1A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b5027ec0d45c3"/>
          <a:stretch xmlns:a="http://schemas.openxmlformats.org/drawingml/2006/main"/>
        </p:blipFill>
        <p:spPr>
          <a:xfrm xmlns:a="http://schemas.openxmlformats.org/drawingml/2006/main" flipH="1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CE37F2-C450-4CF9-90F9-E98674BA35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32da1cbf04c64"/>
          <a:stretch xmlns:a="http://schemas.openxmlformats.org/drawingml/2006/main"/>
        </p:blipFill>
        <p:spPr>
          <a:xfrm xmlns:a="http://schemas.openxmlformats.org/drawingml/2006/main">
            <a:off x="0" y="4078605"/>
            <a:ext cx="9144000" cy="106299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3CA74-7DE6-454A-B7DD-AA639A4FB2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047505ad34785"/>
          <a:stretch xmlns:a="http://schemas.openxmlformats.org/drawingml/2006/main"/>
        </p:blipFill>
        <p:spPr>
          <a:xfrm xmlns:a="http://schemas.openxmlformats.org/drawingml/2006/main" flipH="1">
            <a:off x="125349" y="3724275"/>
            <a:ext cx="1559052" cy="10287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B96F1-6A64-4A6C-B696-1A5AE003AB9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f6c75e6944707"/>
          <a:stretch xmlns:a="http://schemas.openxmlformats.org/drawingml/2006/main"/>
        </p:blipFill>
        <p:spPr>
          <a:xfrm xmlns:a="http://schemas.openxmlformats.org/drawingml/2006/main">
            <a:off x="7601903" y="3724275"/>
            <a:ext cx="1417320" cy="10287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34ED4-D864-44DC-A185-FB49F3C4BF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4d6fa11a143e4"/>
          <a:stretch xmlns:a="http://schemas.openxmlformats.org/drawingml/2006/main"/>
        </p:blipFill>
        <p:spPr>
          <a:xfrm xmlns:a="http://schemas.openxmlformats.org/drawingml/2006/main">
            <a:off x="666916" y="219075"/>
            <a:ext cx="2352343" cy="13906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0EAE9E-AD1D-421B-913F-7E004A6CFC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8a76de2f24089"/>
          <a:stretch xmlns:a="http://schemas.openxmlformats.org/drawingml/2006/main"/>
        </p:blipFill>
        <p:spPr>
          <a:xfrm xmlns:a="http://schemas.openxmlformats.org/drawingml/2006/main" flipH="1">
            <a:off x="5819775" y="238685"/>
            <a:ext cx="2286000" cy="1351429"/>
          </a:xfrm>
          <a:prstGeom xmlns:a="http://schemas.openxmlformats.org/drawingml/2006/main" prst="rect">
            <a:avLst/>
          </a:prstGeom>
        </p:spPr>
      </p:pic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A150855C-2F3F-4610-B10A-C55AB3A1F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133475"/>
            <a:ext cx="1104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3900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叁</a:t>
            </a:r>
          </a:p>
        </p:txBody>
      </p:sp>
      <p:sp>
        <p:nvSpPr>
          <p:cNvPr id="12" name="text-2">
            <a:extLst xmlns:a="http://schemas.openxmlformats.org/drawingml/2006/main">
              <a:ext uri="{FF2B5EF4-FFF2-40B4-BE49-F238E27FC236}">
                <a16:creationId xmlns:a16="http://schemas.microsoft.com/office/drawing/2014/main" id="{0DC4F8CD-0B4A-4F66-9F60-0907D081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09800"/>
            <a:ext cx="7524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92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92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党建引领团建</a:t>
            </a:r>
          </a:p>
        </p:txBody>
      </p:sp>
      <p:sp>
        <p:nvSpPr>
          <p:cNvPr id="13" name="text-3">
            <a:extLst xmlns:a="http://schemas.openxmlformats.org/drawingml/2006/main">
              <a:ext uri="{FF2B5EF4-FFF2-40B4-BE49-F238E27FC236}">
                <a16:creationId xmlns:a16="http://schemas.microsoft.com/office/drawing/2014/main" id="{D8FC496A-818A-4C10-B2D3-87B4AD94B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43200"/>
            <a:ext cx="7524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在联系服务青年中落地</a:t>
            </a:r>
          </a:p>
        </p:txBody>
      </p:sp>
    </p:spTree>
    <p:extLst>
      <p:ext uri="{BB962C8B-B14F-4D97-AF65-F5344CB8AC3E}">
        <p14:creationId xmlns:p14="http://schemas.microsoft.com/office/powerpoint/2010/main" val="15046814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A27C68-2239-41F0-A116-440F08AA8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ed277c0874c6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4">
            <a:extLst xmlns:a="http://schemas.openxmlformats.org/drawingml/2006/main">
              <a:ext uri="{FF2B5EF4-FFF2-40B4-BE49-F238E27FC236}">
                <a16:creationId xmlns:a16="http://schemas.microsoft.com/office/drawing/2014/main" id="{E2B5923D-18D0-44C2-9028-CA580AAC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5">
            <a:extLst xmlns:a="http://schemas.openxmlformats.org/drawingml/2006/main">
              <a:ext uri="{FF2B5EF4-FFF2-40B4-BE49-F238E27FC236}">
                <a16:creationId xmlns:a16="http://schemas.microsoft.com/office/drawing/2014/main" id="{38F94BE1-2406-46FE-8314-E532A384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43338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6">
            <a:extLst xmlns:a="http://schemas.openxmlformats.org/drawingml/2006/main">
              <a:ext uri="{FF2B5EF4-FFF2-40B4-BE49-F238E27FC236}">
                <a16:creationId xmlns:a16="http://schemas.microsoft.com/office/drawing/2014/main" id="{D903144A-A329-4519-8EE1-FFD4783F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4010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信任，在日常回应中积累</a:t>
            </a:r>
          </a:p>
        </p:txBody>
      </p: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880433CE-6E38-4CFC-9743-503222E6C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5730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业主变更时，原物业被租户集体挽留</a:t>
            </a:r>
          </a:p>
        </p:txBody>
      </p:sp>
      <p:sp>
        <p:nvSpPr>
          <p:cNvPr id="6" name="text-8">
            <a:extLst xmlns:a="http://schemas.openxmlformats.org/drawingml/2006/main">
              <a:ext uri="{FF2B5EF4-FFF2-40B4-BE49-F238E27FC236}">
                <a16:creationId xmlns:a16="http://schemas.microsoft.com/office/drawing/2014/main" id="{8281B42F-32A5-45DD-B71E-8BAD934C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954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平时联系需求，为活动提供空间，遇事持续回应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3FD053-AC69-434D-BBF8-95E1F4A62B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853e0d8abb4014"/>
          <a:stretch xmlns:a="http://schemas.openxmlformats.org/drawingml/2006/main"/>
        </p:blipFill>
        <p:spPr>
          <a:xfrm xmlns:a="http://schemas.openxmlformats.org/drawingml/2006/main">
            <a:off x="471314" y="2143125"/>
            <a:ext cx="3915122" cy="219075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488D6D-F80B-4FB4-BF2D-6E2FF7FA4E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75317c55e4f4c"/>
          <a:stretch xmlns:a="http://schemas.openxmlformats.org/drawingml/2006/main"/>
        </p:blipFill>
        <p:spPr>
          <a:xfrm xmlns:a="http://schemas.openxmlformats.org/drawingml/2006/main">
            <a:off x="5145222" y="2076450"/>
            <a:ext cx="3330307" cy="2324100"/>
          </a:xfrm>
          <a:prstGeom xmlns:a="http://schemas.openxmlformats.org/drawingml/2006/main" prst="rect">
            <a:avLst/>
          </a:prstGeom>
        </p:spPr>
      </p:pic>
      <p:sp>
        <p:nvSpPr>
          <p:cNvPr id="9" name="text-9">
            <a:extLst xmlns:a="http://schemas.openxmlformats.org/drawingml/2006/main">
              <a:ext uri="{FF2B5EF4-FFF2-40B4-BE49-F238E27FC236}">
                <a16:creationId xmlns:a16="http://schemas.microsoft.com/office/drawing/2014/main" id="{3A528414-4595-482D-BDC9-F4BA4288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36245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图源：参考PDF第8页（早期服务点历史照片）</a:t>
            </a:r>
          </a:p>
        </p:txBody>
      </p:sp>
      <p:sp>
        <p:nvSpPr>
          <p:cNvPr id="10" name="text-10">
            <a:extLst xmlns:a="http://schemas.openxmlformats.org/drawingml/2006/main">
              <a:ext uri="{FF2B5EF4-FFF2-40B4-BE49-F238E27FC236}">
                <a16:creationId xmlns:a16="http://schemas.microsoft.com/office/drawing/2014/main" id="{D59BFBE4-2BC4-402D-9556-3B250ECE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62450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图源：参考PDF第10页（服务阵地实景）</a:t>
            </a:r>
          </a:p>
        </p:txBody>
      </p:sp>
      <p:sp>
        <p:nvSpPr>
          <p:cNvPr id="11" name="text-11">
            <a:extLst xmlns:a="http://schemas.openxmlformats.org/drawingml/2006/main">
              <a:ext uri="{FF2B5EF4-FFF2-40B4-BE49-F238E27FC236}">
                <a16:creationId xmlns:a16="http://schemas.microsoft.com/office/drawing/2014/main" id="{59D1F1E1-E0DB-488D-850A-8B0126D3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案例依据：《文汇报》，2019-04-23；右图作服务阵地示意</a:t>
            </a:r>
          </a:p>
        </p:txBody>
      </p:sp>
    </p:spTree>
    <p:extLst>
      <p:ext uri="{BB962C8B-B14F-4D97-AF65-F5344CB8AC3E}">
        <p14:creationId xmlns:p14="http://schemas.microsoft.com/office/powerpoint/2010/main" val="2531419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F96AD-708F-42DF-9EB5-0981C3CF25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24bf8536548e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12">
            <a:extLst xmlns:a="http://schemas.openxmlformats.org/drawingml/2006/main">
              <a:ext uri="{FF2B5EF4-FFF2-40B4-BE49-F238E27FC236}">
                <a16:creationId xmlns:a16="http://schemas.microsoft.com/office/drawing/2014/main" id="{D522FA45-2A51-4991-8985-B9160076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13">
            <a:extLst xmlns:a="http://schemas.openxmlformats.org/drawingml/2006/main">
              <a:ext uri="{FF2B5EF4-FFF2-40B4-BE49-F238E27FC236}">
                <a16:creationId xmlns:a16="http://schemas.microsoft.com/office/drawing/2014/main" id="{607A1244-49CC-49E3-831E-32772DDE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56673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14">
            <a:extLst xmlns:a="http://schemas.openxmlformats.org/drawingml/2006/main">
              <a:ext uri="{FF2B5EF4-FFF2-40B4-BE49-F238E27FC236}">
                <a16:creationId xmlns:a16="http://schemas.microsoft.com/office/drawing/2014/main" id="{FBF94292-4136-4A1A-B61E-BDB93F86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53435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青年从服务对象成为治理参与者</a:t>
            </a:r>
          </a:p>
        </p:txBody>
      </p:sp>
      <p:sp>
        <p:nvSpPr>
          <p:cNvPr id="5" name="text-15">
            <a:extLst xmlns:a="http://schemas.openxmlformats.org/drawingml/2006/main">
              <a:ext uri="{FF2B5EF4-FFF2-40B4-BE49-F238E27FC236}">
                <a16:creationId xmlns:a16="http://schemas.microsoft.com/office/drawing/2014/main" id="{FAB7915B-4D7E-4B0B-B537-AD473DE4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66825"/>
            <a:ext cx="8382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延伸案例：越洋广场青年白领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BD3D7-A472-4DC1-A7D4-D0F12C8351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2a6626a8b40cb"/>
          <a:stretch xmlns:a="http://schemas.openxmlformats.org/drawingml/2006/main"/>
        </p:blipFill>
        <p:spPr>
          <a:xfrm xmlns:a="http://schemas.openxmlformats.org/drawingml/2006/main">
            <a:off x="593203" y="1762125"/>
            <a:ext cx="3766595" cy="2705100"/>
          </a:xfrm>
          <a:prstGeom xmlns:a="http://schemas.openxmlformats.org/drawingml/2006/main" prst="rect">
            <a:avLst/>
          </a:prstGeom>
        </p:spPr>
      </p:pic>
      <p:sp>
        <p:nvSpPr>
          <p:cNvPr id="7" name="text-16">
            <a:extLst xmlns:a="http://schemas.openxmlformats.org/drawingml/2006/main">
              <a:ext uri="{FF2B5EF4-FFF2-40B4-BE49-F238E27FC236}">
                <a16:creationId xmlns:a16="http://schemas.microsoft.com/office/drawing/2014/main" id="{91BAC092-C0DC-4CF3-B717-2F7DF197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481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图源：参考PDF第3页（上海楼宇实景）</a:t>
            </a:r>
          </a:p>
        </p:txBody>
      </p:sp>
      <p:sp>
        <p:nvSpPr>
          <p:cNvPr id="8" name="surface-17">
            <a:extLst xmlns:a="http://schemas.openxmlformats.org/drawingml/2006/main">
              <a:ext uri="{FF2B5EF4-FFF2-40B4-BE49-F238E27FC236}">
                <a16:creationId xmlns:a16="http://schemas.microsoft.com/office/drawing/2014/main" id="{3847A949-8447-4BDB-B68B-5F107681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8573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-18">
            <a:extLst xmlns:a="http://schemas.openxmlformats.org/drawingml/2006/main">
              <a:ext uri="{FF2B5EF4-FFF2-40B4-BE49-F238E27FC236}">
                <a16:creationId xmlns:a16="http://schemas.microsoft.com/office/drawing/2014/main" id="{B55187C6-8828-41C8-8F63-95A1FF8F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240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改造垃圾分类设施</a:t>
            </a:r>
          </a:p>
        </p:txBody>
      </p:sp>
      <p:sp>
        <p:nvSpPr>
          <p:cNvPr id="10" name="surface-19">
            <a:extLst xmlns:a="http://schemas.openxmlformats.org/drawingml/2006/main">
              <a:ext uri="{FF2B5EF4-FFF2-40B4-BE49-F238E27FC236}">
                <a16:creationId xmlns:a16="http://schemas.microsoft.com/office/drawing/2014/main" id="{0D260D30-7937-4BCB-B282-6829C1C18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574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20">
            <a:extLst xmlns:a="http://schemas.openxmlformats.org/drawingml/2006/main">
              <a:ext uri="{FF2B5EF4-FFF2-40B4-BE49-F238E27FC236}">
                <a16:creationId xmlns:a16="http://schemas.microsoft.com/office/drawing/2014/main" id="{0ED36287-B5FA-487F-8A1A-9AF8668C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124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组建志愿者队伍</a:t>
            </a:r>
          </a:p>
        </p:txBody>
      </p:sp>
      <p:sp>
        <p:nvSpPr>
          <p:cNvPr id="12" name="surface-21">
            <a:extLst xmlns:a="http://schemas.openxmlformats.org/drawingml/2006/main">
              <a:ext uri="{FF2B5EF4-FFF2-40B4-BE49-F238E27FC236}">
                <a16:creationId xmlns:a16="http://schemas.microsoft.com/office/drawing/2014/main" id="{AA334B0B-96BF-42E2-9EE0-615C7D83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657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22">
            <a:extLst xmlns:a="http://schemas.openxmlformats.org/drawingml/2006/main">
              <a:ext uri="{FF2B5EF4-FFF2-40B4-BE49-F238E27FC236}">
                <a16:creationId xmlns:a16="http://schemas.microsoft.com/office/drawing/2014/main" id="{2FBDDDF5-1E88-4E36-B39B-C416F9D0E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241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行动走进景华居民区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AFD42-9961-4C6F-983B-4FE3E128C8F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587cca1b14cf5"/>
          <a:stretch xmlns:a="http://schemas.openxmlformats.org/drawingml/2006/main"/>
        </p:blipFill>
        <p:spPr>
          <a:xfrm xmlns:a="http://schemas.openxmlformats.org/drawingml/2006/main">
            <a:off x="5000625" y="3087291"/>
            <a:ext cx="1762125" cy="1321594"/>
          </a:xfrm>
          <a:prstGeom xmlns:a="http://schemas.openxmlformats.org/drawingml/2006/main" prst="rect">
            <a:avLst/>
          </a:prstGeom>
        </p:spPr>
      </p:pic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51F726-33F6-4C2C-A12A-4B5D90871A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86ec79ef94e4b"/>
          <a:stretch xmlns:a="http://schemas.openxmlformats.org/drawingml/2006/main"/>
        </p:blipFill>
        <p:spPr>
          <a:xfrm xmlns:a="http://schemas.openxmlformats.org/drawingml/2006/main">
            <a:off x="6943725" y="3087291"/>
            <a:ext cx="1762125" cy="1321594"/>
          </a:xfrm>
          <a:prstGeom xmlns:a="http://schemas.openxmlformats.org/drawingml/2006/main" prst="rect">
            <a:avLst/>
          </a:prstGeom>
        </p:spPr>
      </p:pic>
      <p:sp>
        <p:nvSpPr>
          <p:cNvPr id="16" name="text-23">
            <a:extLst xmlns:a="http://schemas.openxmlformats.org/drawingml/2006/main">
              <a:ext uri="{FF2B5EF4-FFF2-40B4-BE49-F238E27FC236}">
                <a16:creationId xmlns:a16="http://schemas.microsoft.com/office/drawing/2014/main" id="{90375815-7F6F-4DA6-9DD4-8AB987F2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438650"/>
            <a:ext cx="37052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图源：参考PDF第12页（组织活动示意）</a:t>
            </a:r>
          </a:p>
        </p:txBody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7C9F6273-4596-4B5E-B5C1-43E61C46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案例依据：《文汇报》，2019-04-23；地点为越洋广场，与中华企业大厦区分</a:t>
            </a:r>
          </a:p>
        </p:txBody>
      </p:sp>
    </p:spTree>
    <p:extLst>
      <p:ext uri="{BB962C8B-B14F-4D97-AF65-F5344CB8AC3E}">
        <p14:creationId xmlns:p14="http://schemas.microsoft.com/office/powerpoint/2010/main" val="572688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C2535-E96F-475D-8DAE-9F285F3FDB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c4f85075d49c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25">
            <a:extLst xmlns:a="http://schemas.openxmlformats.org/drawingml/2006/main">
              <a:ext uri="{FF2B5EF4-FFF2-40B4-BE49-F238E27FC236}">
                <a16:creationId xmlns:a16="http://schemas.microsoft.com/office/drawing/2014/main" id="{8C2D01CE-45CB-48EC-A521-9E05333C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26">
            <a:extLst xmlns:a="http://schemas.openxmlformats.org/drawingml/2006/main">
              <a:ext uri="{FF2B5EF4-FFF2-40B4-BE49-F238E27FC236}">
                <a16:creationId xmlns:a16="http://schemas.microsoft.com/office/drawing/2014/main" id="{C680E2F7-9417-4169-9F27-932C39D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5048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27">
            <a:extLst xmlns:a="http://schemas.openxmlformats.org/drawingml/2006/main">
              <a:ext uri="{FF2B5EF4-FFF2-40B4-BE49-F238E27FC236}">
                <a16:creationId xmlns:a16="http://schemas.microsoft.com/office/drawing/2014/main" id="{F0AB0054-7674-47F0-A317-52C09D4DD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4724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党组织引领，团组织联系青年</a:t>
            </a:r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093E61F2-B06E-4016-AD90-51C0915E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0492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党组织把方向、强保障</a:t>
            </a: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86283F86-23DF-48E0-9410-001FFCFE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04925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10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团组织联系、服务、凝聚青年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00D172F8-B3D0-48FE-90B7-ACC8BE59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2402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政治引领  组织保障  资源协调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75685183-24B9-43C6-922B-A5139BC8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2402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摸清需求  组织参与  持续反馈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AAA04-AD46-494E-8036-F14B1FADF9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4ecd541ad4693"/>
          <a:srcRect xmlns:a="http://schemas.openxmlformats.org/drawingml/2006/main" l="0" t="18342" r="0" b="183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" y="2219325"/>
            <a:ext cx="4095750" cy="18097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8CFF28-0DCD-4823-A39A-5C175434512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583be275c84fb2"/>
          <a:srcRect xmlns:a="http://schemas.openxmlformats.org/drawingml/2006/main" l="0" t="14940" r="0" b="149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2219325"/>
            <a:ext cx="3905250" cy="1809750"/>
          </a:xfrm>
          <a:prstGeom xmlns:a="http://schemas.openxmlformats.org/drawingml/2006/main" prst="rect">
            <a:avLst/>
          </a:prstGeom>
        </p:spPr>
      </p:pic>
      <p:sp>
        <p:nvSpPr>
          <p:cNvPr id="11" name="text-32">
            <a:extLst xmlns:a="http://schemas.openxmlformats.org/drawingml/2006/main">
              <a:ext uri="{FF2B5EF4-FFF2-40B4-BE49-F238E27FC236}">
                <a16:creationId xmlns:a16="http://schemas.microsoft.com/office/drawing/2014/main" id="{085812E7-26FA-4AF8-BFB5-5F454BA9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29075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图源：参考PDF第10页（学习空间实景）</a:t>
            </a:r>
          </a:p>
        </p:txBody>
      </p:sp>
      <p:sp>
        <p:nvSpPr>
          <p:cNvPr id="12" name="text-33">
            <a:extLst xmlns:a="http://schemas.openxmlformats.org/drawingml/2006/main">
              <a:ext uri="{FF2B5EF4-FFF2-40B4-BE49-F238E27FC236}">
                <a16:creationId xmlns:a16="http://schemas.microsoft.com/office/drawing/2014/main" id="{03C6DB58-9BD6-435E-BA55-CD3F0ED3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29075"/>
            <a:ext cx="390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defRPr>
            </a:pPr>
            <a:r>
              <a:rPr sz="975" b="0">
                <a:solidFill>
                  <a:srgbClr val="656565"/>
                </a:solidFill>
                <a:latin typeface="LXGW WenKai"/>
                <a:ea typeface="LXGW WenKai"/>
                <a:cs typeface="LXGW WenKai"/>
              </a:rPr>
              <a:t>图源：参考PDF第10页（党群服务场景）</a:t>
            </a:r>
          </a:p>
        </p:txBody>
      </p:sp>
      <p:sp>
        <p:nvSpPr>
          <p:cNvPr id="13" name="surface-34">
            <a:extLst xmlns:a="http://schemas.openxmlformats.org/drawingml/2006/main">
              <a:ext uri="{FF2B5EF4-FFF2-40B4-BE49-F238E27FC236}">
                <a16:creationId xmlns:a16="http://schemas.microsoft.com/office/drawing/2014/main" id="{C839DA57-A03F-471C-B34F-909D0366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672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3"/>
          </a:solidFill>
          <a:ln xmlns:a="http://schemas.openxmlformats.org/drawingml/2006/main" w="9525">
            <a:solidFill>
              <a:srgbClr val="C9978C"/>
            </a:solidFill>
            <a:prstDash val="solid"/>
          </a:ln>
        </p:spPr>
      </p:sp>
      <p:sp>
        <p:nvSpPr>
          <p:cNvPr id="14" name="text-35">
            <a:extLst xmlns:a="http://schemas.openxmlformats.org/drawingml/2006/main">
              <a:ext uri="{FF2B5EF4-FFF2-40B4-BE49-F238E27FC236}">
                <a16:creationId xmlns:a16="http://schemas.microsoft.com/office/drawing/2014/main" id="{CCEC1A55-BB13-4163-B756-54C98051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86250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7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回应求学工作、住房保障、社会融入等实际需要</a:t>
            </a:r>
          </a:p>
        </p:txBody>
      </p:sp>
      <p:sp>
        <p:nvSpPr>
          <p:cNvPr id="15" name="text-36">
            <a:extLst xmlns:a="http://schemas.openxmlformats.org/drawingml/2006/main">
              <a:ext uri="{FF2B5EF4-FFF2-40B4-BE49-F238E27FC236}">
                <a16:creationId xmlns:a16="http://schemas.microsoft.com/office/drawing/2014/main" id="{0CD1FDC3-3B91-45FB-9D20-ACAE8D56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依据：《关于加强党建带团建工作的意见》；“十五五”规划纲要第46章第3节（2026）</a:t>
            </a:r>
          </a:p>
        </p:txBody>
      </p:sp>
    </p:spTree>
    <p:extLst>
      <p:ext uri="{BB962C8B-B14F-4D97-AF65-F5344CB8AC3E}">
        <p14:creationId xmlns:p14="http://schemas.microsoft.com/office/powerpoint/2010/main" val="1132842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82C3BA-47E6-4C0B-874E-8FDE32C28F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0af80cddca447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37">
            <a:extLst xmlns:a="http://schemas.openxmlformats.org/drawingml/2006/main">
              <a:ext uri="{FF2B5EF4-FFF2-40B4-BE49-F238E27FC236}">
                <a16:creationId xmlns:a16="http://schemas.microsoft.com/office/drawing/2014/main" id="{42E1041B-4FED-466E-8AFC-89573F8A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38">
            <a:extLst xmlns:a="http://schemas.openxmlformats.org/drawingml/2006/main">
              <a:ext uri="{FF2B5EF4-FFF2-40B4-BE49-F238E27FC236}">
                <a16:creationId xmlns:a16="http://schemas.microsoft.com/office/drawing/2014/main" id="{361CEDA4-4133-44CC-BAD8-4F2E8AD0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5429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39">
            <a:extLst xmlns:a="http://schemas.openxmlformats.org/drawingml/2006/main">
              <a:ext uri="{FF2B5EF4-FFF2-40B4-BE49-F238E27FC236}">
                <a16:creationId xmlns:a16="http://schemas.microsoft.com/office/drawing/2014/main" id="{3C83FC4D-2063-44F9-B3FF-AE718869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让青年在具体服务中发挥所长</a:t>
            </a:r>
          </a:p>
        </p:txBody>
      </p:sp>
      <p:sp>
        <p:nvSpPr>
          <p:cNvPr id="5" name="text-40">
            <a:extLst xmlns:a="http://schemas.openxmlformats.org/drawingml/2006/main">
              <a:ext uri="{FF2B5EF4-FFF2-40B4-BE49-F238E27FC236}">
                <a16:creationId xmlns:a16="http://schemas.microsoft.com/office/drawing/2014/main" id="{52615A83-8D11-47D5-9FD3-8E416B30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生活帮扶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16F98-8A86-4046-895E-D151AB78D5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8842dee8254f5e"/>
          <a:stretch xmlns:a="http://schemas.openxmlformats.org/drawingml/2006/main"/>
        </p:blipFill>
        <p:spPr>
          <a:xfrm xmlns:a="http://schemas.openxmlformats.org/drawingml/2006/main">
            <a:off x="381000" y="1907381"/>
            <a:ext cx="2647950" cy="1985963"/>
          </a:xfrm>
          <a:prstGeom xmlns:a="http://schemas.openxmlformats.org/drawingml/2006/main" prst="rect">
            <a:avLst/>
          </a:prstGeom>
        </p:spPr>
      </p:pic>
      <p:sp>
        <p:nvSpPr>
          <p:cNvPr id="7" name="text-41">
            <a:extLst xmlns:a="http://schemas.openxmlformats.org/drawingml/2006/main">
              <a:ext uri="{FF2B5EF4-FFF2-40B4-BE49-F238E27FC236}">
                <a16:creationId xmlns:a16="http://schemas.microsoft.com/office/drawing/2014/main" id="{0FB0A02B-71A3-4014-A5E4-D337433F3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624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青年志愿者采摘蔬菜</a:t>
            </a:r>
          </a:p>
        </p:txBody>
      </p:sp>
      <p:sp>
        <p:nvSpPr>
          <p:cNvPr id="8" name="text-42">
            <a:extLst xmlns:a="http://schemas.openxmlformats.org/drawingml/2006/main">
              <a:ext uri="{FF2B5EF4-FFF2-40B4-BE49-F238E27FC236}">
                <a16:creationId xmlns:a16="http://schemas.microsoft.com/office/drawing/2014/main" id="{D5360A53-598E-4D53-897F-6E1B7AAB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7672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  <a:hlinkClick xmlns:r="http://schemas.openxmlformats.org/officeDocument/2006/relationships" r:id="R01cecb0d56474bbb"/>
              </a:rPr>
              <a:t>图源：kevin-meng 图文存档［A1］</a:t>
            </a:r>
          </a:p>
        </p:txBody>
      </p:sp>
      <p:sp>
        <p:nvSpPr>
          <p:cNvPr id="9" name="text-43">
            <a:extLst xmlns:a="http://schemas.openxmlformats.org/drawingml/2006/main">
              <a:ext uri="{FF2B5EF4-FFF2-40B4-BE49-F238E27FC236}">
                <a16:creationId xmlns:a16="http://schemas.microsoft.com/office/drawing/2014/main" id="{6896256F-999D-4D33-BB0B-5C8A882E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86275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存档日期：2022-04-01</a:t>
            </a:r>
          </a:p>
        </p:txBody>
      </p:sp>
      <p:sp>
        <p:nvSpPr>
          <p:cNvPr id="10" name="text-44">
            <a:extLst xmlns:a="http://schemas.openxmlformats.org/drawingml/2006/main">
              <a:ext uri="{FF2B5EF4-FFF2-40B4-BE49-F238E27FC236}">
                <a16:creationId xmlns:a16="http://schemas.microsoft.com/office/drawing/2014/main" id="{857ED875-7284-4D0C-9A74-EB05739BE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物资配送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BC7CE7-BB6B-4A85-AD42-A51AA219F4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59206b373e4744"/>
          <a:stretch xmlns:a="http://schemas.openxmlformats.org/drawingml/2006/main"/>
        </p:blipFill>
        <p:spPr>
          <a:xfrm xmlns:a="http://schemas.openxmlformats.org/drawingml/2006/main">
            <a:off x="3551397" y="1905000"/>
            <a:ext cx="2079305" cy="1990725"/>
          </a:xfrm>
          <a:prstGeom xmlns:a="http://schemas.openxmlformats.org/drawingml/2006/main" prst="rect">
            <a:avLst/>
          </a:prstGeom>
        </p:spPr>
      </p:pic>
      <p:sp>
        <p:nvSpPr>
          <p:cNvPr id="12" name="text-45">
            <a:extLst xmlns:a="http://schemas.openxmlformats.org/drawingml/2006/main">
              <a:ext uri="{FF2B5EF4-FFF2-40B4-BE49-F238E27FC236}">
                <a16:creationId xmlns:a16="http://schemas.microsoft.com/office/drawing/2014/main" id="{A8D0A0FA-D028-40FB-B901-7D13C67A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624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快递员参与社区服务</a:t>
            </a:r>
          </a:p>
        </p:txBody>
      </p:sp>
      <p:sp>
        <p:nvSpPr>
          <p:cNvPr id="13" name="text-46">
            <a:extLst xmlns:a="http://schemas.openxmlformats.org/drawingml/2006/main">
              <a:ext uri="{FF2B5EF4-FFF2-40B4-BE49-F238E27FC236}">
                <a16:creationId xmlns:a16="http://schemas.microsoft.com/office/drawing/2014/main" id="{CACF9BEB-789B-4314-8714-6B9A818BE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7672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  <a:hlinkClick xmlns:r="http://schemas.openxmlformats.org/officeDocument/2006/relationships" r:id="R15f46472c5ce4adc"/>
              </a:rPr>
              <a:t>图源：kevin-meng 图文存档［A2］</a:t>
            </a:r>
          </a:p>
        </p:txBody>
      </p:sp>
      <p:sp>
        <p:nvSpPr>
          <p:cNvPr id="14" name="text-47">
            <a:extLst xmlns:a="http://schemas.openxmlformats.org/drawingml/2006/main">
              <a:ext uri="{FF2B5EF4-FFF2-40B4-BE49-F238E27FC236}">
                <a16:creationId xmlns:a16="http://schemas.microsoft.com/office/drawing/2014/main" id="{E2A3A7FC-B15D-42E1-B0E8-3B570C77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86275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存档日期：2022-03-21</a:t>
            </a:r>
          </a:p>
        </p:txBody>
      </p:sp>
      <p:sp>
        <p:nvSpPr>
          <p:cNvPr id="15" name="text-48">
            <a:extLst xmlns:a="http://schemas.openxmlformats.org/drawingml/2006/main">
              <a:ext uri="{FF2B5EF4-FFF2-40B4-BE49-F238E27FC236}">
                <a16:creationId xmlns:a16="http://schemas.microsoft.com/office/drawing/2014/main" id="{EEBF4DE0-8D3A-47EE-8306-E5BF4F0C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专业服务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EC551D-2176-4A01-93E8-74073A838D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fd91e1829b43dc"/>
          <a:stretch xmlns:a="http://schemas.openxmlformats.org/drawingml/2006/main"/>
        </p:blipFill>
        <p:spPr>
          <a:xfrm xmlns:a="http://schemas.openxmlformats.org/drawingml/2006/main">
            <a:off x="6153150" y="1907381"/>
            <a:ext cx="2647950" cy="1985963"/>
          </a:xfrm>
          <a:prstGeom xmlns:a="http://schemas.openxmlformats.org/drawingml/2006/main" prst="rect">
            <a:avLst/>
          </a:prstGeom>
        </p:spPr>
      </p:pic>
      <p:sp>
        <p:nvSpPr>
          <p:cNvPr id="17" name="text-49">
            <a:extLst xmlns:a="http://schemas.openxmlformats.org/drawingml/2006/main">
              <a:ext uri="{FF2B5EF4-FFF2-40B4-BE49-F238E27FC236}">
                <a16:creationId xmlns:a16="http://schemas.microsoft.com/office/drawing/2014/main" id="{52455EF5-8176-41B7-89AC-F581C4E1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法律工作者义务咨询</a:t>
            </a:r>
          </a:p>
        </p:txBody>
      </p:sp>
      <p:sp>
        <p:nvSpPr>
          <p:cNvPr id="18" name="text-50">
            <a:extLst xmlns:a="http://schemas.openxmlformats.org/drawingml/2006/main">
              <a:ext uri="{FF2B5EF4-FFF2-40B4-BE49-F238E27FC236}">
                <a16:creationId xmlns:a16="http://schemas.microsoft.com/office/drawing/2014/main" id="{C27C40FF-CC28-40A5-BFB8-E2F0A948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7672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  <a:hlinkClick xmlns:r="http://schemas.openxmlformats.org/officeDocument/2006/relationships" r:id="R523fb072fe844f48"/>
              </a:rPr>
              <a:t>图源：kevin-meng 图文存档［A3］</a:t>
            </a:r>
          </a:p>
        </p:txBody>
      </p:sp>
      <p:sp>
        <p:nvSpPr>
          <p:cNvPr id="19" name="text-51">
            <a:extLst xmlns:a="http://schemas.openxmlformats.org/drawingml/2006/main">
              <a:ext uri="{FF2B5EF4-FFF2-40B4-BE49-F238E27FC236}">
                <a16:creationId xmlns:a16="http://schemas.microsoft.com/office/drawing/2014/main" id="{92FFF155-1E86-4EC9-8AE4-C55A6814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存档日期：2022-03-21</a:t>
            </a:r>
          </a:p>
        </p:txBody>
      </p:sp>
      <p:sp>
        <p:nvSpPr>
          <p:cNvPr id="20" name="text-52">
            <a:extLst xmlns:a="http://schemas.openxmlformats.org/drawingml/2006/main">
              <a:ext uri="{FF2B5EF4-FFF2-40B4-BE49-F238E27FC236}">
                <a16:creationId xmlns:a16="http://schemas.microsoft.com/office/drawing/2014/main" id="{30412D81-408E-4AB8-977A-7413DFC4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2022年上海疫情防控期间的服务实景；与楼宇主案例区分。完整来源见《图片来源清单》</a:t>
            </a:r>
          </a:p>
        </p:txBody>
      </p:sp>
    </p:spTree>
    <p:extLst>
      <p:ext uri="{BB962C8B-B14F-4D97-AF65-F5344CB8AC3E}">
        <p14:creationId xmlns:p14="http://schemas.microsoft.com/office/powerpoint/2010/main" val="770863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A3607C-7F2A-417E-913E-29C2F12D19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aa6c0e6e2499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53">
            <a:extLst xmlns:a="http://schemas.openxmlformats.org/drawingml/2006/main">
              <a:ext uri="{FF2B5EF4-FFF2-40B4-BE49-F238E27FC236}">
                <a16:creationId xmlns:a16="http://schemas.microsoft.com/office/drawing/2014/main" id="{C5D0B3AF-02CF-4E8F-BB0A-8C4A182B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54">
            <a:extLst xmlns:a="http://schemas.openxmlformats.org/drawingml/2006/main">
              <a:ext uri="{FF2B5EF4-FFF2-40B4-BE49-F238E27FC236}">
                <a16:creationId xmlns:a16="http://schemas.microsoft.com/office/drawing/2014/main" id="{F3C2C06E-E30D-453E-A38E-DF4E03CF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5429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55">
            <a:extLst xmlns:a="http://schemas.openxmlformats.org/drawingml/2006/main">
              <a:ext uri="{FF2B5EF4-FFF2-40B4-BE49-F238E27FC236}">
                <a16:creationId xmlns:a16="http://schemas.microsoft.com/office/drawing/2014/main" id="{69629640-CB39-4E65-8D02-289B42CA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先组织培训，再分工协作</a:t>
            </a:r>
          </a:p>
        </p:txBody>
      </p:sp>
      <p:sp>
        <p:nvSpPr>
          <p:cNvPr id="5" name="text-56">
            <a:extLst xmlns:a="http://schemas.openxmlformats.org/drawingml/2006/main">
              <a:ext uri="{FF2B5EF4-FFF2-40B4-BE49-F238E27FC236}">
                <a16:creationId xmlns:a16="http://schemas.microsoft.com/office/drawing/2014/main" id="{92AC338D-BEAF-46CA-9BD9-34F04BD1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培训分工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BA254C-D31F-458F-A59A-D24A5F2AEC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83784279834016"/>
          <a:stretch xmlns:a="http://schemas.openxmlformats.org/drawingml/2006/main"/>
        </p:blipFill>
        <p:spPr>
          <a:xfrm xmlns:a="http://schemas.openxmlformats.org/drawingml/2006/main">
            <a:off x="381000" y="2156240"/>
            <a:ext cx="2647950" cy="1488246"/>
          </a:xfrm>
          <a:prstGeom xmlns:a="http://schemas.openxmlformats.org/drawingml/2006/main" prst="rect">
            <a:avLst/>
          </a:prstGeom>
        </p:spPr>
      </p:pic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4BB81BC0-3D44-42F0-8213-7AAD058C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39624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青年突击队交流工作方法</a:t>
            </a:r>
          </a:p>
        </p:txBody>
      </p:sp>
      <p:sp>
        <p:nvSpPr>
          <p:cNvPr id="8" name="text-58">
            <a:extLst xmlns:a="http://schemas.openxmlformats.org/drawingml/2006/main">
              <a:ext uri="{FF2B5EF4-FFF2-40B4-BE49-F238E27FC236}">
                <a16:creationId xmlns:a16="http://schemas.microsoft.com/office/drawing/2014/main" id="{6ACE3299-DAA4-49A7-9A8B-2A0B1E250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7672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  <a:hlinkClick xmlns:r="http://schemas.openxmlformats.org/officeDocument/2006/relationships" r:id="R4cb7a2e3674a41b9"/>
              </a:rPr>
              <a:t>图源：kevin-meng 图文存档［A4］</a:t>
            </a:r>
          </a:p>
        </p:txBody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9193C142-E217-4148-B7A2-0F29A8D6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86275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存档日期：2022-03-26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5DF874BC-085B-4AF0-9BDB-D94FA9A7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收集诉求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0C19F3-55F8-4620-AC45-26A1003864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ef508fa8b464a"/>
          <a:stretch xmlns:a="http://schemas.openxmlformats.org/drawingml/2006/main"/>
        </p:blipFill>
        <p:spPr>
          <a:xfrm xmlns:a="http://schemas.openxmlformats.org/drawingml/2006/main">
            <a:off x="3267075" y="1906951"/>
            <a:ext cx="2647950" cy="1986823"/>
          </a:xfrm>
          <a:prstGeom xmlns:a="http://schemas.openxmlformats.org/drawingml/2006/main" prst="rect">
            <a:avLst/>
          </a:prstGeom>
        </p:spPr>
      </p:pic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223A977E-0EE4-4447-ABD5-18DC987D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9624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青年社区工作者协调服务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5238B3E8-1634-4DEC-B4F9-509B562A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7672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  <a:hlinkClick xmlns:r="http://schemas.openxmlformats.org/officeDocument/2006/relationships" r:id="Rc547bfed430a4e0c"/>
              </a:rPr>
              <a:t>图源：kevin-meng 图文存档［A5］</a:t>
            </a:r>
          </a:p>
        </p:txBody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238DC459-D148-411C-81F4-D145948D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486275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存档日期：2022-03-29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6AA80A09-F1B4-4ED1-9B29-1A783441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52550"/>
            <a:ext cx="26479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0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共同参与</a:t>
            </a:r>
          </a:p>
        </p:txBody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3E6C4F-3574-46E0-978E-4FB0A867C9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493fcae4c4dd9"/>
          <a:stretch xmlns:a="http://schemas.openxmlformats.org/drawingml/2006/main"/>
        </p:blipFill>
        <p:spPr>
          <a:xfrm xmlns:a="http://schemas.openxmlformats.org/drawingml/2006/main">
            <a:off x="6153150" y="2019092"/>
            <a:ext cx="2647950" cy="1762542"/>
          </a:xfrm>
          <a:prstGeom xmlns:a="http://schemas.openxmlformats.org/drawingml/2006/main" prst="rect">
            <a:avLst/>
          </a:prstGeom>
        </p:spPr>
      </p:pic>
      <p:sp>
        <p:nvSpPr>
          <p:cNvPr id="17" name="text-65">
            <a:extLst xmlns:a="http://schemas.openxmlformats.org/drawingml/2006/main">
              <a:ext uri="{FF2B5EF4-FFF2-40B4-BE49-F238E27FC236}">
                <a16:creationId xmlns:a16="http://schemas.microsoft.com/office/drawing/2014/main" id="{64F2C879-F056-4827-8E7D-4BB0873D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624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4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党员与青年工作者投入服务</a:t>
            </a:r>
          </a:p>
        </p:txBody>
      </p:sp>
      <p:sp>
        <p:nvSpPr>
          <p:cNvPr id="18" name="text-66">
            <a:extLst xmlns:a="http://schemas.openxmlformats.org/drawingml/2006/main">
              <a:ext uri="{FF2B5EF4-FFF2-40B4-BE49-F238E27FC236}">
                <a16:creationId xmlns:a16="http://schemas.microsoft.com/office/drawing/2014/main" id="{D24765E8-8C65-442C-A96E-1C84980E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276725"/>
            <a:ext cx="2647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  <a:hlinkClick xmlns:r="http://schemas.openxmlformats.org/officeDocument/2006/relationships" r:id="R839afc5b30ba4c30"/>
              </a:rPr>
              <a:t>图源：kevin-meng 图文存档［A6］</a:t>
            </a:r>
          </a:p>
        </p:txBody>
      </p:sp>
      <p:sp>
        <p:nvSpPr>
          <p:cNvPr id="19" name="text-67">
            <a:extLst xmlns:a="http://schemas.openxmlformats.org/drawingml/2006/main">
              <a:ext uri="{FF2B5EF4-FFF2-40B4-BE49-F238E27FC236}">
                <a16:creationId xmlns:a16="http://schemas.microsoft.com/office/drawing/2014/main" id="{8C51691E-DBFE-4364-9A29-87FD849E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486275"/>
            <a:ext cx="26479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存档日期：2022-04-02</a:t>
            </a:r>
          </a:p>
        </p:txBody>
      </p:sp>
      <p:sp>
        <p:nvSpPr>
          <p:cNvPr id="20" name="text-68">
            <a:extLst xmlns:a="http://schemas.openxmlformats.org/drawingml/2006/main">
              <a:ext uri="{FF2B5EF4-FFF2-40B4-BE49-F238E27FC236}">
                <a16:creationId xmlns:a16="http://schemas.microsoft.com/office/drawing/2014/main" id="{8C1D4072-E8BF-401F-8B37-A79A9830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2022年上海疫情防控期间的服务实景；与楼宇主案例区分。完整来源见《图片来源清单》</a:t>
            </a:r>
          </a:p>
        </p:txBody>
      </p:sp>
    </p:spTree>
    <p:extLst>
      <p:ext uri="{BB962C8B-B14F-4D97-AF65-F5344CB8AC3E}">
        <p14:creationId xmlns:p14="http://schemas.microsoft.com/office/powerpoint/2010/main" val="12186614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AA97FA-0670-4205-ABF3-E11960B2F15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b77b3b188425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52450"/>
          </a:xfrm>
          <a:prstGeom xmlns:a="http://schemas.openxmlformats.org/drawingml/2006/main" prst="rect">
            <a:avLst/>
          </a:prstGeom>
        </p:spPr>
      </p:pic>
      <p:sp>
        <p:nvSpPr>
          <p:cNvPr id="2" name="surface-69">
            <a:extLst xmlns:a="http://schemas.openxmlformats.org/drawingml/2006/main">
              <a:ext uri="{FF2B5EF4-FFF2-40B4-BE49-F238E27FC236}">
                <a16:creationId xmlns:a16="http://schemas.microsoft.com/office/drawing/2014/main" id="{8FD78978-8213-4C20-A927-B885FD6C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24425"/>
            <a:ext cx="91440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rface-70">
            <a:extLst xmlns:a="http://schemas.openxmlformats.org/drawingml/2006/main">
              <a:ext uri="{FF2B5EF4-FFF2-40B4-BE49-F238E27FC236}">
                <a16:creationId xmlns:a16="http://schemas.microsoft.com/office/drawing/2014/main" id="{0A77B1D6-9BAA-4A21-BDCF-7A0F5A09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" y="552450"/>
            <a:ext cx="4714875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ext-71">
            <a:extLst xmlns:a="http://schemas.openxmlformats.org/drawingml/2006/main">
              <a:ext uri="{FF2B5EF4-FFF2-40B4-BE49-F238E27FC236}">
                <a16:creationId xmlns:a16="http://schemas.microsoft.com/office/drawing/2014/main" id="{421BF7B5-FC8F-4B54-BA28-6881D8EAC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90550"/>
            <a:ext cx="43910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从团支部身边的一件事开始</a:t>
            </a:r>
          </a:p>
        </p:txBody>
      </p:sp>
      <p:sp>
        <p:nvSpPr>
          <p:cNvPr id="5" name="surface-72">
            <a:extLst xmlns:a="http://schemas.openxmlformats.org/drawingml/2006/main">
              <a:ext uri="{FF2B5EF4-FFF2-40B4-BE49-F238E27FC236}">
                <a16:creationId xmlns:a16="http://schemas.microsoft.com/office/drawing/2014/main" id="{DE7ACE0D-72C4-46CE-9A44-5ABA5118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04950"/>
            <a:ext cx="2809875" cy="2886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DC"/>
          </a:solidFill>
          <a:ln xmlns:a="http://schemas.openxmlformats.org/drawingml/2006/main" w="9525">
            <a:solidFill>
              <a:srgbClr val="CDA972"/>
            </a:solidFill>
            <a:prstDash val="solid"/>
          </a:ln>
        </p:spPr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3C86CE26-AA7F-4AEF-93B2-9BDD84F0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28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95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195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回到那张小纸条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14FCD055-1610-401D-8880-B0192769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2428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2325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有事可以来找我</a:t>
            </a:r>
          </a:p>
        </p:txBody>
      </p:sp>
      <p:sp>
        <p:nvSpPr>
          <p:cNvPr id="8" name="text-75">
            <a:extLst xmlns:a="http://schemas.openxmlformats.org/drawingml/2006/main">
              <a:ext uri="{FF2B5EF4-FFF2-40B4-BE49-F238E27FC236}">
                <a16:creationId xmlns:a16="http://schemas.microsoft.com/office/drawing/2014/main" id="{CA4087E0-9215-421F-838C-BBCDB244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2428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主动走到人身边</a:t>
            </a:r>
          </a:p>
        </p:txBody>
      </p:sp>
      <p:sp>
        <p:nvSpPr>
          <p:cNvPr id="9" name="surface-76">
            <a:extLst xmlns:a="http://schemas.openxmlformats.org/drawingml/2006/main">
              <a:ext uri="{FF2B5EF4-FFF2-40B4-BE49-F238E27FC236}">
                <a16:creationId xmlns:a16="http://schemas.microsoft.com/office/drawing/2014/main" id="{59DB80D2-1BED-47FD-AFB2-EC7FFD67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704975"/>
            <a:ext cx="190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BC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rface-77">
            <a:extLst xmlns:a="http://schemas.openxmlformats.org/drawingml/2006/main">
              <a:ext uri="{FF2B5EF4-FFF2-40B4-BE49-F238E27FC236}">
                <a16:creationId xmlns:a16="http://schemas.microsoft.com/office/drawing/2014/main" id="{7DA4CA81-00AA-44EF-B6CF-ABB0FBB2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6210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78">
            <a:extLst xmlns:a="http://schemas.openxmlformats.org/drawingml/2006/main">
              <a:ext uri="{FF2B5EF4-FFF2-40B4-BE49-F238E27FC236}">
                <a16:creationId xmlns:a16="http://schemas.microsoft.com/office/drawing/2014/main" id="{C4462827-D3D5-4862-8B15-A1B6AF83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15621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1</a:t>
            </a:r>
          </a:p>
        </p:txBody>
      </p:sp>
      <p:sp>
        <p:nvSpPr>
          <p:cNvPr id="12" name="text-79">
            <a:extLst xmlns:a="http://schemas.openxmlformats.org/drawingml/2006/main">
              <a:ext uri="{FF2B5EF4-FFF2-40B4-BE49-F238E27FC236}">
                <a16:creationId xmlns:a16="http://schemas.microsoft.com/office/drawing/2014/main" id="{13F72A8D-3324-40E1-9139-269DD65B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495425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听青年在意什么</a:t>
            </a:r>
          </a:p>
        </p:txBody>
      </p:sp>
      <p:sp>
        <p:nvSpPr>
          <p:cNvPr id="13" name="surface-80">
            <a:extLst xmlns:a="http://schemas.openxmlformats.org/drawingml/2006/main">
              <a:ext uri="{FF2B5EF4-FFF2-40B4-BE49-F238E27FC236}">
                <a16:creationId xmlns:a16="http://schemas.microsoft.com/office/drawing/2014/main" id="{3CD2A634-C63E-46ED-BB49-02F43E4B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27647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81">
            <a:extLst xmlns:a="http://schemas.openxmlformats.org/drawingml/2006/main">
              <a:ext uri="{FF2B5EF4-FFF2-40B4-BE49-F238E27FC236}">
                <a16:creationId xmlns:a16="http://schemas.microsoft.com/office/drawing/2014/main" id="{2AEB97B3-2CB5-4BA9-8F62-D2B350B14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2764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2</a:t>
            </a:r>
          </a:p>
        </p:txBody>
      </p:sp>
      <p:sp>
        <p:nvSpPr>
          <p:cNvPr id="15" name="text-82">
            <a:extLst xmlns:a="http://schemas.openxmlformats.org/drawingml/2006/main">
              <a:ext uri="{FF2B5EF4-FFF2-40B4-BE49-F238E27FC236}">
                <a16:creationId xmlns:a16="http://schemas.microsoft.com/office/drawing/2014/main" id="{BC8BEFD9-370D-42EF-9E13-AC4D7EF4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20980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依托党组织争取资源与支持</a:t>
            </a:r>
          </a:p>
        </p:txBody>
      </p:sp>
      <p:sp>
        <p:nvSpPr>
          <p:cNvPr id="16" name="surface-83">
            <a:extLst xmlns:a="http://schemas.openxmlformats.org/drawingml/2006/main">
              <a:ext uri="{FF2B5EF4-FFF2-40B4-BE49-F238E27FC236}">
                <a16:creationId xmlns:a16="http://schemas.microsoft.com/office/drawing/2014/main" id="{02AEDDE4-7379-4417-8011-59770AA2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90850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84">
            <a:extLst xmlns:a="http://schemas.openxmlformats.org/drawingml/2006/main">
              <a:ext uri="{FF2B5EF4-FFF2-40B4-BE49-F238E27FC236}">
                <a16:creationId xmlns:a16="http://schemas.microsoft.com/office/drawing/2014/main" id="{E159BC10-F7C4-4A9E-86BE-5ED0B87B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99085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3</a:t>
            </a:r>
          </a:p>
        </p:txBody>
      </p:sp>
      <p:sp>
        <p:nvSpPr>
          <p:cNvPr id="18" name="text-85">
            <a:extLst xmlns:a="http://schemas.openxmlformats.org/drawingml/2006/main">
              <a:ext uri="{FF2B5EF4-FFF2-40B4-BE49-F238E27FC236}">
                <a16:creationId xmlns:a16="http://schemas.microsoft.com/office/drawing/2014/main" id="{9189FCA2-144C-4FA9-94BA-1C65F6051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924175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725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由团组织把青年组织起来共同行动</a:t>
            </a:r>
          </a:p>
        </p:txBody>
      </p:sp>
      <p:sp>
        <p:nvSpPr>
          <p:cNvPr id="19" name="surface-86">
            <a:extLst xmlns:a="http://schemas.openxmlformats.org/drawingml/2006/main">
              <a:ext uri="{FF2B5EF4-FFF2-40B4-BE49-F238E27FC236}">
                <a16:creationId xmlns:a16="http://schemas.microsoft.com/office/drawing/2014/main" id="{F039DAFF-8FB9-4D9C-87A9-38BFFA9B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05225"/>
            <a:ext cx="381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2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-87">
            <a:extLst xmlns:a="http://schemas.openxmlformats.org/drawingml/2006/main">
              <a:ext uri="{FF2B5EF4-FFF2-40B4-BE49-F238E27FC236}">
                <a16:creationId xmlns:a16="http://schemas.microsoft.com/office/drawing/2014/main" id="{DDE00577-1CC5-4EC5-994C-7A105734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70522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defRPr>
            </a:pPr>
            <a:r>
              <a:rPr sz="1875" b="0">
                <a:solidFill>
                  <a:srgbClr val="FFFFFF"/>
                </a:solidFill>
                <a:latin typeface="LXGW WenKai"/>
                <a:ea typeface="LXGW WenKai"/>
                <a:cs typeface="LXGW WenKai"/>
              </a:rPr>
              <a:t>4</a:t>
            </a:r>
          </a:p>
        </p:txBody>
      </p:sp>
      <p:sp>
        <p:nvSpPr>
          <p:cNvPr id="21" name="text-88">
            <a:extLst xmlns:a="http://schemas.openxmlformats.org/drawingml/2006/main">
              <a:ext uri="{FF2B5EF4-FFF2-40B4-BE49-F238E27FC236}">
                <a16:creationId xmlns:a16="http://schemas.microsoft.com/office/drawing/2014/main" id="{F3182828-9E9D-443B-B416-F65CC589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38550"/>
            <a:ext cx="4362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171717"/>
                </a:solidFill>
                <a:latin typeface="LXGW WenKai"/>
                <a:ea typeface="LXGW WenKai"/>
                <a:cs typeface="LXGW WenKai"/>
              </a:rPr>
              <a:t>反馈结果与仍需解决的问题</a:t>
            </a:r>
          </a:p>
        </p:txBody>
      </p:sp>
      <p:sp>
        <p:nvSpPr>
          <p:cNvPr id="22" name="text-89">
            <a:extLst xmlns:a="http://schemas.openxmlformats.org/drawingml/2006/main">
              <a:ext uri="{FF2B5EF4-FFF2-40B4-BE49-F238E27FC236}">
                <a16:creationId xmlns:a16="http://schemas.microsoft.com/office/drawing/2014/main" id="{784E4428-1F93-42BE-849C-8FB2075C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3624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9A2418"/>
                </a:solidFill>
                <a:latin typeface="LXGW WenKai"/>
                <a:ea typeface="LXGW WenKai"/>
                <a:cs typeface="LXGW WenKai"/>
              </a:defRPr>
            </a:pPr>
            <a:r>
              <a:rPr sz="1800" b="0">
                <a:solidFill>
                  <a:srgbClr val="9A2418"/>
                </a:solidFill>
                <a:latin typeface="LXGW WenKai"/>
                <a:ea typeface="LXGW WenKai"/>
                <a:cs typeface="LXGW WenKai"/>
              </a:rPr>
              <a:t>让服务有回应，让青年有参与</a:t>
            </a:r>
          </a:p>
        </p:txBody>
      </p:sp>
      <p:sp>
        <p:nvSpPr>
          <p:cNvPr id="23" name="text-90">
            <a:extLst xmlns:a="http://schemas.openxmlformats.org/drawingml/2006/main">
              <a:ext uri="{FF2B5EF4-FFF2-40B4-BE49-F238E27FC236}">
                <a16:creationId xmlns:a16="http://schemas.microsoft.com/office/drawing/2014/main" id="{BC5EFC78-BE79-4DD2-9E7E-7FA1D5E3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686300"/>
            <a:ext cx="838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l">
              <a:def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defRPr>
            </a:pPr>
            <a:r>
              <a:rPr sz="825" b="0">
                <a:solidFill>
                  <a:srgbClr val="666666"/>
                </a:solidFill>
                <a:latin typeface="LXGW WenKai"/>
                <a:ea typeface="LXGW WenKai"/>
                <a:cs typeface="LXGW WenKai"/>
              </a:rPr>
              <a:t>结尾回扣：从电话号码小纸条，到团支部可以共同完成的一件具体事</a:t>
            </a:r>
          </a:p>
        </p:txBody>
      </p:sp>
    </p:spTree>
    <p:extLst>
      <p:ext uri="{BB962C8B-B14F-4D97-AF65-F5344CB8AC3E}">
        <p14:creationId xmlns:p14="http://schemas.microsoft.com/office/powerpoint/2010/main" val="12163277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A900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9E7668-41A5-4E39-9DDF-99A105BD85B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d3c23c63141ac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C6902-12EF-4FF6-91EA-F88C9F8D4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3aa789f96547db"/>
          <a:srcRect xmlns:a="http://schemas.openxmlformats.org/drawingml/2006/main" l="0" t="12500" r="0" b="125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1">
            <a:off x="4572000" y="0"/>
            <a:ext cx="4572000" cy="51435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8C624-FEDC-493C-9B17-D67D10F9E3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f6fa201dc40a4"/>
          <a:stretch xmlns:a="http://schemas.openxmlformats.org/drawingml/2006/main"/>
        </p:blipFill>
        <p:spPr>
          <a:xfrm xmlns:a="http://schemas.openxmlformats.org/drawingml/2006/main">
            <a:off x="1628775" y="3536439"/>
            <a:ext cx="6305550" cy="1280547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9DBAE-EB08-49AD-A327-EBEFCC0385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50e7e363884c77"/>
          <a:stretch xmlns:a="http://schemas.openxmlformats.org/drawingml/2006/main"/>
        </p:blipFill>
        <p:spPr>
          <a:xfrm xmlns:a="http://schemas.openxmlformats.org/drawingml/2006/main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A14329-F44D-495B-94FD-0307C5352D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e852d762324236"/>
          <a:stretch xmlns:a="http://schemas.openxmlformats.org/drawingml/2006/main"/>
        </p:blipFill>
        <p:spPr>
          <a:xfrm xmlns:a="http://schemas.openxmlformats.org/drawingml/2006/main" flipH="1">
            <a:off x="0" y="4028237"/>
            <a:ext cx="9144000" cy="1049426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805AD-3BDD-4ED7-B157-C8E507ACA4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c7244aeec48a0"/>
          <a:stretch xmlns:a="http://schemas.openxmlformats.org/drawingml/2006/main"/>
        </p:blipFill>
        <p:spPr>
          <a:xfrm xmlns:a="http://schemas.openxmlformats.org/drawingml/2006/main">
            <a:off x="0" y="4078605"/>
            <a:ext cx="9144000" cy="106299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39337-6C77-4D20-989D-5935B60642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ac8b37b8a45b6"/>
          <a:stretch xmlns:a="http://schemas.openxmlformats.org/drawingml/2006/main"/>
        </p:blipFill>
        <p:spPr>
          <a:xfrm xmlns:a="http://schemas.openxmlformats.org/drawingml/2006/main" flipH="1">
            <a:off x="125349" y="3724275"/>
            <a:ext cx="1559052" cy="1028700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C6F27-5E00-42A1-BA7F-B129CE90555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2d6359e3534783"/>
          <a:stretch xmlns:a="http://schemas.openxmlformats.org/drawingml/2006/main"/>
        </p:blipFill>
        <p:spPr>
          <a:xfrm xmlns:a="http://schemas.openxmlformats.org/drawingml/2006/main">
            <a:off x="7601903" y="3724275"/>
            <a:ext cx="1417320" cy="10287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8F3CC5-1346-4084-9F4F-6C6EF93CB4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cff1d67764f39"/>
          <a:stretch xmlns:a="http://schemas.openxmlformats.org/drawingml/2006/main"/>
        </p:blipFill>
        <p:spPr>
          <a:xfrm xmlns:a="http://schemas.openxmlformats.org/drawingml/2006/main">
            <a:off x="666916" y="219075"/>
            <a:ext cx="2352343" cy="13906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C9B21-3D28-4CC6-8944-7011473136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8dde052b414544"/>
          <a:stretch xmlns:a="http://schemas.openxmlformats.org/drawingml/2006/main"/>
        </p:blipFill>
        <p:spPr>
          <a:xfrm xmlns:a="http://schemas.openxmlformats.org/drawingml/2006/main" flipH="1">
            <a:off x="5819775" y="238685"/>
            <a:ext cx="2286000" cy="1351429"/>
          </a:xfrm>
          <a:prstGeom xmlns:a="http://schemas.openxmlformats.org/drawingml/2006/main" prst="rect">
            <a:avLst/>
          </a:prstGeom>
        </p:spPr>
      </p:pic>
      <p:sp>
        <p:nvSpPr>
          <p:cNvPr id="11" name="text-91">
            <a:extLst xmlns:a="http://schemas.openxmlformats.org/drawingml/2006/main">
              <a:ext uri="{FF2B5EF4-FFF2-40B4-BE49-F238E27FC236}">
                <a16:creationId xmlns:a16="http://schemas.microsoft.com/office/drawing/2014/main" id="{6BFF7399-9818-47BE-A53D-B1446835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809625"/>
            <a:ext cx="7239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4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一栋楼里的组织力</a:t>
            </a:r>
          </a:p>
        </p:txBody>
      </p:sp>
      <p:sp>
        <p:nvSpPr>
          <p:cNvPr id="12" name="text-92">
            <a:extLst xmlns:a="http://schemas.openxmlformats.org/drawingml/2006/main">
              <a:ext uri="{FF2B5EF4-FFF2-40B4-BE49-F238E27FC236}">
                <a16:creationId xmlns:a16="http://schemas.microsoft.com/office/drawing/2014/main" id="{BD5A5F19-7921-4FA4-9D17-D2157D5C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组织覆盖，让人找得到</a:t>
            </a:r>
          </a:p>
        </p:txBody>
      </p:sp>
      <p:sp>
        <p:nvSpPr>
          <p:cNvPr id="13" name="text-93">
            <a:extLst xmlns:a="http://schemas.openxmlformats.org/drawingml/2006/main">
              <a:ext uri="{FF2B5EF4-FFF2-40B4-BE49-F238E27FC236}">
                <a16:creationId xmlns:a16="http://schemas.microsoft.com/office/drawing/2014/main" id="{7FCF8EEE-023B-473C-AE7E-B504CFFEF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24050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党员示范，让信任立得住</a:t>
            </a:r>
          </a:p>
        </p:txBody>
      </p:sp>
      <p:sp>
        <p:nvSpPr>
          <p:cNvPr id="14" name="text-94">
            <a:extLst xmlns:a="http://schemas.openxmlformats.org/drawingml/2006/main">
              <a:ext uri="{FF2B5EF4-FFF2-40B4-BE49-F238E27FC236}">
                <a16:creationId xmlns:a16="http://schemas.microsoft.com/office/drawing/2014/main" id="{DFBC86C5-985A-46C0-BC5C-9ED0BB306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762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217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青年参与，让组织力有现实落点</a:t>
            </a:r>
          </a:p>
        </p:txBody>
      </p:sp>
      <p:sp>
        <p:nvSpPr>
          <p:cNvPr id="15" name="text-95">
            <a:extLst xmlns:a="http://schemas.openxmlformats.org/drawingml/2006/main">
              <a:ext uri="{FF2B5EF4-FFF2-40B4-BE49-F238E27FC236}">
                <a16:creationId xmlns:a16="http://schemas.microsoft.com/office/drawing/2014/main" id="{88B377C3-15F8-4056-97E9-7E60677A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908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22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defPPr>
          </a:lstStyle>
          <a:p xmlns:a="http://schemas.openxmlformats.org/drawingml/2006/main">
            <a:pPr algn="ctr">
              <a:defRPr sz="3225" b="0">
                <a:solidFill>
                  <a:srgbClr val="F3D78D"/>
                </a:solidFill>
                <a:latin typeface="LXGW WenKai"/>
                <a:ea typeface="LXGW WenKai"/>
                <a:cs typeface="LXGW WenKai"/>
              </a:defRPr>
            </a:pPr>
            <a:r>
              <a:rPr sz="3225" b="0">
                <a:solidFill>
                  <a:srgbClr val="F3D78D"/>
                </a:solidFill>
                <a:latin typeface="LXGW WenKai"/>
                <a:ea typeface="LXGW WenKai"/>
                <a:cs typeface="LXGW WenKai"/>
              </a:rPr>
              <a:t>谢谢大家</a:t>
            </a:r>
          </a:p>
        </p:txBody>
      </p:sp>
    </p:spTree>
    <p:extLst>
      <p:ext uri="{BB962C8B-B14F-4D97-AF65-F5344CB8AC3E}">
        <p14:creationId xmlns:p14="http://schemas.microsoft.com/office/powerpoint/2010/main" val="11494298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2026-11-01T09:24:21.6300000Z</dcterms:created>
  <dcterms:modified xsi:type="dcterms:W3CDTF">2026-11-01T09:24:21.6300000Z</dcterms:modified>
</coreProperties>
</file>