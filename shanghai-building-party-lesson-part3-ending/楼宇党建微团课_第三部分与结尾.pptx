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a2caec32324abb" /><Relationship Type="http://schemas.openxmlformats.org/officeDocument/2006/relationships/extended-properties" Target="/docProps/app.xml" Id="Rf2eba190516b40f6" /><Relationship Type="http://schemas.openxmlformats.org/officeDocument/2006/relationships/officeDocument" Target="/ppt/presentation.xml" Id="Ra1e5c1fadb2d4e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0b6218da35483a"/>
  </p:sldMasterIdLst>
  <p:notesMasterIdLst>
    <p:notesMasterId xmlns:r="http://schemas.openxmlformats.org/officeDocument/2006/relationships" r:id="R80290df4b4b241f6"/>
  </p:notesMasterIdLst>
  <p:sldIdLst>
    <p:sldId xmlns:r="http://schemas.openxmlformats.org/officeDocument/2006/relationships" id="256" r:id="R5ba877a5380f4963"/>
    <p:sldId xmlns:r="http://schemas.openxmlformats.org/officeDocument/2006/relationships" id="257" r:id="R5bfb015e6e5c4b20"/>
    <p:sldId xmlns:r="http://schemas.openxmlformats.org/officeDocument/2006/relationships" id="258" r:id="R8381be6114584357"/>
    <p:sldId xmlns:r="http://schemas.openxmlformats.org/officeDocument/2006/relationships" id="259" r:id="Rf692ccd938854e13"/>
    <p:sldId xmlns:r="http://schemas.openxmlformats.org/officeDocument/2006/relationships" id="260" r:id="Rcccbd7a259234af2"/>
    <p:sldId xmlns:r="http://schemas.openxmlformats.org/officeDocument/2006/relationships" id="261" r:id="R114bf3caeff54f9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8ca52b35dc4d45" /><Relationship Type="http://schemas.openxmlformats.org/officeDocument/2006/relationships/slideMaster" Target="/ppt/slideMasters/slideMaster1.xml" Id="R120b6218da35483a" /><Relationship Type="http://schemas.openxmlformats.org/officeDocument/2006/relationships/notesMaster" Target="/ppt/notesMasters/notesMaster1.xml" Id="R80290df4b4b241f6" /><Relationship Type="http://schemas.openxmlformats.org/officeDocument/2006/relationships/presProps" Target="/ppt/presProps.xml" Id="R6ae17f48460e46a6" /><Relationship Type="http://schemas.openxmlformats.org/officeDocument/2006/relationships/tableStyles" Target="/ppt/tableStyles.xml" Id="R53daeb19db794350" /><Relationship Type="http://schemas.openxmlformats.org/officeDocument/2006/relationships/slide" Target="/ppt/slides/slide1.xml" Id="R5ba877a5380f4963" /><Relationship Type="http://schemas.openxmlformats.org/officeDocument/2006/relationships/slide" Target="/ppt/slides/slide2.xml" Id="R5bfb015e6e5c4b20" /><Relationship Type="http://schemas.openxmlformats.org/officeDocument/2006/relationships/slide" Target="/ppt/slides/slide3.xml" Id="R8381be6114584357" /><Relationship Type="http://schemas.openxmlformats.org/officeDocument/2006/relationships/slide" Target="/ppt/slides/slide4.xml" Id="Rf692ccd938854e13" /><Relationship Type="http://schemas.openxmlformats.org/officeDocument/2006/relationships/slide" Target="/ppt/slides/slide5.xml" Id="Rcccbd7a259234af2" /><Relationship Type="http://schemas.openxmlformats.org/officeDocument/2006/relationships/slide" Target="/ppt/slides/slide6.xml" Id="R114bf3caeff5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1a9edce9e342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49850dfb64010" /><Relationship Type="http://schemas.openxmlformats.org/officeDocument/2006/relationships/notesMaster" Target="/ppt/notesMasters/notesMaster1.xml" Id="R15b5b952aa3c40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be4e6967641e8" /><Relationship Type="http://schemas.openxmlformats.org/officeDocument/2006/relationships/notesMaster" Target="/ppt/notesMasters/notesMaster1.xml" Id="Ra599836ee2d841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2e4dec55894a63" /><Relationship Type="http://schemas.openxmlformats.org/officeDocument/2006/relationships/notesMaster" Target="/ppt/notesMasters/notesMaster1.xml" Id="R52d8743bf9f742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64862700764512" /><Relationship Type="http://schemas.openxmlformats.org/officeDocument/2006/relationships/notesMaster" Target="/ppt/notesMasters/notesMaster1.xml" Id="Rc2ba9df09dc244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4b6539907c48e8" /><Relationship Type="http://schemas.openxmlformats.org/officeDocument/2006/relationships/notesMaster" Target="/ppt/notesMasters/notesMaster1.xml" Id="Rb08a52f68a0a42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afbdf2febe4652" /><Relationship Type="http://schemas.openxmlformats.org/officeDocument/2006/relationships/notesMaster" Target="/ppt/notesMasters/notesMaster1.xml" Id="R85e4f21bd049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群众路线不是抽象词，它要落到听见诉求、办好事情、持续回应。中华企业大厦的物业故事，让我们看到信任怎样在日常里积累。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红绸、飘带、城市剪影、飞鸟等装饰沿用用户参考PDF；章节标题为可编辑文字。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《文汇报》报道，大厦业主变更时，原物业管理方被租户集体挽留。一个重要原因是，物业长期配合党群工作者了解白领党员的情况和需求，也为组织生活和党群活动提供空间。人们记住的，是平时有人联系、遇到事情有人回应。[7]</a:t>
            </a:r>
          </a:p>
          <a:p xmlns:a="http://schemas.openxmlformats.org/drawingml/2006/main">
            <a:r>
              <a:t>这也说明组织力最终要落到群众感受上：党员能不能被看见，党组织做的事情有没有用，影响着人们愿不愿意靠近组织。对团组织来说，党组织的引领和保障也要转化成青年愿意参与、能够参与的工作。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《文汇报》2019-04-23，关于中华企业大厦原物业获租户挽留及长期配合党群工作的报道：https://wenhui.whb.cn/third/jinri/201904/23/257857.html</a:t>
            </a:r>
          </a:p>
          <a:p xmlns:a="http://schemas.openxmlformats.org/drawingml/2006/main">
            <a:r>
              <a:t>照片：参考PDF第8页早期服务点历史照片、第10页静安寺街道社区党群服务中心外观。右图不作为中华企业大厦的现场照片。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静安寺商圈还有一个延伸镜头。文汇报曾记录，越洋广场的青年白领参与垃圾分类改造、组建志愿者队伍，并把行动延伸到周边居民区。地点不是中华企业大厦，但它说明，当实际问题被认真回应，青年可以从服务对象成为治理参与者。[7]</a:t>
            </a:r>
          </a:p>
          <a:p xmlns:a="http://schemas.openxmlformats.org/drawingml/2006/main">
            <a:r>
              <a:t>如果青年只是服务的接受者，联系就可能到此为止；如果青年能提出问题、聚合力量、一起行动，服务就有了更持久的组织基础。这给团组织提供了具体入口：围绕青年真实需求，把服务项目和实践机会送到青年身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《文汇报》2019-04-23，越洋广场青年白领改造垃圾分类设施、组建志愿者队伍并走进景华居民区的报道：https://wenhui.whb.cn/third/jinri/201904/23/257857.html</a:t>
            </a:r>
          </a:p>
          <a:p xmlns:a="http://schemas.openxmlformats.org/drawingml/2006/main">
            <a:r>
              <a:t>照片：参考PDF第3页上海商务楼宇航拍、第12页两张组织活动照片。三张均作场景说明，未将其标注为越洋广场垃圾分类活动的现场照片。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党建引领团建落到工作方法上，就是党组织加强政治引领、组织保障和资源协调；团组织贴近青年，摸清需求，设计青年愿意参与的服务和实践，再把结果反馈回来。团组织不是另起炉灶，而是把党的引领转化成青年身边看得见、参加得了的工作。[13]</a:t>
            </a:r>
          </a:p>
          <a:p xmlns:a="http://schemas.openxmlformats.org/drawingml/2006/main">
            <a:r>
              <a:t>“十五五”规划纲要提出帮助青年解决求学工作、住房保障、社会融入等实际困难，完善利益表达和诉求响应机制，拓展青年参与社会治理的渠道。[14]这与楼宇党建的启示相通：青年既需要有人服务，也需要表达意见、参与行动的空间。</a:t>
            </a:r>
          </a:p>
          <a:p xmlns:a="http://schemas.openxmlformats.org/drawingml/2006/main">
            <a:r>
              <a:t>因此，一座楼宇是否真正成为组织阵地，不能只看挂牌和活动数量，还要看青年提出的需求有没有回音，团组织能不能把青年组织起来，服务能不能持续。青年得到服务、拥有成长和参与机会，党建引领团建才有具体落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新华社，2026-03-20，《关于加强党建带团建工作的意见》：https://www1.xinhuanet.com/politics/zywj/20260320/fb2ae4b861774001b470b1dd5c79db4e/c.html</a:t>
            </a:r>
          </a:p>
          <a:p xmlns:a="http://schemas.openxmlformats.org/drawingml/2006/main">
            <a:r>
              <a:t>“十五五”规划纲要第46章第3节“支持青年发展”，新华社受权发布，2026-03-13：https://www.zyshgzb.gov.cn/n1/2026/0313/c459392-40681735.html</a:t>
            </a:r>
          </a:p>
          <a:p xmlns:a="http://schemas.openxmlformats.org/drawingml/2006/main">
            <a:r>
              <a:t>照片：参考PDF第10页阅读空间、党群服务场所实景，均作功能场景示意。角色分工为依据文稿作出的教学归纳，不是政策文件逐字引语。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回到那张电话号码小纸条。它做的事很小：让党员知道“有事可以来找我”。但这份主动走到人身边的工作方式，也启发我们怎样做好今天的青年工作。</a:t>
            </a:r>
          </a:p>
          <a:p xmlns:a="http://schemas.openxmlformats.org/drawingml/2006/main">
            <a:r>
              <a:t>作为团员青年，我们可以从团支部身边的一件具体事开始：先听青年在意什么，再依托党组织争取资源和支持，由团组织把青年组织起来共同完成，最后把结果和仍需解决的问题反馈回去。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小纸条故事的历史依据：《文汇报》2019-04-23：https://wenhui.whb.cn/third/jinri/201904/23/257857.html</a:t>
            </a:r>
          </a:p>
          <a:p xmlns:a="http://schemas.openxmlformats.org/drawingml/2006/main">
            <a:r>
              <a:t>纸条为原生可编辑图形，用于回扣讲述；未填入任何真实电话号码。四步行动为文稿的实践建议。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这就是党建引领团建：党组织把方向、强保障，团组织联系青年、服务青年、凝聚青年。组织覆盖让人找得到，党员示范让信任立得住，青年参与让组织力有了现实落点。谢谢大家。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装饰沿用参考稿；本页为全课三部分的归纳，无新增事实或统计数字。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e556ce42f45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9ad8f621346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b74756f034b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936f3619a4b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08251212d40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41ef4860d4b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3F8F6D-2BC9-4F67-AA6C-BF4838BE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D4159B-B890-47C3-9E32-A9BB1C3E41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F0F29C-E4E8-4D05-949B-88E644F7BF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5E501C-1977-409B-BAE2-BD5AF7EC1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FAE3DD-24AE-4551-9B7E-61586AC397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3416B5-7CCF-42B1-BAE8-613B0666CF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E2909A-D163-413A-B244-55CE2A6660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B40CBD-0B91-4FCF-AC4C-0B76885087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C5FD20-A331-4C9F-9EB7-555686B65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8A4A74-10AB-49FD-840D-3E37C4EB10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332727ed0c4624" /><Relationship Type="http://schemas.openxmlformats.org/officeDocument/2006/relationships/slideLayout" Target="/ppt/slideLayouts/slideLayout1.xml" Id="R745e4a3c69eb4935" /><Relationship Type="http://schemas.openxmlformats.org/officeDocument/2006/relationships/slideLayout" Target="/ppt/slideLayouts/slideLayout2.xml" Id="R127b1a8ceb764da7" /><Relationship Type="http://schemas.openxmlformats.org/officeDocument/2006/relationships/slideLayout" Target="/ppt/slideLayouts/slideLayout3.xml" Id="Re23c0ecd78b345cc" /><Relationship Type="http://schemas.openxmlformats.org/officeDocument/2006/relationships/slideLayout" Target="/ppt/slideLayouts/slideLayout4.xml" Id="R34543c91557b4902" /><Relationship Type="http://schemas.openxmlformats.org/officeDocument/2006/relationships/slideLayout" Target="/ppt/slideLayouts/slideLayout5.xml" Id="R44fbc4c7a3a945b5" /><Relationship Type="http://schemas.openxmlformats.org/officeDocument/2006/relationships/slideLayout" Target="/ppt/slideLayouts/slideLayout6.xml" Id="R83d1801d06e347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5e4a3c69eb4935"/>
    <p:sldLayoutId xmlns:r="http://schemas.openxmlformats.org/officeDocument/2006/relationships" id="2147483650" r:id="R127b1a8ceb764da7"/>
    <p:sldLayoutId xmlns:r="http://schemas.openxmlformats.org/officeDocument/2006/relationships" id="2147483651" r:id="Re23c0ecd78b345cc"/>
    <p:sldLayoutId xmlns:r="http://schemas.openxmlformats.org/officeDocument/2006/relationships" id="2147483652" r:id="R34543c91557b4902"/>
    <p:sldLayoutId xmlns:r="http://schemas.openxmlformats.org/officeDocument/2006/relationships" id="2147483653" r:id="R44fbc4c7a3a945b5"/>
    <p:sldLayoutId xmlns:r="http://schemas.openxmlformats.org/officeDocument/2006/relationships" id="2147483654" r:id="R83d1801d06e347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74258421c4000" /><Relationship Type="http://schemas.openxmlformats.org/officeDocument/2006/relationships/image" Target="/ppt/media/image.jpeg" Id="Rbedd4bc77a2b4a0b" /><Relationship Type="http://schemas.openxmlformats.org/officeDocument/2006/relationships/image" Target="/ppt/media/image2.jpeg" Id="Rd5890679020c4fd0" /><Relationship Type="http://schemas.openxmlformats.org/officeDocument/2006/relationships/image" Target="/ppt/media/image.png" Id="Rc7c2ef0493394677" /><Relationship Type="http://schemas.openxmlformats.org/officeDocument/2006/relationships/image" Target="/ppt/media/image2.png" Id="R1240fc91edb24eec" /><Relationship Type="http://schemas.openxmlformats.org/officeDocument/2006/relationships/image" Target="/ppt/media/image3.png" Id="Re840a2395d084ec5" /><Relationship Type="http://schemas.openxmlformats.org/officeDocument/2006/relationships/image" Target="/ppt/media/image4.png" Id="R0f381657ba1b4896" /><Relationship Type="http://schemas.openxmlformats.org/officeDocument/2006/relationships/image" Target="/ppt/media/image5.png" Id="R22f47672521745f9" /><Relationship Type="http://schemas.openxmlformats.org/officeDocument/2006/relationships/image" Target="/ppt/media/image6.png" Id="R82cc9e23e32b40b1" /><Relationship Type="http://schemas.openxmlformats.org/officeDocument/2006/relationships/image" Target="/ppt/media/image7.png" Id="R783a8e8248c14bb9" /><Relationship Type="http://schemas.openxmlformats.org/officeDocument/2006/relationships/image" Target="/ppt/media/image8.png" Id="Rb63d4853d4ff4aed" /><Relationship Type="http://schemas.openxmlformats.org/officeDocument/2006/relationships/notesSlide" Target="/ppt/notesSlides/notesSlide1.xml" Id="Rd27b783cb17743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8c7a22d594b97" /><Relationship Type="http://schemas.openxmlformats.org/officeDocument/2006/relationships/image" Target="/ppt/media/image9.png" Id="R3bc165b3795c4dfa" /><Relationship Type="http://schemas.openxmlformats.org/officeDocument/2006/relationships/image" Target="/ppt/media/image3.jpeg" Id="R50f59cdeb3964678" /><Relationship Type="http://schemas.openxmlformats.org/officeDocument/2006/relationships/image" Target="/ppt/media/image10.png" Id="R51a44e85948d4bf2" /><Relationship Type="http://schemas.openxmlformats.org/officeDocument/2006/relationships/notesSlide" Target="/ppt/notesSlides/notesSlide2.xml" Id="Re39dc3a4ce3a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0a943e8f794fe9" /><Relationship Type="http://schemas.openxmlformats.org/officeDocument/2006/relationships/image" Target="/ppt/media/image11.png" Id="R985bee5a021a4d5d" /><Relationship Type="http://schemas.openxmlformats.org/officeDocument/2006/relationships/image" Target="/ppt/media/image4.jpeg" Id="R521604c2a1764596" /><Relationship Type="http://schemas.openxmlformats.org/officeDocument/2006/relationships/image" Target="/ppt/media/image5.jpeg" Id="R2e91713481af4c6c" /><Relationship Type="http://schemas.openxmlformats.org/officeDocument/2006/relationships/image" Target="/ppt/media/image6.jpeg" Id="R4bf2690994bc4714" /><Relationship Type="http://schemas.openxmlformats.org/officeDocument/2006/relationships/notesSlide" Target="/ppt/notesSlides/notesSlide3.xml" Id="R892b83f950ae43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69c309cdc40bd" /><Relationship Type="http://schemas.openxmlformats.org/officeDocument/2006/relationships/image" Target="/ppt/media/image12.png" Id="R5d2345fb805e4071" /><Relationship Type="http://schemas.openxmlformats.org/officeDocument/2006/relationships/image" Target="/ppt/media/image13.png" Id="Rc8e91754a6e7428d" /><Relationship Type="http://schemas.openxmlformats.org/officeDocument/2006/relationships/image" Target="/ppt/media/image14.png" Id="Reb15a8e5d54f4245" /><Relationship Type="http://schemas.openxmlformats.org/officeDocument/2006/relationships/notesSlide" Target="/ppt/notesSlides/notesSlide4.xml" Id="Rddfc76df63df43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637a84bcd4d4e" /><Relationship Type="http://schemas.openxmlformats.org/officeDocument/2006/relationships/image" Target="/ppt/media/image15.png" Id="R8b05d2812ec447b1" /><Relationship Type="http://schemas.openxmlformats.org/officeDocument/2006/relationships/notesSlide" Target="/ppt/notesSlides/notesSlide5.xml" Id="R7c2fb28c243842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7aebe214574a39" /><Relationship Type="http://schemas.openxmlformats.org/officeDocument/2006/relationships/image" Target="/ppt/media/image7.jpeg" Id="R8a84af6069c648ed" /><Relationship Type="http://schemas.openxmlformats.org/officeDocument/2006/relationships/image" Target="/ppt/media/image8.jpeg" Id="Rdaf0841a56f04101" /><Relationship Type="http://schemas.openxmlformats.org/officeDocument/2006/relationships/image" Target="/ppt/media/image16.png" Id="R2948ea2fbf454b9c" /><Relationship Type="http://schemas.openxmlformats.org/officeDocument/2006/relationships/image" Target="/ppt/media/image17.png" Id="Rd278fb5d87e0495c" /><Relationship Type="http://schemas.openxmlformats.org/officeDocument/2006/relationships/image" Target="/ppt/media/image18.png" Id="Rfda3a157d1744441" /><Relationship Type="http://schemas.openxmlformats.org/officeDocument/2006/relationships/image" Target="/ppt/media/image19.png" Id="Rc4989ca9f4024c0e" /><Relationship Type="http://schemas.openxmlformats.org/officeDocument/2006/relationships/image" Target="/ppt/media/image20.png" Id="R4fa0ade3cbef45e2" /><Relationship Type="http://schemas.openxmlformats.org/officeDocument/2006/relationships/image" Target="/ppt/media/image21.png" Id="R907b1ee71f8d452b" /><Relationship Type="http://schemas.openxmlformats.org/officeDocument/2006/relationships/image" Target="/ppt/media/image22.png" Id="R038a0d89e9aa432e" /><Relationship Type="http://schemas.openxmlformats.org/officeDocument/2006/relationships/image" Target="/ppt/media/image23.png" Id="R72f401ad355a444e" /><Relationship Type="http://schemas.openxmlformats.org/officeDocument/2006/relationships/notesSlide" Target="/ppt/notesSlides/notesSlide6.xml" Id="R6937f04f7a4940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A90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459D2-AFD7-4C54-B798-C21852F1D3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d4bc77a2b4a0b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2072D-D18D-47DF-B6F9-44BF9DA715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90679020c4fd0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457200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85324-1F8E-489E-B7BC-F52CB8BD3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2ef0493394677"/>
          <a:stretch xmlns:a="http://schemas.openxmlformats.org/drawingml/2006/main"/>
        </p:blipFill>
        <p:spPr>
          <a:xfrm xmlns:a="http://schemas.openxmlformats.org/drawingml/2006/main">
            <a:off x="1628775" y="3536439"/>
            <a:ext cx="6305550" cy="1280547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D1A80-FE6B-48E4-9151-965248E849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0fc91edb24eec"/>
          <a:stretch xmlns:a="http://schemas.openxmlformats.org/drawingml/2006/main"/>
        </p:blipFill>
        <p:spPr>
          <a:xfrm xmlns:a="http://schemas.openxmlformats.org/drawingml/2006/main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0AD46-EBF3-4705-8739-5134F4CD6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0a2395d084ec5"/>
          <a:stretch xmlns:a="http://schemas.openxmlformats.org/drawingml/2006/main"/>
        </p:blipFill>
        <p:spPr>
          <a:xfrm xmlns:a="http://schemas.openxmlformats.org/drawingml/2006/main" flipH="1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DE7AA-94AC-4984-BE23-F02690D01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81657ba1b4896"/>
          <a:stretch xmlns:a="http://schemas.openxmlformats.org/drawingml/2006/main"/>
        </p:blipFill>
        <p:spPr>
          <a:xfrm xmlns:a="http://schemas.openxmlformats.org/drawingml/2006/main">
            <a:off x="0" y="4078605"/>
            <a:ext cx="9144000" cy="106299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736A0-255B-4E53-B2F0-F3DD9E47A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47672521745f9"/>
          <a:stretch xmlns:a="http://schemas.openxmlformats.org/drawingml/2006/main"/>
        </p:blipFill>
        <p:spPr>
          <a:xfrm xmlns:a="http://schemas.openxmlformats.org/drawingml/2006/main" flipH="1">
            <a:off x="125349" y="3724275"/>
            <a:ext cx="1559052" cy="10287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B5E53-059A-42B6-B820-83935C9203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c9e23e32b40b1"/>
          <a:stretch xmlns:a="http://schemas.openxmlformats.org/drawingml/2006/main"/>
        </p:blipFill>
        <p:spPr>
          <a:xfrm xmlns:a="http://schemas.openxmlformats.org/drawingml/2006/main">
            <a:off x="7601903" y="3724275"/>
            <a:ext cx="1417320" cy="10287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86CB2-8121-4A8A-B9FE-ED7BBE6FA4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a8e8248c14bb9"/>
          <a:stretch xmlns:a="http://schemas.openxmlformats.org/drawingml/2006/main"/>
        </p:blipFill>
        <p:spPr>
          <a:xfrm xmlns:a="http://schemas.openxmlformats.org/drawingml/2006/main">
            <a:off x="666916" y="219075"/>
            <a:ext cx="2352343" cy="13906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5CB39-97A6-436E-B77C-74EC5D03D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d4853d4ff4aed"/>
          <a:stretch xmlns:a="http://schemas.openxmlformats.org/drawingml/2006/main"/>
        </p:blipFill>
        <p:spPr>
          <a:xfrm xmlns:a="http://schemas.openxmlformats.org/drawingml/2006/main" flipH="1">
            <a:off x="5819775" y="238685"/>
            <a:ext cx="2286000" cy="1351429"/>
          </a:xfrm>
          <a:prstGeom xmlns:a="http://schemas.openxmlformats.org/drawingml/2006/main" prst="rect">
            <a:avLst/>
          </a:prstGeom>
        </p:spPr>
      </p:pic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1FBB1270-ED43-4555-A4F9-919D0182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13347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00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3900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3900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叁</a:t>
            </a:r>
          </a:p>
        </p:txBody>
      </p:sp>
      <p:sp>
        <p:nvSpPr>
          <p:cNvPr id="12" name="text-2">
            <a:extLst xmlns:a="http://schemas.openxmlformats.org/drawingml/2006/main">
              <a:ext uri="{FF2B5EF4-FFF2-40B4-BE49-F238E27FC236}">
                <a16:creationId xmlns:a16="http://schemas.microsoft.com/office/drawing/2014/main" id="{BF49BC85-A543-46D8-948B-F9454CFC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9800"/>
            <a:ext cx="7524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92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党建引领团建</a:t>
            </a:r>
          </a:p>
        </p:txBody>
      </p:sp>
      <p:sp>
        <p:nvSpPr>
          <p:cNvPr id="13" name="text-3">
            <a:extLst xmlns:a="http://schemas.openxmlformats.org/drawingml/2006/main">
              <a:ext uri="{FF2B5EF4-FFF2-40B4-BE49-F238E27FC236}">
                <a16:creationId xmlns:a16="http://schemas.microsoft.com/office/drawing/2014/main" id="{F817220F-0599-48F0-B0B5-EC2B3971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752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在联系服务青年中落地</a:t>
            </a:r>
          </a:p>
        </p:txBody>
      </p:sp>
    </p:spTree>
    <p:extLst>
      <p:ext uri="{BB962C8B-B14F-4D97-AF65-F5344CB8AC3E}">
        <p14:creationId xmlns:p14="http://schemas.microsoft.com/office/powerpoint/2010/main" val="1697461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D266A-91EE-4EBC-88B1-5D52E47CA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165b3795c4df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4">
            <a:extLst xmlns:a="http://schemas.openxmlformats.org/drawingml/2006/main">
              <a:ext uri="{FF2B5EF4-FFF2-40B4-BE49-F238E27FC236}">
                <a16:creationId xmlns:a16="http://schemas.microsoft.com/office/drawing/2014/main" id="{DD238253-7AF6-499F-97BF-C4FD6034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5">
            <a:extLst xmlns:a="http://schemas.openxmlformats.org/drawingml/2006/main">
              <a:ext uri="{FF2B5EF4-FFF2-40B4-BE49-F238E27FC236}">
                <a16:creationId xmlns:a16="http://schemas.microsoft.com/office/drawing/2014/main" id="{B23A0651-19D8-4AD5-826F-D53CDF85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43338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">
            <a:extLst xmlns:a="http://schemas.openxmlformats.org/drawingml/2006/main">
              <a:ext uri="{FF2B5EF4-FFF2-40B4-BE49-F238E27FC236}">
                <a16:creationId xmlns:a16="http://schemas.microsoft.com/office/drawing/2014/main" id="{280722A6-7967-4ED4-BD4E-48CFBC98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4010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信任，在日常回应中积累</a:t>
            </a:r>
          </a:p>
        </p:txBody>
      </p:sp>
      <p:sp>
        <p:nvSpPr>
          <p:cNvPr id="5" name="text-7">
            <a:extLst xmlns:a="http://schemas.openxmlformats.org/drawingml/2006/main">
              <a:ext uri="{FF2B5EF4-FFF2-40B4-BE49-F238E27FC236}">
                <a16:creationId xmlns:a16="http://schemas.microsoft.com/office/drawing/2014/main" id="{F2ED9212-A07C-4831-8D94-6D6AEB00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业主变更时，原物业被租户集体挽留</a:t>
            </a:r>
          </a:p>
        </p:txBody>
      </p:sp>
      <p:sp>
        <p:nvSpPr>
          <p:cNvPr id="6" name="text-8">
            <a:extLst xmlns:a="http://schemas.openxmlformats.org/drawingml/2006/main">
              <a:ext uri="{FF2B5EF4-FFF2-40B4-BE49-F238E27FC236}">
                <a16:creationId xmlns:a16="http://schemas.microsoft.com/office/drawing/2014/main" id="{023B3B37-12F8-438F-B951-B01E2C80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954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平时联系需求，为活动提供空间，遇事持续回应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D8FEA-5BF5-4DDD-BE32-24813B861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59cdeb3964678"/>
          <a:stretch xmlns:a="http://schemas.openxmlformats.org/drawingml/2006/main"/>
        </p:blipFill>
        <p:spPr>
          <a:xfrm xmlns:a="http://schemas.openxmlformats.org/drawingml/2006/main">
            <a:off x="471314" y="2143125"/>
            <a:ext cx="3915122" cy="21907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1130C-743E-432A-A41F-E0C00DB2C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44e85948d4bf2"/>
          <a:stretch xmlns:a="http://schemas.openxmlformats.org/drawingml/2006/main"/>
        </p:blipFill>
        <p:spPr>
          <a:xfrm xmlns:a="http://schemas.openxmlformats.org/drawingml/2006/main">
            <a:off x="5145222" y="2076450"/>
            <a:ext cx="3330307" cy="2324100"/>
          </a:xfrm>
          <a:prstGeom xmlns:a="http://schemas.openxmlformats.org/drawingml/2006/main" prst="rect">
            <a:avLst/>
          </a:prstGeom>
        </p:spPr>
      </p:pic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9EED6FE2-024B-41F4-B67C-D98D553F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624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中华企业大厦早期服务点（历史照片）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E23D0405-7531-4D09-A0F1-5CDD958B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624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党群服务阵地实景（原稿配图）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3DAD985E-EC43-4B0E-9B23-C48AB247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案例依据：《文汇报》，2019-04-23；右图作服务阵地示意</a:t>
            </a:r>
          </a:p>
        </p:txBody>
      </p:sp>
    </p:spTree>
    <p:extLst>
      <p:ext uri="{BB962C8B-B14F-4D97-AF65-F5344CB8AC3E}">
        <p14:creationId xmlns:p14="http://schemas.microsoft.com/office/powerpoint/2010/main" val="2133785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639D9-D85A-4C9D-9276-FBCD4B792F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bee5a021a4d5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12">
            <a:extLst xmlns:a="http://schemas.openxmlformats.org/drawingml/2006/main">
              <a:ext uri="{FF2B5EF4-FFF2-40B4-BE49-F238E27FC236}">
                <a16:creationId xmlns:a16="http://schemas.microsoft.com/office/drawing/2014/main" id="{DA6443C7-72CF-4D34-937E-ADAEF981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13">
            <a:extLst xmlns:a="http://schemas.openxmlformats.org/drawingml/2006/main">
              <a:ext uri="{FF2B5EF4-FFF2-40B4-BE49-F238E27FC236}">
                <a16:creationId xmlns:a16="http://schemas.microsoft.com/office/drawing/2014/main" id="{1928B206-439E-4F6E-B9A7-9EAA56D7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5667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4">
            <a:extLst xmlns:a="http://schemas.openxmlformats.org/drawingml/2006/main">
              <a:ext uri="{FF2B5EF4-FFF2-40B4-BE49-F238E27FC236}">
                <a16:creationId xmlns:a16="http://schemas.microsoft.com/office/drawing/2014/main" id="{A0ECB9F2-9E98-4442-82EF-D77059B7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5343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青年从服务对象成为治理参与者</a:t>
            </a:r>
          </a:p>
        </p:txBody>
      </p:sp>
      <p:sp>
        <p:nvSpPr>
          <p:cNvPr id="5" name="text-15">
            <a:extLst xmlns:a="http://schemas.openxmlformats.org/drawingml/2006/main">
              <a:ext uri="{FF2B5EF4-FFF2-40B4-BE49-F238E27FC236}">
                <a16:creationId xmlns:a16="http://schemas.microsoft.com/office/drawing/2014/main" id="{60DF63D1-EA94-41C6-AE4E-5A9CDA1F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8382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延伸案例：越洋广场青年白领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1F650-9EB4-400F-9718-1DE6255C76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604c2a1764596"/>
          <a:stretch xmlns:a="http://schemas.openxmlformats.org/drawingml/2006/main"/>
        </p:blipFill>
        <p:spPr>
          <a:xfrm xmlns:a="http://schemas.openxmlformats.org/drawingml/2006/main">
            <a:off x="593203" y="1762125"/>
            <a:ext cx="3766595" cy="2705100"/>
          </a:xfrm>
          <a:prstGeom xmlns:a="http://schemas.openxmlformats.org/drawingml/2006/main" prst="rect">
            <a:avLst/>
          </a:prstGeom>
        </p:spPr>
      </p:pic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DE925078-DD95-4C7A-91D8-40E44510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481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上海商务楼宇实景（原稿配图）</a:t>
            </a:r>
          </a:p>
        </p:txBody>
      </p:sp>
      <p:sp>
        <p:nvSpPr>
          <p:cNvPr id="8" name="surface-17">
            <a:extLst xmlns:a="http://schemas.openxmlformats.org/drawingml/2006/main">
              <a:ext uri="{FF2B5EF4-FFF2-40B4-BE49-F238E27FC236}">
                <a16:creationId xmlns:a16="http://schemas.microsoft.com/office/drawing/2014/main" id="{FDA5FD3F-A9A5-49CC-B9E5-A4E45914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57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8">
            <a:extLst xmlns:a="http://schemas.openxmlformats.org/drawingml/2006/main">
              <a:ext uri="{FF2B5EF4-FFF2-40B4-BE49-F238E27FC236}">
                <a16:creationId xmlns:a16="http://schemas.microsoft.com/office/drawing/2014/main" id="{C7CD6AC4-FF8A-4925-815B-35378C88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240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改造垃圾分类设施</a:t>
            </a:r>
          </a:p>
        </p:txBody>
      </p:sp>
      <p:sp>
        <p:nvSpPr>
          <p:cNvPr id="10" name="surface-19">
            <a:extLst xmlns:a="http://schemas.openxmlformats.org/drawingml/2006/main">
              <a:ext uri="{FF2B5EF4-FFF2-40B4-BE49-F238E27FC236}">
                <a16:creationId xmlns:a16="http://schemas.microsoft.com/office/drawing/2014/main" id="{4F86C2B4-ED09-4250-983F-BB600AB7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57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1913F0F8-397F-410A-A5D9-05DF861C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24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组建志愿者队伍</a:t>
            </a:r>
          </a:p>
        </p:txBody>
      </p:sp>
      <p:sp>
        <p:nvSpPr>
          <p:cNvPr id="12" name="surface-21">
            <a:extLst xmlns:a="http://schemas.openxmlformats.org/drawingml/2006/main">
              <a:ext uri="{FF2B5EF4-FFF2-40B4-BE49-F238E27FC236}">
                <a16:creationId xmlns:a16="http://schemas.microsoft.com/office/drawing/2014/main" id="{B102C98B-B0C1-4DA3-B235-3CEDE9C6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57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95D4B337-E255-4CC5-A28C-A8AC3461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241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行动走进景华居民区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C4982-3723-4A06-8FA3-52DD084097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1713481af4c6c"/>
          <a:stretch xmlns:a="http://schemas.openxmlformats.org/drawingml/2006/main"/>
        </p:blipFill>
        <p:spPr>
          <a:xfrm xmlns:a="http://schemas.openxmlformats.org/drawingml/2006/main">
            <a:off x="5000625" y="3087291"/>
            <a:ext cx="1762125" cy="1321594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7D7D8-FEE0-49D1-957F-8005F4267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2690994bc4714"/>
          <a:stretch xmlns:a="http://schemas.openxmlformats.org/drawingml/2006/main"/>
        </p:blipFill>
        <p:spPr>
          <a:xfrm xmlns:a="http://schemas.openxmlformats.org/drawingml/2006/main">
            <a:off x="6943725" y="3087291"/>
            <a:ext cx="1762125" cy="1321594"/>
          </a:xfrm>
          <a:prstGeom xmlns:a="http://schemas.openxmlformats.org/drawingml/2006/main" prst="rect">
            <a:avLst/>
          </a:prstGeom>
        </p:spPr>
      </p:pic>
      <p:sp>
        <p:nvSpPr>
          <p:cNvPr id="16" name="text-23">
            <a:extLst xmlns:a="http://schemas.openxmlformats.org/drawingml/2006/main">
              <a:ext uri="{FF2B5EF4-FFF2-40B4-BE49-F238E27FC236}">
                <a16:creationId xmlns:a16="http://schemas.microsoft.com/office/drawing/2014/main" id="{482D1199-2EBE-43AD-8726-959C2814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38650"/>
            <a:ext cx="3705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组织活动场景示意（原稿配图）</a:t>
            </a:r>
          </a:p>
        </p:txBody>
      </p:sp>
      <p:sp>
        <p:nvSpPr>
          <p:cNvPr id="17" name="text-24">
            <a:extLst xmlns:a="http://schemas.openxmlformats.org/drawingml/2006/main">
              <a:ext uri="{FF2B5EF4-FFF2-40B4-BE49-F238E27FC236}">
                <a16:creationId xmlns:a16="http://schemas.microsoft.com/office/drawing/2014/main" id="{CFEBAE0D-A88A-4565-8196-46BF6C01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案例依据：《文汇报》，2019-04-23；地点为越洋广场，与中华企业大厦区分</a:t>
            </a:r>
          </a:p>
        </p:txBody>
      </p:sp>
    </p:spTree>
    <p:extLst>
      <p:ext uri="{BB962C8B-B14F-4D97-AF65-F5344CB8AC3E}">
        <p14:creationId xmlns:p14="http://schemas.microsoft.com/office/powerpoint/2010/main" val="1614779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F7A61-21E0-4D6D-90E0-1C27EB61E4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345fb805e407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25">
            <a:extLst xmlns:a="http://schemas.openxmlformats.org/drawingml/2006/main">
              <a:ext uri="{FF2B5EF4-FFF2-40B4-BE49-F238E27FC236}">
                <a16:creationId xmlns:a16="http://schemas.microsoft.com/office/drawing/2014/main" id="{570E263A-5DF2-4DD6-8E73-FC8579E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26">
            <a:extLst xmlns:a="http://schemas.openxmlformats.org/drawingml/2006/main">
              <a:ext uri="{FF2B5EF4-FFF2-40B4-BE49-F238E27FC236}">
                <a16:creationId xmlns:a16="http://schemas.microsoft.com/office/drawing/2014/main" id="{CBF54BB0-9844-4AF5-A3BB-F3859680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504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25F3ACFC-4054-4F50-B264-FBE06F9F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党组织引领，团组织联系青年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CD232817-CA7C-4D68-A618-4A85B26F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049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党组织把方向、强保障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A0B51B27-DB8B-4A08-8725-F6DC54EF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049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团组织联系、服务、凝聚青年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FF1735DB-FC3D-4547-BA0F-7CBC3745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政治引领  组织保障  资源协调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75714A68-ADB9-4C16-92E7-3024F58D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240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摸清需求  组织参与  持续反馈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10791-2FB3-4F9E-BFE9-3242D62600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91754a6e7428d"/>
          <a:srcRect xmlns:a="http://schemas.openxmlformats.org/drawingml/2006/main" l="0" t="18342" r="0" b="183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2219325"/>
            <a:ext cx="4095750" cy="18097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A2241-B20A-4CD3-B74D-889337C51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5a8e5d54f4245"/>
          <a:srcRect xmlns:a="http://schemas.openxmlformats.org/drawingml/2006/main" l="0" t="14940" r="0" b="14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219325"/>
            <a:ext cx="3905250" cy="1809750"/>
          </a:xfrm>
          <a:prstGeom xmlns:a="http://schemas.openxmlformats.org/drawingml/2006/main" prst="rect">
            <a:avLst/>
          </a:prstGeom>
        </p:spPr>
      </p:pic>
      <p:sp>
        <p:nvSpPr>
          <p:cNvPr id="11" name="text-32">
            <a:extLst xmlns:a="http://schemas.openxmlformats.org/drawingml/2006/main">
              <a:ext uri="{FF2B5EF4-FFF2-40B4-BE49-F238E27FC236}">
                <a16:creationId xmlns:a16="http://schemas.microsoft.com/office/drawing/2014/main" id="{70871BE6-866A-44E4-A687-3F167D3D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290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学习与活动空间实景（原稿配图）</a:t>
            </a:r>
          </a:p>
        </p:txBody>
      </p:sp>
      <p:sp>
        <p:nvSpPr>
          <p:cNvPr id="12" name="text-33">
            <a:extLst xmlns:a="http://schemas.openxmlformats.org/drawingml/2006/main">
              <a:ext uri="{FF2B5EF4-FFF2-40B4-BE49-F238E27FC236}">
                <a16:creationId xmlns:a16="http://schemas.microsoft.com/office/drawing/2014/main" id="{364B2F9C-AD90-488F-BE00-0DDDB79C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290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党群服务场景（原稿配图）</a:t>
            </a:r>
          </a:p>
        </p:txBody>
      </p:sp>
      <p:sp>
        <p:nvSpPr>
          <p:cNvPr id="13" name="surface-34">
            <a:extLst xmlns:a="http://schemas.openxmlformats.org/drawingml/2006/main">
              <a:ext uri="{FF2B5EF4-FFF2-40B4-BE49-F238E27FC236}">
                <a16:creationId xmlns:a16="http://schemas.microsoft.com/office/drawing/2014/main" id="{299F084C-8BF5-41EC-A0C9-0CB0427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672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C9978C"/>
            </a:solidFill>
            <a:prstDash val="solid"/>
          </a:ln>
        </p:spPr>
      </p:sp>
      <p:sp>
        <p:nvSpPr>
          <p:cNvPr id="14" name="text-35">
            <a:extLst xmlns:a="http://schemas.openxmlformats.org/drawingml/2006/main">
              <a:ext uri="{FF2B5EF4-FFF2-40B4-BE49-F238E27FC236}">
                <a16:creationId xmlns:a16="http://schemas.microsoft.com/office/drawing/2014/main" id="{4800EEDA-B43F-4463-8304-674555CE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回应求学工作、住房保障、社会融入等实际需要</a:t>
            </a:r>
          </a:p>
        </p:txBody>
      </p:sp>
      <p:sp>
        <p:nvSpPr>
          <p:cNvPr id="15" name="text-36">
            <a:extLst xmlns:a="http://schemas.openxmlformats.org/drawingml/2006/main">
              <a:ext uri="{FF2B5EF4-FFF2-40B4-BE49-F238E27FC236}">
                <a16:creationId xmlns:a16="http://schemas.microsoft.com/office/drawing/2014/main" id="{E356B568-A062-46D3-9778-6597E9BA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依据：《关于加强党建带团建工作的意见》；“十五五”规划纲要第46章第3节（2026）</a:t>
            </a:r>
          </a:p>
        </p:txBody>
      </p:sp>
    </p:spTree>
    <p:extLst>
      <p:ext uri="{BB962C8B-B14F-4D97-AF65-F5344CB8AC3E}">
        <p14:creationId xmlns:p14="http://schemas.microsoft.com/office/powerpoint/2010/main" val="848634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6BCF0-AB1C-4991-B5F9-542FABD9CC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5d2812ec447b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37">
            <a:extLst xmlns:a="http://schemas.openxmlformats.org/drawingml/2006/main">
              <a:ext uri="{FF2B5EF4-FFF2-40B4-BE49-F238E27FC236}">
                <a16:creationId xmlns:a16="http://schemas.microsoft.com/office/drawing/2014/main" id="{9335A8A1-F8E4-466D-B761-7A68184D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38">
            <a:extLst xmlns:a="http://schemas.openxmlformats.org/drawingml/2006/main">
              <a:ext uri="{FF2B5EF4-FFF2-40B4-BE49-F238E27FC236}">
                <a16:creationId xmlns:a16="http://schemas.microsoft.com/office/drawing/2014/main" id="{BF5B4580-9AED-472E-A824-83CA8D6C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47148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9">
            <a:extLst xmlns:a="http://schemas.openxmlformats.org/drawingml/2006/main">
              <a:ext uri="{FF2B5EF4-FFF2-40B4-BE49-F238E27FC236}">
                <a16:creationId xmlns:a16="http://schemas.microsoft.com/office/drawing/2014/main" id="{675DEDC7-7468-44AB-87E6-1F8C878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4391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从团支部身边的一件事开始</a:t>
            </a:r>
          </a:p>
        </p:txBody>
      </p:sp>
      <p:sp>
        <p:nvSpPr>
          <p:cNvPr id="5" name="surface-40">
            <a:extLst xmlns:a="http://schemas.openxmlformats.org/drawingml/2006/main">
              <a:ext uri="{FF2B5EF4-FFF2-40B4-BE49-F238E27FC236}">
                <a16:creationId xmlns:a16="http://schemas.microsoft.com/office/drawing/2014/main" id="{CB73B4A4-C7E4-4112-A304-25BA615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2809875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CDA972"/>
            </a:solidFill>
            <a:prstDash val="solid"/>
          </a:ln>
        </p:spPr>
      </p:sp>
      <p:sp>
        <p:nvSpPr>
          <p:cNvPr id="6" name="text-41">
            <a:extLst xmlns:a="http://schemas.openxmlformats.org/drawingml/2006/main">
              <a:ext uri="{FF2B5EF4-FFF2-40B4-BE49-F238E27FC236}">
                <a16:creationId xmlns:a16="http://schemas.microsoft.com/office/drawing/2014/main" id="{3601DFFD-31F5-4CB1-984D-C8088CD0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1950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回到那张小纸条</a:t>
            </a:r>
          </a:p>
        </p:txBody>
      </p:sp>
      <p:sp>
        <p:nvSpPr>
          <p:cNvPr id="7" name="text-42">
            <a:extLst xmlns:a="http://schemas.openxmlformats.org/drawingml/2006/main">
              <a:ext uri="{FF2B5EF4-FFF2-40B4-BE49-F238E27FC236}">
                <a16:creationId xmlns:a16="http://schemas.microsoft.com/office/drawing/2014/main" id="{B187C14A-2366-422B-893C-CA446BB9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有事可以来找我</a:t>
            </a:r>
          </a:p>
        </p:txBody>
      </p:sp>
      <p:sp>
        <p:nvSpPr>
          <p:cNvPr id="8" name="text-43">
            <a:extLst xmlns:a="http://schemas.openxmlformats.org/drawingml/2006/main">
              <a:ext uri="{FF2B5EF4-FFF2-40B4-BE49-F238E27FC236}">
                <a16:creationId xmlns:a16="http://schemas.microsoft.com/office/drawing/2014/main" id="{47FC09DC-14E4-416F-97C8-98D1F00C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242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主动走到人身边</a:t>
            </a:r>
          </a:p>
        </p:txBody>
      </p:sp>
      <p:sp>
        <p:nvSpPr>
          <p:cNvPr id="9" name="surface-44">
            <a:extLst xmlns:a="http://schemas.openxmlformats.org/drawingml/2006/main">
              <a:ext uri="{FF2B5EF4-FFF2-40B4-BE49-F238E27FC236}">
                <a16:creationId xmlns:a16="http://schemas.microsoft.com/office/drawing/2014/main" id="{589ACAD7-7903-4D97-8E15-3E79687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704975"/>
            <a:ext cx="190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C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rface-45">
            <a:extLst xmlns:a="http://schemas.openxmlformats.org/drawingml/2006/main">
              <a:ext uri="{FF2B5EF4-FFF2-40B4-BE49-F238E27FC236}">
                <a16:creationId xmlns:a16="http://schemas.microsoft.com/office/drawing/2014/main" id="{4957999A-5E2E-4945-8D86-69E4E8AA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621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6">
            <a:extLst xmlns:a="http://schemas.openxmlformats.org/drawingml/2006/main">
              <a:ext uri="{FF2B5EF4-FFF2-40B4-BE49-F238E27FC236}">
                <a16:creationId xmlns:a16="http://schemas.microsoft.com/office/drawing/2014/main" id="{B139FD1A-C3CD-4257-A406-CBBA4C07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562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</a:t>
            </a:r>
          </a:p>
        </p:txBody>
      </p:sp>
      <p:sp>
        <p:nvSpPr>
          <p:cNvPr id="12" name="text-47">
            <a:extLst xmlns:a="http://schemas.openxmlformats.org/drawingml/2006/main">
              <a:ext uri="{FF2B5EF4-FFF2-40B4-BE49-F238E27FC236}">
                <a16:creationId xmlns:a16="http://schemas.microsoft.com/office/drawing/2014/main" id="{DAA6C65E-B79F-4E85-A585-2788B634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495425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听青年在意什么</a:t>
            </a:r>
          </a:p>
        </p:txBody>
      </p:sp>
      <p:sp>
        <p:nvSpPr>
          <p:cNvPr id="13" name="surface-48">
            <a:extLst xmlns:a="http://schemas.openxmlformats.org/drawingml/2006/main">
              <a:ext uri="{FF2B5EF4-FFF2-40B4-BE49-F238E27FC236}">
                <a16:creationId xmlns:a16="http://schemas.microsoft.com/office/drawing/2014/main" id="{F12EEFE7-9E3B-4752-8E04-4BF7BE48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764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49">
            <a:extLst xmlns:a="http://schemas.openxmlformats.org/drawingml/2006/main">
              <a:ext uri="{FF2B5EF4-FFF2-40B4-BE49-F238E27FC236}">
                <a16:creationId xmlns:a16="http://schemas.microsoft.com/office/drawing/2014/main" id="{D0CC4CF3-58AB-482E-B04A-02D16211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764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2</a:t>
            </a:r>
          </a:p>
        </p:txBody>
      </p:sp>
      <p:sp>
        <p:nvSpPr>
          <p:cNvPr id="15" name="text-50">
            <a:extLst xmlns:a="http://schemas.openxmlformats.org/drawingml/2006/main">
              <a:ext uri="{FF2B5EF4-FFF2-40B4-BE49-F238E27FC236}">
                <a16:creationId xmlns:a16="http://schemas.microsoft.com/office/drawing/2014/main" id="{DBE9F2B9-9301-4F83-8848-C496DAFB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098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依托党组织争取资源与支持</a:t>
            </a:r>
          </a:p>
        </p:txBody>
      </p:sp>
      <p:sp>
        <p:nvSpPr>
          <p:cNvPr id="16" name="surface-51">
            <a:extLst xmlns:a="http://schemas.openxmlformats.org/drawingml/2006/main">
              <a:ext uri="{FF2B5EF4-FFF2-40B4-BE49-F238E27FC236}">
                <a16:creationId xmlns:a16="http://schemas.microsoft.com/office/drawing/2014/main" id="{46DE5A40-8DD8-418F-AAAA-92C983A6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908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52">
            <a:extLst xmlns:a="http://schemas.openxmlformats.org/drawingml/2006/main">
              <a:ext uri="{FF2B5EF4-FFF2-40B4-BE49-F238E27FC236}">
                <a16:creationId xmlns:a16="http://schemas.microsoft.com/office/drawing/2014/main" id="{96FB69AC-EB62-4229-BC9C-08C89E36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90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3</a:t>
            </a:r>
          </a:p>
        </p:txBody>
      </p:sp>
      <p:sp>
        <p:nvSpPr>
          <p:cNvPr id="18" name="text-53">
            <a:extLst xmlns:a="http://schemas.openxmlformats.org/drawingml/2006/main">
              <a:ext uri="{FF2B5EF4-FFF2-40B4-BE49-F238E27FC236}">
                <a16:creationId xmlns:a16="http://schemas.microsoft.com/office/drawing/2014/main" id="{0351D93B-CD38-48D6-9014-9F60C385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24175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由团组织把青年组织起来共同行动</a:t>
            </a:r>
          </a:p>
        </p:txBody>
      </p:sp>
      <p:sp>
        <p:nvSpPr>
          <p:cNvPr id="19" name="surface-54">
            <a:extLst xmlns:a="http://schemas.openxmlformats.org/drawingml/2006/main">
              <a:ext uri="{FF2B5EF4-FFF2-40B4-BE49-F238E27FC236}">
                <a16:creationId xmlns:a16="http://schemas.microsoft.com/office/drawing/2014/main" id="{CA998EDF-239D-4742-A333-B4DC962F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55">
            <a:extLst xmlns:a="http://schemas.openxmlformats.org/drawingml/2006/main">
              <a:ext uri="{FF2B5EF4-FFF2-40B4-BE49-F238E27FC236}">
                <a16:creationId xmlns:a16="http://schemas.microsoft.com/office/drawing/2014/main" id="{E7EA0714-5CA6-4A2A-A566-E510CC92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7052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21" name="text-56">
            <a:extLst xmlns:a="http://schemas.openxmlformats.org/drawingml/2006/main">
              <a:ext uri="{FF2B5EF4-FFF2-40B4-BE49-F238E27FC236}">
                <a16:creationId xmlns:a16="http://schemas.microsoft.com/office/drawing/2014/main" id="{11534056-011C-4139-A56F-3709B369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3855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反馈结果与仍需解决的问题</a:t>
            </a:r>
          </a:p>
        </p:txBody>
      </p:sp>
      <p:sp>
        <p:nvSpPr>
          <p:cNvPr id="22" name="text-57">
            <a:extLst xmlns:a="http://schemas.openxmlformats.org/drawingml/2006/main">
              <a:ext uri="{FF2B5EF4-FFF2-40B4-BE49-F238E27FC236}">
                <a16:creationId xmlns:a16="http://schemas.microsoft.com/office/drawing/2014/main" id="{9FABA1B3-53A7-4381-B5D7-BF25F68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6245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让服务有回应，让青年有参与</a:t>
            </a:r>
          </a:p>
        </p:txBody>
      </p:sp>
      <p:sp>
        <p:nvSpPr>
          <p:cNvPr id="23" name="text-58">
            <a:extLst xmlns:a="http://schemas.openxmlformats.org/drawingml/2006/main">
              <a:ext uri="{FF2B5EF4-FFF2-40B4-BE49-F238E27FC236}">
                <a16:creationId xmlns:a16="http://schemas.microsoft.com/office/drawing/2014/main" id="{CB3C2BB1-15EA-4A9D-BA3E-AA467D77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结尾回扣：从电话号码小纸条，到团支部可以共同完成的一件具体事</a:t>
            </a:r>
          </a:p>
        </p:txBody>
      </p:sp>
    </p:spTree>
    <p:extLst>
      <p:ext uri="{BB962C8B-B14F-4D97-AF65-F5344CB8AC3E}">
        <p14:creationId xmlns:p14="http://schemas.microsoft.com/office/powerpoint/2010/main" val="1861604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A90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65BDD-2279-4AC8-8E24-DA8A786DAD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4af6069c648ed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B1167-4ADB-4F15-9983-93FFD9E55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0841a56f04101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457200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CE166-B871-4D12-80D6-781FF2E42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8ea2fbf454b9c"/>
          <a:stretch xmlns:a="http://schemas.openxmlformats.org/drawingml/2006/main"/>
        </p:blipFill>
        <p:spPr>
          <a:xfrm xmlns:a="http://schemas.openxmlformats.org/drawingml/2006/main">
            <a:off x="1628775" y="3536439"/>
            <a:ext cx="6305550" cy="1280547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3A9FD-2C20-446C-B4F6-7A96A37CE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8fb5d87e0495c"/>
          <a:stretch xmlns:a="http://schemas.openxmlformats.org/drawingml/2006/main"/>
        </p:blipFill>
        <p:spPr>
          <a:xfrm xmlns:a="http://schemas.openxmlformats.org/drawingml/2006/main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29E2E-6084-4408-B3E5-AB9C7396F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3a157d1744441"/>
          <a:stretch xmlns:a="http://schemas.openxmlformats.org/drawingml/2006/main"/>
        </p:blipFill>
        <p:spPr>
          <a:xfrm xmlns:a="http://schemas.openxmlformats.org/drawingml/2006/main" flipH="1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D8513-CD13-40C0-99F3-B458FB1EB7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89ca9f4024c0e"/>
          <a:stretch xmlns:a="http://schemas.openxmlformats.org/drawingml/2006/main"/>
        </p:blipFill>
        <p:spPr>
          <a:xfrm xmlns:a="http://schemas.openxmlformats.org/drawingml/2006/main">
            <a:off x="0" y="4078605"/>
            <a:ext cx="9144000" cy="106299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B0A2C-7C91-425B-B474-44529F5FDD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0ade3cbef45e2"/>
          <a:stretch xmlns:a="http://schemas.openxmlformats.org/drawingml/2006/main"/>
        </p:blipFill>
        <p:spPr>
          <a:xfrm xmlns:a="http://schemas.openxmlformats.org/drawingml/2006/main" flipH="1">
            <a:off x="125349" y="3724275"/>
            <a:ext cx="1559052" cy="10287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052AC-9D8F-4032-8BDC-B9DF505B03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b1ee71f8d452b"/>
          <a:stretch xmlns:a="http://schemas.openxmlformats.org/drawingml/2006/main"/>
        </p:blipFill>
        <p:spPr>
          <a:xfrm xmlns:a="http://schemas.openxmlformats.org/drawingml/2006/main">
            <a:off x="7601903" y="3724275"/>
            <a:ext cx="1417320" cy="10287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C01E6-9F40-46E7-8797-7888A355C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a0d89e9aa432e"/>
          <a:stretch xmlns:a="http://schemas.openxmlformats.org/drawingml/2006/main"/>
        </p:blipFill>
        <p:spPr>
          <a:xfrm xmlns:a="http://schemas.openxmlformats.org/drawingml/2006/main">
            <a:off x="666916" y="219075"/>
            <a:ext cx="2352343" cy="13906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12F70-0892-4096-A0BE-80509A567C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401ad355a444e"/>
          <a:stretch xmlns:a="http://schemas.openxmlformats.org/drawingml/2006/main"/>
        </p:blipFill>
        <p:spPr>
          <a:xfrm xmlns:a="http://schemas.openxmlformats.org/drawingml/2006/main" flipH="1">
            <a:off x="5819775" y="238685"/>
            <a:ext cx="2286000" cy="1351429"/>
          </a:xfrm>
          <a:prstGeom xmlns:a="http://schemas.openxmlformats.org/drawingml/2006/main" prst="rect">
            <a:avLst/>
          </a:prstGeom>
        </p:spPr>
      </p:pic>
      <p:sp>
        <p:nvSpPr>
          <p:cNvPr id="11" name="text-59">
            <a:extLst xmlns:a="http://schemas.openxmlformats.org/drawingml/2006/main">
              <a:ext uri="{FF2B5EF4-FFF2-40B4-BE49-F238E27FC236}">
                <a16:creationId xmlns:a16="http://schemas.microsoft.com/office/drawing/2014/main" id="{C178E631-25AB-442C-BD44-80DB0027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723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一栋楼里的组织力</a:t>
            </a:r>
          </a:p>
        </p:txBody>
      </p:sp>
      <p:sp>
        <p:nvSpPr>
          <p:cNvPr id="12" name="text-60">
            <a:extLst xmlns:a="http://schemas.openxmlformats.org/drawingml/2006/main">
              <a:ext uri="{FF2B5EF4-FFF2-40B4-BE49-F238E27FC236}">
                <a16:creationId xmlns:a16="http://schemas.microsoft.com/office/drawing/2014/main" id="{C7863187-95CC-4442-9789-48F089E9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组织覆盖，让人找得到</a:t>
            </a:r>
          </a:p>
        </p:txBody>
      </p:sp>
      <p:sp>
        <p:nvSpPr>
          <p:cNvPr id="13" name="text-61">
            <a:extLst xmlns:a="http://schemas.openxmlformats.org/drawingml/2006/main">
              <a:ext uri="{FF2B5EF4-FFF2-40B4-BE49-F238E27FC236}">
                <a16:creationId xmlns:a16="http://schemas.microsoft.com/office/drawing/2014/main" id="{BBD338B5-4484-4A0D-BBF3-049AA161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党员示范，让信任立得住</a:t>
            </a:r>
          </a:p>
        </p:txBody>
      </p:sp>
      <p:sp>
        <p:nvSpPr>
          <p:cNvPr id="14" name="text-62">
            <a:extLst xmlns:a="http://schemas.openxmlformats.org/drawingml/2006/main">
              <a:ext uri="{FF2B5EF4-FFF2-40B4-BE49-F238E27FC236}">
                <a16:creationId xmlns:a16="http://schemas.microsoft.com/office/drawing/2014/main" id="{84D95520-799B-47AC-A3D0-F6EFA0F7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青年参与，让组织力有现实落点</a:t>
            </a:r>
          </a:p>
        </p:txBody>
      </p:sp>
      <p:sp>
        <p:nvSpPr>
          <p:cNvPr id="15" name="text-63">
            <a:extLst xmlns:a="http://schemas.openxmlformats.org/drawingml/2006/main">
              <a:ext uri="{FF2B5EF4-FFF2-40B4-BE49-F238E27FC236}">
                <a16:creationId xmlns:a16="http://schemas.microsoft.com/office/drawing/2014/main" id="{80104093-9144-45AC-82FD-A74859B8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322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322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604721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2026-11-01T09:09:22.1780000Z</dcterms:created>
  <dcterms:modified xsi:type="dcterms:W3CDTF">2026-11-01T09:09:22.1780000Z</dcterms:modified>
</coreProperties>
</file>