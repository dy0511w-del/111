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dec84593cb47d0" /><Relationship Type="http://schemas.openxmlformats.org/officeDocument/2006/relationships/extended-properties" Target="/docProps/app.xml" Id="R5abe742c3fdc4e20" /><Relationship Type="http://schemas.openxmlformats.org/officeDocument/2006/relationships/officeDocument" Target="/ppt/presentation.xml" Id="R0cda43aa52ce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67bf1545b45de"/>
  </p:sldMasterIdLst>
  <p:notesMasterIdLst>
    <p:notesMasterId xmlns:r="http://schemas.openxmlformats.org/officeDocument/2006/relationships" r:id="R04bed55ed4c74d12"/>
  </p:notesMasterIdLst>
  <p:sldIdLst>
    <p:sldId xmlns:r="http://schemas.openxmlformats.org/officeDocument/2006/relationships" id="256" r:id="Rba5935a9c0a245d3"/>
    <p:sldId xmlns:r="http://schemas.openxmlformats.org/officeDocument/2006/relationships" id="257" r:id="R465f42de08f94dde"/>
    <p:sldId xmlns:r="http://schemas.openxmlformats.org/officeDocument/2006/relationships" id="258" r:id="R70561b5250f14965"/>
    <p:sldId xmlns:r="http://schemas.openxmlformats.org/officeDocument/2006/relationships" id="259" r:id="Ra32d67861ba64edc"/>
    <p:sldId xmlns:r="http://schemas.openxmlformats.org/officeDocument/2006/relationships" id="260" r:id="R94e216d42db84657"/>
    <p:sldId xmlns:r="http://schemas.openxmlformats.org/officeDocument/2006/relationships" id="261" r:id="Raf2f805fd1ec498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1af0622b5b4e5c" /><Relationship Type="http://schemas.openxmlformats.org/officeDocument/2006/relationships/slideMaster" Target="/ppt/slideMasters/slideMaster1.xml" Id="Rfb267bf1545b45de" /><Relationship Type="http://schemas.openxmlformats.org/officeDocument/2006/relationships/notesMaster" Target="/ppt/notesMasters/notesMaster1.xml" Id="R04bed55ed4c74d12" /><Relationship Type="http://schemas.openxmlformats.org/officeDocument/2006/relationships/presProps" Target="/ppt/presProps.xml" Id="Rde589ab64331463d" /><Relationship Type="http://schemas.openxmlformats.org/officeDocument/2006/relationships/tableStyles" Target="/ppt/tableStyles.xml" Id="R920b1d72ecfc4d96" /><Relationship Type="http://schemas.openxmlformats.org/officeDocument/2006/relationships/slide" Target="/ppt/slides/slide1.xml" Id="Rba5935a9c0a245d3" /><Relationship Type="http://schemas.openxmlformats.org/officeDocument/2006/relationships/slide" Target="/ppt/slides/slide2.xml" Id="R465f42de08f94dde" /><Relationship Type="http://schemas.openxmlformats.org/officeDocument/2006/relationships/slide" Target="/ppt/slides/slide3.xml" Id="R70561b5250f14965" /><Relationship Type="http://schemas.openxmlformats.org/officeDocument/2006/relationships/slide" Target="/ppt/slides/slide4.xml" Id="Ra32d67861ba64edc" /><Relationship Type="http://schemas.openxmlformats.org/officeDocument/2006/relationships/slide" Target="/ppt/slides/slide5.xml" Id="R94e216d42db84657" /><Relationship Type="http://schemas.openxmlformats.org/officeDocument/2006/relationships/slide" Target="/ppt/slides/slide6.xml" Id="Raf2f805fd1ec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7bc7f132ca4b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bcfdf5cbe4f6f" /><Relationship Type="http://schemas.openxmlformats.org/officeDocument/2006/relationships/notesMaster" Target="/ppt/notesMasters/notesMaster1.xml" Id="R7187804dd8b44c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4c35e0c6a42de" /><Relationship Type="http://schemas.openxmlformats.org/officeDocument/2006/relationships/notesMaster" Target="/ppt/notesMasters/notesMaster1.xml" Id="Rb8e3e77f1ae1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668495a1b466f" /><Relationship Type="http://schemas.openxmlformats.org/officeDocument/2006/relationships/notesMaster" Target="/ppt/notesMasters/notesMaster1.xml" Id="R993d8a546a9d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9341474f9d44a6" /><Relationship Type="http://schemas.openxmlformats.org/officeDocument/2006/relationships/notesMaster" Target="/ppt/notesMasters/notesMaster1.xml" Id="Re66ed9b0891c45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51a81ada2f4951" /><Relationship Type="http://schemas.openxmlformats.org/officeDocument/2006/relationships/notesMaster" Target="/ppt/notesMasters/notesMaster1.xml" Id="Ref9409ea07dc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fda94408b4e33" /><Relationship Type="http://schemas.openxmlformats.org/officeDocument/2006/relationships/notesMaster" Target="/ppt/notesMasters/notesMaster1.xml" Id="Rd20f555071e2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组织建起来只是起点。如果党支部只有名册、没有学习和工作，组织力依然停在纸面上。对楼宇中的党员来说，工作地点分散、企业节奏不同，教育管理怎样才能接得上？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装饰素材：用户提供参考PDF第1、11页；本页章节标题为可编辑文字。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党员教育管理既要有理论学习和组织生活，也要有制度约束和日常监督。《中国共产党党员教育管理工作条例》要求坚持教育、管理、监督、服务相结合，并把从严教育管理与热情关心爱护统一起来。[11]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《中国共产党党员教育管理工作条例》第3、16—18条，新华社，2019-05-21：https://www.xinhuanet.com/politics/2019-05/21/c_1124524932.htm</a:t>
            </a:r>
          </a:p>
          <a:p xmlns:a="http://schemas.openxmlformats.org/drawingml/2006/main">
            <a:r>
              <a:t>照片：用户提供参考PDF第12页，三张原图，未另行推断拍摄地点或具体活动。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中华企业大厦的探索没有停在2002年的挂牌。2004年，静安区公开招聘全市首批楼宇党群工作者，让楼宇党建有专门力量接续推进。[7]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上海静安，2022-09-22，2002年服务点与2004年工作者队伍的时间线：https://www.jingan.gov.cn/rmtzx/003008/003008007/20220922/fdeed20b-aa0a-4836-9995-2b3936702eaf.html</a:t>
            </a:r>
          </a:p>
          <a:p xmlns:a="http://schemas.openxmlformats.org/drawingml/2006/main">
            <a:r>
              <a:t>照片：用户提供参考PDF第8页，作为早期服务点历史画面；照片不表示2004年的招聘现场。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后来，高和大厦内的党群服务站通过每月党课、云课堂、“行走党课”等方式，把学习内容送到白领身边；课程也照顾到青年白领的兴趣，吸引他们参与。[15]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上海静安，2020-10-19，关于高和大厦服务站的月度党课、云课堂与行走党课报道：https://m.thepaper.cn/newsDetail_forward_9626663</a:t>
            </a:r>
          </a:p>
          <a:p xmlns:a="http://schemas.openxmlformats.org/drawingml/2006/main">
            <a:r>
              <a:t>照片：用户提供参考PDF第10页阅读空间实景，原稿未标注地点；仅用于说明学习场景。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服务站还不断拓展功能。高和大厦内的党群服务站升级为街道党群服务站和企业服务中心后，把党务、政务、事务服务放到同一处办理，让白领遇到具体问题时有地方咨询、有人接续处理。[15]</a:t>
            </a:r>
          </a:p>
          <a:p xmlns:a="http://schemas.openxmlformats.org/drawingml/2006/main">
            <a:r>
              <a:t>这段延续过程说明，党员教育管理需要常态化的抓手：学习有内容、组织生活有安排、服务实践有位置，党员才能在日常工作中校准方向、接受监督、履行责任。组织也要及时提醒偏差、关心实际困难，让党员既守好标准，也能安心履责。[10][11]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《中国共产党党员教育管理工作条例》第23条：https://www.xinhuanet.com/politics/2019-05/21/c_1124524932.htm</a:t>
            </a:r>
          </a:p>
          <a:p xmlns:a="http://schemas.openxmlformats.org/drawingml/2006/main">
            <a:r>
              <a:t>高和大厦党群服务站与企业服务中心的功能升级：https://m.thepaper.cn/newsDetail_forward_9626663</a:t>
            </a:r>
          </a:p>
          <a:p xmlns:a="http://schemas.openxmlformats.org/drawingml/2006/main">
            <a:r>
              <a:t>照片：用户提供参考PDF第10页。左图为静安寺街道社区党群服务中心，右图原稿未标地点。两图均作党群服务场景展示，不用于认定高和大厦服务站的具体位置。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从严不是把要求写在纸上，而是看党员能否把组织要求落实到岗位、回应群众需要。党员的身份在服务中被看见，组织就有了可信的榜样。接下来要问：党员作用怎样从岗位延伸到群众身边？党组织又怎样把这种联系延伸到青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本页为文稿第二部分的归纳与转场；无新增事实或统计数据。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图片使用基础：用户提供参考素材，按本次演示文稿改编要求沿用。未把未标注地点的照片作为高和大厦的现场证据。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7cc715c054e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c1f2574474e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f12db61324b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87359482b4e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aba5f04f449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d23c7f59f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6B31D8-FD5D-4258-9805-D3BDB7037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BAF396-EACD-42B5-91E2-9F718CC903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4C8922-FC5A-4025-BCBD-8949588DF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709AD5-FE7D-4D66-8485-5EE9D27FC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18CF77-D1ED-44AB-9172-57C709118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F11A8D-9B96-41A5-A144-C9E026001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79A7E4-FC01-4333-811D-7143BE5CD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156C15-1327-4C25-A8AD-BC6117861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270172-06DD-42AE-ACE8-C217E9205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FCB893-57A7-4126-B307-6754076655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23f0a2e56841d4" /><Relationship Type="http://schemas.openxmlformats.org/officeDocument/2006/relationships/slideLayout" Target="/ppt/slideLayouts/slideLayout1.xml" Id="R1d2f1e3e13164680" /><Relationship Type="http://schemas.openxmlformats.org/officeDocument/2006/relationships/slideLayout" Target="/ppt/slideLayouts/slideLayout2.xml" Id="Rf3e17c88d3b44e3c" /><Relationship Type="http://schemas.openxmlformats.org/officeDocument/2006/relationships/slideLayout" Target="/ppt/slideLayouts/slideLayout3.xml" Id="R6b245d45825d4524" /><Relationship Type="http://schemas.openxmlformats.org/officeDocument/2006/relationships/slideLayout" Target="/ppt/slideLayouts/slideLayout4.xml" Id="Rad47a2d9acf14a87" /><Relationship Type="http://schemas.openxmlformats.org/officeDocument/2006/relationships/slideLayout" Target="/ppt/slideLayouts/slideLayout5.xml" Id="Rcb021f421e4244e2" /><Relationship Type="http://schemas.openxmlformats.org/officeDocument/2006/relationships/slideLayout" Target="/ppt/slideLayouts/slideLayout6.xml" Id="Ra72f582c50aa42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f1e3e13164680"/>
    <p:sldLayoutId xmlns:r="http://schemas.openxmlformats.org/officeDocument/2006/relationships" id="2147483650" r:id="Rf3e17c88d3b44e3c"/>
    <p:sldLayoutId xmlns:r="http://schemas.openxmlformats.org/officeDocument/2006/relationships" id="2147483651" r:id="R6b245d45825d4524"/>
    <p:sldLayoutId xmlns:r="http://schemas.openxmlformats.org/officeDocument/2006/relationships" id="2147483652" r:id="Rad47a2d9acf14a87"/>
    <p:sldLayoutId xmlns:r="http://schemas.openxmlformats.org/officeDocument/2006/relationships" id="2147483653" r:id="Rcb021f421e4244e2"/>
    <p:sldLayoutId xmlns:r="http://schemas.openxmlformats.org/officeDocument/2006/relationships" id="2147483654" r:id="Ra72f582c50aa42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d7228409b44e1" /><Relationship Type="http://schemas.openxmlformats.org/officeDocument/2006/relationships/image" Target="/ppt/media/image.jpeg" Id="Rc684714e293b4fbb" /><Relationship Type="http://schemas.openxmlformats.org/officeDocument/2006/relationships/image" Target="/ppt/media/image2.jpeg" Id="Rffeeb454d1244760" /><Relationship Type="http://schemas.openxmlformats.org/officeDocument/2006/relationships/image" Target="/ppt/media/image.png" Id="Rba8d1405695a4f06" /><Relationship Type="http://schemas.openxmlformats.org/officeDocument/2006/relationships/image" Target="/ppt/media/image2.png" Id="R50a01f43a2dd4e75" /><Relationship Type="http://schemas.openxmlformats.org/officeDocument/2006/relationships/image" Target="/ppt/media/image3.png" Id="R8af83988dd914d9a" /><Relationship Type="http://schemas.openxmlformats.org/officeDocument/2006/relationships/image" Target="/ppt/media/image4.png" Id="Rc5e623330fcd4893" /><Relationship Type="http://schemas.openxmlformats.org/officeDocument/2006/relationships/image" Target="/ppt/media/image5.png" Id="R737adf8327df4e06" /><Relationship Type="http://schemas.openxmlformats.org/officeDocument/2006/relationships/image" Target="/ppt/media/image6.png" Id="R1bd1b6e150054d8b" /><Relationship Type="http://schemas.openxmlformats.org/officeDocument/2006/relationships/image" Target="/ppt/media/image7.png" Id="R99cc94767d434234" /><Relationship Type="http://schemas.openxmlformats.org/officeDocument/2006/relationships/image" Target="/ppt/media/image8.png" Id="R8ba64ade93a14726" /><Relationship Type="http://schemas.openxmlformats.org/officeDocument/2006/relationships/notesSlide" Target="/ppt/notesSlides/notesSlide1.xml" Id="R203c6f07677e43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b770856e344db" /><Relationship Type="http://schemas.openxmlformats.org/officeDocument/2006/relationships/image" Target="/ppt/media/image9.png" Id="Raaf5378c591143b3" /><Relationship Type="http://schemas.openxmlformats.org/officeDocument/2006/relationships/image" Target="/ppt/media/image3.jpeg" Id="Rf5141a39f0d4427a" /><Relationship Type="http://schemas.openxmlformats.org/officeDocument/2006/relationships/image" Target="/ppt/media/image4.jpeg" Id="R223b571501a44a2b" /><Relationship Type="http://schemas.openxmlformats.org/officeDocument/2006/relationships/image" Target="/ppt/media/image5.jpeg" Id="Rd55f23c64039410c" /><Relationship Type="http://schemas.openxmlformats.org/officeDocument/2006/relationships/notesSlide" Target="/ppt/notesSlides/notesSlide2.xml" Id="R27a7a09a64f649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6ddf3cff04c47" /><Relationship Type="http://schemas.openxmlformats.org/officeDocument/2006/relationships/image" Target="/ppt/media/image10.png" Id="R2a23783304bb44b5" /><Relationship Type="http://schemas.openxmlformats.org/officeDocument/2006/relationships/image" Target="/ppt/media/image6.jpeg" Id="R92051d5e64fb409a" /><Relationship Type="http://schemas.openxmlformats.org/officeDocument/2006/relationships/notesSlide" Target="/ppt/notesSlides/notesSlide3.xml" Id="R04e640e7500b47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7844217e54bb6" /><Relationship Type="http://schemas.openxmlformats.org/officeDocument/2006/relationships/image" Target="/ppt/media/image11.png" Id="Rb37af27fafbf4608" /><Relationship Type="http://schemas.openxmlformats.org/officeDocument/2006/relationships/image" Target="/ppt/media/image12.png" Id="R3f7bfa7e48cc499c" /><Relationship Type="http://schemas.openxmlformats.org/officeDocument/2006/relationships/notesSlide" Target="/ppt/notesSlides/notesSlide4.xml" Id="R8ba156c8f20f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c61540a19404a" /><Relationship Type="http://schemas.openxmlformats.org/officeDocument/2006/relationships/image" Target="/ppt/media/image13.png" Id="R339376f2d8574fba" /><Relationship Type="http://schemas.openxmlformats.org/officeDocument/2006/relationships/image" Target="/ppt/media/image14.png" Id="R0da5a1264b114ee1" /><Relationship Type="http://schemas.openxmlformats.org/officeDocument/2006/relationships/image" Target="/ppt/media/image15.png" Id="Rfc4f073721644ff2" /><Relationship Type="http://schemas.openxmlformats.org/officeDocument/2006/relationships/notesSlide" Target="/ppt/notesSlides/notesSlide5.xml" Id="R7d6853b22491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2f6a6a7894517" /><Relationship Type="http://schemas.openxmlformats.org/officeDocument/2006/relationships/image" Target="/ppt/media/image16.png" Id="Rcfa0f19ec1bc4937" /><Relationship Type="http://schemas.openxmlformats.org/officeDocument/2006/relationships/notesSlide" Target="/ppt/notesSlides/notesSlide6.xml" Id="R509e8e07ce1a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90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51EDE-C0C4-472A-8290-79DC270AF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4714e293b4fbb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13E7-F959-4A2B-8897-23A3EE72D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eb454d1244760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57200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CA83C-BB3B-4610-B7AD-12C0F8A62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d1405695a4f06"/>
          <a:stretch xmlns:a="http://schemas.openxmlformats.org/drawingml/2006/main"/>
        </p:blipFill>
        <p:spPr>
          <a:xfrm xmlns:a="http://schemas.openxmlformats.org/drawingml/2006/main">
            <a:off x="1628775" y="3536439"/>
            <a:ext cx="6305550" cy="128054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359BC-D80B-4D57-A57D-C84C4B881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01f43a2dd4e75"/>
          <a:stretch xmlns:a="http://schemas.openxmlformats.org/drawingml/2006/main"/>
        </p:blipFill>
        <p:spPr>
          <a:xfrm xmlns:a="http://schemas.openxmlformats.org/drawingml/2006/main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1C98E-4108-4EB1-A5E2-A6E915896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83988dd914d9a"/>
          <a:stretch xmlns:a="http://schemas.openxmlformats.org/drawingml/2006/main"/>
        </p:blipFill>
        <p:spPr>
          <a:xfrm xmlns:a="http://schemas.openxmlformats.org/drawingml/2006/main" flipH="1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4F3FD-CD6C-44A3-8EF9-E16ACAA2B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623330fcd4893"/>
          <a:stretch xmlns:a="http://schemas.openxmlformats.org/drawingml/2006/main"/>
        </p:blipFill>
        <p:spPr>
          <a:xfrm xmlns:a="http://schemas.openxmlformats.org/drawingml/2006/main">
            <a:off x="0" y="4078605"/>
            <a:ext cx="9144000" cy="1062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99D1-1A35-47B5-A880-8A4D3492C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adf8327df4e06"/>
          <a:stretch xmlns:a="http://schemas.openxmlformats.org/drawingml/2006/main"/>
        </p:blipFill>
        <p:spPr>
          <a:xfrm xmlns:a="http://schemas.openxmlformats.org/drawingml/2006/main" flipH="1">
            <a:off x="125349" y="3724275"/>
            <a:ext cx="1559052" cy="1028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A2A6C-6993-4094-8422-B94076D89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1b6e150054d8b"/>
          <a:stretch xmlns:a="http://schemas.openxmlformats.org/drawingml/2006/main"/>
        </p:blipFill>
        <p:spPr>
          <a:xfrm xmlns:a="http://schemas.openxmlformats.org/drawingml/2006/main">
            <a:off x="7601903" y="3724275"/>
            <a:ext cx="1417320" cy="10287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5A5FD-13D6-4A33-B457-EBB410339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c94767d434234"/>
          <a:stretch xmlns:a="http://schemas.openxmlformats.org/drawingml/2006/main"/>
        </p:blipFill>
        <p:spPr>
          <a:xfrm xmlns:a="http://schemas.openxmlformats.org/drawingml/2006/main">
            <a:off x="666916" y="219075"/>
            <a:ext cx="2352343" cy="13906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3DE58-26B6-43BC-9516-6DB9BD0F8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64ade93a14726"/>
          <a:stretch xmlns:a="http://schemas.openxmlformats.org/drawingml/2006/main"/>
        </p:blipFill>
        <p:spPr>
          <a:xfrm xmlns:a="http://schemas.openxmlformats.org/drawingml/2006/main" flipH="1">
            <a:off x="5819775" y="238685"/>
            <a:ext cx="2286000" cy="1351429"/>
          </a:xfrm>
          <a:prstGeom xmlns:a="http://schemas.openxmlformats.org/drawingml/2006/main" prst="rect">
            <a:avLst/>
          </a:prstGeom>
        </p:spPr>
      </p:pic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3F04A9A7-79BC-4D65-B462-76739C3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2001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贰</a:t>
            </a:r>
          </a:p>
        </p:txBody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372C3C34-3196-49F6-8F01-E46B8499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28850"/>
            <a:ext cx="771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从严教育管理是保持党员队伍</a:t>
            </a:r>
          </a:p>
        </p:txBody>
      </p:sp>
      <p:sp>
        <p:nvSpPr>
          <p:cNvPr id="13" name="text-3">
            <a:extLst xmlns:a="http://schemas.openxmlformats.org/drawingml/2006/main">
              <a:ext uri="{FF2B5EF4-FFF2-40B4-BE49-F238E27FC236}">
                <a16:creationId xmlns:a16="http://schemas.microsoft.com/office/drawing/2014/main" id="{37818A2B-9582-491D-905B-B2752070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771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先进性和纯洁性的重要保障</a:t>
            </a:r>
          </a:p>
        </p:txBody>
      </p:sp>
    </p:spTree>
    <p:extLst>
      <p:ext uri="{BB962C8B-B14F-4D97-AF65-F5344CB8AC3E}">
        <p14:creationId xmlns:p14="http://schemas.microsoft.com/office/powerpoint/2010/main" val="841506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42020-8375-4928-9FC1-DA85E5896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5378c591143b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4">
            <a:extLst xmlns:a="http://schemas.openxmlformats.org/drawingml/2006/main">
              <a:ext uri="{FF2B5EF4-FFF2-40B4-BE49-F238E27FC236}">
                <a16:creationId xmlns:a16="http://schemas.microsoft.com/office/drawing/2014/main" id="{71DD0932-C7F8-404D-ABB4-A045937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">
            <a:extLst xmlns:a="http://schemas.openxmlformats.org/drawingml/2006/main">
              <a:ext uri="{FF2B5EF4-FFF2-40B4-BE49-F238E27FC236}">
                <a16:creationId xmlns:a16="http://schemas.microsoft.com/office/drawing/2014/main" id="{F449A6B7-AA64-4CCA-AFD8-7955131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429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838AD9B2-D86A-4C12-A6FC-7D54761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《中国共产党党员教育管理工作条例》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D5D6A592-30BB-4E49-A4B5-06A4452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三会一课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9E716-021F-4A25-A84F-C064DF8EB9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41a39f0d4427a"/>
          <a:stretch xmlns:a="http://schemas.openxmlformats.org/drawingml/2006/main"/>
        </p:blipFill>
        <p:spPr>
          <a:xfrm xmlns:a="http://schemas.openxmlformats.org/drawingml/2006/main">
            <a:off x="381000" y="1926431"/>
            <a:ext cx="2647950" cy="1985963"/>
          </a:xfrm>
          <a:prstGeom xmlns:a="http://schemas.openxmlformats.org/drawingml/2006/main" prst="rect">
            <a:avLst/>
          </a:prstGeom>
        </p:spPr>
      </p:pic>
      <p:sp>
        <p:nvSpPr>
          <p:cNvPr id="7" name="text-8">
            <a:extLst xmlns:a="http://schemas.openxmlformats.org/drawingml/2006/main">
              <a:ext uri="{FF2B5EF4-FFF2-40B4-BE49-F238E27FC236}">
                <a16:creationId xmlns:a16="http://schemas.microsoft.com/office/drawing/2014/main" id="{7BA05E2C-537F-4976-A997-11812F99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组织生活会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1D3CC-A9A3-4C04-A5CD-BBD9D8EDB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b571501a44a2b"/>
          <a:stretch xmlns:a="http://schemas.openxmlformats.org/drawingml/2006/main"/>
        </p:blipFill>
        <p:spPr>
          <a:xfrm xmlns:a="http://schemas.openxmlformats.org/drawingml/2006/main">
            <a:off x="3267075" y="1926431"/>
            <a:ext cx="2647950" cy="1985963"/>
          </a:xfrm>
          <a:prstGeom xmlns:a="http://schemas.openxmlformats.org/drawingml/2006/main" prst="rect">
            <a:avLst/>
          </a:prstGeom>
        </p:spPr>
      </p:pic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7340C71-7E2B-482B-81F8-F77FD46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民主评议党员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53FA0-586C-45C8-A372-916407FD9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f23c64039410c"/>
          <a:stretch xmlns:a="http://schemas.openxmlformats.org/drawingml/2006/main"/>
        </p:blipFill>
        <p:spPr>
          <a:xfrm xmlns:a="http://schemas.openxmlformats.org/drawingml/2006/main">
            <a:off x="6153150" y="1926431"/>
            <a:ext cx="2647950" cy="1985963"/>
          </a:xfrm>
          <a:prstGeom xmlns:a="http://schemas.openxmlformats.org/drawingml/2006/main" prst="rect">
            <a:avLst/>
          </a:prstGeom>
        </p:spPr>
      </p:pic>
      <p:sp>
        <p:nvSpPr>
          <p:cNvPr id="11" name="surface-10">
            <a:extLst xmlns:a="http://schemas.openxmlformats.org/drawingml/2006/main">
              <a:ext uri="{FF2B5EF4-FFF2-40B4-BE49-F238E27FC236}">
                <a16:creationId xmlns:a16="http://schemas.microsoft.com/office/drawing/2014/main" id="{842E2A4A-FCDD-43EC-8504-FB449513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24300"/>
            <a:ext cx="8420100" cy="6191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57A71"/>
              </a:gs>
              <a:gs pos="100000">
                <a:srgbClr val="BD0805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5DEB3C8-8552-4D83-A37E-168BA80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811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坚持教育、管理、监督、服务相结合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A1EA42D-AD89-4608-9BF1-E8E8E176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依据：《条例》第3、16—18条；组织生活照片沿用参考稿，作场景示意</a:t>
            </a:r>
          </a:p>
        </p:txBody>
      </p:sp>
    </p:spTree>
    <p:extLst>
      <p:ext uri="{BB962C8B-B14F-4D97-AF65-F5344CB8AC3E}">
        <p14:creationId xmlns:p14="http://schemas.microsoft.com/office/powerpoint/2010/main" val="1393396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0ECE3-9D60-4B21-AB29-14F6A3022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3783304bb44b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13">
            <a:extLst xmlns:a="http://schemas.openxmlformats.org/drawingml/2006/main">
              <a:ext uri="{FF2B5EF4-FFF2-40B4-BE49-F238E27FC236}">
                <a16:creationId xmlns:a16="http://schemas.microsoft.com/office/drawing/2014/main" id="{A8F013BE-967D-439D-9DB4-4ECD0EC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4">
            <a:extLst xmlns:a="http://schemas.openxmlformats.org/drawingml/2006/main">
              <a:ext uri="{FF2B5EF4-FFF2-40B4-BE49-F238E27FC236}">
                <a16:creationId xmlns:a16="http://schemas.microsoft.com/office/drawing/2014/main" id="{CE1D6493-0D1F-49F2-8A83-4729892E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FA748BAC-F7B0-45BD-8F34-556A7977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从挂牌到专人接续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5EE0C-B2CE-4851-B9CF-24F879A6A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51d5e64fb409a"/>
          <a:stretch xmlns:a="http://schemas.openxmlformats.org/drawingml/2006/main"/>
        </p:blipFill>
        <p:spPr>
          <a:xfrm xmlns:a="http://schemas.openxmlformats.org/drawingml/2006/main">
            <a:off x="381000" y="1524082"/>
            <a:ext cx="4714875" cy="2638261"/>
          </a:xfrm>
          <a:prstGeom xmlns:a="http://schemas.openxmlformats.org/drawingml/2006/main" prst="rect">
            <a:avLst/>
          </a:prstGeom>
        </p:spPr>
      </p:pic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1C716E0F-8F2B-4E93-922C-06C3E495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29100"/>
            <a:ext cx="471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中华企业大厦早期党员服务点（历史照片）</a:t>
            </a:r>
          </a:p>
        </p:txBody>
      </p:sp>
      <p:sp>
        <p:nvSpPr>
          <p:cNvPr id="7" name="surface-17">
            <a:extLst xmlns:a="http://schemas.openxmlformats.org/drawingml/2006/main">
              <a:ext uri="{FF2B5EF4-FFF2-40B4-BE49-F238E27FC236}">
                <a16:creationId xmlns:a16="http://schemas.microsoft.com/office/drawing/2014/main" id="{5943BC4F-5E2B-45CD-8209-4DB881F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14475"/>
            <a:ext cx="2857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-18">
            <a:extLst xmlns:a="http://schemas.openxmlformats.org/drawingml/2006/main">
              <a:ext uri="{FF2B5EF4-FFF2-40B4-BE49-F238E27FC236}">
                <a16:creationId xmlns:a16="http://schemas.microsoft.com/office/drawing/2014/main" id="{246A1397-9ED5-4740-B8AB-81DB3E5A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72402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9">
            <a:extLst xmlns:a="http://schemas.openxmlformats.org/drawingml/2006/main">
              <a:ext uri="{FF2B5EF4-FFF2-40B4-BE49-F238E27FC236}">
                <a16:creationId xmlns:a16="http://schemas.microsoft.com/office/drawing/2014/main" id="{0E40801A-37FC-4B92-9501-70F8E5B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621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2002年</a:t>
            </a:r>
          </a:p>
        </p:txBody>
      </p:sp>
      <p:sp>
        <p:nvSpPr>
          <p:cNvPr id="10" name="text-20">
            <a:extLst xmlns:a="http://schemas.openxmlformats.org/drawingml/2006/main">
              <a:ext uri="{FF2B5EF4-FFF2-40B4-BE49-F238E27FC236}">
                <a16:creationId xmlns:a16="http://schemas.microsoft.com/office/drawing/2014/main" id="{3574AC18-2031-4AEC-8997-D60FB99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9775"/>
            <a:ext cx="2733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设立商务楼宇党员服务点</a:t>
            </a:r>
          </a:p>
        </p:txBody>
      </p:sp>
      <p:sp>
        <p:nvSpPr>
          <p:cNvPr id="11" name="surface-21">
            <a:extLst xmlns:a="http://schemas.openxmlformats.org/drawingml/2006/main">
              <a:ext uri="{FF2B5EF4-FFF2-40B4-BE49-F238E27FC236}">
                <a16:creationId xmlns:a16="http://schemas.microsoft.com/office/drawing/2014/main" id="{E9C58837-B76E-443F-AD94-5BC748F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908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6AA6A647-133B-48AC-899D-7460C24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289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2004年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AE21EC77-EDF7-432B-AC57-5A9A9A0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2733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静安公开招聘首批</a:t>
            </a:r>
          </a:p>
        </p:txBody>
      </p:sp>
      <p:sp>
        <p:nvSpPr>
          <p:cNvPr id="14" name="text-24">
            <a:extLst xmlns:a="http://schemas.openxmlformats.org/drawingml/2006/main">
              <a:ext uri="{FF2B5EF4-FFF2-40B4-BE49-F238E27FC236}">
                <a16:creationId xmlns:a16="http://schemas.microsoft.com/office/drawing/2014/main" id="{5C05D65B-70B7-4038-9DD8-C479EAFB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9975"/>
            <a:ext cx="2733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楼宇党群工作者</a:t>
            </a:r>
          </a:p>
        </p:txBody>
      </p:sp>
      <p:sp>
        <p:nvSpPr>
          <p:cNvPr id="15" name="text-25">
            <a:extLst xmlns:a="http://schemas.openxmlformats.org/drawingml/2006/main">
              <a:ext uri="{FF2B5EF4-FFF2-40B4-BE49-F238E27FC236}">
                <a16:creationId xmlns:a16="http://schemas.microsoft.com/office/drawing/2014/main" id="{0E54274C-322F-4C6C-9085-2801744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依据：文稿第二部分；上海静安关于楼宇党建发展历程的公开报道（2022）</a:t>
            </a:r>
          </a:p>
        </p:txBody>
      </p:sp>
    </p:spTree>
    <p:extLst>
      <p:ext uri="{BB962C8B-B14F-4D97-AF65-F5344CB8AC3E}">
        <p14:creationId xmlns:p14="http://schemas.microsoft.com/office/powerpoint/2010/main" val="808088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51B65-D409-4548-B8B6-F4F8869DA0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af27fafbf460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26">
            <a:extLst xmlns:a="http://schemas.openxmlformats.org/drawingml/2006/main">
              <a:ext uri="{FF2B5EF4-FFF2-40B4-BE49-F238E27FC236}">
                <a16:creationId xmlns:a16="http://schemas.microsoft.com/office/drawing/2014/main" id="{55F1C608-F4E1-4C02-8043-67D4BF5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7">
            <a:extLst xmlns:a="http://schemas.openxmlformats.org/drawingml/2006/main">
              <a:ext uri="{FF2B5EF4-FFF2-40B4-BE49-F238E27FC236}">
                <a16:creationId xmlns:a16="http://schemas.microsoft.com/office/drawing/2014/main" id="{DA15CD5E-0A8D-4D78-91C0-AF515467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714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6BF40B1C-4BA6-44D9-AE6C-521D8FA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391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学习送到身边，教育融入日常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34037-0A0F-4702-A417-DAA09C36C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bfa7e48cc499c"/>
          <a:stretch xmlns:a="http://schemas.openxmlformats.org/drawingml/2006/main"/>
        </p:blipFill>
        <p:spPr>
          <a:xfrm xmlns:a="http://schemas.openxmlformats.org/drawingml/2006/main">
            <a:off x="384895" y="1609725"/>
            <a:ext cx="4135586" cy="2886075"/>
          </a:xfrm>
          <a:prstGeom xmlns:a="http://schemas.openxmlformats.org/drawingml/2006/main" prst="rect">
            <a:avLst/>
          </a:prstGeom>
        </p:spPr>
      </p:pic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E7FC8D5F-5EBF-4DE3-B2F5-6776D730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29125"/>
            <a:ext cx="414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学习空间实景（原稿配图）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B8C0BCE8-7E0B-49D6-BEC4-D030349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23975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高和大厦服务站的学习方式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32971C01-F866-4B48-83BC-FD8C1072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76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一月一优质党课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82FAAFCA-672B-46C6-AD52-1AB3145F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74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优质课程就近送进楼宇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EDCDDB65-A7B2-4673-9796-DCB65F7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717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云课堂</a:t>
            </a:r>
          </a:p>
        </p:txBody>
      </p:sp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DD95A9BB-D544-4225-B3D4-EC52905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5277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线上学习与讨论持续开展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4411B882-C3A4-4FDB-8F6E-24BC550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67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行走党课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7DFFB15D-A5B6-4A9C-AB48-96F3327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481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联动辖区红色教育资源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958D0AA3-8771-4EA0-B49B-DC4A46C3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案例来源：上海静安，2020-10-19；学习空间照片沿用参考稿</a:t>
            </a:r>
          </a:p>
        </p:txBody>
      </p:sp>
    </p:spTree>
    <p:extLst>
      <p:ext uri="{BB962C8B-B14F-4D97-AF65-F5344CB8AC3E}">
        <p14:creationId xmlns:p14="http://schemas.microsoft.com/office/powerpoint/2010/main" val="823212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4D9EE-CF89-4F4B-B658-5CFC0C6BF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376f2d8574fb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38">
            <a:extLst xmlns:a="http://schemas.openxmlformats.org/drawingml/2006/main">
              <a:ext uri="{FF2B5EF4-FFF2-40B4-BE49-F238E27FC236}">
                <a16:creationId xmlns:a16="http://schemas.microsoft.com/office/drawing/2014/main" id="{D360C2F1-80CC-42CF-9814-BC8D2E2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9">
            <a:extLst xmlns:a="http://schemas.openxmlformats.org/drawingml/2006/main">
              <a:ext uri="{FF2B5EF4-FFF2-40B4-BE49-F238E27FC236}">
                <a16:creationId xmlns:a16="http://schemas.microsoft.com/office/drawing/2014/main" id="{CD9115A9-B566-4742-AE0A-2C4C40F7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524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C3A55E0A-DB4F-41AE-9038-2131DE4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200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从严管理与关心爱护相统一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9E9BF204-B31B-48CB-BAB1-35C1E701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04925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守好标准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4A7887EC-C6D1-4B30-8DB6-50A4E8F4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04925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安心履责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1D790526-6531-4E50-B4AC-0C93749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049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组织生活有安排，日常监督有要求</a:t>
            </a:r>
          </a:p>
        </p:txBody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16A100E3-6222-4B00-B5E4-6AD8C8B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049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5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实际困难有人问，具体问题有人接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856BE-D6F3-447D-900E-05E9FF7DD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5a1264b114ee1"/>
          <a:stretch xmlns:a="http://schemas.openxmlformats.org/drawingml/2006/main"/>
        </p:blipFill>
        <p:spPr>
          <a:xfrm xmlns:a="http://schemas.openxmlformats.org/drawingml/2006/main">
            <a:off x="548972" y="2114550"/>
            <a:ext cx="3616931" cy="25241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AC237-B89A-42A4-8037-1F77A731B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f073721644ff2"/>
          <a:stretch xmlns:a="http://schemas.openxmlformats.org/drawingml/2006/main"/>
        </p:blipFill>
        <p:spPr>
          <a:xfrm xmlns:a="http://schemas.openxmlformats.org/drawingml/2006/main">
            <a:off x="4886436" y="2114550"/>
            <a:ext cx="3819303" cy="2524125"/>
          </a:xfrm>
          <a:prstGeom xmlns:a="http://schemas.openxmlformats.org/drawingml/2006/main" prst="rect">
            <a:avLst/>
          </a:prstGeom>
        </p:spPr>
      </p:pic>
      <p:sp>
        <p:nvSpPr>
          <p:cNvPr id="11" name="text-45">
            <a:extLst xmlns:a="http://schemas.openxmlformats.org/drawingml/2006/main">
              <a:ext uri="{FF2B5EF4-FFF2-40B4-BE49-F238E27FC236}">
                <a16:creationId xmlns:a16="http://schemas.microsoft.com/office/drawing/2014/main" id="{48764058-2219-40B2-A21B-143C3362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1025"/>
            <a:ext cx="811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党群服务阵地实景（原稿配图）</a:t>
            </a:r>
          </a:p>
        </p:txBody>
      </p:sp>
      <p:sp>
        <p:nvSpPr>
          <p:cNvPr id="12" name="text-46">
            <a:extLst xmlns:a="http://schemas.openxmlformats.org/drawingml/2006/main">
              <a:ext uri="{FF2B5EF4-FFF2-40B4-BE49-F238E27FC236}">
                <a16:creationId xmlns:a16="http://schemas.microsoft.com/office/drawing/2014/main" id="{FFD669D0-0504-44BF-9232-6BA0F01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高和大厦案例：党务、政务、事务服务一处办理。依据：《条例》第23条、上海静安（2020）</a:t>
            </a:r>
          </a:p>
        </p:txBody>
      </p:sp>
    </p:spTree>
    <p:extLst>
      <p:ext uri="{BB962C8B-B14F-4D97-AF65-F5344CB8AC3E}">
        <p14:creationId xmlns:p14="http://schemas.microsoft.com/office/powerpoint/2010/main" val="70594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E523A-19E3-463D-A872-E3E48E960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0f19ec1bc493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47">
            <a:extLst xmlns:a="http://schemas.openxmlformats.org/drawingml/2006/main">
              <a:ext uri="{FF2B5EF4-FFF2-40B4-BE49-F238E27FC236}">
                <a16:creationId xmlns:a16="http://schemas.microsoft.com/office/drawing/2014/main" id="{81EF594E-0B26-4434-BF88-C5AE2DD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8">
            <a:extLst xmlns:a="http://schemas.openxmlformats.org/drawingml/2006/main">
              <a:ext uri="{FF2B5EF4-FFF2-40B4-BE49-F238E27FC236}">
                <a16:creationId xmlns:a16="http://schemas.microsoft.com/office/drawing/2014/main" id="{66D0E5EC-EF2F-43C9-A8D3-E0FE6EB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1428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4AF2331C-14CF-4A50-BC0F-1A2F732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小结二</a:t>
            </a:r>
          </a:p>
        </p:txBody>
      </p:sp>
      <p:sp>
        <p:nvSpPr>
          <p:cNvPr id="5" name="text-50">
            <a:extLst xmlns:a="http://schemas.openxmlformats.org/drawingml/2006/main">
              <a:ext uri="{FF2B5EF4-FFF2-40B4-BE49-F238E27FC236}">
                <a16:creationId xmlns:a16="http://schemas.microsoft.com/office/drawing/2014/main" id="{746DDB28-930E-480B-A5B2-9D6064C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55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党员教育管理，需要常态化的抓手</a:t>
            </a:r>
          </a:p>
        </p:txBody>
      </p:sp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D27EE05B-25F9-42F8-BD02-157E6E1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学习有内容</a:t>
            </a:r>
          </a:p>
        </p:txBody>
      </p:sp>
      <p:sp>
        <p:nvSpPr>
          <p:cNvPr id="7" name="text-52">
            <a:extLst xmlns:a="http://schemas.openxmlformats.org/drawingml/2006/main">
              <a:ext uri="{FF2B5EF4-FFF2-40B4-BE49-F238E27FC236}">
                <a16:creationId xmlns:a16="http://schemas.microsoft.com/office/drawing/2014/main" id="{4DA786CA-F9D6-4807-8395-90D6D78B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理论学习跟得上</a:t>
            </a:r>
          </a:p>
        </p:txBody>
      </p:sp>
      <p:sp>
        <p:nvSpPr>
          <p:cNvPr id="8" name="text-53">
            <a:extLst xmlns:a="http://schemas.openxmlformats.org/drawingml/2006/main">
              <a:ext uri="{FF2B5EF4-FFF2-40B4-BE49-F238E27FC236}">
                <a16:creationId xmlns:a16="http://schemas.microsoft.com/office/drawing/2014/main" id="{654EBA81-B1DC-4114-BCC8-28B0D653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在日常中校准方向</a:t>
            </a:r>
          </a:p>
        </p:txBody>
      </p:sp>
      <p:sp>
        <p:nvSpPr>
          <p:cNvPr id="9" name="surface-54">
            <a:extLst xmlns:a="http://schemas.openxmlformats.org/drawingml/2006/main">
              <a:ext uri="{FF2B5EF4-FFF2-40B4-BE49-F238E27FC236}">
                <a16:creationId xmlns:a16="http://schemas.microsoft.com/office/drawing/2014/main" id="{F2EE831D-9BA0-4F24-B3EE-25D41F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5">
            <a:extLst xmlns:a="http://schemas.openxmlformats.org/drawingml/2006/main">
              <a:ext uri="{FF2B5EF4-FFF2-40B4-BE49-F238E27FC236}">
                <a16:creationId xmlns:a16="http://schemas.microsoft.com/office/drawing/2014/main" id="{1FE27FF6-A4C5-4D48-BD3B-61B5184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组织生活有安排</a:t>
            </a:r>
          </a:p>
        </p:txBody>
      </p:sp>
      <p:sp>
        <p:nvSpPr>
          <p:cNvPr id="11" name="text-56">
            <a:extLst xmlns:a="http://schemas.openxmlformats.org/drawingml/2006/main">
              <a:ext uri="{FF2B5EF4-FFF2-40B4-BE49-F238E27FC236}">
                <a16:creationId xmlns:a16="http://schemas.microsoft.com/office/drawing/2014/main" id="{DC726D1D-FAF9-4AAC-9750-2D68AFA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制度要求落得下</a:t>
            </a:r>
          </a:p>
        </p:txBody>
      </p:sp>
      <p:sp>
        <p:nvSpPr>
          <p:cNvPr id="12" name="text-57">
            <a:extLst xmlns:a="http://schemas.openxmlformats.org/drawingml/2006/main">
              <a:ext uri="{FF2B5EF4-FFF2-40B4-BE49-F238E27FC236}">
                <a16:creationId xmlns:a16="http://schemas.microsoft.com/office/drawing/2014/main" id="{BEBAF15C-93DC-4CFD-AA5E-562898B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在组织中接受监督</a:t>
            </a:r>
          </a:p>
        </p:txBody>
      </p:sp>
      <p:sp>
        <p:nvSpPr>
          <p:cNvPr id="13" name="surface-58">
            <a:extLst xmlns:a="http://schemas.openxmlformats.org/drawingml/2006/main">
              <a:ext uri="{FF2B5EF4-FFF2-40B4-BE49-F238E27FC236}">
                <a16:creationId xmlns:a16="http://schemas.microsoft.com/office/drawing/2014/main" id="{06882858-1174-498E-A33F-3A50B5A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62200"/>
            <a:ext cx="95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9">
            <a:extLst xmlns:a="http://schemas.openxmlformats.org/drawingml/2006/main">
              <a:ext uri="{FF2B5EF4-FFF2-40B4-BE49-F238E27FC236}">
                <a16:creationId xmlns:a16="http://schemas.microsoft.com/office/drawing/2014/main" id="{2F91AC0E-DA1E-4633-BE5B-2876F16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服务实践有位置</a:t>
            </a:r>
          </a:p>
        </p:txBody>
      </p:sp>
      <p:sp>
        <p:nvSpPr>
          <p:cNvPr id="15" name="text-60">
            <a:extLst xmlns:a="http://schemas.openxmlformats.org/drawingml/2006/main">
              <a:ext uri="{FF2B5EF4-FFF2-40B4-BE49-F238E27FC236}">
                <a16:creationId xmlns:a16="http://schemas.microsoft.com/office/drawing/2014/main" id="{66ADD08A-A523-49C4-857C-1DDDE99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09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岗位责任担得起</a:t>
            </a:r>
          </a:p>
        </p:txBody>
      </p:sp>
      <p:sp>
        <p:nvSpPr>
          <p:cNvPr id="16" name="text-61">
            <a:extLst xmlns:a="http://schemas.openxmlformats.org/drawingml/2006/main">
              <a:ext uri="{FF2B5EF4-FFF2-40B4-BE49-F238E27FC236}">
                <a16:creationId xmlns:a16="http://schemas.microsoft.com/office/drawing/2014/main" id="{7F83D0DB-AF65-4F11-82DB-957C49DF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718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在服务中发挥作用</a:t>
            </a:r>
          </a:p>
        </p:txBody>
      </p:sp>
      <p:sp>
        <p:nvSpPr>
          <p:cNvPr id="17" name="surface-62">
            <a:extLst xmlns:a="http://schemas.openxmlformats.org/drawingml/2006/main">
              <a:ext uri="{FF2B5EF4-FFF2-40B4-BE49-F238E27FC236}">
                <a16:creationId xmlns:a16="http://schemas.microsoft.com/office/drawing/2014/main" id="{8D4D82B4-141F-416E-A75A-B1E02C4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2905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C9978C"/>
            </a:solidFill>
            <a:prstDash val="solid"/>
          </a:ln>
        </p:spPr>
      </p:sp>
      <p:sp>
        <p:nvSpPr>
          <p:cNvPr id="18" name="text-63">
            <a:extLst xmlns:a="http://schemas.openxmlformats.org/drawingml/2006/main">
              <a:ext uri="{FF2B5EF4-FFF2-40B4-BE49-F238E27FC236}">
                <a16:creationId xmlns:a16="http://schemas.microsoft.com/office/drawing/2014/main" id="{3DEF8179-25D2-4569-B338-01D1ADF9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党员作用怎样从岗位延伸到群众身边？</a:t>
            </a:r>
          </a:p>
        </p:txBody>
      </p:sp>
      <p:sp>
        <p:nvSpPr>
          <p:cNvPr id="19" name="text-64">
            <a:extLst xmlns:a="http://schemas.openxmlformats.org/drawingml/2006/main">
              <a:ext uri="{FF2B5EF4-FFF2-40B4-BE49-F238E27FC236}">
                <a16:creationId xmlns:a16="http://schemas.microsoft.com/office/drawing/2014/main" id="{D58F8AC5-519B-4FF1-9687-CC6F5D94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承接第三部分：党建引领团建在联系服务青年中落地</a:t>
            </a:r>
          </a:p>
        </p:txBody>
      </p:sp>
    </p:spTree>
    <p:extLst>
      <p:ext uri="{BB962C8B-B14F-4D97-AF65-F5344CB8AC3E}">
        <p14:creationId xmlns:p14="http://schemas.microsoft.com/office/powerpoint/2010/main" val="883921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2026-11-01T08:43:01.3630000Z</dcterms:created>
  <dcterms:modified xsi:type="dcterms:W3CDTF">2026-11-01T08:43:01.3630000Z</dcterms:modified>
</coreProperties>
</file>