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学们，今天我们一起讨论一个与国家发展、民族未来和每个人日常生活都密切相关的主题：全面推进人与自然和谐共生，实现中华民族永续发展。这里的“永续”，意味着今天的发展要为未来留下空间，今天获得的成果要经得起时间检验。</a:t>
            </a:r>
          </a:p>
          <a:p>
            <a:r>
              <a:t>这堂课围绕三个问题展开：新时代生态文明建设取得了哪些成就？为什么要充分认识编纂施行生态环境法典的重大意义？面向“十五五”，美丽中国建设还有哪些任务需要我们共同完成？希望大家带着身边的观察进入课堂，也带着可以落实的行动走出课堂。</a:t>
            </a:r>
          </a:p>
          <a:p/>
          <a:p>
            <a:r>
              <a:t>【投影页提炼】</a:t>
            </a:r>
          </a:p>
          <a:p>
            <a:r>
              <a:t>在绿色发展中理解中国式现代化</a:t>
            </a:r>
          </a:p>
          <a:p>
            <a:r>
              <a:t>新时代：从变化中认识历史性成就</a:t>
            </a:r>
          </a:p>
          <a:p>
            <a:r>
              <a:t>法治篇：理解生态环境法典的制度价值</a:t>
            </a:r>
          </a:p>
          <a:p>
            <a:r>
              <a:t>面向未来：把“十五五”任务转化为行动</a:t>
            </a:r>
          </a:p>
          <a:p/>
          <a:p>
            <a:r>
              <a:t>【本页来源】</a:t>
            </a:r>
          </a:p>
          <a:p>
            <a:r>
              <a:t>R01 习近平 高举中国特色社会主义伟大旗帜 为全面建设社会主义现代化国家而团结奋斗 在中国共产党第二十次全国代表大会上的报告</a:t>
            </a:r>
          </a:p>
          <a:p>
            <a:r>
              <a:t>https://www.gov.cn/xinwen/2022-10/25/content_5721685.htm</a:t>
            </a:r>
          </a:p>
          <a:p>
            <a:r>
              <a:t>R09 中华人民共和国生态环境法典</a:t>
            </a:r>
          </a:p>
          <a:p>
            <a:r>
              <a:t>https://www.mee.gov.cn/ywgz/fgbz/fl/202603/t20260313_1146496.shtml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a:r>
              <a:t>设计说明：沿用用户“生态背景.pptx”的底图，保留页眉、院校标识、渐变与弧带，底图作为高清图片，上层文字与图示可编辑；第二参考PPT超过当前32MiB读取上限，未能读取。本版采用教学图文、数据、流程、案例等自主构图，尚未按第二PPT逐页模仿。原始附件保持不变。</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大家回想一下，今天从起床到走进教室，在哪些时候与生态环境发生了联系？打开水龙头、呼吸室外空气、购买早餐、乘车出行、给手机充电，每一个环节都连接着水、土地、能源和生态系统。生态文明建设就在这些看得见、用得着的生活细节之中。</a:t>
            </a:r>
          </a:p>
          <a:p>
            <a:r>
              <a:t>环境改善能让人直接感受到幸福，环境问题也可能通过健康、生活成本和公共安全影响每个人。理解生态文明，首先要理解这种联系：生态环境质量是一种基础性公共产品，保护它，需要政府、企业和公众一起承担责任。</a:t>
            </a:r>
          </a:p>
          <a:p/>
          <a:p>
            <a:r>
              <a:t>【投影页提炼】</a:t>
            </a:r>
          </a:p>
          <a:p>
            <a:r>
              <a:t>生态环境连接每个人的一天</a:t>
            </a:r>
          </a:p>
          <a:p>
            <a:r>
              <a:t>呼吸、饮水、出行和消费都依赖生态环境</a:t>
            </a:r>
          </a:p>
          <a:p>
            <a:r>
              <a:t>环境质量影响健康、生活成本和公共安全</a:t>
            </a:r>
          </a:p>
          <a:p>
            <a:r>
              <a:t>请用一句话说说家乡近年的一处环境变化</a:t>
            </a:r>
          </a:p>
          <a:p/>
          <a:p>
            <a:r>
              <a:t>【本页来源】</a:t>
            </a:r>
          </a:p>
          <a:p>
            <a:r>
              <a:t>R04 中共中央 国务院关于全面推进美丽中国建设的意见</a:t>
            </a:r>
          </a:p>
          <a:p>
            <a:r>
              <a:t>https://app.www.gov.cn/govdata/gov/202401/11/511072/article.html</a:t>
            </a:r>
          </a:p>
          <a:p>
            <a:r>
              <a:t>R06 2025中国生态环境状况公报</a:t>
            </a:r>
          </a:p>
          <a:p>
            <a:r>
              <a:t>https://www.mee.gov.cn/hjzl/sthjzk/zghjzkgb/202606/P020260604583244574595.pdf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个问题是“怎么看成就”。我们既要看到蓝天碧水、绿色产业和生态保护取得的进展，也要理解这些进展背后的理念变化、制度建设与长期投入。第二个问题是“为什么靠法治”。生态环境保护涉及许多主体，只有形成稳定、明确、可执行的规则，治理才能持续。</a:t>
            </a:r>
          </a:p>
          <a:p>
            <a:r>
              <a:t>第三个问题是“下一步怎么干”。“十五五”指2026年至2030年。我们将依据已有权威部署分析这一时期面临的形势和任务，并学会区分正式规划目标、既有政策目标与课堂分析判断。学习的结果，应当是能够解释问题，也能够提出有依据的行动建议。</a:t>
            </a:r>
          </a:p>
          <a:p/>
          <a:p>
            <a:r>
              <a:t>【投影页提炼】</a:t>
            </a:r>
          </a:p>
          <a:p>
            <a:r>
              <a:t>怎么看成就，为什么靠法治，下一步怎么干</a:t>
            </a:r>
          </a:p>
          <a:p>
            <a:r>
              <a:t>成就：环境质量、生态保护与绿色转型改变了什么</a:t>
            </a:r>
          </a:p>
          <a:p>
            <a:r>
              <a:t>法治：稳定规则怎样保障保护责任持续落实</a:t>
            </a:r>
          </a:p>
          <a:p>
            <a:r>
              <a:t>任务：2026—2030年需要抓住哪些关键环节</a:t>
            </a:r>
          </a:p>
          <a:p/>
          <a:p>
            <a:r>
              <a:t>【本页来源】</a:t>
            </a:r>
          </a:p>
          <a:p>
            <a:r>
              <a:t>R01 习近平 高举中国特色社会主义伟大旗帜 为全面建设社会主义现代化国家而团结奋斗 在中国共产党第二十次全国代表大会上的报告</a:t>
            </a:r>
          </a:p>
          <a:p>
            <a:r>
              <a:t>https://www.gov.cn/xinwen/2022-10/25/content_5721685.htm</a:t>
            </a:r>
          </a:p>
          <a:p>
            <a:r>
              <a:t>R09 中华人民共和国生态环境法典</a:t>
            </a:r>
          </a:p>
          <a:p>
            <a:r>
              <a:t>https://www.mee.gov.cn/ywgz/fgbz/fl/202603/t20260313_1146496.shtml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天的三个部分是一条相互联系的逻辑链。建设成就说明，人与自然和谐共生能够在实践中不断推进；法治建设回答，如何把有效做法转化为稳定的制度安排；未来任务则说明，面对新情况，已有经验和制度还需要继续发展。</a:t>
            </a:r>
          </a:p>
          <a:p>
            <a:r>
              <a:t>因此，讲成就，要讲清楚成就是怎样取得的；讲法典，要讲清楚规则如何进入治理过程；讲“十五五”，要把发展目标与实施条件联系起来。这样，我们才能从一幅风景照片进一步看到公共政策，从一个典型案例进一步理解国家治理。</a:t>
            </a:r>
          </a:p>
          <a:p/>
          <a:p>
            <a:r>
              <a:t>【投影页提炼】</a:t>
            </a:r>
          </a:p>
          <a:p>
            <a:r>
              <a:t>一条主线：实践成就—制度保障—系统行动</a:t>
            </a:r>
          </a:p>
          <a:p>
            <a:r>
              <a:t>从风景变化中理解理念、治理与投入的共同作用</a:t>
            </a:r>
          </a:p>
          <a:p>
            <a:r>
              <a:t>把有效做法转化为清晰、稳定、可执行的规则</a:t>
            </a:r>
          </a:p>
          <a:p>
            <a:r>
              <a:t>把长远目标落实到发展方式、治理能力和日常行动</a:t>
            </a:r>
          </a:p>
          <a:p/>
          <a:p>
            <a:r>
              <a:t>【本页来源】</a:t>
            </a:r>
          </a:p>
          <a:p>
            <a:r>
              <a:t>R02 习近平在全国生态环境保护大会上强调 全面推进美丽中国建设 加快推进人与自然和谐共生的现代化</a:t>
            </a:r>
          </a:p>
          <a:p>
            <a:r>
              <a:t>https://www.miit.gov.cn/xwdt/szyw/art/2023/art_f08a775fe9a64cd1bc3f99eb09732d17.html</a:t>
            </a:r>
          </a:p>
          <a:p>
            <a:r>
              <a:t>R09 中华人民共和国生态环境法典</a:t>
            </a:r>
          </a:p>
          <a:p>
            <a:r>
              <a:t>https://www.mee.gov.cn/ywgz/fgbz/fl/202603/t20260313_1146496.shtml</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党的二十大报告指出：“人与自然是生命共同体。”理解这句话，可以从最基本的事实出发：人的生产生活需要空气、水、土壤和稳定的生态系统，经济活动始终发生在自然条件之中。生态系统的承载能力，构成发展的重要边界。</a:t>
            </a:r>
          </a:p>
          <a:p>
            <a:r>
              <a:t>把人与自然看作生命共同体，意味着分析发展问题时，需要把生态影响一起考虑。建一座工厂，要考虑资源消耗和污染治理；发展一座城市，要考虑水安全、绿地与热环境。尊重自然规律，才能让发展成果稳定积累，让代际之间形成更加负责任的关系。</a:t>
            </a:r>
          </a:p>
          <a:p/>
          <a:p>
            <a:r>
              <a:t>【投影页提炼】</a:t>
            </a:r>
          </a:p>
          <a:p>
            <a:r>
              <a:t>人的发展始终依托自然条件</a:t>
            </a:r>
          </a:p>
          <a:p>
            <a:r>
              <a:t>把生态承载力作为发展的重要边界</a:t>
            </a:r>
          </a:p>
          <a:p>
            <a:r>
              <a:t>生产生活依赖空气、水、土壤与生态系统</a:t>
            </a:r>
          </a:p>
          <a:p>
            <a:r>
              <a:t>尊重自然规律，把生态影响纳入发展选择</a:t>
            </a:r>
          </a:p>
          <a:p/>
          <a:p>
            <a:r>
              <a:t>【本页来源】</a:t>
            </a:r>
          </a:p>
          <a:p>
            <a:r>
              <a:t>R01 习近平 高举中国特色社会主义伟大旗帜 为全面建设社会主义现代化国家而团结奋斗 在中国共产党第二十次全国代表大会上的报告</a:t>
            </a:r>
          </a:p>
          <a:p>
            <a:r>
              <a:t>https://www.gov.cn/xinwen/2022-10/25/content_5721685.htm</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党的二十大报告把人与自然和谐共生作为中国式现代化的重要特征。我国人口规模巨大，地区之间发展条件差异明显，资源环境约束具有长期性。现代化推进到哪里，资源节约、环境保护和生态治理的要求就需要落实到哪里。</a:t>
            </a:r>
          </a:p>
          <a:p>
            <a:r>
              <a:t>这意味着，现代化水平需要从多个维度衡量：既看产业和收入，也看生活环境、资源利用效率和生态安全。我们希望获得的发展，是让人民生活更加富裕、生态环境更加优美、社会运行更加安全的发展。绿色要求因此进入现代化建设的全过程。</a:t>
            </a:r>
          </a:p>
          <a:p/>
          <a:p>
            <a:r>
              <a:t>【投影页提炼】</a:t>
            </a:r>
          </a:p>
          <a:p>
            <a:r>
              <a:t>现代化的质量，要看人与自然怎样相处</a:t>
            </a:r>
          </a:p>
          <a:p>
            <a:r>
              <a:t>人口规模巨大、区域差异显著，资源环境约束长期存在</a:t>
            </a:r>
          </a:p>
          <a:p>
            <a:r>
              <a:t>发展水平既看收入产业，也看环境、效率与生态安全</a:t>
            </a:r>
          </a:p>
          <a:p>
            <a:r>
              <a:t>把节约资源和保护环境贯穿现代化建设全过程</a:t>
            </a:r>
          </a:p>
          <a:p/>
          <a:p>
            <a:r>
              <a:t>【本页来源】</a:t>
            </a:r>
          </a:p>
          <a:p>
            <a:r>
              <a:t>R01 习近平 高举中国特色社会主义伟大旗帜 为全面建设社会主义现代化国家而团结奋斗 在中国共产党第二十次全国代表大会上的报告</a:t>
            </a:r>
          </a:p>
          <a:p>
            <a:r>
              <a:t>https://www.gov.cn/xinwen/2022-10/25/content_5721685.htm</a:t>
            </a:r>
          </a:p>
          <a:p>
            <a:r>
              <a:t>R05 中共中央 国务院关于加快经济社会发展全面绿色转型的意见</a:t>
            </a:r>
          </a:p>
          <a:p>
            <a:r>
              <a:t>https://app.www.gov.cn/govdata/gov/202408/11/518161/articleNew.html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2023年全国生态环境保护大会强调，推进生态文明建设需要处理好五个重大关系，包括高质量发展和高水平保护、重点攻坚和协同治理、自然恢复和人工修复、外部约束和内生动力、“双碳”承诺和自主行动。这为我们分析复杂问题提供了重要方法。</a:t>
            </a:r>
          </a:p>
          <a:p>
            <a:r>
              <a:t>例如，治理一条河流，要抓住突出污染问题，也要看到上下游、左右岸和产业活动的联系；修复一片生态空间，要判断自然恢复的条件，也要合理安排人工措施。把这些关系处理好，治理才能更有针对性，发展与保护才能形成相互促进的过程。</a:t>
            </a:r>
          </a:p>
          <a:p/>
          <a:p>
            <a:r>
              <a:t>【投影页提炼】</a:t>
            </a:r>
          </a:p>
          <a:p>
            <a:r>
              <a:t>复杂问题需要系统地看、统筹地干</a:t>
            </a:r>
          </a:p>
          <a:p>
            <a:r>
              <a:t>高质量发展与高水平保护；重点攻坚与协同治理</a:t>
            </a:r>
          </a:p>
          <a:p>
            <a:r>
              <a:t>自然恢复与人工修复；外部约束与内生动力</a:t>
            </a:r>
          </a:p>
          <a:p>
            <a:r>
              <a:t>“双碳”承诺与自主行动：目标坚定，路径立足实际</a:t>
            </a:r>
          </a:p>
          <a:p/>
          <a:p>
            <a:r>
              <a:t>【本页来源】</a:t>
            </a:r>
          </a:p>
          <a:p>
            <a:r>
              <a:t>R03 习近平 推进生态文明建设需要处理好几个重大关系</a:t>
            </a:r>
          </a:p>
          <a:p>
            <a:r>
              <a:t>https://www.mee.gov.cn/ywdt/szyw/202311/t20231115_1056497.shtml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评价生态文明建设，可以从环境质量、生态系统、发展方式和治理能力四个方面观察。环境质量回答空气和水是否改善；生态系统回答自然空间能否持续发挥功能；发展方式回答增长对资源环境的依赖是否发生变化；治理能力回答制度能否及时发现并解决问题。</a:t>
            </a:r>
          </a:p>
          <a:p>
            <a:r>
              <a:t>还要把空间和时间考虑进去。一个地方的改善，应当避免通过转移污染让其他地方承担成本；一项治理措施，也要考察长期效果。接下来我们就沿着这四个维度，理解新时代生态文明建设取得的巨大成就，同时保持实事求是的分析态度。</a:t>
            </a:r>
          </a:p>
          <a:p/>
          <a:p>
            <a:r>
              <a:t>【投影页提炼】</a:t>
            </a:r>
          </a:p>
          <a:p>
            <a:r>
              <a:t>既看环境面貌，也看发展方式和治理能力</a:t>
            </a:r>
          </a:p>
          <a:p>
            <a:r>
              <a:t>环境质量：空气与水体是否持续改善</a:t>
            </a:r>
          </a:p>
          <a:p>
            <a:r>
              <a:t>生态系统：关键自然空间能否稳定发挥功能</a:t>
            </a:r>
          </a:p>
          <a:p>
            <a:r>
              <a:t>发展方式与治理能力：资源效率、制度执行怎样变化</a:t>
            </a:r>
          </a:p>
          <a:p/>
          <a:p>
            <a:r>
              <a:t>【本页来源】</a:t>
            </a:r>
          </a:p>
          <a:p>
            <a:r>
              <a:t>R06 2025中国生态环境状况公报</a:t>
            </a:r>
          </a:p>
          <a:p>
            <a:r>
              <a:t>https://www.mee.gov.cn/hjzl/sthjzk/zghjzkgb/202606/P020260604583244574595.pdf</a:t>
            </a:r>
          </a:p>
          <a:p>
            <a:r>
              <a:t>R09 中华人民共和国生态环境法典</a:t>
            </a:r>
          </a:p>
          <a:p>
            <a:r>
              <a:t>https://www.mee.gov.cn/ywgz/fgbz/fl/202603/t20260313_1146496.shtml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党的二十大报告总结新时代十年的变化时指出：“生态环境保护发生历史性、转折性、全局性变化。”理解这三个词，需要既看环境面貌，也看工作格局。生态环境保护在国家发展中的位置更加突出，治理要求更加严格，社会参与更加广泛。</a:t>
            </a:r>
          </a:p>
          <a:p>
            <a:r>
              <a:t>这些变化并非某一项工程单独完成，而是理念、责任、制度、投入和技术共同作用的结果。我们可以把成就理解为一个综合过程：生态文明理念进入发展决策，治理责任逐步压实，突出环境问题持续整治，经济社会发展的绿色转型不断推进。</a:t>
            </a:r>
          </a:p>
          <a:p/>
          <a:p>
            <a:r>
              <a:t>【投影页提炼】</a:t>
            </a:r>
          </a:p>
          <a:p>
            <a:r>
              <a:t>新时代生态文明建设取得举世瞩目的巨大成就</a:t>
            </a:r>
          </a:p>
          <a:p>
            <a:r>
              <a:t>历史性：生态环境保护地位和工作格局深刻变化</a:t>
            </a:r>
          </a:p>
          <a:p>
            <a:r>
              <a:t>转折性：突出环境问题治理与绿色转型持续推进</a:t>
            </a:r>
          </a:p>
          <a:p>
            <a:r>
              <a:t>全局性：理念、责任、制度、技术与行动形成合力</a:t>
            </a:r>
          </a:p>
          <a:p/>
          <a:p>
            <a:r>
              <a:t>【本页来源】</a:t>
            </a:r>
          </a:p>
          <a:p>
            <a:r>
              <a:t>R01 习近平 高举中国特色社会主义伟大旗帜 为全面建设社会主义现代化国家而团结奋斗 在中国共产党第二十次全国代表大会上的报告</a:t>
            </a:r>
          </a:p>
          <a:p>
            <a:r>
              <a:t>https://www.gov.cn/xinwen/2022-10/25/content_5721685.htm</a:t>
            </a:r>
          </a:p>
          <a:p>
            <a:r>
              <a:t>R02 习近平在全国生态环境保护大会上强调 全面推进美丽中国建设 加快推进人与自然和谐共生的现代化</a:t>
            </a:r>
          </a:p>
          <a:p>
            <a:r>
              <a:t>https://www.miit.gov.cn/xwdt/szyw/art/2023/art_f08a775fe9a64cd1bc3f99eb09732d17.html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绿水青山就是金山银山”的理念，提醒我们重新认识生态环境与经济发展的关系。良好的生态环境能够改善生活条件，也能够通过优质农产品、生态旅游、绿色产业等途径形成发展优势。破坏生态所造成的损失，同样应当进入发展判断。</a:t>
            </a:r>
          </a:p>
          <a:p>
            <a:r>
              <a:t>不过，生态价值的实现需要具体条件。一个村庄拥有良好山水，还需要交通、公共服务、经营能力和稳定的保护规则，才能形成可持续的产业。学习这一理念，应当把保护的前提、转化的条件和利益分配的公平性一起理解，避免把生态优势简单等同于即时收入。</a:t>
            </a:r>
          </a:p>
          <a:p/>
          <a:p>
            <a:r>
              <a:t>【投影页提炼】</a:t>
            </a:r>
          </a:p>
          <a:p>
            <a:r>
              <a:t>绿水青山能够转化为可持续的发展优势</a:t>
            </a:r>
          </a:p>
          <a:p>
            <a:r>
              <a:t>保护生态环境，既改善生活，也为绿色产业创造条件</a:t>
            </a:r>
          </a:p>
          <a:p>
            <a:r>
              <a:t>生态优势转化需要公共服务、经营能力与稳定规则</a:t>
            </a:r>
          </a:p>
          <a:p>
            <a:r>
              <a:t>因地制宜探索路径，兼顾保护前提与利益分配</a:t>
            </a:r>
          </a:p>
          <a:p/>
          <a:p>
            <a:r>
              <a:t>【本页来源】</a:t>
            </a:r>
          </a:p>
          <a:p>
            <a:r>
              <a:t>R04 中共中央 国务院关于全面推进美丽中国建设的意见</a:t>
            </a:r>
          </a:p>
          <a:p>
            <a:r>
              <a:t>https://app.www.gov.cn/govdata/gov/202401/11/511072/article.html</a:t>
            </a:r>
          </a:p>
          <a:p>
            <a:r>
              <a:t>R05 中共中央 国务院关于加快经济社会发展全面绿色转型的意见</a:t>
            </a:r>
          </a:p>
          <a:p>
            <a:r>
              <a:t>https://app.www.gov.cn/govdata/gov/202408/11/518161/articleNew.html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文明建设取得成就，一个重要原因是责任体系不断健全。生态环境保护逐步纳入各级各部门的履职要求，规划、监管、督察、考核等制度相互衔接。对具体问题而言，需要能够找到责任主体，也需要能够追踪整改结果。</a:t>
            </a:r>
          </a:p>
          <a:p>
            <a:r>
              <a:t>比如，一条河流出现污染，要查清污染来源、属地责任和相关部门职责；整改以后，还需要通过监测和公开信息观察成效。责任越清晰，治理越容易形成持续推进的机制。这也说明，生态文明建设既需要理念引领，又需要能够落实到岗位和程序的制度安排。</a:t>
            </a:r>
          </a:p>
          <a:p/>
          <a:p>
            <a:r>
              <a:t>【投影页提炼】</a:t>
            </a:r>
          </a:p>
          <a:p>
            <a:r>
              <a:t>治理成效的背后，是能追踪的责任链</a:t>
            </a:r>
          </a:p>
          <a:p>
            <a:r>
              <a:t>规划、监管、督察和考核逐步形成工作衔接</a:t>
            </a:r>
          </a:p>
          <a:p>
            <a:r>
              <a:t>发生污染，要找到来源、属地和相关部门责任</a:t>
            </a:r>
          </a:p>
          <a:p>
            <a:r>
              <a:t>完成整改，还要用监测与公开信息持续检验效果</a:t>
            </a:r>
          </a:p>
          <a:p/>
          <a:p>
            <a:r>
              <a:t>【本页来源】</a:t>
            </a:r>
          </a:p>
          <a:p>
            <a:r>
              <a:t>R02 习近平在全国生态环境保护大会上强调 全面推进美丽中国建设 加快推进人与自然和谐共生的现代化</a:t>
            </a:r>
          </a:p>
          <a:p>
            <a:r>
              <a:t>https://www.miit.gov.cn/xwdt/szyw/art/2023/art_f08a775fe9a64cd1bc3f99eb09732d17.html</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建议观看一段关于浙江安吉余村发展变化的权威短片。观看时，请关注三个问题：当地曾经依靠什么获得收入？发展方式调整后，哪些生态条件得到改善？新的收入来源又依赖哪些公共服务、经营组织和保护措施？</a:t>
            </a:r>
          </a:p>
          <a:p>
            <a:r>
              <a:t>这个案例的教学价值，在于帮助我们把生态理念与具体的发展选择联系起来。视频结束后，我们要从案例中总结可以借鉴的机制，例如保护资源、改善服务、发展适合本地条件的产业；也要认识到，各地资源禀赋不同，应用经验需要结合实际。</a:t>
            </a:r>
          </a:p>
          <a:p>
            <a:r>
              <a:t>教师播放提示：片名、链接与建议区间据用户提供的视频清单设置；授课前应在教室网络预看。</a:t>
            </a:r>
          </a:p>
          <a:p/>
          <a:p>
            <a:r>
              <a:t>【投影页提炼】</a:t>
            </a:r>
          </a:p>
          <a:p>
            <a:r>
              <a:t>看见山水，更要看见发展方式的变化</a:t>
            </a:r>
          </a:p>
          <a:p>
            <a:r>
              <a:t>选播《绿水青山中国答卷》在湖州看见美丽中国</a:t>
            </a:r>
          </a:p>
          <a:p>
            <a:r>
              <a:t>建议区间00:30—02:15，约105秒</a:t>
            </a:r>
          </a:p>
          <a:p>
            <a:r>
              <a:t>观看问题：变化的是风景、产业还是治理？找出一条线索</a:t>
            </a:r>
          </a:p>
          <a:p/>
          <a:p>
            <a:r>
              <a:t>【本页来源】</a:t>
            </a:r>
          </a:p>
          <a:p>
            <a:r>
              <a:t>R04 中共中央 国务院关于全面推进美丽中国建设的意见</a:t>
            </a:r>
          </a:p>
          <a:p>
            <a:r>
              <a:t>https://app.www.gov.cn/govdata/gov/202401/11/511072/article.html</a:t>
            </a:r>
          </a:p>
          <a:p/>
          <a:p>
            <a:r>
              <a:t>【视频】《绿水青山中国答卷》在湖州看见美丽中国</a:t>
            </a:r>
          </a:p>
          <a:p>
            <a:r>
              <a:t>链接：https://tv.cctv.com/2025/08/15/VIDEdI9jMTBfMwQb0caQKDTB250815.shtml</a:t>
            </a:r>
          </a:p>
          <a:p>
            <a:r>
              <a:t>建议选播：00:30—02:15，105秒。</a:t>
            </a:r>
          </a:p>
          <a:p>
            <a:r>
              <a:t>问题：变化的是风景、产业还是治理？请找出一项片中线索。</a:t>
            </a:r>
          </a:p>
          <a:p>
            <a:r>
              <a:t>采用网络链接式播放，未嵌入离线视频；课前应在教室网络试播。</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空气质量改善是许多人感受最直接的变化。治理过程涉及工业排放、燃煤使用、机动车、扬尘以及区域污染传输等多个方面。空气治理能够取得进展，依靠的是能源、产业、交通和监管措施的持续配合。</a:t>
            </a:r>
          </a:p>
          <a:p>
            <a:r>
              <a:t>观察蓝天保卫战，既可以看优良天数，也要看细颗粒物等污染物浓度，还要注意臭氧等问题。不同指标回答的问题各有侧重。我们在肯定改善成效的同时，需要理解复合型污染治理的长期性，避免因为某一天天气晴朗就认为任务已经完成。</a:t>
            </a:r>
          </a:p>
          <a:p/>
          <a:p>
            <a:r>
              <a:t>【投影页提炼】</a:t>
            </a:r>
          </a:p>
          <a:p>
            <a:r>
              <a:t>空气改善来自能源、产业、交通与监管协同</a:t>
            </a:r>
          </a:p>
          <a:p>
            <a:r>
              <a:t>治理工业排放、燃煤、机动车和扬尘等多类污染源</a:t>
            </a:r>
          </a:p>
          <a:p>
            <a:r>
              <a:t>既关注细颗粒物，也关注臭氧等复合污染问题</a:t>
            </a:r>
          </a:p>
          <a:p>
            <a:r>
              <a:t>晴朗一天不能替代全年评价，区域协同需要长期坚持</a:t>
            </a:r>
          </a:p>
          <a:p/>
          <a:p>
            <a:r>
              <a:t>【本页来源】</a:t>
            </a:r>
          </a:p>
          <a:p>
            <a:r>
              <a:t>R07 生态环境部公布2025年12月和1至12月全国环境空气质量状况</a:t>
            </a:r>
          </a:p>
          <a:p>
            <a:r>
              <a:t>https://www.mee.gov.cn/ywdt/xwfb/202601/t20260128_1142783.shtml</a:t>
            </a:r>
          </a:p>
          <a:p>
            <a:r>
              <a:t>R19 国务院关于印发空气质量持续改善行动计划的通知</a:t>
            </a:r>
          </a:p>
          <a:p>
            <a:r>
              <a:t>https://www.mee.gov.cn/zcwj/gwywj/202312/t20231208_1058492.shtml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里采用用户所附参考资料列明的2025年全国环境空气质量结果。2025年，全国339个地级及以上城市细颗粒物，也就是PM₂.₅，平均浓度为28.0微克每立方米；平均优良天数比例为88.1%。扣除沙尘异常超标天后的优良天数比例为89.3%，这属于调整口径，不能不加说明地替代88.1%。</a:t>
            </a:r>
          </a:p>
          <a:p>
            <a:r>
              <a:t>数据的意义，是帮助我们从个人感受走向整体认识。全国平均值不能替代对每个城市的判断，年度平均值也不能解释每一次污染过程。观察改善成效时，需要同时保留统计年份、城市范围、指标名称、单位和来源。授课前若更新数据，应统一更新图表与备注的年份和口径。</a:t>
            </a:r>
          </a:p>
          <a:p/>
          <a:p>
            <a:r>
              <a:t>【投影页提炼】</a:t>
            </a:r>
          </a:p>
          <a:p>
            <a:r>
              <a:t>数字帮助我们从个人感受走向整体认识</a:t>
            </a:r>
          </a:p>
          <a:p>
            <a:r>
              <a:t>PM₂.₅平均浓度28.0微克每立方米，全国339个城市</a:t>
            </a:r>
          </a:p>
          <a:p>
            <a:r>
              <a:t>平均优良天数比例88.1%，按全年统计</a:t>
            </a:r>
          </a:p>
          <a:p>
            <a:r>
              <a:t>扣除沙尘异常超标天后为89.3%，须另注明调整口径</a:t>
            </a:r>
          </a:p>
          <a:p/>
          <a:p>
            <a:r>
              <a:t>【本页来源】</a:t>
            </a:r>
          </a:p>
          <a:p>
            <a:r>
              <a:t>R06 2025中国生态环境状况公报</a:t>
            </a:r>
          </a:p>
          <a:p>
            <a:r>
              <a:t>https://www.mee.gov.cn/hjzl/sthjzk/zghjzkgb/202606/P020260604583244574595.pdf</a:t>
            </a:r>
          </a:p>
          <a:p>
            <a:r>
              <a:t>R07 生态环境部公布2025年12月和1至12月全国环境空气质量状况</a:t>
            </a:r>
          </a:p>
          <a:p>
            <a:r>
              <a:t>https://www.mee.gov.cn/ywdt/xwfb/202601/t20260128_1142783.shtml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水环境治理关系饮水安全、城市生活、农业生产和流域生态。新时代水治理的一个鲜明方向，是把具体污染源治理与流域整体保护联系起来。工业废水、生活污水、农业面源污染和河湖生态之间，需要形成相互衔接的治理安排。</a:t>
            </a:r>
          </a:p>
          <a:p>
            <a:r>
              <a:t>以城市河流为例，清理水面垃圾只能处理部分问题，污水管网、排口管理、生态流量和岸线保护都会影响长期水质。我们评价一条河治理得好不好，应当观察污染是否减少、生态功能是否恢复、治理设施能否稳定运行，以及群众能否持续获得改善后的公共空间。</a:t>
            </a:r>
          </a:p>
          <a:p/>
          <a:p>
            <a:r>
              <a:t>【投影页提炼】</a:t>
            </a:r>
          </a:p>
          <a:p>
            <a:r>
              <a:t>一条河的变化，连着岸上的生产生活</a:t>
            </a:r>
          </a:p>
          <a:p>
            <a:r>
              <a:t>统筹工业废水、生活污水和农业面源污染治理</a:t>
            </a:r>
          </a:p>
          <a:p>
            <a:r>
              <a:t>把管网、排口、生态流量和岸线保护衔接起来</a:t>
            </a:r>
          </a:p>
          <a:p>
            <a:r>
              <a:t>评价水质，也评价生态功能、设施运行与公共空间</a:t>
            </a:r>
          </a:p>
          <a:p/>
          <a:p>
            <a:r>
              <a:t>【本页来源】</a:t>
            </a:r>
          </a:p>
          <a:p>
            <a:r>
              <a:t>R06 2025中国生态环境状况公报</a:t>
            </a:r>
          </a:p>
          <a:p>
            <a:r>
              <a:t>https://www.mee.gov.cn/hjzl/sthjzk/zghjzkgb/202606/P020260604583244574595.pdf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户所附参考资料引述生态环境部2025年全年地表水环境质量结果：全国3641个国家地表水考核断面中，水质Ⅰ至Ⅲ类的比例为91.4%，同比提高1.0个百分点。这里的统计对象是国考断面，不能改写成全国91.4%的河流完全达到某种状态，更不能直接等同于饮用水合格率。</a:t>
            </a:r>
          </a:p>
          <a:p>
            <a:r>
              <a:t>这一例子提醒我们，数据表达的准确性也是生态文明教育的重要内容。水体类别、监测对象、评价方法和用途之间存在区别。只有把概念说清楚，才能正确理解治理成果，也才能对仍需改善的区域、水体和时段作出有依据的判断。</a:t>
            </a:r>
          </a:p>
          <a:p/>
          <a:p>
            <a:r>
              <a:t>【投影页提炼】</a:t>
            </a:r>
          </a:p>
          <a:p>
            <a:r>
              <a:t>91.4%说的是Ⅰ至Ⅲ类国考断面比例</a:t>
            </a:r>
          </a:p>
          <a:p>
            <a:r>
              <a:t>统计范围：3641个国家地表水考核断面</a:t>
            </a:r>
          </a:p>
          <a:p>
            <a:r>
              <a:t>2025年全年Ⅰ至Ⅲ类比例91.4%，同比提高1.0个百分点</a:t>
            </a:r>
          </a:p>
          <a:p>
            <a:r>
              <a:t>不等于河流总数比例，也不等于饮用水合格率</a:t>
            </a:r>
          </a:p>
          <a:p/>
          <a:p>
            <a:r>
              <a:t>【本页来源】</a:t>
            </a:r>
          </a:p>
          <a:p>
            <a:r>
              <a:t>R06 2025中国生态环境状况公报</a:t>
            </a:r>
          </a:p>
          <a:p>
            <a:r>
              <a:t>https://www.mee.gov.cn/hjzl/sthjzk/zghjzkgb/202606/P020260604583244574595.pdf</a:t>
            </a:r>
          </a:p>
          <a:p>
            <a:r>
              <a:t>R08 生态环境部公布2025年第四季度和1至12月全国地表水环境质量状况</a:t>
            </a:r>
          </a:p>
          <a:p>
            <a:r>
              <a:t>https://www.mee.gov.cn/ywdt/xwfb/202601/t20260128_1142768.shtml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与蓝天、河流相比，土壤污染往往不容易被直接观察，却与农产品质量、土地利用和人体健康密切相关。土壤环境保护需要把污染源预防、风险识别、分类管理和必要修复连接起来，重点守住安全利用的底线。</a:t>
            </a:r>
          </a:p>
          <a:p>
            <a:r>
              <a:t>同样是一块土地，未来用于住宅、学校、工业设施还是其他用途，所需要考虑的暴露情景和风险管理要求会有不同。因此，土壤治理需要调查评估和专业判断。理解净土保卫战，应当认识到环境治理有长期性，也要避免仅凭土地表面是否整洁来判断环境安全。</a:t>
            </a:r>
          </a:p>
          <a:p/>
          <a:p>
            <a:r>
              <a:t>【投影页提炼】</a:t>
            </a:r>
          </a:p>
          <a:p>
            <a:r>
              <a:t>表面整洁，不等于土壤环境风险已经消除</a:t>
            </a:r>
          </a:p>
          <a:p>
            <a:r>
              <a:t>污染源预防、风险识别、分类管理与修复相互衔接</a:t>
            </a:r>
          </a:p>
          <a:p>
            <a:r>
              <a:t>住宅、学校和工业用地对应不同的暴露情景</a:t>
            </a:r>
          </a:p>
          <a:p>
            <a:r>
              <a:t>用调查评估和安全利用要求，守住土地使用底线</a:t>
            </a:r>
          </a:p>
          <a:p/>
          <a:p>
            <a:r>
              <a:t>【本页来源】</a:t>
            </a:r>
          </a:p>
          <a:p>
            <a:r>
              <a:t>R06 2025中国生态环境状况公报</a:t>
            </a:r>
          </a:p>
          <a:p>
            <a:r>
              <a:t>https://www.mee.gov.cn/hjzl/sthjzk/zghjzkgb/202606/P020260604583244574595.pdf</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生态环境治理持续推进，一个重要变化是更加重视源头预防。污染形成以后再治理，往往需要承担更高成本；在项目布局、工艺选择、资源使用和产品设计阶段减少环境压力，能够为后续治理创造更好的条件。</a:t>
            </a:r>
          </a:p>
          <a:p>
            <a:r>
              <a:t>例如，一家企业选择更加清洁的生产工艺，既可能减少污染物产生，也可能提高原料利用效率。一个地区在规划阶段避开重要生态空间，可以降低后续开发与保护之间的冲突。源头预防的价值，就在于把环境要求提前进入发展决策，使保护更加主动。</a:t>
            </a:r>
          </a:p>
          <a:p/>
          <a:p>
            <a:r>
              <a:t>【投影页提炼】</a:t>
            </a:r>
          </a:p>
          <a:p>
            <a:r>
              <a:t>越早识别环境风险，越能减少后续治理成本</a:t>
            </a:r>
          </a:p>
          <a:p>
            <a:r>
              <a:t>规划和项目选址阶段，就把生态空间约束纳入决策</a:t>
            </a:r>
          </a:p>
          <a:p>
            <a:r>
              <a:t>以清洁工艺、原料节约和产品设计减少污染产生</a:t>
            </a:r>
          </a:p>
          <a:p>
            <a:r>
              <a:t>把环境要求前移，形成预防、治理与责任的闭环</a:t>
            </a:r>
          </a:p>
          <a:p/>
          <a:p>
            <a:r>
              <a:t>【本页来源】</a:t>
            </a:r>
          </a:p>
          <a:p>
            <a:r>
              <a:t>R09 中华人民共和国生态环境法典</a:t>
            </a:r>
          </a:p>
          <a:p>
            <a:r>
              <a:t>https://www.mee.gov.cn/ywgz/fgbz/fl/202603/t20260313_1146496.shtml</a:t>
            </a:r>
          </a:p>
          <a:p>
            <a:r>
              <a:t>R18 中共中央办公厅 国务院办公厅关于加强生态环境分区管控的意见</a:t>
            </a:r>
          </a:p>
          <a:p>
            <a:r>
              <a:t>https://www.mee.gov.cn/zcwj/zyygwj/202403/t20240318_1068588.shtml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系统由相互联系的水、土壤、植被、动物和其他要素共同构成。新时代生态保护更加重视系统性，强调统筹山水林田湖草沙一体化保护和系统治理。这种思路能够帮助我们理解，修复一片区域时，需要考虑各要素之间的作用关系。</a:t>
            </a:r>
          </a:p>
          <a:p>
            <a:r>
              <a:t>比如，流域上游植被变化可能影响下游泥沙和水质，湿地变化可能影响生物栖息和蓄洪能力。系统治理要求跨越单个工程的边界，把自然过程、空间格局和人类活动一起纳入分析，从而提高生态保护修复的整体效果。</a:t>
            </a:r>
          </a:p>
          <a:p/>
          <a:p>
            <a:r>
              <a:t>【投影页提炼】</a:t>
            </a:r>
          </a:p>
          <a:p>
            <a:r>
              <a:t>山水林田湖草沙构成相互联系的生态系统</a:t>
            </a:r>
          </a:p>
          <a:p>
            <a:r>
              <a:t>上游植被会影响下游泥沙、水质与流域安全</a:t>
            </a:r>
          </a:p>
          <a:p>
            <a:r>
              <a:t>湿地连接栖息地保护、蓄洪调节与区域生态功能</a:t>
            </a:r>
          </a:p>
          <a:p>
            <a:r>
              <a:t>修复要研究自然过程、空间格局和人类活动之间的联系</a:t>
            </a:r>
          </a:p>
          <a:p/>
          <a:p>
            <a:r>
              <a:t>【本页来源】</a:t>
            </a:r>
          </a:p>
          <a:p>
            <a:r>
              <a:t>R03 习近平 推进生态文明建设需要处理好几个重大关系</a:t>
            </a:r>
          </a:p>
          <a:p>
            <a:r>
              <a:t>https://www.mee.gov.cn/ywdt/szyw/202311/t20231115_1056497.shtml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要生态空间承担着水源涵养、水土保持、生物多样性维护等功能。划定并严守生态保护红线，是维护国家生态安全的重要制度安排。理解红线，要把握其保护对象和功能要求，也要认识到严格保护需要与用途管制、监测监管相衔接。</a:t>
            </a:r>
          </a:p>
          <a:p>
            <a:r>
              <a:t>在实际工作中，地图上的边界需要转化为项目决策、土地使用和日常管理中的约束。与此同时，红线之外的生态空间同样需要依法保护。红线制度帮助我们守住重要底线，日常治理则需要覆盖更广泛的区域和活动。</a:t>
            </a:r>
          </a:p>
          <a:p/>
          <a:p>
            <a:r>
              <a:t>【投影页提炼】</a:t>
            </a:r>
          </a:p>
          <a:p>
            <a:r>
              <a:t>地图上的边界，需要落实为决策和行为约束</a:t>
            </a:r>
          </a:p>
          <a:p>
            <a:r>
              <a:t>重要生态空间承担水源涵养、水土保持等功能</a:t>
            </a:r>
          </a:p>
          <a:p>
            <a:r>
              <a:t>把严格保护与用途管制、监测监管衔接起来</a:t>
            </a:r>
          </a:p>
          <a:p>
            <a:r>
              <a:t>红线之外也应依法保护，底线制度与日常治理共同发力</a:t>
            </a:r>
          </a:p>
          <a:p/>
          <a:p>
            <a:r>
              <a:t>【本页来源】</a:t>
            </a:r>
          </a:p>
          <a:p>
            <a:r>
              <a:t>R09 中华人民共和国生态环境法典</a:t>
            </a:r>
          </a:p>
          <a:p>
            <a:r>
              <a:t>https://www.mee.gov.cn/ywgz/fgbz/fl/202603/t20260313_1146496.shtml</a:t>
            </a:r>
          </a:p>
          <a:p>
            <a:r>
              <a:t>R18 中共中央办公厅 国务院办公厅关于加强生态环境分区管控的意见</a:t>
            </a:r>
          </a:p>
          <a:p>
            <a:r>
              <a:t>https://www.mee.gov.cn/zcwj/zyygwj/202403/t20240318_1068588.shtml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国家公园为主体的自然保护地体系建设，为重要自然生态系统的保护提供了制度支撑。课堂上可以以三江源、大熊猫、东北虎豹、海南热带雨林、武夷山等首批国家公园为观察对象，理解不同区域各自承担的生态功能。</a:t>
            </a:r>
          </a:p>
          <a:p>
            <a:r>
              <a:t>国家公园建设还涉及科研监测、社区参与、公众教育和合理利用等问题。保护好自然生态，需要把空间保护、物种保护和当地居民的生产生活联系起来研究。评价保护成效时，应更多关注生态系统是否保持健康、关键栖息地是否得到有效维护。</a:t>
            </a:r>
          </a:p>
          <a:p/>
          <a:p>
            <a:r>
              <a:t>【投影页提炼】</a:t>
            </a:r>
          </a:p>
          <a:p>
            <a:r>
              <a:t>看不同区域，更要看各自承担的生态功能</a:t>
            </a:r>
          </a:p>
          <a:p>
            <a:r>
              <a:t>三江源、大熊猫、东北虎豹等首批国家公园于2021年设立</a:t>
            </a:r>
          </a:p>
          <a:p>
            <a:r>
              <a:t>空间与物种保护，需要结合科研监测和社区参与</a:t>
            </a:r>
          </a:p>
          <a:p>
            <a:r>
              <a:t>首批名单是历史事实，不能据此推断当前公园总数</a:t>
            </a:r>
          </a:p>
          <a:p/>
          <a:p>
            <a:r>
              <a:t>【本页来源】</a:t>
            </a:r>
          </a:p>
          <a:p>
            <a:r>
              <a:t>R24 习近平 共同构建地球生命共同体 在生物多样性公约第十五次缔约方大会领导人峰会上的主旨讲话</a:t>
            </a:r>
          </a:p>
          <a:p>
            <a:r>
              <a:t>https://www.fmprc.gov.cn/web/ziliao_674904/zyjh_674906/202110/t20211012_9552802.shtml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多样性包括遗传、物种和生态系统等层次。它与粮食生产、药物资源、授粉、水循环以及生态系统稳定性都有联系。保护生物多样性，就是维护人类赖以生存的生命网络，也是在为未来保留更多应对变化的可能性。</a:t>
            </a:r>
          </a:p>
          <a:p>
            <a:r>
              <a:t>公众容易关注珍稀动物的新闻，治理工作还需要关注栖息地完整性、生态廊道、外来入侵物种以及普通物种的生存条件。一个珍稀物种出现，可以提供重要观察线索；要评价整体保护效果，还需要更系统的监测与研究。</a:t>
            </a:r>
          </a:p>
          <a:p/>
          <a:p>
            <a:r>
              <a:t>【投影页提炼】</a:t>
            </a:r>
          </a:p>
          <a:p>
            <a:r>
              <a:t>保护的不仅是明星物种，还有完整的生态联系</a:t>
            </a:r>
          </a:p>
          <a:p>
            <a:r>
              <a:t>遗传、物种和生态系统多样性共同支撑生态稳定</a:t>
            </a:r>
          </a:p>
          <a:p>
            <a:r>
              <a:t>栖息地完整性、生态廊道和外来入侵问题都需关注</a:t>
            </a:r>
          </a:p>
          <a:p>
            <a:r>
              <a:t>珍稀动物出现是线索，整体成效仍需系统监测</a:t>
            </a:r>
          </a:p>
          <a:p/>
          <a:p>
            <a:r>
              <a:t>【本页来源】</a:t>
            </a:r>
          </a:p>
          <a:p>
            <a:r>
              <a:t>R23 中国生物多样性保护战略与行动计划 2023至2030年</a:t>
            </a:r>
          </a:p>
          <a:p>
            <a:r>
              <a:t>https://www.mee.gov.cn/xxgk/hjyw/202401/t20240118_1064111.shtml</a:t>
            </a:r>
          </a:p>
          <a:p>
            <a:r>
              <a:t>R24 习近平 共同构建地球生命共同体 在生物多样性公约第十五次缔约方大会领导人峰会上的主旨讲话</a:t>
            </a:r>
          </a:p>
          <a:p>
            <a:r>
              <a:t>https://www.fmprc.gov.cn/web/ziliao_674904/zyjh_674906/202110/t20211012_9552802.shtml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长江、黄河等重要流域的生态保护，关系经济社会发展和国家生态安全。流域内部上下游联系紧密，水资源利用、产业布局、岸线管理和污染防治相互影响，需要建立跨地区、跨部门的协调机制。</a:t>
            </a:r>
          </a:p>
          <a:p>
            <a:r>
              <a:t>从流域视角看，一个地区作出保护投入，生态效益可能在更大范围显现。因此，治理既需要明确各自责任，也需要推进协作与合理的利益协调。流域保护的经验告诉我们，共享生态环境的地区，需要共同制定规则、共同解决问题、共同维护治理成果。</a:t>
            </a:r>
          </a:p>
          <a:p/>
          <a:p>
            <a:r>
              <a:t>【投影页提炼】</a:t>
            </a:r>
          </a:p>
          <a:p>
            <a:r>
              <a:t>共享一条河，也共享保护责任和治理成果</a:t>
            </a:r>
          </a:p>
          <a:p>
            <a:r>
              <a:t>水资源、产业布局、岸线和污染防治相互影响</a:t>
            </a:r>
          </a:p>
          <a:p>
            <a:r>
              <a:t>跨地区、跨部门协同，避免问题在行政边界转移</a:t>
            </a:r>
          </a:p>
          <a:p>
            <a:r>
              <a:t>用明确责任、共同规则与利益协调维护长期成效</a:t>
            </a:r>
          </a:p>
          <a:p/>
          <a:p>
            <a:r>
              <a:t>【本页来源】</a:t>
            </a:r>
          </a:p>
          <a:p>
            <a:r>
              <a:t>R06 2025中国生态环境状况公报</a:t>
            </a:r>
          </a:p>
          <a:p>
            <a:r>
              <a:t>https://www.mee.gov.cn/hjzl/sthjzk/zghjzkgb/202606/P020260604583244574595.pdf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时代生态文明建设的成就，也体现在经济社会发展的绿色转型之中。节能降耗、清洁能源、绿色制造、循环利用和绿色服务等不断发展，使环境保护与产业升级之间形成更多联系。生态文明建设逐步深入生产和生活的各个环节。</a:t>
            </a:r>
          </a:p>
          <a:p>
            <a:r>
              <a:t>理解绿色转型，可以沿着一件产品的生命周期观察：原料从哪里来，制造消耗多少能源，运输怎样安排，使用阶段是否节能，报废后能否回收。把这些环节联系起来，有助于认识绿色转型对技术、管理和商业模式提出的新要求。</a:t>
            </a:r>
          </a:p>
          <a:p/>
          <a:p>
            <a:r>
              <a:t>【投影页提炼】</a:t>
            </a:r>
          </a:p>
          <a:p>
            <a:r>
              <a:t>30.4%是清洁能源消费占比，须准确理解统计范围</a:t>
            </a:r>
          </a:p>
          <a:p>
            <a:r>
              <a:t>绿色技术、清洁生产和循环利用拓展新的发展空间</a:t>
            </a:r>
          </a:p>
          <a:p>
            <a:r>
              <a:t>2025年清洁能源消费占比30.4%，注意统计定义</a:t>
            </a:r>
          </a:p>
          <a:p>
            <a:r>
              <a:t>清洁能源包含天然气，不能与非化石能源口径混用</a:t>
            </a:r>
          </a:p>
          <a:p/>
          <a:p>
            <a:r>
              <a:t>【本页来源】</a:t>
            </a:r>
          </a:p>
          <a:p>
            <a:r>
              <a:t>R05 中共中央 国务院关于加快经济社会发展全面绿色转型的意见</a:t>
            </a:r>
          </a:p>
          <a:p>
            <a:r>
              <a:t>https://app.www.gov.cn/govdata/gov/202408/11/518161/articleNew.html</a:t>
            </a:r>
          </a:p>
          <a:p>
            <a:r>
              <a:t>R25 中华人民共和国2025年国民经济和社会发展统计公报</a:t>
            </a:r>
          </a:p>
          <a:p>
            <a:r>
              <a:t>https://www.stats.gov.cn/zwfwck/sjfb/202602/t20260228_1962662.html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能源关系经济运行，也关系污染排放和碳排放。推进能源绿色低碳转型，需要发展清洁能源、提高能源利用效率，并改善能源系统的调节能力。风电、光伏等发展带来了重要机遇，同时对电网、储能和运行管理提出新的要求。</a:t>
            </a:r>
          </a:p>
          <a:p>
            <a:r>
              <a:t>因此，评价能源转型要综合考虑清洁程度、供给稳定性、使用成本和系统安全。技术进步为转型提供了条件，基础设施和制度安排则决定这些技术能否更有效地发挥作用。我们应当从整个能源系统出发，理解绿色发展与安全保障之间的联系。</a:t>
            </a:r>
          </a:p>
          <a:p/>
          <a:p>
            <a:r>
              <a:t>【投影页提炼】</a:t>
            </a:r>
          </a:p>
          <a:p>
            <a:r>
              <a:t>从供给、消费到系统能力一起改变</a:t>
            </a:r>
          </a:p>
          <a:p>
            <a:r>
              <a:t>发展清洁能源，同步提高能源利用效率</a:t>
            </a:r>
          </a:p>
          <a:p>
            <a:r>
              <a:t>加强电网、储能与调节能力，适应供需时空变化</a:t>
            </a:r>
          </a:p>
          <a:p>
            <a:r>
              <a:t>把低碳转型与能源安全、成本和民生保障统筹起来</a:t>
            </a:r>
          </a:p>
          <a:p/>
          <a:p>
            <a:r>
              <a:t>【本页来源】</a:t>
            </a:r>
          </a:p>
          <a:p>
            <a:r>
              <a:t>R14 中华人民共和国国民经济和社会发展第十五个五年规划纲要</a:t>
            </a:r>
          </a:p>
          <a:p>
            <a:r>
              <a:t>https://www.ndrc.gov.cn/fggz/fzzlgh/gjfzgh/202603/U020260317369114704096.pdf</a:t>
            </a:r>
          </a:p>
          <a:p>
            <a:r>
              <a:t>R25 中华人民共和国2025年国民经济和社会发展统计公报</a:t>
            </a:r>
          </a:p>
          <a:p>
            <a:r>
              <a:t>https://www.stats.gov.cn/zwfwck/sjfb/202602/t20260228_1962662.html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能源汽车、节能设备、资源循环利用等产业的发展，为观察绿色转型提供了窗口。它们既体现技术和市场的变化，也带动基础设施、供应链和服务体系调整。绿色产业的成长，使生态文明建设与就业、创新和产业竞争力更加紧密地联系起来。</a:t>
            </a:r>
          </a:p>
          <a:p>
            <a:r>
              <a:t>同时，我们需要用全链条视角分析环境影响。比如，新能源汽车使用阶段的变化，还应结合电力来源、电池生产和回收利用来评价。把一个环节的进步放进完整系统中考察，能够使我们对绿色产业形成更加全面、更加科学的认识。</a:t>
            </a:r>
          </a:p>
          <a:p/>
          <a:p>
            <a:r>
              <a:t>【投影页提炼】</a:t>
            </a:r>
          </a:p>
          <a:p>
            <a:r>
              <a:t>评价绿色优势，要跨越单一生产或使用环节</a:t>
            </a:r>
          </a:p>
          <a:p>
            <a:r>
              <a:t>绿色产业把就业、创新和竞争力与生态要求联系起来</a:t>
            </a:r>
          </a:p>
          <a:p>
            <a:r>
              <a:t>新能源汽车还需看电力来源、电池制造与回收</a:t>
            </a:r>
          </a:p>
          <a:p>
            <a:r>
              <a:t>以全生命周期思维识别收益、成本和改善空间</a:t>
            </a:r>
          </a:p>
          <a:p/>
          <a:p>
            <a:r>
              <a:t>【本页来源】</a:t>
            </a:r>
          </a:p>
          <a:p>
            <a:r>
              <a:t>R05 中共中央 国务院关于加快经济社会发展全面绿色转型的意见</a:t>
            </a:r>
          </a:p>
          <a:p>
            <a:r>
              <a:t>https://app.www.gov.cn/govdata/gov/202408/11/518161/articleNew.html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绿色生活方式不断进入公众日常。节约用水用电、减少食物浪费、绿色出行、合理分类投放垃圾等，都是普通人可以参与的实践。个人行动产生效果，还需要与便利的设施、清晰的规则和可靠的后端处理相配合。</a:t>
            </a:r>
          </a:p>
          <a:p>
            <a:r>
              <a:t>以垃圾分类为例，居民愿意分类，社区需要提供适宜设施，收运处理环节也需要保持衔接。以绿色出行为例，安全步行条件和便捷公共交通能够降低参与门槛。社会行动与公共服务共同推进，绿色生活才能更加稳定地融入日常。</a:t>
            </a:r>
          </a:p>
          <a:p/>
          <a:p>
            <a:r>
              <a:t>【投影页提炼】</a:t>
            </a:r>
          </a:p>
          <a:p>
            <a:r>
              <a:t>个人行动需要与便利设施和可靠服务相配合</a:t>
            </a:r>
          </a:p>
          <a:p>
            <a:r>
              <a:t>节水节电、减少食物浪费、分类投放都可从今天做起</a:t>
            </a:r>
          </a:p>
          <a:p>
            <a:r>
              <a:t>居民分类以后，收运处理环节还要保持衔接</a:t>
            </a:r>
          </a:p>
          <a:p>
            <a:r>
              <a:t>降低参与门槛，让绿色出行和绿色消费更容易坚持</a:t>
            </a:r>
          </a:p>
          <a:p/>
          <a:p>
            <a:r>
              <a:t>【本页来源】</a:t>
            </a:r>
          </a:p>
          <a:p>
            <a:r>
              <a:t>R05 中共中央 国务院关于加快经济社会发展全面绿色转型的意见</a:t>
            </a:r>
          </a:p>
          <a:p>
            <a:r>
              <a:t>https://app.www.gov.cn/govdata/gov/202408/11/518161/articleNew.html</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第二段视频建议选取河湖治理或城市黑臭水体治理的权威报道。观看时，不只观察水面颜色和岸边景观，还要寻找片中出现的污水管网、排污口整治、日常监测、生态修复以及居民参与等信息。</a:t>
            </a:r>
          </a:p>
          <a:p>
            <a:r>
              <a:t>视频结束后，请大家尝试用一句话概括：这条河为什么能够持续改善？如果答案只有“清理垃圾”或“增加绿化”，还需要继续寻找制度和工程方面的原因。把表面的景观变化与背后的治理过程联系起来，才能真正理解生态环境改善的形成机制。</a:t>
            </a:r>
          </a:p>
          <a:p>
            <a:r>
              <a:t>教师播放提示：片名、链接与建议区间据用户提供的视频清单设置；授课前应在教室网络预看。</a:t>
            </a:r>
          </a:p>
          <a:p/>
          <a:p>
            <a:r>
              <a:t>【投影页提炼】</a:t>
            </a:r>
          </a:p>
          <a:p>
            <a:r>
              <a:t>治理水体，不能只盯着水面</a:t>
            </a:r>
          </a:p>
          <a:p>
            <a:r>
              <a:t>选播筼筜湖从“臭水湖”到“城市会客厅”的央视报道</a:t>
            </a:r>
          </a:p>
          <a:p>
            <a:r>
              <a:t>建议区间00:15—02:00，约105秒</a:t>
            </a:r>
          </a:p>
          <a:p>
            <a:r>
              <a:t>观看问题：哪些岸上措施与水体改善有关？</a:t>
            </a:r>
          </a:p>
          <a:p/>
          <a:p>
            <a:r>
              <a:t>【本页来源】</a:t>
            </a:r>
          </a:p>
          <a:p>
            <a:r>
              <a:t>R16 国务院关于印发美丽中国建设十五五规划的通知及所附规划</a:t>
            </a:r>
          </a:p>
          <a:p>
            <a:r>
              <a:t>https://www.ndrc.gov.cn/fggz/fzzlgh/gjjzxgh/202609/t20260928_1407867.html</a:t>
            </a:r>
          </a:p>
          <a:p/>
          <a:p>
            <a:r>
              <a:t>【视频】[逐梦山水]筼筜湖华丽蜕变 “臭水湖”变成“城市会客厅”</a:t>
            </a:r>
          </a:p>
          <a:p>
            <a:r>
              <a:t>链接：https://tv.cctv.com/2025/09/04/VIDEOGjFoZNZqCB89gbDV8GZ250904.shtml</a:t>
            </a:r>
          </a:p>
          <a:p>
            <a:r>
              <a:t>建议选播：00:15—02:00，105秒。</a:t>
            </a:r>
          </a:p>
          <a:p>
            <a:r>
              <a:t>问题：哪些岸上措施与水体改善有关？为什么不能只在水里治水？</a:t>
            </a:r>
          </a:p>
          <a:p>
            <a:r>
              <a:t>采用网络链接式播放，未嵌入离线视频；课前应在教室网络试播。</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气候变化、生物多样性丧失和污染传播具有跨国影响，需要各国共同应对。我国参与全球环境治理，推进气候与生物多样性领域的国际合作，为建设清洁美丽世界作出努力。这也是新时代生态文明建设的重要方面。</a:t>
            </a:r>
          </a:p>
          <a:p>
            <a:r>
              <a:t>讨论国际合作，需要理解共同挑战与各国条件之间的关系。不同国家的发展阶段、资源禀赋和历史责任存在差异，合作需要坚持公平、体现共同但有区别的责任，并促进技术与能力建设。对学生而言，理解这些原则有助于更全面地阅读国际环境新闻。</a:t>
            </a:r>
          </a:p>
          <a:p/>
          <a:p>
            <a:r>
              <a:t>【投影页提炼】</a:t>
            </a:r>
          </a:p>
          <a:p>
            <a:r>
              <a:t>气候、污染与生物多样性问题具有跨国影响</a:t>
            </a:r>
          </a:p>
          <a:p>
            <a:r>
              <a:t>参与气候变化、生物多样性等领域的国际合作</a:t>
            </a:r>
          </a:p>
          <a:p>
            <a:r>
              <a:t>在共同目标下尊重发展阶段差异与各国实际条件</a:t>
            </a:r>
          </a:p>
          <a:p>
            <a:r>
              <a:t>把国内绿色转型与全球环境治理的贡献联系起来</a:t>
            </a:r>
          </a:p>
          <a:p/>
          <a:p>
            <a:r>
              <a:t>【本页来源】</a:t>
            </a:r>
          </a:p>
          <a:p>
            <a:r>
              <a:t>R14 中华人民共和国国民经济和社会发展第十五个五年规划纲要</a:t>
            </a:r>
          </a:p>
          <a:p>
            <a:r>
              <a:t>https://www.ndrc.gov.cn/fggz/fzzlgh/gjfzgh/202603/U020260317369114704096.pdf</a:t>
            </a:r>
          </a:p>
          <a:p>
            <a:r>
              <a:t>R24 习近平 共同构建地球生命共同体 在生物多样性公约第十五次缔约方大会领导人峰会上的主旨讲话</a:t>
            </a:r>
          </a:p>
          <a:p>
            <a:r>
              <a:t>https://www.fmprc.gov.cn/web/ziliao_674904/zyjh_674906/202110/t20211012_9552802.shtml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面我们看到的变化，来自多个方面的共同作用。方向上，生态文明建设融入国家发展布局；制度上，保护责任和法治保障不断加强；实践中，污染治理、生态保护和绿色转型持续推进；社会层面，公众参与和绿色意识逐步增强。</a:t>
            </a:r>
          </a:p>
          <a:p>
            <a:r>
              <a:t>这些因素相互联系。理念为制度提供方向，制度为实践明确要求，技术和投入为治理提供条件，社会参与使措施更容易落实。理解成就的形成机制，能够帮助我们判断哪些经验具有长期价值，也能够帮助我们认识后续任务需要哪些支持。</a:t>
            </a:r>
          </a:p>
          <a:p/>
          <a:p>
            <a:r>
              <a:t>【投影页提炼】</a:t>
            </a:r>
          </a:p>
          <a:p>
            <a:r>
              <a:t>理念引领、责任落实、制度约束与科技支撑相互作用</a:t>
            </a:r>
          </a:p>
          <a:p>
            <a:r>
              <a:t>理念回答为什么保护，责任回答由谁持续推进</a:t>
            </a:r>
          </a:p>
          <a:p>
            <a:r>
              <a:t>制度为监管、督察、考核和公众参与提供依据</a:t>
            </a:r>
          </a:p>
          <a:p>
            <a:r>
              <a:t>技术与行动使治理措施能够落地、监测和改进</a:t>
            </a:r>
          </a:p>
          <a:p/>
          <a:p>
            <a:r>
              <a:t>【本页来源】</a:t>
            </a:r>
          </a:p>
          <a:p>
            <a:r>
              <a:t>R02 习近平在全国生态环境保护大会上强调 全面推进美丽中国建设 加快推进人与自然和谐共生的现代化</a:t>
            </a:r>
          </a:p>
          <a:p>
            <a:r>
              <a:t>https://www.miit.gov.cn/xwdt/szyw/art/2023/art_f08a775fe9a64cd1bc3f99eb09732d17.html</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建设与民生密切相连。群众关心的，既包括城市空气和饮水，也包括噪声、异味、垃圾、社区绿地和乡村人居环境。治理工作越深入，越需要关注这些具体而真实的生活需求，推动解决群众身边的突出问题。</a:t>
            </a:r>
          </a:p>
          <a:p>
            <a:r>
              <a:t>从人民立场出发，还要关注不同群体的环境处境。儿童、老年人、户外劳动者等群体，对环境风险可能具有不同感受和应对能力。提高公共服务水平、完善信息公开和回应机制，有助于让生态环境改善更公平地惠及人民。</a:t>
            </a:r>
          </a:p>
          <a:p/>
          <a:p>
            <a:r>
              <a:t>【投影页提炼】</a:t>
            </a:r>
          </a:p>
          <a:p>
            <a:r>
              <a:t>发展成果，要落实到健康、安全与日常生活</a:t>
            </a:r>
          </a:p>
          <a:p>
            <a:r>
              <a:t>饮水、空气、噪声与人居环境直接影响获得感</a:t>
            </a:r>
          </a:p>
          <a:p>
            <a:r>
              <a:t>把群众身边的突出问题转化为明确治理任务</a:t>
            </a:r>
          </a:p>
          <a:p>
            <a:r>
              <a:t>评价既看统计变化，也看公共服务与实际生活改善</a:t>
            </a:r>
          </a:p>
          <a:p/>
          <a:p>
            <a:r>
              <a:t>【本页来源】</a:t>
            </a:r>
          </a:p>
          <a:p>
            <a:r>
              <a:t>R04 中共中央 国务院关于全面推进美丽中国建设的意见</a:t>
            </a:r>
          </a:p>
          <a:p>
            <a:r>
              <a:t>https://app.www.gov.cn/govdata/gov/202401/11/511072/article.html</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治理离不开监测数据、科学研究和专业判断。污染来自哪里、治理是否有效、风险是否发生变化，都需要证据支撑。随着监测和技术能力发展，治理能够更加及时地发现问题，也能够更加细致地识别问题成因。</a:t>
            </a:r>
          </a:p>
          <a:p>
            <a:r>
              <a:t>不过，技术应用仍然需要质量控制、规范程序和专业解释。一个监测点的数据，能说明什么、不能说明什么，都应当结合条件分析。坚持科学治理，就是把真实数据、适宜方法和具体情境联系起来，让决策能够接受检验，让治理资源用在更需要的地方。</a:t>
            </a:r>
          </a:p>
          <a:p/>
          <a:p>
            <a:r>
              <a:t>【投影页提炼】</a:t>
            </a:r>
          </a:p>
          <a:p>
            <a:r>
              <a:t>观察现象之后，还要识别来源、过程与效果</a:t>
            </a:r>
          </a:p>
          <a:p>
            <a:r>
              <a:t>可靠数据帮助发现问题、解释变化、评价措施</a:t>
            </a:r>
          </a:p>
          <a:p>
            <a:r>
              <a:t>规范采样、分析方法、原始记录与质量控制</a:t>
            </a:r>
          </a:p>
          <a:p>
            <a:r>
              <a:t>区分相关关系与因果判断，不能仅凭单次观察下结论</a:t>
            </a:r>
          </a:p>
          <a:p/>
          <a:p>
            <a:r>
              <a:t>【本页来源】</a:t>
            </a:r>
          </a:p>
          <a:p>
            <a:r>
              <a:t>R06 2025中国生态环境状况公报</a:t>
            </a:r>
          </a:p>
          <a:p>
            <a:r>
              <a:t>https://www.mee.gov.cn/hjzl/sthjzk/zghjzkgb/202606/P020260604583244574595.pdf</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理解新时代生态文明建设取得举世瞩目的巨大成就，要看到我国治理实践的规模、复杂程度和综合影响。在人口和经济活动规模巨大的条件下，持续改善环境质量、推进生态保护、促进绿色转型，体现了长期投入与系统治理的重要作用。</a:t>
            </a:r>
          </a:p>
          <a:p>
            <a:r>
              <a:t>课堂表达应当让判断与证据相互对应。讲环境改善，就配合年度公报和具体案例；讲制度进步，就说明责任、规则和实施机制；讲全球贡献，就联系实际合作领域。这样，成就教育才能建立在可以理解、能够查证的事实与机制之上。</a:t>
            </a:r>
          </a:p>
          <a:p/>
          <a:p>
            <a:r>
              <a:t>【投影页提炼】</a:t>
            </a:r>
          </a:p>
          <a:p>
            <a:r>
              <a:t>既讲改善规模，也讲制度变革与发展方式变化</a:t>
            </a:r>
          </a:p>
          <a:p>
            <a:r>
              <a:t>在人口与经济规模较大的条件下持续推进环境改善</a:t>
            </a:r>
          </a:p>
          <a:p>
            <a:r>
              <a:t>从单项治理走向系统保护和绿色转型</a:t>
            </a:r>
          </a:p>
          <a:p>
            <a:r>
              <a:t>用可比数据、具体案例与制度事实支撑成就判断</a:t>
            </a:r>
          </a:p>
          <a:p/>
          <a:p>
            <a:r>
              <a:t>【本页来源】</a:t>
            </a:r>
          </a:p>
          <a:p>
            <a:r>
              <a:t>R02 习近平在全国生态环境保护大会上强调 全面推进美丽中国建设 加快推进人与自然和谐共生的现代化</a:t>
            </a:r>
          </a:p>
          <a:p>
            <a:r>
              <a:t>https://www.miit.gov.cn/xwdt/szyw/art/2023/art_f08a775fe9a64cd1bc3f99eb09732d17.html</a:t>
            </a:r>
          </a:p>
          <a:p>
            <a:r>
              <a:t>R06 2025中国生态环境状况公报</a:t>
            </a:r>
          </a:p>
          <a:p>
            <a:r>
              <a:t>https://www.mee.gov.cn/hjzl/sthjzk/zghjzkgb/202606/P020260604583244574595.pdf</a:t>
            </a:r>
          </a:p>
          <a:p>
            <a:r>
              <a:t>R24 习近平 共同构建地球生命共同体 在生物多样性公约第十五次缔约方大会领导人峰会上的主旨讲话</a:t>
            </a:r>
          </a:p>
          <a:p>
            <a:r>
              <a:t>https://www.fmprc.gov.cn/web/ziliao_674904/zyjh_674906/202110/t20211012_9552802.shtml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环境质量改善，并不意味着生态环境问题已经全部解决。一些地方的产业和能源结构调整仍有压力，部分生态系统仍需修复，一些群众身边的环境问题还需要持续治理。变化中的经济社会活动，也可能带来新的治理需求。</a:t>
            </a:r>
          </a:p>
          <a:p>
            <a:r>
              <a:t>实事求是地分析这些问题，有助于更准确地理解成绩和任务。已经取得的进展，为继续治理提供了基础；尚未解决的问题，则提示我们需要更加重视精准、科学、依法治污。对于生态文明建设，信心与责任感应当同时增强。</a:t>
            </a:r>
          </a:p>
          <a:p/>
          <a:p>
            <a:r>
              <a:t>【投影页提炼】</a:t>
            </a:r>
          </a:p>
          <a:p>
            <a:r>
              <a:t>结构性压力与新型风险仍需持续应对</a:t>
            </a:r>
          </a:p>
          <a:p>
            <a:r>
              <a:t>部分地区、时段与领域仍存在突出环境问题</a:t>
            </a:r>
          </a:p>
          <a:p>
            <a:r>
              <a:t>产业、能源和交通结构调整需要长期投入</a:t>
            </a:r>
          </a:p>
          <a:p>
            <a:r>
              <a:t>巩固成果与解决深层矛盾，要放在同一进程中推进</a:t>
            </a:r>
          </a:p>
          <a:p/>
          <a:p>
            <a:r>
              <a:t>【本页来源】</a:t>
            </a:r>
          </a:p>
          <a:p>
            <a:r>
              <a:t>R06 2025中国生态环境状况公报</a:t>
            </a:r>
          </a:p>
          <a:p>
            <a:r>
              <a:t>https://www.mee.gov.cn/hjzl/sthjzk/zghjzkgb/202606/P020260604583244574595.pdf</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大家思考：如果一个地方投入大量资金，把河岸全部硬化，再种上景观植物，是否就能说明生态修复做得好？判断之前，我们需要追问：当地原本的问题是什么？措施是否适合自然条件？水质、生境和防洪功能产生了什么变化？</a:t>
            </a:r>
          </a:p>
          <a:p>
            <a:r>
              <a:t>这个问题强调的是治理效果。投入、工程数量和景观变化都可以成为观察线索，最终还需要看生态功能、环境质量和群众受益。把目标、措施与结果对应起来，能够帮助我们避免形式化判断，也能够使保护修复更加尊重自然规律。</a:t>
            </a:r>
          </a:p>
          <a:p/>
          <a:p>
            <a:r>
              <a:t>【投影页提炼】</a:t>
            </a:r>
          </a:p>
          <a:p>
            <a:r>
              <a:t>投入是条件，效果还取决于方法和运行机制</a:t>
            </a:r>
          </a:p>
          <a:p>
            <a:r>
              <a:t>只看投入规模，能否说明治理有效？</a:t>
            </a:r>
          </a:p>
          <a:p>
            <a:r>
              <a:t>请举出一项需要长期运维的治理设施</a:t>
            </a:r>
          </a:p>
          <a:p>
            <a:r>
              <a:t>用事实、效果和持续性说明你的判断</a:t>
            </a:r>
          </a:p>
          <a:p/>
          <a:p>
            <a:r>
              <a:t>【本页来源】</a:t>
            </a:r>
          </a:p>
          <a:p>
            <a:r>
              <a:t>R09 中华人民共和国生态环境法典</a:t>
            </a:r>
          </a:p>
          <a:p>
            <a:r>
              <a:t>https://www.mee.gov.cn/ywgz/fgbz/fl/202603/t20260313_1146496.shtml</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部分可以从四个维度小结：环境质量、生态系统、发展方式和治理能力。环境质量改善回应群众感受，生态系统保护维护重要功能，绿色转型提高资源利用效率，治理能力则让责任、监测与公众参与形成合力。</a:t>
            </a:r>
          </a:p>
          <a:p>
            <a:r>
              <a:t>第一部分可以概括为四个方面：生态文明理念更加深入，生态环境质量持续改善，保护治理体系不断健全，绿色发展实践不断拓展。这些方面共同构成我们理解新时代生态文明建设成就的基本框架。</a:t>
            </a:r>
          </a:p>
          <a:p>
            <a:r>
              <a:t>请大家尝试用一个身边案例对应这四个方面。例如，家乡河流的变化，既可能体现治理工程，也可能体现规则完善和公众参与。能够从案例看到机制，我们对“成就”的理解就会更加具体；能够从机制想到下一步，学习也就具备了实践价值。</a:t>
            </a:r>
          </a:p>
          <a:p/>
          <a:p>
            <a:r>
              <a:t>【投影页提炼】</a:t>
            </a:r>
          </a:p>
          <a:p>
            <a:r>
              <a:t>环境改善、生态保护、绿色转型、治理进步</a:t>
            </a:r>
          </a:p>
          <a:p>
            <a:r>
              <a:t>环境质量：以年度数据和群众感受共同观察</a:t>
            </a:r>
          </a:p>
          <a:p>
            <a:r>
              <a:t>生态系统与发展方式：保护功能，提高资源效率</a:t>
            </a:r>
          </a:p>
          <a:p>
            <a:r>
              <a:t>治理能力：责任、规则、监测与公众参与共同支撑</a:t>
            </a:r>
          </a:p>
          <a:p/>
          <a:p>
            <a:r>
              <a:t>【本页来源】</a:t>
            </a:r>
          </a:p>
          <a:p>
            <a:r>
              <a:t>R02 习近平在全国生态环境保护大会上强调 全面推进美丽中国建设 加快推进人与自然和谐共生的现代化</a:t>
            </a:r>
          </a:p>
          <a:p>
            <a:r>
              <a:t>https://www.miit.gov.cn/xwdt/szyw/art/2023/art_f08a775fe9a64cd1bc3f99eb09732d17.html</a:t>
            </a:r>
          </a:p>
          <a:p>
            <a:r>
              <a:t>R05 中共中央 国务院关于加快经济社会发展全面绿色转型的意见</a:t>
            </a:r>
          </a:p>
          <a:p>
            <a:r>
              <a:t>https://app.www.gov.cn/govdata/gov/202408/11/518161/articleNew.html</a:t>
            </a:r>
          </a:p>
          <a:p>
            <a:r>
              <a:t>R06 2025中国生态环境状况公报</a:t>
            </a:r>
          </a:p>
          <a:p>
            <a:r>
              <a:t>https://www.mee.gov.cn/hjzl/sthjzk/zghjzkgb/202606/P020260604583244574595.pdf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一个自然的问题随之出现：已经取得的治理成效，怎样才能稳定保持并继续提升？环境治理涉及长期投入，也涉及不同主体之间的利益协调。如果只依靠阶段性行动，难以充分回应持续变化的现实需求。</a:t>
            </a:r>
          </a:p>
          <a:p>
            <a:r>
              <a:t>因此，我们需要进一步讨论法治。法律能够明确权利义务、规范行政行为、约束污染活动，并为纠纷解决提供依据。接下来进入第二部分：充分认识编纂施行生态环境法典的重大意义，理解法典化对于生态环境治理的重要价值，以及规则有效实施所需要的条件。</a:t>
            </a:r>
          </a:p>
          <a:p/>
          <a:p>
            <a:r>
              <a:t>【投影页提炼】</a:t>
            </a:r>
          </a:p>
          <a:p>
            <a:r>
              <a:t>怎样让已经取得的成效持续保持并不断提升？</a:t>
            </a:r>
          </a:p>
          <a:p>
            <a:r>
              <a:t>生态环境治理需要长期投入和跨主体利益协调</a:t>
            </a:r>
          </a:p>
          <a:p>
            <a:r>
              <a:t>稳定规则明确权利义务，规范行政与生产经营行为</a:t>
            </a:r>
          </a:p>
          <a:p>
            <a:r>
              <a:t>从阶段行动走向持续履责，进入生态环境法治议题</a:t>
            </a:r>
          </a:p>
          <a:p/>
          <a:p>
            <a:r>
              <a:t>【本页来源】</a:t>
            </a:r>
          </a:p>
          <a:p>
            <a:r>
              <a:t>R09 中华人民共和国生态环境法典</a:t>
            </a:r>
          </a:p>
          <a:p>
            <a:r>
              <a:t>https://www.mee.gov.cn/ywgz/fgbz/fl/202603/t20260313_1146496.shtml</a:t>
            </a:r>
          </a:p>
          <a:p>
            <a:r>
              <a:t>R10 中华人民共和国主席令 第七十号</a:t>
            </a:r>
          </a:p>
          <a:p>
            <a:r>
              <a:t>https://www.court.gov.cn/xinshidai/xiangqing/494341.html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面我们看到，生态环境改善来自理念、制度、技术和行动的共同作用。接下来进一步追问：怎样把已经形成的治理经验转化为稳定规则，让保护生态环境成为各地区、各部门和各类主体持续履行的责任？这就需要发挥法治固根本、稳预期、利长远的作用。</a:t>
            </a:r>
          </a:p>
          <a:p>
            <a:r>
              <a:t>根据用户所附参考资料列明的正式文本，生态环境法典于2026年3月12日通过并公布，自2026年8月15日起施行。本部分从制度建设与治理实践的联系出发，分析法典为什么重要，以及法律要求怎样落实到治理行动。具体条文、配套规则与适用结论，仍应以正式文本和授课时有效规则为准。</a:t>
            </a:r>
          </a:p>
          <a:p/>
          <a:p>
            <a:r>
              <a:t>【投影页提炼】</a:t>
            </a:r>
          </a:p>
          <a:p>
            <a:r>
              <a:t>以生态环境法治保障人与自然和谐共生</a:t>
            </a:r>
          </a:p>
          <a:p>
            <a:r>
              <a:t>生态环境法典于2026年3月12日通过并公布</a:t>
            </a:r>
          </a:p>
          <a:p>
            <a:r>
              <a:t>依据所附正式文本，自2026年8月15日起施行</a:t>
            </a:r>
          </a:p>
          <a:p>
            <a:r>
              <a:t>从制度协调、人民利益、高质量发展与治理能力理解价值</a:t>
            </a:r>
          </a:p>
          <a:p/>
          <a:p>
            <a:r>
              <a:t>【本页来源】</a:t>
            </a:r>
          </a:p>
          <a:p>
            <a:r>
              <a:t>R09 中华人民共和国生态环境法典</a:t>
            </a:r>
          </a:p>
          <a:p>
            <a:r>
              <a:t>https://www.mee.gov.cn/ywgz/fgbz/fl/202603/t20260313_1146496.shtml</a:t>
            </a:r>
          </a:p>
          <a:p>
            <a:r>
              <a:t>R10 中华人民共和国主席令 第七十号</a:t>
            </a:r>
          </a:p>
          <a:p>
            <a:r>
              <a:t>https://www.court.gov.cn/xinshidai/xiangqing/494341.html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生态环境保护经过长期实践，逐步形成了涵盖多个领域的法律制度。生态环境法典把总则、污染防治、生态保护、绿色低碳发展、法律责任和附则组织为五编，强调从整体上协调基本原则、具体制度与责任机制。相关法律与行政法规、地方性法规和标准，也需要在各自适用范围内衔接。</a:t>
            </a:r>
          </a:p>
          <a:p>
            <a:r>
              <a:t>用户所附资料载明，法典施行时十部法律同时废止，但这并不意味着所有生态领域单行法都失效。讲授时要区分现行规范与法治沿革材料；历史行为的责任，还需结合行为时间、正式衔接规则和案件事实判断，不能把2026年法律直接倒套到更早的真实案件。</a:t>
            </a:r>
          </a:p>
          <a:p>
            <a:r>
              <a:t>图示补充（据配套清单R09、R10）：2026年3月12日通过并公布，2026年8月15日起施行；五编共1242条，分别为总则、污染防治、生态保护、绿色低碳发展、法律责任和附则。当前图示仍须授课前以正式文本复核。</a:t>
            </a:r>
          </a:p>
          <a:p/>
          <a:p>
            <a:r>
              <a:t>【投影页提炼】</a:t>
            </a:r>
          </a:p>
          <a:p>
            <a:r>
              <a:t>以系统法治保障，支撑人与自然和谐共生</a:t>
            </a:r>
          </a:p>
          <a:p>
            <a:r>
              <a:t>法典统筹总则、污染防治、生态保护和绿色低碳发展</a:t>
            </a:r>
          </a:p>
          <a:p>
            <a:r>
              <a:t>新旧规范的保留、废止和适用，以正式法律文本为准</a:t>
            </a:r>
          </a:p>
          <a:p>
            <a:r>
              <a:t>历史行为须结合行为时间与衔接规则判断，避免倒套新法</a:t>
            </a:r>
          </a:p>
          <a:p/>
          <a:p>
            <a:r>
              <a:t>【本页来源】</a:t>
            </a:r>
          </a:p>
          <a:p>
            <a:r>
              <a:t>R09 中华人民共和国生态环境法典</a:t>
            </a:r>
          </a:p>
          <a:p>
            <a:r>
              <a:t>https://www.mee.gov.cn/ywgz/fgbz/fl/202603/t20260313_1146496.shtml</a:t>
            </a:r>
          </a:p>
          <a:p>
            <a:r>
              <a:t>R10 中华人民共和国主席令 第七十号</a:t>
            </a:r>
          </a:p>
          <a:p>
            <a:r>
              <a:t>https://www.court.gov.cn/xinshidai/xiangqing/494341.html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问题具有明显的综合性。企业生产会同时涉及用水、用能、排放和废物处置；流域治理会跨越行政区域，连接生产、生活和生态空间。这些实际联系要求相关制度在目标、程序和责任方面形成合力，为解决问题提供连贯的规则依据。</a:t>
            </a:r>
          </a:p>
          <a:p>
            <a:r>
              <a:t>因此，理解编纂生态环境法典的意义，可以从治理需要出发：把实践中成熟有效的经验加以总结，让基本规则更加清楚，让制度接口更加顺畅，让责任承担更有依据。这样的制度建设有利于形成长期稳定的治理秩序，也对立法质量、配套制度和执行能力提出更高要求。</a:t>
            </a:r>
          </a:p>
          <a:p/>
          <a:p>
            <a:r>
              <a:t>【投影页提炼】</a:t>
            </a:r>
          </a:p>
          <a:p>
            <a:r>
              <a:t>现实问题相互联系，规则也需要系统协调</a:t>
            </a:r>
          </a:p>
          <a:p>
            <a:r>
              <a:t>企业用水、用能、排放与废物处置跨越多个治理环节</a:t>
            </a:r>
          </a:p>
          <a:p>
            <a:r>
              <a:t>流域保护连接地区、产业与不同生态要素</a:t>
            </a:r>
          </a:p>
          <a:p>
            <a:r>
              <a:t>把成熟经验转化为清楚规则，增强程序与责任衔接</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想一个园区正在开展污染治理，涉及规划、建设、生产、排污、监测和应急等多个环节。如果各环节的信息不能衔接，责任边界不够清楚，即使每个部门都投入力量，整体治理效果仍可能受到影响。制度协调直接关系工作能否形成闭环。</a:t>
            </a:r>
          </a:p>
          <a:p>
            <a:r>
              <a:t>法典化的重要价值，在于促进相关规则的系统整理和协调完善。这要求在坚持法定职责的基础上，处理好综合管理与专业管理、统一要求与地方实际之间的关系。讲授时可以引导大家关注一个判断标准：制度能否使责任找得到主体、程序能够相互衔接、发生问题后能够依法追究。</a:t>
            </a:r>
          </a:p>
          <a:p/>
          <a:p>
            <a:r>
              <a:t>【投影页提炼】</a:t>
            </a:r>
          </a:p>
          <a:p>
            <a:r>
              <a:t>找得到主体，接得上程序，追得清责任</a:t>
            </a:r>
          </a:p>
          <a:p>
            <a:r>
              <a:t>规划、建设、生产、排污、监测和应急需要信息互通</a:t>
            </a:r>
          </a:p>
          <a:p>
            <a:r>
              <a:t>处理好综合管理与专业管理、统一要求与地方实际关系</a:t>
            </a:r>
          </a:p>
          <a:p>
            <a:r>
              <a:t>检验制度协调，要看治理流程能否连续运转</a:t>
            </a:r>
          </a:p>
          <a:p/>
          <a:p>
            <a:r>
              <a:t>【本页来源】</a:t>
            </a:r>
          </a:p>
          <a:p>
            <a:r>
              <a:t>R09 中华人民共和国生态环境法典</a:t>
            </a:r>
          </a:p>
          <a:p>
            <a:r>
              <a:t>https://www.mee.gov.cn/ywgz/fgbz/fl/202603/t20260313_1146496.shtml</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环境质量与每个人的日常生活紧密相连。清洁的饮用水、良好的空气质量、安静的生活空间，都影响群众的健康和幸福感。推进生态环境法治建设，应当把这些实际感受放在重要位置，把人民群众关切的问题转化为可履行、可监督的治理责任。</a:t>
            </a:r>
          </a:p>
          <a:p>
            <a:r>
              <a:t>生态环境法典对信息公开、公众参与和相关治理责任作出制度安排，民法典也为相关民事责任提供依据。法典化的意义，可以从规则更加清晰、责任更加明确、救济更加有据来理解。具体案件中是否构成侵权、由谁承担责任、通过什么程序处理，仍需结合事实和适用法律判断，不能仅凭原则直接给出结论。</a:t>
            </a:r>
          </a:p>
          <a:p/>
          <a:p>
            <a:r>
              <a:t>【投影页提炼】</a:t>
            </a:r>
          </a:p>
          <a:p>
            <a:r>
              <a:t>把健康、安宁与良好环境的关切落到规则中</a:t>
            </a:r>
          </a:p>
          <a:p>
            <a:r>
              <a:t>清晰的权利义务，让环境治理更可理解、更可监督</a:t>
            </a:r>
          </a:p>
          <a:p>
            <a:r>
              <a:t>信息公开、参与和救济需要明确依据与规范程序</a:t>
            </a:r>
          </a:p>
          <a:p>
            <a:r>
              <a:t>个案责任仍须结合事实、适用法律和法定程序判断</a:t>
            </a:r>
          </a:p>
          <a:p/>
          <a:p>
            <a:r>
              <a:t>【本页来源】</a:t>
            </a:r>
          </a:p>
          <a:p>
            <a:r>
              <a:t>R09 中华人民共和国生态环境法典</a:t>
            </a:r>
          </a:p>
          <a:p>
            <a:r>
              <a:t>https://www.mee.gov.cn/ywgz/fgbz/fl/202603/t20260313_1146496.shtml</a:t>
            </a:r>
          </a:p>
          <a:p>
            <a:r>
              <a:t>R13 中华人民共和国民法典</a:t>
            </a:r>
          </a:p>
          <a:p>
            <a:r>
              <a:t>https://www.samr.gov.cn/zw/zfxxgk/fdzdgknr/bgt/art/2023/art_60fb3863b7364b759123a42d1df568ca.html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业安排技术改造和长期投资，需要了解项目可以在哪里建设、应当达到什么环境要求、运行过程中承担哪些义务。清晰稳定的规则能够帮助经营主体形成合理预期，将环境成本和治理投入纳入经营决策，为绿色技术研发和设备更新提供更明确的方向。</a:t>
            </a:r>
          </a:p>
          <a:p>
            <a:r>
              <a:t>生态环境法治与高质量发展相互促进。依法明确约束，有助于维护公平竞争，推动节约资源、减少污染的企业获得更好的发展条件。落实到治理实践，还要提高政策协同性和执行透明度，使企业能够依法合规开展经营，在持续改善环境质量的过程中增强创新能力。</a:t>
            </a:r>
          </a:p>
          <a:p/>
          <a:p>
            <a:r>
              <a:t>【投影页提炼】</a:t>
            </a:r>
          </a:p>
          <a:p>
            <a:r>
              <a:t>清晰预期，推动企业把环境成本纳入长期决策</a:t>
            </a:r>
          </a:p>
          <a:p>
            <a:r>
              <a:t>明确选址、建设、运行和污染防治的基本要求</a:t>
            </a:r>
          </a:p>
          <a:p>
            <a:r>
              <a:t>维护公平竞争，鼓励绿色技术创新与合规经营</a:t>
            </a:r>
          </a:p>
          <a:p>
            <a:r>
              <a:t>提高政策协同与执行透明度，使保护与发展相互促进</a:t>
            </a:r>
          </a:p>
          <a:p/>
          <a:p>
            <a:r>
              <a:t>【本页来源】</a:t>
            </a:r>
          </a:p>
          <a:p>
            <a:r>
              <a:t>R05 中共中央 国务院关于加快经济社会发展全面绿色转型的意见</a:t>
            </a:r>
          </a:p>
          <a:p>
            <a:r>
              <a:t>https://app.www.gov.cn/govdata/gov/202408/11/518161/articleNew.html</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条河流的水质，既与沿岸排放有关，也与上游来水、湿地状况、岸线利用和支流治理有关。治理对象之间存在联系，制度安排就需要回应这些联系。坚持系统观念，意味着从生态系统整体和流域上下游关系出发，分析问题、安排措施、评价效果。</a:t>
            </a:r>
          </a:p>
          <a:p>
            <a:r>
              <a:t>法治能够通过明确职责、规范程序和建立协同机制，为系统治理提供保障。我们分析法典化意义时，应当关注各项治理制度如何相互支持，怎样推动跨地区信息共享和责任衔接。治理成效最终还要通过环境质量变化、生态功能改善以及群众感受来检验。</a:t>
            </a:r>
          </a:p>
          <a:p/>
          <a:p>
            <a:r>
              <a:t>【投影页提炼】</a:t>
            </a:r>
          </a:p>
          <a:p>
            <a:r>
              <a:t>从上下游、左右岸和各要素联系中安排治理</a:t>
            </a:r>
          </a:p>
          <a:p>
            <a:r>
              <a:t>一条河的水质连接排放、来水、湿地和岸线利用</a:t>
            </a:r>
          </a:p>
          <a:p>
            <a:r>
              <a:t>以法定职责、协作程序和信息共享促成跨区域治理</a:t>
            </a:r>
          </a:p>
          <a:p>
            <a:r>
              <a:t>以水质、生态功能与群众感受检验制度实施效果</a:t>
            </a:r>
          </a:p>
          <a:p/>
          <a:p>
            <a:r>
              <a:t>【本页来源】</a:t>
            </a:r>
          </a:p>
          <a:p>
            <a:r>
              <a:t>R09 中华人民共和国生态环境法典</a:t>
            </a:r>
          </a:p>
          <a:p>
            <a:r>
              <a:t>https://www.mee.gov.cn/ywgz/fgbz/fl/202603/t20260313_1146496.shtml</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家治理现代化在生态环境领域的体现，是让决策、执行、监督和责任追究形成有效联系。制度规定越清楚，依法履职就越有依据；监测信息越可靠，政策措施就越能针对实际问题；公众参与渠道越顺畅，治理就越能回应社会关切。</a:t>
            </a:r>
          </a:p>
          <a:p>
            <a:r>
              <a:t>法典化建设有助于从整体上审视这些制度联系，但实际效果还取决于执行能力。法律专业人员、环境监测人员、基层执法人员和相关技术力量，都承担着不同职责。通过规则建设和能力建设共同发力，才能把纸面上的制度要求转化为持续改善生态环境的实际成效。</a:t>
            </a:r>
          </a:p>
          <a:p/>
          <a:p>
            <a:r>
              <a:t>【投影页提炼】</a:t>
            </a:r>
          </a:p>
          <a:p>
            <a:r>
              <a:t>规则建设与人员、技术、组织能力共同发力</a:t>
            </a:r>
          </a:p>
          <a:p>
            <a:r>
              <a:t>决策、执行、监督和责任追究应当有效衔接</a:t>
            </a:r>
          </a:p>
          <a:p>
            <a:r>
              <a:t>监测人员、执法人员与企业管理者各尽其责</a:t>
            </a:r>
          </a:p>
          <a:p>
            <a:r>
              <a:t>持续培训、可靠技术和规范程序决定制度实施质量</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认识生态环境法典编纂施行的意义，需要了解我国已经形成的法治基础。宪法提供根本法依据，2014年修订的环境保护法等单行法曾确立重要原则和制度，民法典规定绿色原则与相关民事责任。这些都是长期实践逐步积累的制度成果。</a:t>
            </a:r>
          </a:p>
          <a:p>
            <a:r>
              <a:t>根据用户所附参考资料，旧环境保护法已随法典施行而废止，因此本页将其作为法治发展沿革讲解，不作为当前案件的直接适用依据。学习时，要把法律原则、行政管理制度、民事责任和实际执法联系起来，也要核对新法、配套清理决定与其他相关法律的效力和衔接。</a:t>
            </a:r>
          </a:p>
          <a:p/>
          <a:p>
            <a:r>
              <a:t>【投影页提炼】</a:t>
            </a:r>
          </a:p>
          <a:p>
            <a:r>
              <a:t>从宪法原则、单行法经验走向法典系统整合</a:t>
            </a:r>
          </a:p>
          <a:p>
            <a:r>
              <a:t>宪法提供根本依据，民法典等法律规范相关责任</a:t>
            </a:r>
          </a:p>
          <a:p>
            <a:r>
              <a:t>2014年修订的环境保护法是重要历史制度基础</a:t>
            </a:r>
          </a:p>
          <a:p>
            <a:r>
              <a:t>旧法的现行效力与配套清理，应依正式新法和决定判断</a:t>
            </a:r>
          </a:p>
          <a:p/>
          <a:p>
            <a:r>
              <a:t>【本页来源】</a:t>
            </a:r>
          </a:p>
          <a:p>
            <a:r>
              <a:t>R09 中华人民共和国生态环境法典</a:t>
            </a:r>
          </a:p>
          <a:p>
            <a:r>
              <a:t>https://www.mee.gov.cn/ywgz/fgbz/fl/202603/t20260313_1146496.shtml</a:t>
            </a:r>
          </a:p>
          <a:p>
            <a:r>
              <a:t>R11 中华人民共和国宪法</a:t>
            </a:r>
          </a:p>
          <a:p>
            <a:r>
              <a:t>https://www.cac.gov.cn/2018-03/22/c_1122572643.htm</a:t>
            </a:r>
          </a:p>
          <a:p>
            <a:r>
              <a:t>R12 中华人民共和国环境保护法 2014年修订历史文本</a:t>
            </a:r>
          </a:p>
          <a:p>
            <a:r>
              <a:t>https://jjjcz.mee.gov.cn/djfg/gjflfg/fl/201404/t20140401_444481.html</a:t>
            </a:r>
          </a:p>
          <a:p>
            <a:r>
              <a:t>R26 国务院关于修改和废止部分行政法规的决定</a:t>
            </a:r>
          </a:p>
          <a:p>
            <a:r>
              <a:t>https://legalinfo.moj.gov.cn/zhfxfzzx/fzzxyw/202608/t20260814_538492.html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宪法是国家的根本法，也是理解生态环境法治的重要起点。2018年修正的宪法第九条规定自然资源保护和合理利用等要求，第二十六条规定国家保护和改善生活环境和生态环境，防治污染和其他公害。这些规定确立了国家保护生态环境的重要责任。</a:t>
            </a:r>
          </a:p>
          <a:p>
            <a:r>
              <a:t>从宪法出发看生态文明建设，我们能够理解，保护环境和合理利用资源具有长期性、根本性意义。具体立法、行政管理和司法活动，都应当在宪法确立的制度框架内开展。对学习者而言，理解这一层次，有助于把身边的环境问题与国家发展目标、公共利益和法治建设联系起来。</a:t>
            </a:r>
          </a:p>
          <a:p/>
          <a:p>
            <a:r>
              <a:t>【投影页提炼】</a:t>
            </a:r>
          </a:p>
          <a:p>
            <a:r>
              <a:t>把身边环境问题与国家公共责任联系起来</a:t>
            </a:r>
          </a:p>
          <a:p>
            <a:r>
              <a:t>宪法规定保护和合理利用自然资源的重要要求</a:t>
            </a:r>
          </a:p>
          <a:p>
            <a:r>
              <a:t>国家保护和改善生活环境、生态环境，防治污染公害</a:t>
            </a:r>
          </a:p>
          <a:p>
            <a:r>
              <a:t>具体立法、行政和司法活动在宪法框架内展开</a:t>
            </a:r>
          </a:p>
          <a:p/>
          <a:p>
            <a:r>
              <a:t>【本页来源】</a:t>
            </a:r>
          </a:p>
          <a:p>
            <a:r>
              <a:t>R11 中华人民共和国宪法</a:t>
            </a:r>
          </a:p>
          <a:p>
            <a:r>
              <a:t>https://www.cac.gov.cn/2018-03/22/c_1122572643.htm</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法治发展沿革来看，2014年修订的环境保护法明确了保护优先、预防为主、综合治理、公众参与、损害担责的原则。这些历史制度帮助我们把握治理的基本方向：重视源头防范，统筹治理措施，发挥社会监督作用，并使造成损害的主体依法承担责任。</a:t>
            </a:r>
          </a:p>
          <a:p>
            <a:r>
              <a:t>该法还对政府、企业事业单位、公民等主体提出相关要求，体现了责任网络的形成。根据用户所附参考资料，旧环境保护法已在2026年8月15日废止，所以本页仅讲历史基础。分析当前问题，应查阅生态环境法典等现行正式文本，不能把历史条号继续作为当前直接依据。</a:t>
            </a:r>
          </a:p>
          <a:p/>
          <a:p>
            <a:r>
              <a:t>【投影页提炼】</a:t>
            </a:r>
          </a:p>
          <a:p>
            <a:r>
              <a:t>历史经验帮助我们理解制度是怎样形成的</a:t>
            </a:r>
          </a:p>
          <a:p>
            <a:r>
              <a:t>2014年修订的环境保护法曾系统确立重要原则</a:t>
            </a:r>
          </a:p>
          <a:p>
            <a:r>
              <a:t>保护优先、预防为主、综合治理、公众参与、损害担责</a:t>
            </a:r>
          </a:p>
          <a:p>
            <a:r>
              <a:t>本页讲法治沿革；现行适用须查生态环境法典等正式文本</a:t>
            </a:r>
          </a:p>
          <a:p/>
          <a:p>
            <a:r>
              <a:t>【本页来源】</a:t>
            </a:r>
          </a:p>
          <a:p>
            <a:r>
              <a:t>R09 中华人民共和国生态环境法典</a:t>
            </a:r>
          </a:p>
          <a:p>
            <a:r>
              <a:t>https://www.mee.gov.cn/ywgz/fgbz/fl/202603/t20260313_1146496.shtml</a:t>
            </a:r>
          </a:p>
          <a:p>
            <a:r>
              <a:t>R12 中华人民共和国环境保护法 2014年修订历史文本</a:t>
            </a:r>
          </a:p>
          <a:p>
            <a:r>
              <a:t>https://jjjcz.mee.gov.cn/djfg/gjflfg/fl/201404/t20140401_444481.html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民法典第九条确立绿色原则，要求民事主体从事民事活动时有利于节约资源、保护生态环境。这说明，绿色发展要求能够进入日常交易、生产经营和其他民事活动，成为理解和处理相关民事关系的重要价值指引。</a:t>
            </a:r>
          </a:p>
          <a:p>
            <a:r>
              <a:t>民法典第一千二百三十四条、第一千二百三十五条，还分别涉及违反国家规定造成生态环境损害时的修复责任，以及有关损失和费用的赔偿。这里需要把握的是责任与后果的联系。具体主体资格、请求范围和承担方式，应当依照法律并结合案件事实判断，避免把原则性要求直接等同于个案结论。</a:t>
            </a:r>
          </a:p>
          <a:p/>
          <a:p>
            <a:r>
              <a:t>【投影页提炼】</a:t>
            </a:r>
          </a:p>
          <a:p>
            <a:r>
              <a:t>让生态要求进入日常交易和生产经营活动</a:t>
            </a:r>
          </a:p>
          <a:p>
            <a:r>
              <a:t>民事活动应有利于节约资源、保护生态环境</a:t>
            </a:r>
          </a:p>
          <a:p>
            <a:r>
              <a:t>生态损害相关修复责任与损失费用承担有法律依据</a:t>
            </a:r>
          </a:p>
          <a:p>
            <a:r>
              <a:t>请求主体、责任范围和承担方式，应依法律与事实判断</a:t>
            </a:r>
          </a:p>
          <a:p/>
          <a:p>
            <a:r>
              <a:t>【本页来源】</a:t>
            </a:r>
          </a:p>
          <a:p>
            <a:r>
              <a:t>R09 中华人民共和国生态环境法典</a:t>
            </a:r>
          </a:p>
          <a:p>
            <a:r>
              <a:t>https://www.mee.gov.cn/ywgz/fgbz/fl/202603/t20260313_1146496.shtml</a:t>
            </a:r>
          </a:p>
          <a:p>
            <a:r>
              <a:t>R13 中华人民共和国民法典</a:t>
            </a:r>
          </a:p>
          <a:p>
            <a:r>
              <a:t>https://www.samr.gov.cn/zw/zfxxgk/fdzdgknr/bgt/art/2023/art_60fb3863b7364b759123a42d1df568ca.html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损害一旦发生，恢复往往需要较长时间和较高成本，有些生态功能还难以完全恢复。因此，生态环境法治始终重视预防。理解预防的价值，要把目光前移，关注规划、选址、建设、生产运行和风险防控等环节的环境影响。</a:t>
            </a:r>
          </a:p>
          <a:p>
            <a:r>
              <a:t>在实际工作中，各主体应依照现行适用规则开展论证、履行程序、完善设施和做好日常管理。课堂上可以思考：发现风险的时间越早，能够选择的解决方案往往越多。把预防要求转化为岗位职责和日常检查，能够减少后续治理压力；是否履行义务，仍需依据真实证据和具体适用规范判断。</a:t>
            </a:r>
          </a:p>
          <a:p/>
          <a:p>
            <a:r>
              <a:t>【投影页提炼】</a:t>
            </a:r>
          </a:p>
          <a:p>
            <a:r>
              <a:t>在规划、选址与运行中，把风险发现得更早</a:t>
            </a:r>
          </a:p>
          <a:p>
            <a:r>
              <a:t>生态损害恢复可能时间长、成本高，部分功能难以复原</a:t>
            </a:r>
          </a:p>
          <a:p>
            <a:r>
              <a:t>把论证程序、设施建设和风险防控落实到岗位</a:t>
            </a:r>
          </a:p>
          <a:p>
            <a:r>
              <a:t>越早识别问题，越有机会选择成本合理的解决方案</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看一个课堂情境：一家食品加工企业安装了污水处理设备，但因为日常维护不到位，设备运行不稳定。这个情境提醒我们，履行环境保护义务需要覆盖设施建设、生产运行、人员管理和记录保存等环节，设备是否正常发挥作用十分关键。</a:t>
            </a:r>
          </a:p>
          <a:p>
            <a:r>
              <a:t>分析这类问题，应当依次查明主体承担的法定义务、适用的许可和排放要求、实际运行情况以及相应证据，再判断责任。具体违法认定和处理结果需要依法作出。通过这样的思考，可以理解为什么制度体系既要重视前期要求，也要关注运行管理和事后责任。</a:t>
            </a:r>
          </a:p>
          <a:p/>
          <a:p>
            <a:r>
              <a:t>【投影页提炼】</a:t>
            </a:r>
          </a:p>
          <a:p>
            <a:r>
              <a:t>装了治理设备，还要保证设备持续正常运行</a:t>
            </a:r>
          </a:p>
          <a:p>
            <a:r>
              <a:t>假设食品企业污水处理设备因维护不足而运行不稳</a:t>
            </a:r>
          </a:p>
          <a:p>
            <a:r>
              <a:t>依次查清法定义务、许可排放要求与实际运行证据</a:t>
            </a:r>
          </a:p>
          <a:p>
            <a:r>
              <a:t>责任覆盖人员、设施、记录和日常管理，不只看设备有无</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生态环境遭受损害后，社会既关注责任追究，也关注受损生态系统怎样恢复。民法典有关规定和生态环境损害赔偿制度，为修复、赔偿以及相关费用承担提供依据，使损害后果与责任主体之间形成法律联系。</a:t>
            </a:r>
          </a:p>
          <a:p>
            <a:r>
              <a:t>理解修复责任，需要尊重生态规律，也需要科学评估。修复方案应当结合损害类型、生态功能和实际条件依法确定，修复效果还需要相应评价。讲授时可以引导大家思考：责任机制怎样促使相关主体更加重视前期防范？这种联系，能够帮助我们理解预防、治理与修复之间的整体关系。</a:t>
            </a:r>
          </a:p>
          <a:p/>
          <a:p>
            <a:r>
              <a:t>【投影页提炼】</a:t>
            </a:r>
          </a:p>
          <a:p>
            <a:r>
              <a:t>既要追究责任，也要让受损生态得到修复</a:t>
            </a:r>
          </a:p>
          <a:p>
            <a:r>
              <a:t>把损害后果与责任主体、修复和赔偿联系起来</a:t>
            </a:r>
          </a:p>
          <a:p>
            <a:r>
              <a:t>依据损害类型、生态功能与实际条件确定修复方案</a:t>
            </a:r>
          </a:p>
          <a:p>
            <a:r>
              <a:t>修复效果需要评价，责任机制也能倒逼前期预防</a:t>
            </a:r>
          </a:p>
          <a:p/>
          <a:p>
            <a:r>
              <a:t>【本页来源】</a:t>
            </a:r>
          </a:p>
          <a:p>
            <a:r>
              <a:t>R09 中华人民共和国生态环境法典</a:t>
            </a:r>
          </a:p>
          <a:p>
            <a:r>
              <a:t>https://www.mee.gov.cn/ywgz/fgbz/fl/202603/t20260313_1146496.shtml</a:t>
            </a:r>
          </a:p>
          <a:p>
            <a:r>
              <a:t>R13 中华人民共和国民法典</a:t>
            </a:r>
          </a:p>
          <a:p>
            <a:r>
              <a:t>https://www.samr.gov.cn/zw/zfxxgk/fdzdgknr/bgt/art/2023/art_60fb3863b7364b759123a42d1df568ca.html</a:t>
            </a:r>
          </a:p>
          <a:p>
            <a:r>
              <a:t>R22 关于印发生态环境损害赔偿管理规定的通知</a:t>
            </a:r>
          </a:p>
          <a:p>
            <a:r>
              <a:t>https://www.mee.gov.cn/xxgk2018/xxgk/xxgk03/202205/t20220516_982267.html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治理需要依靠可靠证据。空气、水体、土壤和污染源监测数据，能够帮助识别问题、分析变化和评价治理效果。数据质量如果受到损害，相关决策和监督就可能失去可靠依据，因此真实性和准确性具有基础意义。</a:t>
            </a:r>
          </a:p>
          <a:p>
            <a:r>
              <a:t>依据生态环境法典等现行规则承担监测义务的主体，应依适用要求开展工作。课堂上可以从采样、分析、设备维护、原始记录和结果报送等环节理解数据质量管理。技术越先进，越需要责任清晰、程序规范和全过程质量控制。发现异常数据以后，还应核查现场、日志和原始材料，不能跳过调查直接下结论。</a:t>
            </a:r>
          </a:p>
          <a:p/>
          <a:p>
            <a:r>
              <a:t>【投影页提炼】</a:t>
            </a:r>
          </a:p>
          <a:p>
            <a:r>
              <a:t>数据可以帮助发现问题，造假会破坏治理依据</a:t>
            </a:r>
          </a:p>
          <a:p>
            <a:r>
              <a:t>从采样、分析、设备维护到原始记录，实施质量控制</a:t>
            </a:r>
          </a:p>
          <a:p>
            <a:r>
              <a:t>依法承担监测义务的主体，应保存真实可靠的信息</a:t>
            </a:r>
          </a:p>
          <a:p>
            <a:r>
              <a:t>技术越先进，越要把程序规范和数据责任落实到位</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保护中的法律实施，涉及行政管理、行政执法和司法等多个环节。行政机关依照法定职责开展监管，对发现的问题依法处理；相关纠纷和责任问题，则通过适用的法律程序解决。不同机制在各自权限内发挥作用，共同维护法律权威。</a:t>
            </a:r>
          </a:p>
          <a:p>
            <a:r>
              <a:t>理解它们的关系，应当关注事实认定、证据质量、程序规范和责任衔接。面对同一个环境问题，先明确适用规则和处理途径，能够提高分析的准确性。推动生态环境法治建设，也需要加强专业能力和协作，使行政监管、损害救济和公共利益保护形成有效联系。</a:t>
            </a:r>
          </a:p>
          <a:p/>
          <a:p>
            <a:r>
              <a:t>【投影页提炼】</a:t>
            </a:r>
          </a:p>
          <a:p>
            <a:r>
              <a:t>在法定职责和程序中，把事实、证据与责任接起来</a:t>
            </a:r>
          </a:p>
          <a:p>
            <a:r>
              <a:t>行政机关依职责监管，对发现的问题依法调查处理</a:t>
            </a:r>
          </a:p>
          <a:p>
            <a:r>
              <a:t>相关纠纷和损害救济通过适用的法律程序解决</a:t>
            </a:r>
          </a:p>
          <a:p>
            <a:r>
              <a:t>专业能力与协作机制，支撑监管、修复和公共利益保护</a:t>
            </a:r>
          </a:p>
          <a:p/>
          <a:p>
            <a:r>
              <a:t>【本页来源】</a:t>
            </a:r>
          </a:p>
          <a:p>
            <a:r>
              <a:t>R09 中华人民共和国生态环境法典</a:t>
            </a:r>
          </a:p>
          <a:p>
            <a:r>
              <a:t>https://www.mee.gov.cn/ywgz/fgbz/fl/202603/t20260313_1146496.shtml</a:t>
            </a:r>
          </a:p>
          <a:p>
            <a:r>
              <a:t>R13 中华人民共和国民法典</a:t>
            </a:r>
          </a:p>
          <a:p>
            <a:r>
              <a:t>https://www.samr.gov.cn/zw/zfxxgk/fdzdgknr/bgt/art/2023/art_60fb3863b7364b759123a42d1df568ca.html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业是生产经营活动的重要主体，也依法承担相应的污染防治和生态环境保护责任。落实责任需要把管理要求转化为岗位安排：由谁维护设施、谁核查记录、谁识别风险、谁组织应急处置，每个环节都应当有明确的工作依据。</a:t>
            </a:r>
          </a:p>
          <a:p>
            <a:r>
              <a:t>对依法纳入环境信息披露范围的企业，还应当按照规定履行相关义务。企业可以通过培训、内部检查和技术改造，提高合规管理能力。讲授时要提醒大家，具体义务应当结合企业类型和适用规范确定。把日常管理做细，能够减少环境风险，也有利于生产经营的稳定和持续发展。</a:t>
            </a:r>
          </a:p>
          <a:p/>
          <a:p>
            <a:r>
              <a:t>【投影页提炼】</a:t>
            </a:r>
          </a:p>
          <a:p>
            <a:r>
              <a:t>让每一项环境义务都对应到日常管理</a:t>
            </a:r>
          </a:p>
          <a:p>
            <a:r>
              <a:t>明确谁维护设施、核查记录、识别风险和组织应急</a:t>
            </a:r>
          </a:p>
          <a:p>
            <a:r>
              <a:t>依法纳入披露范围的企业，按现行规定披露信息</a:t>
            </a:r>
          </a:p>
          <a:p>
            <a:r>
              <a:t>结合企业类型与适用规则培训、检查和技术改造</a:t>
            </a:r>
          </a:p>
          <a:p/>
          <a:p>
            <a:r>
              <a:t>【本页来源】</a:t>
            </a:r>
          </a:p>
          <a:p>
            <a:r>
              <a:t>R09 中华人民共和国生态环境法典</a:t>
            </a:r>
          </a:p>
          <a:p>
            <a:r>
              <a:t>https://www.mee.gov.cn/ywgz/fgbz/fl/202603/t20260313_1146496.shtml</a:t>
            </a:r>
          </a:p>
          <a:p>
            <a:r>
              <a:t>R21 企业生态环境信息依法披露管理办法</a:t>
            </a:r>
          </a:p>
          <a:p>
            <a:r>
              <a:t>https://www.mee.gov.cn/gzk/gz/202112/t20211210_963770.shtml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保护具有公共性，需要政府依法履行职责。依据生态环境法典等现行法律，理解政府责任应把规划引导、政策协调、公共服务和依法监管联系起来。既要关注环境质量责任，也要弄清不同机关的监督管理职责和法定权限。</a:t>
            </a:r>
          </a:p>
          <a:p>
            <a:r>
              <a:t>推进治理协同，需要明确不同层级、不同部门之间的责任关系，重视信息共享与工作衔接。尤其在跨区域环境问题上，应在法定职责和适用机制内形成合力。制度建设的成效，可以从责任是否落实、问题是否解决、环境质量是否改善等方面观察，不能仅以文件数量或会议次数评价履职效果。</a:t>
            </a:r>
          </a:p>
          <a:p/>
          <a:p>
            <a:r>
              <a:t>【投影页提炼】</a:t>
            </a:r>
          </a:p>
          <a:p>
            <a:r>
              <a:t>公共责任落实，需要明确边界、信息共享和工作衔接</a:t>
            </a:r>
          </a:p>
          <a:p>
            <a:r>
              <a:t>把规划引导、公共服务、依法监管与政策协调联系起来</a:t>
            </a:r>
          </a:p>
          <a:p>
            <a:r>
              <a:t>跨层级、跨部门与跨区域协作，应在法定职责内开展</a:t>
            </a:r>
          </a:p>
          <a:p>
            <a:r>
              <a:t>以责任落实、问题解决和环境改善检验履职效果</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众参与是生态环境治理的重要内容。居民对身边环境变化往往具有直接感受，依法获取信息、提出意见和反映问题，能够为治理提供补充。生态环境法典等现行法律为信息公开、公众参与和监督提供相应制度依据。</a:t>
            </a:r>
          </a:p>
          <a:p>
            <a:r>
              <a:t>参与也需要尊重事实、遵守程序。发现问题时，可以记录时间、地点和具体情况，通过适当渠道依法反映；讨论公共事务时，应区分观察事实、专业判断和个人推测。学校和社区可以加强环境与法律知识普及，让参与者了解渠道、程序和反馈方式。提高意见表达质量，有助于治理更准确地回应真实问题。</a:t>
            </a:r>
          </a:p>
          <a:p/>
          <a:p>
            <a:r>
              <a:t>【投影页提炼】</a:t>
            </a:r>
          </a:p>
          <a:p>
            <a:r>
              <a:t>真实记录、规范表达，可以提高公共参与质量</a:t>
            </a:r>
          </a:p>
          <a:p>
            <a:r>
              <a:t>依法获取信息、提出意见、反映身边的环境问题</a:t>
            </a:r>
          </a:p>
          <a:p>
            <a:r>
              <a:t>记录时间、地点与现象，区分事实、推测和专业判断</a:t>
            </a:r>
          </a:p>
          <a:p>
            <a:r>
              <a:t>学校社区普及知识，让参与程序更清楚、反馈更有效</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律要求落实到现实，需要人员、技术和组织能力支撑。基层监管需要懂法律、懂业务的人员，环境监测需要可靠设备和质量控制，生态修复需要科学评估，企业合规也需要持续培训。这些能力直接影响制度能够发挥多大作用。</a:t>
            </a:r>
          </a:p>
          <a:p>
            <a:r>
              <a:t>这里观看央视《焦点访谈》2025年5月25日关于车检站检测造假的报道，建议选播原片00:50至02:35。请关注：发现异常数据以后，还需要哪些现场情况、设备日志和原始记录来查清事实？视频属于2025年历史报道，不把其中案件直接套用2026年法典。观看后讨论制度、证据与专业能力怎样共同发挥作用。</a:t>
            </a:r>
          </a:p>
          <a:p/>
          <a:p>
            <a:r>
              <a:t>【投影页提炼】</a:t>
            </a:r>
          </a:p>
          <a:p>
            <a:r>
              <a:t>从排放检测造假案例理解证据与专业能力</a:t>
            </a:r>
          </a:p>
          <a:p>
            <a:r>
              <a:t>选播《焦点访谈》2025年5月25日“车检站里有猫腻”</a:t>
            </a:r>
          </a:p>
          <a:p>
            <a:r>
              <a:t>建议区间00:50—02:35，约105秒</a:t>
            </a:r>
          </a:p>
          <a:p>
            <a:r>
              <a:t>观看问题：除异常数据，还需要哪些现场和原始记录？</a:t>
            </a:r>
          </a:p>
          <a:p/>
          <a:p>
            <a:r>
              <a:t>【本页来源】</a:t>
            </a:r>
          </a:p>
          <a:p>
            <a:r>
              <a:t>R09 中华人民共和国生态环境法典</a:t>
            </a:r>
          </a:p>
          <a:p>
            <a:r>
              <a:t>https://www.mee.gov.cn/ywgz/fgbz/fl/202603/t20260313_1146496.shtml</a:t>
            </a:r>
          </a:p>
          <a:p/>
          <a:p>
            <a:r>
              <a:t>【视频】《焦点访谈》20250525 车检站里有“猫腻”</a:t>
            </a:r>
          </a:p>
          <a:p>
            <a:r>
              <a:t>链接：https://news.cctv.cn/2025/05/25/ARTIbxpUpMq5bjtnaGHcnLfe250525.shtml</a:t>
            </a:r>
          </a:p>
          <a:p>
            <a:r>
              <a:t>建议选播：00:50—02:35，105秒。</a:t>
            </a:r>
          </a:p>
          <a:p>
            <a:r>
              <a:t>问题：发现异常数据以后，还需要哪些现场、日志或其他证据？</a:t>
            </a:r>
          </a:p>
          <a:p>
            <a:r>
              <a:t>采用网络链接式播放，未嵌入离线视频；课前应在教室网络试播。</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律实施需要严格，也需要规范。面对不同行业、不同企业和不同问题，应当依据事实、适用规则和法定权限作出处理，重视程序要求和实际效果。治理精准度越高，越能把力量用在解决突出问题、控制环境风险和推动持续改进上。</a:t>
            </a:r>
          </a:p>
          <a:p>
            <a:r>
              <a:t>落实要求还应当增强政策协同，防止脱离实际地层层加码。对企业和群众的合理关切，应当依法回应，帮助相关主体理解规则、明确整改方向。课堂上可以引导大家思考，如何把严格履职、规范程序与专业服务结合起来，使环境质量改善与高质量发展相互促进。</a:t>
            </a:r>
          </a:p>
          <a:p/>
          <a:p>
            <a:r>
              <a:t>【投影页提炼】</a:t>
            </a:r>
          </a:p>
          <a:p>
            <a:r>
              <a:t>严格执行与规范程序，应当在同一过程中实现</a:t>
            </a:r>
          </a:p>
          <a:p>
            <a:r>
              <a:t>依据事实、适用规则和法定权限处理具体问题</a:t>
            </a:r>
          </a:p>
          <a:p>
            <a:r>
              <a:t>加强政策协同，防止脱离实际层层加码</a:t>
            </a:r>
          </a:p>
          <a:p>
            <a:r>
              <a:t>依法回应合理关切，让整改方向清楚、措施有针对性</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律的有效实施，往往还需要行政法规、规章、地方制度以及相关标准发挥作用。不同层次的规范应当在法定权限内相互衔接，具体措施需要尊重上位法要求，也需要考虑治理对象和地方实际，形成清晰的执行依据。</a:t>
            </a:r>
          </a:p>
          <a:p>
            <a:r>
              <a:t>生态环境问题具有较强的专业性，制定措施还要重视科学研究、监测结果和实际评估。例如，流域条件、产业特点和生态功能不同，治理安排也应当依法体现相应差异。法治与科学相互支持，能够提高政策措施的针对性，使制度执行更加稳定、透明、可预期。</a:t>
            </a:r>
          </a:p>
          <a:p/>
          <a:p>
            <a:r>
              <a:t>【投影页提炼】</a:t>
            </a:r>
          </a:p>
          <a:p>
            <a:r>
              <a:t>法律、法规、规章与标准，需要有效衔接</a:t>
            </a:r>
          </a:p>
          <a:p>
            <a:r>
              <a:t>在法定权限内制定措施，遵守上位法和程序要求</a:t>
            </a:r>
          </a:p>
          <a:p>
            <a:r>
              <a:t>结合流域条件、产业特点与生态功能科学安排治理</a:t>
            </a:r>
          </a:p>
          <a:p>
            <a:r>
              <a:t>配套清理是持续工作，不能把个别调整当作全部完成</a:t>
            </a:r>
          </a:p>
          <a:p/>
          <a:p>
            <a:r>
              <a:t>【本页来源】</a:t>
            </a:r>
          </a:p>
          <a:p>
            <a:r>
              <a:t>R09 中华人民共和国生态环境法典</a:t>
            </a:r>
          </a:p>
          <a:p>
            <a:r>
              <a:t>https://www.mee.gov.cn/ywgz/fgbz/fl/202603/t20260313_1146496.shtml</a:t>
            </a:r>
          </a:p>
          <a:p>
            <a:r>
              <a:t>R21 企业生态环境信息依法披露管理办法</a:t>
            </a:r>
          </a:p>
          <a:p>
            <a:r>
              <a:t>https://www.mee.gov.cn/gzk/gz/202112/t20211210_963770.shtml</a:t>
            </a:r>
          </a:p>
          <a:p>
            <a:r>
              <a:t>R26 国务院关于修改和废止部分行政法规的决定</a:t>
            </a:r>
          </a:p>
          <a:p>
            <a:r>
              <a:t>https://legalinfo.moj.gov.cn/zhfxfzzx/fzzxyw/202608/t20260814_538492.html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设想某园区雨天出现河道异味，经初步排查，可能存在雨污管网混接。我们首先需要了解管线归属、建设和运行情况、排水流向、相关主体职责以及监测结果。问题涉及多个环节，责任分析也需要从完整事实出发。</a:t>
            </a:r>
          </a:p>
          <a:p>
            <a:r>
              <a:t>这个情境可以帮助我们理解制度衔接的重要性。企业内部管理、园区设施维护、有关部门监管和流域环境质量之间存在联系。应当依照适用规则查明责任、提出整改要求，并跟踪问题是否解决。课堂讨论重在形成分析方法，具体法律认定必须建立在真实证据和依法调查的基础上。</a:t>
            </a:r>
          </a:p>
          <a:p/>
          <a:p>
            <a:r>
              <a:t>【投影页提炼】</a:t>
            </a:r>
          </a:p>
          <a:p>
            <a:r>
              <a:t>先把事实查清，再讨论责任和处理方案</a:t>
            </a:r>
          </a:p>
          <a:p>
            <a:r>
              <a:t>假设园区雨天河道出现异味，初查可能存在管网混接</a:t>
            </a:r>
          </a:p>
          <a:p>
            <a:r>
              <a:t>还需调查管线归属、排水流向和监测结果</a:t>
            </a:r>
          </a:p>
          <a:p>
            <a:r>
              <a:t>分别讨论企业、园区运营方与主管部门的职责</a:t>
            </a:r>
          </a:p>
          <a:p>
            <a:r>
              <a:t>现有证据足以判断责任吗？还需要补充什么？</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大家围绕刚才的情境分组讨论。第一步，把已经知道的事实和还需要调查的问题列开；第二步，找出可能涉及的主体及其职责；第三步，思考需要哪些证据、适用哪些规则；第四步，提出能够检验效果的整改思路。</a:t>
            </a:r>
          </a:p>
          <a:p>
            <a:r>
              <a:t>汇报时，请说明每个判断的依据，并标出仍然存在的不确定性。这样练习，可以帮助我们形成尊重证据、遵守程序、依法分析责任的习惯。法治思维落实到工作中，表现为先把问题查清，再在权限和规则范围内行动，并对措施是否有效作出持续检查。</a:t>
            </a:r>
          </a:p>
          <a:p/>
          <a:p>
            <a:r>
              <a:t>【投影页提炼】</a:t>
            </a:r>
          </a:p>
          <a:p>
            <a:r>
              <a:t>事实—主体—证据与规则—整改评价</a:t>
            </a:r>
          </a:p>
          <a:p>
            <a:r>
              <a:t>查事实</a:t>
            </a:r>
          </a:p>
          <a:p>
            <a:r>
              <a:t>列明已知事实</a:t>
            </a:r>
          </a:p>
          <a:p>
            <a:r>
              <a:t>找出待调查问题</a:t>
            </a:r>
          </a:p>
          <a:p>
            <a:r>
              <a:t>明主体</a:t>
            </a:r>
          </a:p>
          <a:p>
            <a:r>
              <a:t>识别相关主体</a:t>
            </a:r>
          </a:p>
          <a:p>
            <a:r>
              <a:t>厘清各方职责</a:t>
            </a:r>
          </a:p>
          <a:p>
            <a:r>
              <a:t>找依据</a:t>
            </a:r>
          </a:p>
          <a:p>
            <a:r>
              <a:t>收集事实证据</a:t>
            </a:r>
          </a:p>
          <a:p>
            <a:r>
              <a:t>核对适用规则</a:t>
            </a:r>
          </a:p>
          <a:p>
            <a:r>
              <a:t>看整改</a:t>
            </a:r>
          </a:p>
          <a:p>
            <a:r>
              <a:t>提出整改方案</a:t>
            </a:r>
          </a:p>
          <a:p>
            <a:r>
              <a:t>检验整改效果</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讨论生态环境法典的重大意义，最终要落到法律怎样实施。制度文本形成后，需要通过学习宣传、配套完善、依法履职和社会监督，使相关要求进入日常工作。新旧制度的适用和衔接，也必须依据正式文本与有权机关的规定处理。</a:t>
            </a:r>
          </a:p>
          <a:p>
            <a:r>
              <a:t>因此，可以把法律实施理解为一个持续过程：让主体知道责任，让程序能够运行，让问题得到纠正，让实施经验反馈到制度完善中。具体到生态环境治理，就是把法律要求与监测、执法、修复和公众参与联系起来，以实际成效体现制度建设的价值。</a:t>
            </a:r>
          </a:p>
          <a:p/>
          <a:p>
            <a:r>
              <a:t>【投影页提炼】</a:t>
            </a:r>
          </a:p>
          <a:p>
            <a:r>
              <a:t>让主体知责、程序运转、问题纠正、经验反馈</a:t>
            </a:r>
          </a:p>
          <a:p>
            <a:r>
              <a:t>学习宣传与岗位培训，使法律要求进入日常工作</a:t>
            </a:r>
          </a:p>
          <a:p>
            <a:r>
              <a:t>配套完善、依法履职、社会监督形成实施合力</a:t>
            </a:r>
          </a:p>
          <a:p>
            <a:r>
              <a:t>新旧制度的适用衔接，以正式文本和有权机关规定为准</a:t>
            </a:r>
          </a:p>
          <a:p/>
          <a:p>
            <a:r>
              <a:t>【本页来源】</a:t>
            </a:r>
          </a:p>
          <a:p>
            <a:r>
              <a:t>R09 中华人民共和国生态环境法典</a:t>
            </a:r>
          </a:p>
          <a:p>
            <a:r>
              <a:t>https://www.mee.gov.cn/ywgz/fgbz/fl/202603/t20260313_1146496.shtml</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对政府工作人员而言，行动体现在依法履职、规范程序和解决问题；对企业管理者而言，体现在履行适用义务、改进设施和加强风险管理；对科研与教育工作者而言，体现在提供科学知识、技术支持和法律普及。</a:t>
            </a:r>
          </a:p>
          <a:p>
            <a:r>
              <a:t>对公众和青年学生而言，可以从节约资源、减少浪费、理解环境信息和依法参与公共事务做起。不同身份对应不同责任，但都可以在各自位置作出贡献。把宏观制度与具体行动联系起来，能够帮助我们理解，人与自然和谐共生需要长期积累，也需要每个人认真对待日常选择。</a:t>
            </a:r>
          </a:p>
          <a:p/>
          <a:p>
            <a:r>
              <a:t>【投影页提炼】</a:t>
            </a:r>
          </a:p>
          <a:p>
            <a:r>
              <a:t>不同身份有不同责任，都能找到具体实践入口</a:t>
            </a:r>
          </a:p>
          <a:p>
            <a:r>
              <a:t>政府重依法履职，企业重合规运营和环境风险管理</a:t>
            </a:r>
          </a:p>
          <a:p>
            <a:r>
              <a:t>科研教育提供科学知识、技术支持与法律普及</a:t>
            </a:r>
          </a:p>
          <a:p>
            <a:r>
              <a:t>青年从节约资源、理解信息和依法参与公共事务做起</a:t>
            </a:r>
          </a:p>
          <a:p/>
          <a:p>
            <a:r>
              <a:t>【本页来源】</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部分，我们从现有法律基础出发，理解了生态环境法典编纂和实施的重大意义。制度体系更加协调、主体责任更加明确、法律实施更加有效，有助于维护人民群众的环境利益，为绿色发展提供稳定预期，为系统治理提供持续支撑。</a:t>
            </a:r>
          </a:p>
          <a:p>
            <a:r>
              <a:t>学习这些内容，应当形成三个习惯：涉及法律状态查正式文本，分析环境问题重事实证据，落实治理要求看实际效果。接下来进入第三部分，讨论“十五五”时期美丽中国建设面临的形势和任务。我们将把法治、政策、科技和社会行动联系起来，思考新阶段怎样把目标转化为可持续推进的实践。</a:t>
            </a:r>
          </a:p>
          <a:p/>
          <a:p>
            <a:r>
              <a:t>【投影页提炼】</a:t>
            </a:r>
          </a:p>
          <a:p>
            <a:r>
              <a:t>用协调规则、明确责任与持续实施巩固治理成效</a:t>
            </a:r>
          </a:p>
          <a:p>
            <a:r>
              <a:t>对人民：回应环境关切，提供参与和救济依据</a:t>
            </a:r>
          </a:p>
          <a:p>
            <a:r>
              <a:t>对发展：形成稳定预期，支持绿色转型与公平竞争</a:t>
            </a:r>
          </a:p>
          <a:p>
            <a:r>
              <a:t>对治理：加强系统协调，把制度文本转化为行动能力</a:t>
            </a:r>
          </a:p>
          <a:p/>
          <a:p>
            <a:r>
              <a:t>【本页来源】</a:t>
            </a:r>
          </a:p>
          <a:p>
            <a:r>
              <a:t>R09 中华人民共和国生态环境法典</a:t>
            </a:r>
          </a:p>
          <a:p>
            <a:r>
              <a:t>https://www.mee.gov.cn/ywgz/fgbz/fl/202603/t20260313_1146496.shtml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十五五”是2026年至2030年。理解这一时期的美丽中国建设，要把它放在更长的历史进程中观察：一端连接2030年前碳达峰的部署，另一端连接2035年美丽中国目标基本实现的要求。五年工作因此关系更长远的发展质量。</a:t>
            </a:r>
          </a:p>
          <a:p>
            <a:r>
              <a:t>用户所附参考资料分别列明了2025年规划建议、2026年批准的国家“十五五”规划纲要，以及美丽中国建设“十五五”专项规划的公开文本。学习时要区分文件层级，不把建议代替正式纲要，也不补写未公开内容。本节围绕有利条件、深层矛盾与系统行动展开，把长远目标与实施条件联系起来。</a:t>
            </a:r>
          </a:p>
          <a:p/>
          <a:p>
            <a:r>
              <a:t>【投影页提炼】</a:t>
            </a:r>
          </a:p>
          <a:p>
            <a:r>
              <a:t>2026—2030年，连接碳达峰与美丽中国长远目标</a:t>
            </a:r>
          </a:p>
          <a:p>
            <a:r>
              <a:t>2030年前碳达峰与2035年美丽中国目标相互衔接</a:t>
            </a:r>
          </a:p>
          <a:p>
            <a:r>
              <a:t>区分规划建议、正式纲要和美丽中国建设专项规划</a:t>
            </a:r>
          </a:p>
          <a:p>
            <a:r>
              <a:t>看清机遇、结构性压力与风险，再讨论系统行动</a:t>
            </a:r>
          </a:p>
          <a:p/>
          <a:p>
            <a:r>
              <a:t>【本页来源】</a:t>
            </a:r>
          </a:p>
          <a:p>
            <a:r>
              <a:t>R14 中华人民共和国国民经济和社会发展第十五个五年规划纲要</a:t>
            </a:r>
          </a:p>
          <a:p>
            <a:r>
              <a:t>https://www.ndrc.gov.cn/fggz/fzzlgh/gjfzgh/202603/U020260317369114704096.pdf</a:t>
            </a:r>
          </a:p>
          <a:p>
            <a:r>
              <a:t>R15 第十四届全国人民代表大会第四次会议关于国民经济和社会发展第十五个五年规划纲要的决议</a:t>
            </a:r>
          </a:p>
          <a:p>
            <a:r>
              <a:t>https://www.bjrd.gov.cn/zyfb/zt/14jqgrd04chybjdbthdztbd/wjbg/202603/t20260313_4556146.html</a:t>
            </a:r>
          </a:p>
          <a:p>
            <a:r>
              <a:t>R16 国务院关于印发美丽中国建设十五五规划的通知及所附规划</a:t>
            </a:r>
          </a:p>
          <a:p>
            <a:r>
              <a:t>https://www.ndrc.gov.cn/fggz/fzzlgh/gjjzxgh/202609/t20260928_1407867.html</a:t>
            </a:r>
          </a:p>
          <a:p>
            <a:r>
              <a:t>R27 中共中央关于制定国民经济和社会发展第十五个五年规划的建议</a:t>
            </a:r>
          </a:p>
          <a:p>
            <a:r>
              <a:t>https://www.mee.gov.cn/zcwj/zyygwj/202510/t20251030_1131008.shtml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看待未来的生态文明建设，首先要看到有利条件。我国已经形成持续推进生态环境保护的制度基础，公众对良好生态环境的需求更加明确，绿色技术和相关产业也在发展。这些条件使环境保护与经济发展能够形成更多相互促进的机会。</a:t>
            </a:r>
          </a:p>
          <a:p>
            <a:r>
              <a:t>例如，企业改进生产工艺，既可能减少污染，也可能降低资源消耗；城市完善公共交通，既改善出行，也有利于节能减排。但机会不会自动成为成果，还需要技术、投资、人才和制度共同作用。认识机遇，是为了找到可以持续发力的方向。</a:t>
            </a:r>
          </a:p>
          <a:p/>
          <a:p>
            <a:r>
              <a:t>【投影页提炼】</a:t>
            </a:r>
          </a:p>
          <a:p>
            <a:r>
              <a:t>技术创新、产业基础与社会需求形成新的空间</a:t>
            </a:r>
          </a:p>
          <a:p>
            <a:r>
              <a:t>新能源、节能环保和绿色制造等领域持续发展</a:t>
            </a:r>
          </a:p>
          <a:p>
            <a:r>
              <a:t>技术进步与产业协同，有利于提高资源利用效率</a:t>
            </a:r>
          </a:p>
          <a:p>
            <a:r>
              <a:t>把绿色需求转化为创新机会，也需完善服务和市场条件</a:t>
            </a:r>
          </a:p>
          <a:p/>
          <a:p>
            <a:r>
              <a:t>【本页来源】</a:t>
            </a:r>
          </a:p>
          <a:p>
            <a:r>
              <a:t>R05 中共中央 国务院关于加快经济社会发展全面绿色转型的意见</a:t>
            </a:r>
          </a:p>
          <a:p>
            <a:r>
              <a:t>https://app.www.gov.cn/govdata/gov/202408/11/518161/articleNew.html</a:t>
            </a:r>
          </a:p>
          <a:p>
            <a:r>
              <a:t>R14 中华人民共和国国民经济和社会发展第十五个五年规划纲要</a:t>
            </a:r>
          </a:p>
          <a:p>
            <a:r>
              <a:t>https://www.ndrc.gov.cn/fggz/fzzlgh/gjfzgh/202603/U020260317369114704096.pdf</a:t>
            </a:r>
          </a:p>
          <a:p>
            <a:r>
              <a:t>R25 中华人民共和国2025年国民经济和社会发展统计公报</a:t>
            </a:r>
          </a:p>
          <a:p>
            <a:r>
              <a:t>https://www.stats.gov.cn/zwfwck/sjfb/202602/t20260228_1962662.html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环境质量的改善，并不意味着结构性压力已经消失。一些地方的产业结构仍然偏重，能源利用和交通运输方式还需要调整。只要这些深层因素没有充分改变，污染防治就可能面临反复，减排成本也可能随着治理深入而上升。</a:t>
            </a:r>
          </a:p>
          <a:p>
            <a:r>
              <a:t>因此，接下来的工作不能只盯着末端处理设施，还要追问污染从哪里产生、资源为什么消耗较多、企业能否采用更清洁的技术。同时要考虑就业、投资和公共服务，使转型建立在可承受、可持续的现实基础上，避免简单粗放地处理复杂问题。</a:t>
            </a:r>
          </a:p>
          <a:p/>
          <a:p>
            <a:r>
              <a:t>【投影页提炼】</a:t>
            </a:r>
          </a:p>
          <a:p>
            <a:r>
              <a:t>环境改善之后，结构调整仍是一场长期任务</a:t>
            </a:r>
          </a:p>
          <a:p>
            <a:r>
              <a:t>一些地区产业、能源和运输结构仍有较大转型压力</a:t>
            </a:r>
          </a:p>
          <a:p>
            <a:r>
              <a:t>历史存量问题与新增风险可能叠加，需要统筹安排</a:t>
            </a:r>
          </a:p>
          <a:p>
            <a:r>
              <a:t>既巩固现有成效，也破解影响长期质量的深层矛盾</a:t>
            </a:r>
          </a:p>
          <a:p/>
          <a:p>
            <a:r>
              <a:t>【本页来源】</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生态环境问题往往不是彼此孤立的。大气、水、土壤之间存在联系，污染治理、资源利用、生态保护与气候变化也相互影响。如果只关注某一个环节，就可能出现这里的问题暂时减轻、那里又产生新压力的情况。</a:t>
            </a:r>
          </a:p>
          <a:p>
            <a:r>
              <a:t>例如，处理废水不仅要看出水是否达标，还要关注污泥去向、能源消耗和后续管理。面对新污染物等问题，也需要风险识别、监测和治理能力逐步跟上。这要求我们把单一治理的思路，进一步拓展为系统治理的思路，重视全过程和多部门协同。</a:t>
            </a:r>
          </a:p>
          <a:p/>
          <a:p>
            <a:r>
              <a:t>【投影页提炼】</a:t>
            </a:r>
          </a:p>
          <a:p>
            <a:r>
              <a:t>污染、生态与气候风险，需要协同研判和治理</a:t>
            </a:r>
          </a:p>
          <a:p>
            <a:r>
              <a:t>污染物之间、不同介质之间可能相互转化或影响</a:t>
            </a:r>
          </a:p>
          <a:p>
            <a:r>
              <a:t>流域、区域与产业链联系，提高治理协调难度</a:t>
            </a:r>
          </a:p>
          <a:p>
            <a:r>
              <a:t>避免只解决一个局部问题，却把成本转移到其他环节</a:t>
            </a:r>
          </a:p>
          <a:p/>
          <a:p>
            <a:r>
              <a:t>【本页来源】</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气候变化并不是距离我们很远的全球议题。高温、强降雨、干旱等风险，会影响农业生产、城市运行、能源供应和居民健康。我们不能把任何一次具体灾害都简单归因于气候变化，但应当认识到，社会需要增强应对气候风险的能力。</a:t>
            </a:r>
          </a:p>
          <a:p>
            <a:r>
              <a:t>这也提醒我们，应对气候变化既包括减少温室气体排放，也包括提高适应能力。城市排水、公共卫生、农业生产和基础设施建设，都需要考虑未来风险。把风险想在前面，把预案做在平时，才能减少极端天气对人民群众生活造成的冲击。</a:t>
            </a:r>
          </a:p>
          <a:p/>
          <a:p>
            <a:r>
              <a:t>【投影页提炼】</a:t>
            </a:r>
          </a:p>
          <a:p>
            <a:r>
              <a:t>减缓与适应并进，提高生产生活的安全韧性</a:t>
            </a:r>
          </a:p>
          <a:p>
            <a:r>
              <a:t>高温、强降雨和干旱等风险影响城市、农业与基础设施</a:t>
            </a:r>
          </a:p>
          <a:p>
            <a:r>
              <a:t>减排用于减缓，风险评估和韧性建设用于适应</a:t>
            </a:r>
          </a:p>
          <a:p>
            <a:r>
              <a:t>不能把单次天气事件直接作为气候变化的归因结论</a:t>
            </a:r>
          </a:p>
          <a:p/>
          <a:p>
            <a:r>
              <a:t>【本页来源】</a:t>
            </a:r>
          </a:p>
          <a:p>
            <a:r>
              <a:t>R14 中华人民共和国国民经济和社会发展第十五个五年规划纲要</a:t>
            </a:r>
          </a:p>
          <a:p>
            <a:r>
              <a:t>https://www.ndrc.gov.cn/fggz/fzzlgh/gjfzgh/202603/U020260317369114704096.pdf</a:t>
            </a:r>
          </a:p>
          <a:p>
            <a:r>
              <a:t>R20 关于印发国家适应气候变化战略2035的通知及所附战略</a:t>
            </a:r>
          </a:p>
          <a:p>
            <a:r>
              <a:t>https://www.mee.gov.cn/xxgk2018/xxgk/xxgk03/202206/t20220613_985261.html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绿色发展也是观察国际形势的重要窗口。应对气候变化、保护生物多样性，需要各国开展合作；与此同时，绿色技术、产业链和相关规则，也成为国际竞争的重要领域。生态环境问题由此与发展、安全和贸易更加紧密地联系起来。</a:t>
            </a:r>
          </a:p>
          <a:p>
            <a:r>
              <a:t>面对这种形势，我们既要积极参与全球环境治理，也要立足自身发展阶段和实际能力推进转型。企业需要提高产品和供应链的绿色水平，相关部门需要增强规则研究和服务能力。把自己的事情做好，形成真实的技术和治理能力，是开展合作的重要基础。</a:t>
            </a:r>
          </a:p>
          <a:p/>
          <a:p>
            <a:r>
              <a:t>【投影页提炼】</a:t>
            </a:r>
          </a:p>
          <a:p>
            <a:r>
              <a:t>绿色转型也是技术、规则与产业能力的竞争</a:t>
            </a:r>
          </a:p>
          <a:p>
            <a:r>
              <a:t>全球气候与生态问题要求合作，绿色规则又影响贸易产业</a:t>
            </a:r>
          </a:p>
          <a:p>
            <a:r>
              <a:t>提高自主创新、绿色供应链和标准适应能力</a:t>
            </a:r>
          </a:p>
          <a:p>
            <a:r>
              <a:t>坚持立足国情，也积极参与国际交流与合作</a:t>
            </a:r>
          </a:p>
          <a:p/>
          <a:p>
            <a:r>
              <a:t>【本页来源】</a:t>
            </a:r>
          </a:p>
          <a:p>
            <a:r>
              <a:t>R05 中共中央 国务院关于加快经济社会发展全面绿色转型的意见</a:t>
            </a:r>
          </a:p>
          <a:p>
            <a:r>
              <a:t>https://app.www.gov.cn/govdata/gov/202408/11/518161/articleNew.html</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如果给接下来的任务画一张总图，可以看到几个彼此相连的板块：推动经济社会发展绿色转型，持续改善环境质量，提升生态系统质量和稳定性，同时增强风险防范、法治保障和社会参与能力。这是依据既有部署形成的教学归纳。</a:t>
            </a:r>
          </a:p>
          <a:p>
            <a:r>
              <a:t>这些任务不能相互替代。发展绿色产业，不能代替企业落实污染防治责任；开展生态修复，也不能代替保护现有自然生态。我们需要在一套整体安排中处理好它们的关系，让减污、降碳、扩绿、增长相互促进，使治理成效经得起长期检验。</a:t>
            </a:r>
          </a:p>
          <a:p>
            <a:r>
              <a:t>数据图示补充（据用户配套清单R14）：单位GDP二氧化碳排放降低17%，是2026—2030年五年累计降低目标；非化石能源消费占比25%，是到2030年目标；地级及以上城市PM₂.₅浓度小于27微克/立方米，是到2030年目标。三个目标均不能表述为已实现实绩。本次未独立访问正式纲要。</a:t>
            </a:r>
          </a:p>
          <a:p/>
          <a:p>
            <a:r>
              <a:t>【投影页提炼】</a:t>
            </a:r>
          </a:p>
          <a:p>
            <a:r>
              <a:t>把规划目标转化为绿色转型、系统保护和治理行动</a:t>
            </a:r>
          </a:p>
          <a:p>
            <a:r>
              <a:t>转方式：产业、能源、交通和城乡建设共同绿色转型</a:t>
            </a:r>
          </a:p>
          <a:p>
            <a:r>
              <a:t>强保护：污染防治、生态修复与气候适应统筹推进</a:t>
            </a:r>
          </a:p>
          <a:p>
            <a:r>
              <a:t>提能力：法治、科技、责任与社会行动形成保障</a:t>
            </a:r>
          </a:p>
          <a:p/>
          <a:p>
            <a:r>
              <a:t>【本页来源】</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面绿色转型，涉及生产、流通、消费等多个环节，也涉及产业、能源、交通和城乡建设等多个领域。它要求把节约资源、保护环境的要求融入发展过程，使绿色成为发展的重要底色，而不是在项目完成以后再补上一道治理程序。</a:t>
            </a:r>
          </a:p>
          <a:p>
            <a:r>
              <a:t>理解这一任务，可以从一件产品的全生命周期入手：原材料如何获取，生产是否清洁，运输是否高效，使用是否节能，废弃后能否回收。把这些环节连起来，就会发现绿色转型需要政府、企业、消费者共同参与，也需要标准、技术和市场机制有效衔接。</a:t>
            </a:r>
          </a:p>
          <a:p/>
          <a:p>
            <a:r>
              <a:t>【投影页提炼】</a:t>
            </a:r>
          </a:p>
          <a:p>
            <a:r>
              <a:t>把资源效率与生态要求纳入全链条决策</a:t>
            </a:r>
          </a:p>
          <a:p>
            <a:r>
              <a:t>生产端节约能源原料，减少污染和温室气体排放</a:t>
            </a:r>
          </a:p>
          <a:p>
            <a:r>
              <a:t>流通消费端改进物流、产品选择和资源回收</a:t>
            </a:r>
          </a:p>
          <a:p>
            <a:r>
              <a:t>政策、标准和公共服务配套，支持转型持续推进</a:t>
            </a:r>
          </a:p>
          <a:p/>
          <a:p>
            <a:r>
              <a:t>【本页来源】</a:t>
            </a:r>
          </a:p>
          <a:p>
            <a:r>
              <a:t>R05 中共中央 国务院关于加快经济社会发展全面绿色转型的意见</a:t>
            </a:r>
          </a:p>
          <a:p>
            <a:r>
              <a:t>https://app.www.gov.cn/govdata/gov/202408/11/518161/articleNew.html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动产业绿色发展，既要培育新的增长点，也要重视传统产业改造。对于已有企业，要通过技术更新、节能改造和清洁生产，提高资源利用效率，减少污染排放。对于新增项目，则要从布局、工艺和资源环境承载能力等方面加强源头把关。</a:t>
            </a:r>
          </a:p>
          <a:p>
            <a:r>
              <a:t>这里需要避免一种简单认识，认为传统产业必然落后、新兴产业天然绿色。真正需要考察的是企业采用什么技术、消耗多少资源、产生哪些影响，以及是否依法承担责任。产业升级的成效，应当落实为更好的发展质量、环境表现和持续创新能力。</a:t>
            </a:r>
          </a:p>
          <a:p/>
          <a:p>
            <a:r>
              <a:t>【投影页提炼】</a:t>
            </a:r>
          </a:p>
          <a:p>
            <a:r>
              <a:t>既改好已有产业，也培育符合生态要求的新动能</a:t>
            </a:r>
          </a:p>
          <a:p>
            <a:r>
              <a:t>以节能技术、清洁工艺和循环利用改造存量生产</a:t>
            </a:r>
          </a:p>
          <a:p>
            <a:r>
              <a:t>新增项目重布局、资源效率与全过程环境表现</a:t>
            </a:r>
          </a:p>
          <a:p>
            <a:r>
              <a:t>不能只按产业名称判断绿色程度，应看实际运行效果</a:t>
            </a:r>
          </a:p>
          <a:p/>
          <a:p>
            <a:r>
              <a:t>【本页来源】</a:t>
            </a:r>
          </a:p>
          <a:p>
            <a:r>
              <a:t>R05 中共中央 国务院关于加快经济社会发展全面绿色转型的意见</a:t>
            </a:r>
          </a:p>
          <a:p>
            <a:r>
              <a:t>https://app.www.gov.cn/govdata/gov/202408/11/518161/articleNew.html</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能源转型关系碳排放，也关系经济运行和日常生活。推动能源绿色低碳发展，需要发展非化石能源，同时提高能源利用效率，增强能源系统的安全性和调节能力。只有让绿色能源更加稳定、便捷地进入生产生活，转型成果才能充分发挥作用。</a:t>
            </a:r>
          </a:p>
          <a:p>
            <a:r>
              <a:t>因此，不能只看新增了多少设备，还要看电网、储能、调峰和需求侧管理能否配套。不同地区的资源禀赋和发展条件不同，推进路径也应有所区别。把握好节奏、协调好供需，才能使能源结构调整与经济社会正常运行相互支撑。</a:t>
            </a:r>
          </a:p>
          <a:p/>
          <a:p>
            <a:r>
              <a:t>【投影页提炼】</a:t>
            </a:r>
          </a:p>
          <a:p>
            <a:r>
              <a:t>发展新供给，也增强电力系统的适应和调节能力</a:t>
            </a:r>
          </a:p>
          <a:p>
            <a:r>
              <a:t>提升非化石能源供给与消费比重，推进节约高效利用</a:t>
            </a:r>
          </a:p>
          <a:p>
            <a:r>
              <a:t>加强电网、储能与调节能力，适应新能源波动特征</a:t>
            </a:r>
          </a:p>
          <a:p>
            <a:r>
              <a:t>结合地区资源条件与负荷需求，统筹安全、成本和减排</a:t>
            </a:r>
          </a:p>
          <a:p/>
          <a:p>
            <a:r>
              <a:t>【本页来源】</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2030年前实现碳达峰，是我国已经明确的战略部署。“十五五”时期与这一时间节点相衔接，需要把有关工作落实到能源、工业、交通、建筑等重点领域。碳达峰关注的是碳排放变化及其背后的结构调整，不能把它理解为简单地停止发展。</a:t>
            </a:r>
          </a:p>
          <a:p>
            <a:r>
              <a:t>落实这一部署，要坚持节约优先，推进技术进步，提高能源和资源利用效率，并结合实际安排转型路径。国家总体目标也不意味着每个地区、行业、企业必须在同一时间达到峰值。关键在于统筹推进，使具体行动与整体目标一致，避免盲目跟风。</a:t>
            </a:r>
          </a:p>
          <a:p/>
          <a:p>
            <a:r>
              <a:t>【投影页提炼】</a:t>
            </a:r>
          </a:p>
          <a:p>
            <a:r>
              <a:t>达峰是发展方式转变中的系统性任务</a:t>
            </a:r>
          </a:p>
          <a:p>
            <a:r>
              <a:t>统筹产业、能源、交通与建筑等重点领域降碳</a:t>
            </a:r>
          </a:p>
          <a:p>
            <a:r>
              <a:t>区分排放总量与排放强度，防止指标概念混用</a:t>
            </a:r>
          </a:p>
          <a:p>
            <a:r>
              <a:t>以技术、管理和结构调整提高效率，避免简单化运动式做法</a:t>
            </a:r>
          </a:p>
          <a:p/>
          <a:p>
            <a:r>
              <a:t>【本页来源】</a:t>
            </a:r>
          </a:p>
          <a:p>
            <a:r>
              <a:t>R14 中华人民共和国国民经济和社会发展第十五个五年规划纲要</a:t>
            </a:r>
          </a:p>
          <a:p>
            <a:r>
              <a:t>https://www.ndrc.gov.cn/fggz/fzzlgh/gjfzgh/202603/U020260317369114704096.pdf</a:t>
            </a:r>
          </a:p>
          <a:p>
            <a:r>
              <a:t>R17 国务院关于印发2030年前碳达峰行动方案的通知</a:t>
            </a:r>
          </a:p>
          <a:p>
            <a:r>
              <a:t>https://app.www.gov.cn/govdata/gov/202110/26/477466/article.html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城市是人口和经济活动集中的空间，也是绿色转型的重要场景。绿色城市建设不仅包括增加绿地，还包括建筑节能、公共交通、污水垃圾处理、雨洪管理和公共服务。判断成效，要看居民能否获得更加舒适、便利、安全的生活环境。</a:t>
            </a:r>
          </a:p>
          <a:p>
            <a:r>
              <a:t>例如，一片城市绿地既可以提供休闲空间，也可以在适当规划下帮助雨水渗透、缓解局部热环境。但具体建设必须尊重当地条件，不能只追求景观效果。绿色城市需要把基础设施、生态空间和居民需求结合起来，在日常运行中持续改进。</a:t>
            </a:r>
          </a:p>
          <a:p/>
          <a:p>
            <a:r>
              <a:t>【投影页提炼】</a:t>
            </a:r>
          </a:p>
          <a:p>
            <a:r>
              <a:t>从建筑、公共服务到基础设施一起提升</a:t>
            </a:r>
          </a:p>
          <a:p>
            <a:r>
              <a:t>推动建筑节能、绿色更新与资源高效利用</a:t>
            </a:r>
          </a:p>
          <a:p>
            <a:r>
              <a:t>完善污水、垃圾处理和绿色公共空间等基础服务</a:t>
            </a:r>
          </a:p>
          <a:p>
            <a:r>
              <a:t>把热环境、排水与应急能力纳入韧性城市建设</a:t>
            </a:r>
          </a:p>
          <a:p/>
          <a:p>
            <a:r>
              <a:t>【本页来源】</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说到交通绿色转型，大家容易首先想到新能源汽车。实际上，交通的环境影响还与运输结构、出行距离、车辆使用效率和能源来源有关。因此，绿色交通需要公共交通、慢行系统、货运组织和交通工具更新共同推进。</a:t>
            </a:r>
          </a:p>
          <a:p>
            <a:r>
              <a:t>对于居民来说，安全连续的步行和骑行空间、方便可靠的公共交通，能够增加绿色出行的现实选择。对于物流来说，优化运输组织、提高装载效率同样重要。我们既要关注技术替代，也要关注系统效率，让绿色选择更加便利，减少不必要的能源和资源消耗。</a:t>
            </a:r>
          </a:p>
          <a:p/>
          <a:p>
            <a:r>
              <a:t>【投影页提炼】</a:t>
            </a:r>
          </a:p>
          <a:p>
            <a:r>
              <a:t>低碳出行要兼顾可达性、效率、安全与舒适</a:t>
            </a:r>
          </a:p>
          <a:p>
            <a:r>
              <a:t>完善公共交通、步行骑行与换乘衔接</a:t>
            </a:r>
          </a:p>
          <a:p>
            <a:r>
              <a:t>推进运输结构和绿色物流优化，减少无效能耗</a:t>
            </a:r>
          </a:p>
          <a:p>
            <a:r>
              <a:t>评价交通转型既看车辆技术，也看整体出行需求和服务</a:t>
            </a:r>
          </a:p>
          <a:p/>
          <a:p>
            <a:r>
              <a:t>【本页来源】</a:t>
            </a:r>
          </a:p>
          <a:p>
            <a:r>
              <a:t>R05 中共中央 国务院关于加快经济社会发展全面绿色转型的意见</a:t>
            </a:r>
          </a:p>
          <a:p>
            <a:r>
              <a:t>https://app.www.gov.cn/govdata/gov/202408/11/518161/articleNew.html</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美丽中国建设离不开美丽乡村。农业农村的绿色发展，既关系群众生活环境，也关系农产品质量、生态保护和乡村长远发展。生活污水和垃圾处理、农业投入品合理使用、农业废弃物资源化利用，都需要结合当地条件持续推进。</a:t>
            </a:r>
          </a:p>
          <a:p>
            <a:r>
              <a:t>这里尤其要注意设施建成以后的运行问题。一套处理设施如果缺少维护资金和管理人员，就很难长期发挥作用。因此，乡村建设既要重视投入，也要重视适用技术、运行机制和群众参与，把环境改善与农业生产、农民生活和乡村治理协调起来。</a:t>
            </a:r>
          </a:p>
          <a:p/>
          <a:p>
            <a:r>
              <a:t>【投影页提炼】</a:t>
            </a:r>
          </a:p>
          <a:p>
            <a:r>
              <a:t>环境整治、公共服务和适宜产业需要一起推进</a:t>
            </a:r>
          </a:p>
          <a:p>
            <a:r>
              <a:t>改善生活污水、垃圾处理等农村人居环境短板</a:t>
            </a:r>
          </a:p>
          <a:p>
            <a:r>
              <a:t>结合资源条件发展绿色农业和适合本地的产业</a:t>
            </a:r>
          </a:p>
          <a:p>
            <a:r>
              <a:t>设施建成以后，还要建立稳定运行和维护的机制</a:t>
            </a:r>
          </a:p>
          <a:p/>
          <a:p>
            <a:r>
              <a:t>【本页来源】</a:t>
            </a:r>
          </a:p>
          <a:p>
            <a:r>
              <a:t>R05 中共中央 国务院关于加快经济社会发展全面绿色转型的意见</a:t>
            </a:r>
          </a:p>
          <a:p>
            <a:r>
              <a:t>https://app.www.gov.cn/govdata/gov/202408/11/518161/articleNew.html</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城乡绿色转型并不只体现在新设备或新建筑上，也体现在污水处理、垃圾收运、公共服务和日常生活条件中。要使改善长期持续，设施建设以后还需要有人运行、有人维护、有稳定的责任与投入机制。</a:t>
            </a:r>
          </a:p>
          <a:p>
            <a:r>
              <a:t>接下来观看央视2023年5月14日关于“千万工程”实施二十年的报道，建议选播原片00:40至03:10。观看时请思考：片中哪一项工作需要长期运维，而不是一次建成？哪些治理方法能够迁移到其他地区，哪些条件又不能照搬？片中数据按2023年历史情况理解。学习案例，重在长期坚持、需求导向与协同治理的方法。</a:t>
            </a:r>
          </a:p>
          <a:p/>
          <a:p>
            <a:r>
              <a:t>【投影页提炼】</a:t>
            </a:r>
          </a:p>
          <a:p>
            <a:r>
              <a:t>学习长期坚持与治理方法，结合本地条件应用</a:t>
            </a:r>
          </a:p>
          <a:p>
            <a:r>
              <a:t>选播“千万工程”实施二十年的央视新闻联播报道</a:t>
            </a:r>
          </a:p>
          <a:p>
            <a:r>
              <a:t>建议区间00:40—03:10，约150秒</a:t>
            </a:r>
          </a:p>
          <a:p>
            <a:r>
              <a:t>观看问题：哪些工作需要长期运维？哪些条件不能照搬？</a:t>
            </a:r>
          </a:p>
          <a:p/>
          <a:p>
            <a:r>
              <a:t>【本页来源】</a:t>
            </a:r>
          </a:p>
          <a:p>
            <a:r>
              <a:t>R16 国务院关于印发美丽中国建设十五五规划的通知及所附规划</a:t>
            </a:r>
          </a:p>
          <a:p>
            <a:r>
              <a:t>https://www.ndrc.gov.cn/fggz/fzzlgh/gjjzxgh/202609/t20260928_1407867.html</a:t>
            </a:r>
          </a:p>
          <a:p/>
          <a:p>
            <a:r>
              <a:t>【视频】【新思想引领新征程】“千万工程”实施二十年 描绘村美人和共富新画卷</a:t>
            </a:r>
          </a:p>
          <a:p>
            <a:r>
              <a:t>链接：https://tv.cctv.com/2023/05/14/VIDEnKuErAMMjt6TkXdzQGPM230514.shtml</a:t>
            </a:r>
          </a:p>
          <a:p>
            <a:r>
              <a:t>建议选播：00:40—03:10，150秒。</a:t>
            </a:r>
          </a:p>
          <a:p>
            <a:r>
              <a:t>问题：哪项工作需要长期运维？哪些方法可以迁移，哪些条件不能照搬？</a:t>
            </a:r>
          </a:p>
          <a:p>
            <a:r>
              <a:t>采用网络链接式播放，未嵌入离线视频；课前应在教室网络试播。</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持续改善空气质量，需要把产业、能源和交通等方面的治理结合起来。大气污染具有流动性，不同污染物之间还存在复杂联系，因此不能只靠一个部门、一个地区，或者只盯着某一种污染物开展工作，需要源头减排与区域协作共同发力。</a:t>
            </a:r>
          </a:p>
          <a:p>
            <a:r>
              <a:t>我们也要正确理解空气质量数据。短期变化可能受到气象条件影响，判断治理效果应结合较长时期的趋势和相关排放变化。对企业而言，要依法落实减排责任；对治理部门而言，要提高精细化管理能力，使科学治理成为持续改善的重要支撑。</a:t>
            </a:r>
          </a:p>
          <a:p/>
          <a:p>
            <a:r>
              <a:t>【投影页提炼】</a:t>
            </a:r>
          </a:p>
          <a:p>
            <a:r>
              <a:t>污染治理与结构转型共同推进</a:t>
            </a:r>
          </a:p>
          <a:p>
            <a:r>
              <a:t>统筹细颗粒物和臭氧等污染问题，强化区域联防联控</a:t>
            </a:r>
          </a:p>
          <a:p>
            <a:r>
              <a:t>改进产业、能源和交通结构，配合精细化日常管理</a:t>
            </a:r>
          </a:p>
          <a:p>
            <a:r>
              <a:t>持续关注重点区域、重点时段与群众感受强的问题</a:t>
            </a:r>
          </a:p>
          <a:p/>
          <a:p>
            <a:r>
              <a:t>【本页来源】</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护水环境，不仅是让监测断面的数字变好，还要统筹水资源、水环境和水生态。河流是否拥有合理的生态用水，岸线是否得到保护，污染是否持续进入水体，都会影响水生态系统的健康，不能只看某一个地点、某一次检测的结果。</a:t>
            </a:r>
          </a:p>
          <a:p>
            <a:r>
              <a:t>一条河流往往跨越多个行政区域，上游和下游、干流和支流需要共同治理。城市污水处理、农业面源污染防治、河湖生态保护，也需要协同推进。把整个流域作为相互联系的系统来观察，才能更好理解为什么水环境治理需要长期合作和持续维护。</a:t>
            </a:r>
          </a:p>
          <a:p/>
          <a:p>
            <a:r>
              <a:t>【投影页提炼】</a:t>
            </a:r>
          </a:p>
          <a:p>
            <a:r>
              <a:t>水资源、水环境与水生态需要统筹安排</a:t>
            </a:r>
          </a:p>
          <a:p>
            <a:r>
              <a:t>推动污染源控制、管网排口整治和设施稳定运行</a:t>
            </a:r>
          </a:p>
          <a:p>
            <a:r>
              <a:t>兼顾生态流量、岸线保护与水生生物栖息条件</a:t>
            </a:r>
          </a:p>
          <a:p>
            <a:r>
              <a:t>避免把水体景观美化替代污染治理和生态功能恢复</a:t>
            </a:r>
          </a:p>
          <a:p/>
          <a:p>
            <a:r>
              <a:t>【本页来源】</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土壤污染和固体废物问题，有时不如空气、水体变化那样直观，但同样关系群众健康和发展安全。土壤治理需要关注污染来源、土地用途和风险状况，固体废物管理则需要贯通产生、收集、运输、利用和处置等环节。</a:t>
            </a:r>
          </a:p>
          <a:p>
            <a:r>
              <a:t>推进资源循环利用，也不能理解为任何废物都可以不加条件地重新使用。利用过程必须符合安全和环境保护要求，防止形成新的污染。我们要把源头减量、规范管理和资源化利用结合起来，既提高资源使用效率，也防范风险在不同环节之间转移。</a:t>
            </a:r>
          </a:p>
          <a:p/>
          <a:p>
            <a:r>
              <a:t>【投影页提炼】</a:t>
            </a:r>
          </a:p>
          <a:p>
            <a:r>
              <a:t>既防范污染风险，也提高资源循环利用水平</a:t>
            </a:r>
          </a:p>
          <a:p>
            <a:r>
              <a:t>落实土壤风险识别、分类管理与安全利用要求</a:t>
            </a:r>
          </a:p>
          <a:p>
            <a:r>
              <a:t>固体废物减量化、资源化与无害化相互衔接</a:t>
            </a:r>
          </a:p>
          <a:p>
            <a:r>
              <a:t>危险废物与普通可回收物管理要求不同，须分类落实责任</a:t>
            </a:r>
          </a:p>
          <a:p/>
          <a:p>
            <a:r>
              <a:t>【本页来源】</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物多样性不仅意味着物种数量丰富，也包括遗传和生态系统层面的多样性。不同生命之间形成复杂联系，支撑着生态系统的运行。保护生物多样性，就是保护这些联系和过程，不能仅仅把注意力放在少数外形可爱或容易被关注的物种上。</a:t>
            </a:r>
          </a:p>
          <a:p>
            <a:r>
              <a:t>因此，保护栖息地、减少生态空间破碎化、加强监测和风险防范，都十分重要。对于普通公众来说，尊重野生动物的生活空间，不购买来源不明的野生动植物及其制品，参与规范的自然教育，也是支持保护工作的方式。保护需要科学方法，更需要长期坚持。</a:t>
            </a:r>
          </a:p>
          <a:p/>
          <a:p>
            <a:r>
              <a:t>【投影页提炼】</a:t>
            </a:r>
          </a:p>
          <a:p>
            <a:r>
              <a:t>保护空间、物种与生态过程的完整性</a:t>
            </a:r>
          </a:p>
          <a:p>
            <a:r>
              <a:t>保护重要自然生态系统和关键栖息地</a:t>
            </a:r>
          </a:p>
          <a:p>
            <a:r>
              <a:t>加强廊道连通、监测研究和外来入侵物种防控</a:t>
            </a:r>
          </a:p>
          <a:p>
            <a:r>
              <a:t>把保护目标与社区参与、科普教育和合理利用协调起来</a:t>
            </a:r>
          </a:p>
          <a:p/>
          <a:p>
            <a:r>
              <a:t>【本页来源】</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r>
              <a:t>R23 中国生物多样性保护战略与行动计划 2023至2030年</a:t>
            </a:r>
          </a:p>
          <a:p>
            <a:r>
              <a:t>https://www.mee.gov.cn/xxgk/hjyw/202401/t20240118_1064111.shtml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山水林田湖草沙是相互联系的自然系统。山上的植被、水土保持与河流、湖泊的生态状况存在联系，不能把一处生态问题完全割裂开来处理。系统保护修复，需要根据自然地理格局和生态过程，明确不同区域应该保护什么、修复什么。</a:t>
            </a:r>
          </a:p>
          <a:p>
            <a:r>
              <a:t>同时，也不能把生态修复简单等同于大规模人工建设。哪些地方应以自然恢复为主，哪些地方需要人工干预，都要依据科学评估。尊重规律、因地制宜，并对修复后的效果持续观察，才能避免投入很多、生态效果却不理想，甚至产生新的干扰。</a:t>
            </a:r>
          </a:p>
          <a:p/>
          <a:p>
            <a:r>
              <a:t>【投影页提炼】</a:t>
            </a:r>
          </a:p>
          <a:p>
            <a:r>
              <a:t>修复方案需要建立在生态规律和区域实际之上</a:t>
            </a:r>
          </a:p>
          <a:p>
            <a:r>
              <a:t>统筹山水林田湖草沙，避免各类工程彼此冲突</a:t>
            </a:r>
          </a:p>
          <a:p>
            <a:r>
              <a:t>优先判断自然恢复条件，再安排必要人工措施</a:t>
            </a:r>
          </a:p>
          <a:p>
            <a:r>
              <a:t>以生态功能、长期稳定性和持续管护评价效果</a:t>
            </a:r>
          </a:p>
          <a:p/>
          <a:p>
            <a:r>
              <a:t>【本页来源】</a:t>
            </a:r>
          </a:p>
          <a:p>
            <a:r>
              <a:t>R03 习近平 推进生态文明建设需要处理好几个重大关系</a:t>
            </a:r>
          </a:p>
          <a:p>
            <a:r>
              <a:t>https://www.mee.gov.cn/ywdt/szyw/202311/t20231115_1056497.shtml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减少排放是应对气候变化的重要方面，提高适应能力同样不可缺少。适应气候变化，意味着把气候风险纳入规划、建设和管理，提前增强农业、城市、基础设施以及公共卫生等领域的承受和恢复能力，尽可能减少风险带来的损失。</a:t>
            </a:r>
          </a:p>
          <a:p>
            <a:r>
              <a:t>例如，面对高温，需要关注户外劳动者、老年人等群体的实际需要；面对强降雨，需要完善监测预警、排水设施和应急协同。韧性建设既需要工程设施，也需要信息服务和社会组织能力。平时准备得更充分，风险来临时就能多一分主动。</a:t>
            </a:r>
          </a:p>
          <a:p/>
          <a:p>
            <a:r>
              <a:t>【投影页提炼】</a:t>
            </a:r>
          </a:p>
          <a:p>
            <a:r>
              <a:t>从风险识别到预警响应，再到持续维护</a:t>
            </a:r>
          </a:p>
          <a:p>
            <a:r>
              <a:t>评估高温、洪涝与干旱等风险及重点脆弱环节</a:t>
            </a:r>
          </a:p>
          <a:p>
            <a:r>
              <a:t>提升排水、防灾、供水和公共服务保障能力</a:t>
            </a:r>
          </a:p>
          <a:p>
            <a:r>
              <a:t>把设施维护、预警信息和社区行动衔接成完整链条</a:t>
            </a:r>
          </a:p>
          <a:p/>
          <a:p>
            <a:r>
              <a:t>【本页来源】</a:t>
            </a:r>
          </a:p>
          <a:p>
            <a:r>
              <a:t>R09 中华人民共和国生态环境法典</a:t>
            </a:r>
          </a:p>
          <a:p>
            <a:r>
              <a:t>https://www.mee.gov.cn/ywgz/fgbz/fl/202603/t20260313_1146496.shtml</a:t>
            </a:r>
          </a:p>
          <a:p>
            <a:r>
              <a:t>R20 关于印发国家适应气候变化战略2035的通知及所附战略</a:t>
            </a:r>
          </a:p>
          <a:p>
            <a:r>
              <a:t>https://www.mee.gov.cn/xxgk2018/xxgk/xxgk03/202206/t20220613_985261.html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良好生态环境能够为社会提供多种生态产品和服务，但生态价值并不等于都能直接标价出售。探索生态产品价值实现机制，需要区分不同资源的属性，在保护生态的前提下，合理发展适宜的产业，并完善相关利益分配和激励机制。</a:t>
            </a:r>
          </a:p>
          <a:p>
            <a:r>
              <a:t>例如，生态旅游、优质农产品等可以成为一些地方的发展方向，但也要控制环境压力，保障当地群众合理受益。判断一个项目是否可持续，不能只看短期收入，还要看生态质量是否保持、公共利益是否得到保护，以及保护者能否获得持续支持。</a:t>
            </a:r>
          </a:p>
          <a:p/>
          <a:p>
            <a:r>
              <a:t>【投影页提炼】</a:t>
            </a:r>
          </a:p>
          <a:p>
            <a:r>
              <a:t>价值实现必须守住保护前提与公平边界</a:t>
            </a:r>
          </a:p>
          <a:p>
            <a:r>
              <a:t>良好生态可通过优质产品、服务和产业形成发展优势</a:t>
            </a:r>
          </a:p>
          <a:p>
            <a:r>
              <a:t>转化路径需要公共服务、市场需求和经营组织能力</a:t>
            </a:r>
          </a:p>
          <a:p>
            <a:r>
              <a:t>防止过度开发，把生态保护、群众收益与长期管护相结合</a:t>
            </a:r>
          </a:p>
          <a:p/>
          <a:p>
            <a:r>
              <a:t>【本页来源】</a:t>
            </a:r>
          </a:p>
          <a:p>
            <a:r>
              <a:t>R04 中共中央 国务院关于全面推进美丽中国建设的意见</a:t>
            </a:r>
          </a:p>
          <a:p>
            <a:r>
              <a:t>https://app.www.gov.cn/govdata/gov/202401/11/511072/article.html</a:t>
            </a:r>
          </a:p>
          <a:p>
            <a:r>
              <a:t>R09 中华人民共和国生态环境法典</a:t>
            </a:r>
          </a:p>
          <a:p>
            <a:r>
              <a:t>https://www.mee.gov.cn/ywgz/fgbz/fl/202603/t20260313_1146496.shtml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态环境治理能力，体现在制度能否落到具体问题上。面对跨地区、跨部门的环境问题，需要明确责任、共享信息、协调行动。分区管控、环境影响评价、监测执法和信息公开等制度，只有衔接起来，才能更好发挥预防和治理作用。</a:t>
            </a:r>
          </a:p>
          <a:p>
            <a:r>
              <a:t>第二部分讨论法治保障，这里还要进一步看到执行能力的重要性。规则是否清楚，基层是否具备人员和技术，发现问题以后是否能够及时处置，都会影响治理效果。提升治理能力，就是让制度要求转化为稳定、规范、可以持续的实际行动。</a:t>
            </a:r>
          </a:p>
          <a:p/>
          <a:p>
            <a:r>
              <a:t>【投影页提炼】</a:t>
            </a:r>
          </a:p>
          <a:p>
            <a:r>
              <a:t>责任清楚、信息相通、程序顺畅、结果可检验</a:t>
            </a:r>
          </a:p>
          <a:p>
            <a:r>
              <a:t>把规划、监管、执法、监测和评价衔接起来</a:t>
            </a:r>
          </a:p>
          <a:p>
            <a:r>
              <a:t>跨部门、跨地区协作，减少信息断点与责任空档</a:t>
            </a:r>
          </a:p>
          <a:p>
            <a:r>
              <a:t>把环境改善、生态功能和实际生活变化纳入效果评价</a:t>
            </a:r>
          </a:p>
          <a:p/>
          <a:p>
            <a:r>
              <a:t>【本页来源】</a:t>
            </a:r>
          </a:p>
          <a:p>
            <a:r>
              <a:t>R09 中华人民共和国生态环境法典</a:t>
            </a:r>
          </a:p>
          <a:p>
            <a:r>
              <a:t>https://www.mee.gov.cn/ywgz/fgbz/fl/202603/t20260313_1146496.shtml</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进美丽中国建设，需要科技提供有力支撑。监测技术帮助我们发现污染和生态变化，治理技术帮助我们降低排放，绿色技术则有助于减少生产生活中的资源消耗。科技进步能够拓展治理手段，但技术价值最终要通过实际应用来检验。</a:t>
            </a:r>
          </a:p>
          <a:p>
            <a:r>
              <a:t>例如，一套智能监测系统既要看设备是否先进，也要看数据是否准确、能否支持及时处置。企业采用新工艺，也需要评估全生命周期的成本和环境影响。坚持问题导向，把科研、产业应用和治理需求衔接起来，才能使技术创新转化为真实成效。</a:t>
            </a:r>
          </a:p>
          <a:p/>
          <a:p>
            <a:r>
              <a:t>【投影页提炼】</a:t>
            </a:r>
          </a:p>
          <a:p>
            <a:r>
              <a:t>技术工具只有与真实数据和规范管理结合才有效</a:t>
            </a:r>
          </a:p>
          <a:p>
            <a:r>
              <a:t>监测、遥感与数字化工具帮助识别变化和风险</a:t>
            </a:r>
          </a:p>
          <a:p>
            <a:r>
              <a:t>模型分析需要边界条件、数据质量和现场核查支持</a:t>
            </a:r>
          </a:p>
          <a:p>
            <a:r>
              <a:t>同时加强节能减排、污染治理与生态修复技术应用</a:t>
            </a:r>
          </a:p>
          <a:p/>
          <a:p>
            <a:r>
              <a:t>【本页来源】</a:t>
            </a:r>
          </a:p>
          <a:p>
            <a:r>
              <a:t>R09 中华人民共和国生态环境法典</a:t>
            </a:r>
          </a:p>
          <a:p>
            <a:r>
              <a:t>https://www.mee.gov.cn/ywgz/fgbz/fl/202603/t20260313_1146496.shtml</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美丽中国建设需要全社会共同参与，但不同主体承担的责任并不相同。政府要履行公共治理责任，企业要依法承担环境责任，社会组织、学校和公众可以通过各自方式参与。全民行动的意义，在于使这些力量各尽其责、相互配合。</a:t>
            </a:r>
          </a:p>
          <a:p>
            <a:r>
              <a:t>对个人而言，节约能源、减少浪费、绿色出行是日常行动，依法反映环境问题、参与规范的志愿活动也是重要渠道。同时，参与需要可靠的信息和有效的反馈机制。让群众知道如何参与、意见怎样得到回应，才能把参与意愿转化为持续行动。</a:t>
            </a:r>
          </a:p>
          <a:p/>
          <a:p>
            <a:r>
              <a:t>【投影页提炼】</a:t>
            </a:r>
          </a:p>
          <a:p>
            <a:r>
              <a:t>从一次倡议走向能够长期坚持的公共实践</a:t>
            </a:r>
          </a:p>
          <a:p>
            <a:r>
              <a:t>提供便利设施、清晰规则和可理解的环境信息</a:t>
            </a:r>
          </a:p>
          <a:p>
            <a:r>
              <a:t>鼓励社区、学校、企业各按职责开展行动</a:t>
            </a:r>
          </a:p>
          <a:p>
            <a:r>
              <a:t>及时反馈效果，让参与者知道自己的行动解决了什么</a:t>
            </a:r>
          </a:p>
          <a:p/>
          <a:p>
            <a:r>
              <a:t>【本页来源】</a:t>
            </a:r>
          </a:p>
          <a:p>
            <a:r>
              <a:t>R09 中华人民共和国生态环境法典</a:t>
            </a:r>
          </a:p>
          <a:p>
            <a:r>
              <a:t>https://www.mee.gov.cn/ywgz/fgbz/fl/202603/t20260313_1146496.shtml</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国不同地区的自然条件、产业基础和发展阶段差异较大。生态功能重要的地区、工业集中的地区、人口密集的城市，面临的具体任务并不完全相同。推进美丽中国建设，既要落实共同要求，也要根据资源环境条件明确各自重点。</a:t>
            </a:r>
          </a:p>
          <a:p>
            <a:r>
              <a:t>生态环境分区管控的重要作用，就是把空间上的差异纳入治理安排。哪些区域应严格保护，哪些区域需要重点管控，开发建设应该遵守什么要求，都需要科学依据。因地制宜不是降低标准，而是使保护和发展措施更加符合实际，更有针对性。</a:t>
            </a:r>
          </a:p>
          <a:p/>
          <a:p>
            <a:r>
              <a:t>【投影页提炼】</a:t>
            </a:r>
          </a:p>
          <a:p>
            <a:r>
              <a:t>因地制宜，是提高针对性，不是降低要求</a:t>
            </a:r>
          </a:p>
          <a:p>
            <a:r>
              <a:t>生态功能区、工业地区与密集城市各有任务侧重</a:t>
            </a:r>
          </a:p>
          <a:p>
            <a:r>
              <a:t>用分区管控明确保护要求和开发建设边界</a:t>
            </a:r>
          </a:p>
          <a:p>
            <a:r>
              <a:t>统筹共同标准与地区条件，选择可执行、可持续的路径</a:t>
            </a:r>
          </a:p>
          <a:p/>
          <a:p>
            <a:r>
              <a:t>【本页来源】</a:t>
            </a:r>
          </a:p>
          <a:p>
            <a:r>
              <a:t>R09 中华人民共和国生态环境法典</a:t>
            </a:r>
          </a:p>
          <a:p>
            <a:r>
              <a:t>https://www.mee.gov.cn/ywgz/fgbz/fl/202603/t20260313_1146496.shtml</a:t>
            </a:r>
          </a:p>
          <a:p>
            <a:r>
              <a:t>R14 中华人民共和国国民经济和社会发展第十五个五年规划纲要</a:t>
            </a:r>
          </a:p>
          <a:p>
            <a:r>
              <a:t>https://www.ndrc.gov.cn/fggz/fzzlgh/gjfzgh/202603/U020260317369114704096.pdf</a:t>
            </a:r>
          </a:p>
          <a:p>
            <a:r>
              <a:t>R18 中共中央办公厅 国务院办公厅关于加强生态环境分区管控的意见</a:t>
            </a:r>
          </a:p>
          <a:p>
            <a:r>
              <a:t>https://www.mee.gov.cn/zcwj/zyygwj/202403/t20240318_1068588.shtml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生态环境数据，首先要弄清指标说明什么。总量、强度、浓度与比例回答的问题不同，全国平均值与某一地区数值不能随意混用。还要注意统计范围、时间区间和计算方法，只有口径一致，比较才有实际意义。</a:t>
            </a:r>
          </a:p>
          <a:p>
            <a:r>
              <a:t>例如，2025年91.4%指国考断面水质Ⅰ至Ⅲ类比例；用户所附规划主要指标表另有“优良水体比例”名称。参考资料说明尚未核实可直接换算的正式衔接口径，因此本课不把二者作同口径趋势比较，也不把规划值写成国考断面目标。目标与实绩、阶段进展与长期趋势，都应在图表中清楚标明。</a:t>
            </a:r>
          </a:p>
          <a:p/>
          <a:p>
            <a:r>
              <a:t>【投影页提炼】</a:t>
            </a:r>
          </a:p>
          <a:p>
            <a:r>
              <a:t>统计名称、范围和方法不一致，不能直接比较</a:t>
            </a:r>
          </a:p>
          <a:p>
            <a:r>
              <a:t>91.4%指2025年国考断面Ⅰ至Ⅲ类比例</a:t>
            </a:r>
          </a:p>
          <a:p>
            <a:r>
              <a:t>规划“优良水体比例”名称与口径另需查原文说明</a:t>
            </a:r>
          </a:p>
          <a:p>
            <a:r>
              <a:t>区分目标与实绩、总量与强度、全国与地方，拒绝随意换算</a:t>
            </a:r>
          </a:p>
          <a:p/>
          <a:p>
            <a:r>
              <a:t>【本页来源】</a:t>
            </a:r>
          </a:p>
          <a:p>
            <a:r>
              <a:t>R06 2025中国生态环境状况公报</a:t>
            </a:r>
          </a:p>
          <a:p>
            <a:r>
              <a:t>https://www.mee.gov.cn/hjzl/sthjzk/zghjzkgb/202606/P020260604583244574595.pdf</a:t>
            </a:r>
          </a:p>
          <a:p>
            <a:r>
              <a:t>R08 生态环境部公布2025年第四季度和1至12月全国地表水环境质量状况</a:t>
            </a:r>
          </a:p>
          <a:p>
            <a:r>
              <a:t>https://www.mee.gov.cn/ywdt/xwfb/202601/t20260128_1142768.shtml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对于高校学生和基层工作者，可以从身边一个具体问题开始，把课堂学习转化为观察和行动。例如，调查校园或社区的垃圾分类、用水用电、绿色出行情况。调查前先明确问题，尊重隐私和管理要求，再通过规范记录了解真实情况。</a:t>
            </a:r>
          </a:p>
          <a:p>
            <a:r>
              <a:t>调查以后，不急着作宏大判断，而是分析问题出现在哪个环节，哪些因素能够改变，哪些需要相关部门协同。形成建议时，要说明依据、成本和可操作性，并争取获得反馈。这样一次完整的小实践，比只提出口号更有助于理解生态文明建设。</a:t>
            </a:r>
          </a:p>
          <a:p/>
          <a:p>
            <a:r>
              <a:t>【投影页提炼】</a:t>
            </a:r>
          </a:p>
          <a:p>
            <a:r>
              <a:t>用证据识别问题，用小范围试点验证改进思路</a:t>
            </a:r>
          </a:p>
          <a:p>
            <a:r>
              <a:t>确定对象：食物浪费、用电、一次性用品或垃圾分类</a:t>
            </a:r>
          </a:p>
          <a:p>
            <a:r>
              <a:t>记录时间、地点、数量和条件，保护个人信息</a:t>
            </a:r>
          </a:p>
          <a:p>
            <a:r>
              <a:t>提出措施前先分析原因，试点后再比较同口径效果</a:t>
            </a:r>
          </a:p>
          <a:p/>
          <a:p>
            <a:r>
              <a:t>【本页来源】</a:t>
            </a:r>
          </a:p>
          <a:p>
            <a:r>
              <a:t>R05 中共中央 国务院关于加快经济社会发展全面绿色转型的意见</a:t>
            </a:r>
          </a:p>
          <a:p>
            <a:r>
              <a:t>https://app.www.gov.cn/govdata/gov/202408/11/518161/articleNew.html</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讨论行动时，可以先问自己处在什么位置、能够承担什么责任。公共部门应把生态环境要求融入决策和服务，企业应把守法、节约和创新贯穿经营，学校和社区可以提供组织和教育支持。每个主体都从职责和条件出发，行动才会更加具体。</a:t>
            </a:r>
          </a:p>
          <a:p>
            <a:r>
              <a:t>个人层面也可以形成可坚持的安排：减少不必要的浪费，优先选择适宜的绿色出行方式，了解身边环境问题的合法反映渠道。关键不是一时做得热闹，而是在日常生活和工作中持续改进，并推动身边的组织把绿色要求变成稳定的制度和习惯。</a:t>
            </a:r>
          </a:p>
          <a:p/>
          <a:p>
            <a:r>
              <a:t>【投影页提炼】</a:t>
            </a:r>
          </a:p>
          <a:p>
            <a:r>
              <a:t>从可执行、可测量、可持续的一件事做起</a:t>
            </a:r>
          </a:p>
          <a:p>
            <a:r>
              <a:t>学生改进消费和出行习惯，学习理解环境信息</a:t>
            </a:r>
          </a:p>
          <a:p>
            <a:r>
              <a:t>管理者完善设施规则，企业履责并加强风险控制</a:t>
            </a:r>
          </a:p>
          <a:p>
            <a:r>
              <a:t>研究者提供技术与证据，各主体协作而非互相替代</a:t>
            </a:r>
          </a:p>
          <a:p/>
          <a:p>
            <a:r>
              <a:t>【本页来源】</a:t>
            </a:r>
          </a:p>
          <a:p>
            <a:r>
              <a:t>R05 中共中央 国务院关于加快经济社会发展全面绿色转型的意见</a:t>
            </a:r>
          </a:p>
          <a:p>
            <a:r>
              <a:t>https://app.www.gov.cn/govdata/gov/202408/11/518161/articleNew.html</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部分，我们把“十五五”放在实现长远目标的进程中，既看到了制度、技术和社会需求带来的机遇，也分析了结构性压力、复杂环境问题和气候风险。未来的任务，需要环境治理、经济转型、生态保护和社会参与共同推进。</a:t>
            </a:r>
          </a:p>
          <a:p>
            <a:r>
              <a:t>贯穿其中的，是尊重规律、系统治理和久久为功。我们不能用一个漂亮案例代替整体进展，也不能因为任务艰巨就忽视已经形成的有利条件。把已有部署落实到一个个具体领域，以持续行动积累真实成效，才能让美丽中国建设不断向前推进。</a:t>
            </a:r>
          </a:p>
          <a:p/>
          <a:p>
            <a:r>
              <a:t>【投影页提炼】</a:t>
            </a:r>
          </a:p>
          <a:p>
            <a:r>
              <a:t>以绿色转型、系统保护和治理能力共同支撑目标</a:t>
            </a:r>
          </a:p>
          <a:p>
            <a:r>
              <a:t>认清机遇：技术、产业与公众需求形成转型动力</a:t>
            </a:r>
          </a:p>
          <a:p>
            <a:r>
              <a:t>直面压力：结构调整、复杂污染与气候风险仍需攻坚</a:t>
            </a:r>
          </a:p>
          <a:p>
            <a:r>
              <a:t>落实任务：将正式规划要求转化为长期运行的系统行动</a:t>
            </a:r>
          </a:p>
          <a:p/>
          <a:p>
            <a:r>
              <a:t>【本页来源】</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回到这堂课最初提出的三个问题。新时代生态文明建设的成就，说明理念引领、制度建设、系统治理和社会参与能够共同推动环境改善；编纂施行生态环境法典的重大意义，需要从制度协调、权利保障、责任落实和治理效能等方面理解；面向“十五五”，美丽中国建设还需要把绿色转型与持续治理深入推进。</a:t>
            </a:r>
          </a:p>
          <a:p>
            <a:r>
              <a:t>贯穿其中的主线，是在发展中把握人与自然的关系，在治理中落实人民立场，在行动中尊重科学与法治。把这条主线理解清楚，我们就能够更加全面地看待身边的环境变化，也能够更有依据地讨论未来任务。</a:t>
            </a:r>
          </a:p>
          <a:p/>
          <a:p>
            <a:r>
              <a:t>【投影页提炼】</a:t>
            </a:r>
          </a:p>
          <a:p>
            <a:r>
              <a:t>成就提供信心，法治稳定预期，行动创造未来</a:t>
            </a:r>
          </a:p>
          <a:p>
            <a:r>
              <a:t>新时代成就：理解理念变革与治理体系的共同作用</a:t>
            </a:r>
          </a:p>
          <a:p>
            <a:r>
              <a:t>生态环境法典：认识制度协调、权责清晰与有效实施</a:t>
            </a:r>
          </a:p>
          <a:p>
            <a:r>
              <a:t>“十五五”任务：在新形势下推进转型、保护与能力建设</a:t>
            </a:r>
          </a:p>
          <a:p/>
          <a:p>
            <a:r>
              <a:t>【本页来源】</a:t>
            </a:r>
          </a:p>
          <a:p>
            <a:r>
              <a:t>R02 习近平在全国生态环境保护大会上强调 全面推进美丽中国建设 加快推进人与自然和谐共生的现代化</a:t>
            </a:r>
          </a:p>
          <a:p>
            <a:r>
              <a:t>https://www.miit.gov.cn/xwdt/szyw/art/2023/art_f08a775fe9a64cd1bc3f99eb09732d17.html</a:t>
            </a:r>
          </a:p>
          <a:p>
            <a:r>
              <a:t>R09 中华人民共和国生态环境法典</a:t>
            </a:r>
          </a:p>
          <a:p>
            <a:r>
              <a:t>https://www.mee.gov.cn/ywgz/fgbz/fl/202603/t20260313_1146496.shtml</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以校园中的一个环境问题为对象，例如食物浪费、宿舍用电、一次性用品使用或垃圾分类，提出一个能够落实的改进方案。方案需要回答四个问题：问题的证据是什么，涉及哪些责任主体，措施如何实施，实施以后怎样评价效果？</a:t>
            </a:r>
          </a:p>
          <a:p>
            <a:r>
              <a:t>如果选择食物浪费，可以观察不同餐次和菜品的剩余情况，分析分量、口味和信息提示等因素，再设计小范围改进。这样的练习，是把生态文明理念转化为问题分析和行动能力。措施可以从小处开始，但需要尊重事实、明确责任，并能够持续改进。</a:t>
            </a:r>
          </a:p>
          <a:p/>
          <a:p>
            <a:r>
              <a:t>【投影页提炼】</a:t>
            </a:r>
          </a:p>
          <a:p>
            <a:r>
              <a:t>围绕证据、主体、实施与评价，形成可执行方案</a:t>
            </a:r>
          </a:p>
          <a:p>
            <a:r>
              <a:t>任选校园问题：食物浪费、宿舍用电或垃圾分类</a:t>
            </a:r>
          </a:p>
          <a:p>
            <a:r>
              <a:t>先收集证据，识别参与主体和现有设施条件</a:t>
            </a:r>
          </a:p>
          <a:p>
            <a:r>
              <a:t>五分钟形成试点方案，明确实施与评价办法</a:t>
            </a:r>
          </a:p>
          <a:p>
            <a:r>
              <a:t>指出仍待核实的信息，不把猜测当作事实</a:t>
            </a:r>
          </a:p>
          <a:p/>
          <a:p>
            <a:r>
              <a:t>【本页来源】</a:t>
            </a:r>
          </a:p>
          <a:p>
            <a:r>
              <a:t>R05 中共中央 国务院关于加快经济社会发展全面绿色转型的意见</a:t>
            </a:r>
          </a:p>
          <a:p>
            <a:r>
              <a:t>https://app.www.gov.cn/govdata/gov/202408/11/518161/articleNew.html</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后大家看到环境新闻、政策解读和短视频时，可以养成四个习惯：先看出处，再看时间；分清原文与解读；分清统计对象和评价口径；遇到法律条文时，核对正式文本及其施行状态。涉及规划目标，还要分清全国、地方与行业层面的适用范围。</a:t>
            </a:r>
          </a:p>
          <a:p>
            <a:r>
              <a:t>这些习惯能够提高信息判断能力，也有助于我们进行负责任的公共讨论。比如，某年空气质量数据不能直接当作当前数据，一个地区的典型经验也需要结合条件分析。讲好生态文明故事，既需要鲜明的价值立场，也需要准确的事实表达。</a:t>
            </a:r>
          </a:p>
          <a:p/>
          <a:p>
            <a:r>
              <a:t>【投影页提炼】</a:t>
            </a:r>
          </a:p>
          <a:p>
            <a:r>
              <a:t>出处—时间—口径—原文与解读，是基本检查线</a:t>
            </a:r>
          </a:p>
          <a:p>
            <a:r>
              <a:t>查出处与日期：谁发布，何时统计？</a:t>
            </a:r>
          </a:p>
          <a:p>
            <a:r>
              <a:t>查现行效力：正式文本、施行与衔接</a:t>
            </a:r>
          </a:p>
          <a:p>
            <a:r>
              <a:t>查指标口径：目标与实绩、全国与地方</a:t>
            </a:r>
          </a:p>
          <a:p/>
          <a:p>
            <a:r>
              <a:t>【本页来源】</a:t>
            </a:r>
          </a:p>
          <a:p>
            <a:r>
              <a:t>R07 生态环境部公布2025年12月和1至12月全国环境空气质量状况</a:t>
            </a:r>
          </a:p>
          <a:p>
            <a:r>
              <a:t>https://www.mee.gov.cn/ywdt/xwfb/202601/t20260128_1142783.shtml</a:t>
            </a:r>
          </a:p>
          <a:p>
            <a:r>
              <a:t>R08 生态环境部公布2025年第四季度和1至12月全国地表水环境质量状况</a:t>
            </a:r>
          </a:p>
          <a:p>
            <a:r>
              <a:t>https://www.mee.gov.cn/ywdt/xwfb/202601/t20260128_1142768.shtml</a:t>
            </a:r>
          </a:p>
          <a:p>
            <a:r>
              <a:t>R09 中华人民共和国生态环境法典</a:t>
            </a:r>
          </a:p>
          <a:p>
            <a:r>
              <a:t>https://www.mee.gov.cn/ywgz/fgbz/fl/202603/t20260313_1146496.shtml</a:t>
            </a:r>
          </a:p>
          <a:p>
            <a:r>
              <a:t>R14 中华人民共和国国民经济和社会发展第十五个五年规划纲要</a:t>
            </a:r>
          </a:p>
          <a:p>
            <a:r>
              <a:t>https://www.ndrc.gov.cn/fggz/fzzlgh/gjfzgh/202603/U020260317369114704096.pdf</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习这堂课之后，每个人都可以为自己确定一项持续行动：记录并减少食物浪费，选择适宜的绿色出行方式，参加一次有组织的生态调查，或者结合专业学习解决一个具体问题。行动能够持续，往往比一次性的表态更有价值。</a:t>
            </a:r>
          </a:p>
          <a:p>
            <a:r>
              <a:t>也请大家认识到，个人努力需要与公共制度、企业责任和社会服务形成配合。我们可以从自身做起，也可以通过依法参与、提出建议、开展研究和未来的职业实践，推动更大范围的改变。生态文明建设因此成为每个人可以参与、需要共同完成的事业。</a:t>
            </a:r>
          </a:p>
          <a:p/>
          <a:p>
            <a:r>
              <a:t>【投影页提炼】</a:t>
            </a:r>
          </a:p>
          <a:p>
            <a:r>
              <a:t>把今天的一次学习，变成今后一项持续行动</a:t>
            </a:r>
          </a:p>
          <a:p>
            <a:r>
              <a:t>选一件事：减少浪费、绿色出行或参与一次生态调查</a:t>
            </a:r>
          </a:p>
          <a:p>
            <a:r>
              <a:t>订一个周期：持续记录变化，定期回看并调整做法</a:t>
            </a:r>
          </a:p>
          <a:p>
            <a:r>
              <a:t>联结专业与公共责任，通过研究、建议和职业实践扩大贡献</a:t>
            </a:r>
          </a:p>
          <a:p/>
          <a:p>
            <a:r>
              <a:t>【本页来源】</a:t>
            </a:r>
          </a:p>
          <a:p>
            <a:r>
              <a:t>R05 中共中央 国务院关于加快经济社会发展全面绿色转型的意见</a:t>
            </a:r>
          </a:p>
          <a:p>
            <a:r>
              <a:t>https://app.www.gov.cn/govdata/gov/202408/11/518161/articleNew.html</a:t>
            </a:r>
          </a:p>
          <a:p>
            <a:r>
              <a:t>R09 中华人民共和国生态环境法典</a:t>
            </a:r>
          </a:p>
          <a:p>
            <a:r>
              <a:t>https://www.mee.gov.cn/ywgz/fgbz/fl/202603/t20260313_1146496.shtml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学们，实现中华民族永续发展，需要我们把眼前与长远联系起来，把自身与社会联系起来，把经济活动与自然规律联系起来。今天多保护一份生态空间，多减少一份资源浪费，多完善一项治理规则，都可能为未来积累更加可靠的条件。</a:t>
            </a:r>
          </a:p>
          <a:p>
            <a:r>
              <a:t>党的二十大报告指出：“推动绿色发展，促进人与自然和谐共生。”让我们以对发展负责、对人民负责、对子孙后代负责的态度，认识已经取得的成就，理解法治建设的重要意义，积极参与美丽中国建设。希望大家把今天的学习转化为今后的观察、判断与行动。谢谢大家。</a:t>
            </a:r>
          </a:p>
          <a:p/>
          <a:p>
            <a:r>
              <a:t>【投影页提炼】</a:t>
            </a:r>
          </a:p>
          <a:p>
            <a:r>
              <a:t>全面推进人与自然和谐共生，实现中华民族永续发展</a:t>
            </a:r>
          </a:p>
          <a:p>
            <a:r>
              <a:t>认识成就：以事实理解新时代生态文明建设的历史性变化</a:t>
            </a:r>
          </a:p>
          <a:p>
            <a:r>
              <a:t>理解法治：让责任、程序与长期保护形成稳定联系</a:t>
            </a:r>
          </a:p>
          <a:p>
            <a:r>
              <a:t>参与行动：以绿色选择和专业能力投身美丽中国建设</a:t>
            </a:r>
          </a:p>
          <a:p/>
          <a:p>
            <a:r>
              <a:t>【本页来源】</a:t>
            </a:r>
          </a:p>
          <a:p>
            <a:r>
              <a:t>R01 习近平 高举中国特色社会主义伟大旗帜 为全面建设社会主义现代化国家而团结奋斗 在中国共产党第二十次全国代表大会上的报告</a:t>
            </a:r>
          </a:p>
          <a:p>
            <a:r>
              <a:t>https://www.gov.cn/xinwen/2022-10/25/content_5721685.htm</a:t>
            </a:r>
          </a:p>
          <a:p>
            <a:r>
              <a:t>R09 中华人民共和国生态环境法典</a:t>
            </a:r>
          </a:p>
          <a:p>
            <a:r>
              <a:t>https://www.mee.gov.cn/ywgz/fgbz/fl/202603/t20260313_1146496.shtml</a:t>
            </a:r>
          </a:p>
          <a:p>
            <a:r>
              <a:t>R14 中华人民共和国国民经济和社会发展第十五个五年规划纲要</a:t>
            </a:r>
          </a:p>
          <a:p>
            <a:r>
              <a:t>https://www.ndrc.gov.cn/fggz/fzzlgh/gjfzgh/202603/U020260317369114704096.pdf</a:t>
            </a:r>
          </a:p>
          <a:p>
            <a:r>
              <a:t>R16 国务院关于印发美丽中国建设十五五规划的通知及所附规划</a:t>
            </a:r>
          </a:p>
          <a:p>
            <a:r>
              <a:t>https://www.ndrc.gov.cn/fggz/fzzlgh/gjjzxgh/202609/t20260928_1407867.html</a:t>
            </a:r>
          </a:p>
          <a:p/>
          <a:p>
            <a:r>
              <a:t>【资料范围】依据用户讲义及配套参考清单整理。后者提供2026年法典/规划和2025年统计更新；本次官方页面访问被代理403阻断，未独立在线复核。讲义旧参考编号已按新清单调整。生态场景图片为AI生成示意，不能作为真实地点或治理前后对比的证据。</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tv.cctv.com/2025/08/15/VIDEdI9jMTBfMwQb0caQKDTB250815.shtml" TargetMode="External"/><Relationship Id="rId4" Type="http://schemas.openxmlformats.org/officeDocument/2006/relationships/image" Target="../media/image3.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tv.cctv.com/2025/09/04/VIDEOGjFoZNZqCB89gbDV8GZ250904.shtml" TargetMode="External"/><Relationship Id="rId4" Type="http://schemas.openxmlformats.org/officeDocument/2006/relationships/image" Target="../media/image4.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news.cctv.cn/2025/05/25/ARTIbxpUpMq5bjtnaGHcnLfe250525.shtml" TargetMode="External"/><Relationship Id="rId4" Type="http://schemas.openxmlformats.org/officeDocument/2006/relationships/image" Target="../media/image5.png"/><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tv.cctv.com/2023/05/14/VIDEnKuErAMMjt6TkXdzQGPM230514.shtml" TargetMode="External"/><Relationship Id="rId4" Type="http://schemas.openxmlformats.org/officeDocument/2006/relationships/image" Target="../media/image6.png"/><Relationship Id="rId5"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导入 · 人与自然</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资料：R01 / R09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01 / 100</a:t>
            </a:r>
          </a:p>
        </p:txBody>
      </p:sp>
      <p:sp>
        <p:nvSpPr>
          <p:cNvPr id="6" name="Rounded Rectangle 5"/>
          <p:cNvSpPr/>
          <p:nvPr/>
        </p:nvSpPr>
        <p:spPr>
          <a:xfrm>
            <a:off x="731520" y="1234440"/>
            <a:ext cx="2560320" cy="320040"/>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04672" y="1266444"/>
            <a:ext cx="2414015" cy="256032"/>
          </a:xfrm>
          <a:prstGeom prst="rect">
            <a:avLst/>
          </a:prstGeom>
          <a:noFill/>
          <a:effectLst/>
        </p:spPr>
        <p:txBody>
          <a:bodyPr wrap="square" lIns="0" rIns="0" tIns="0" bIns="0" anchor="t">
            <a:spAutoFit/>
          </a:bodyPr>
          <a:lstStyle/>
          <a:p>
            <a:pPr algn="ctr">
              <a:lnSpc>
                <a:spcPct val="112000"/>
              </a:lnSpc>
              <a:spcBef>
                <a:spcPts val="0"/>
              </a:spcBef>
              <a:spcAft>
                <a:spcPts val="0"/>
              </a:spcAft>
              <a:defRPr sz="1400" b="1">
                <a:solidFill>
                  <a:srgbClr val="236548"/>
                </a:solidFill>
                <a:latin typeface="Noto Sans CJK SC"/>
              </a:defRPr>
            </a:pPr>
            <a:r>
              <a:rPr sz="1400" b="1">
                <a:solidFill>
                  <a:srgbClr val="236548"/>
                </a:solidFill>
                <a:latin typeface="Noto Sans CJK SC"/>
                <a:ea typeface="Noto Sans CJK SC"/>
                <a:cs typeface="Noto Sans CJK SC"/>
              </a:rPr>
              <a:t>形势与政策 · 专题教学</a:t>
            </a:r>
          </a:p>
        </p:txBody>
      </p:sp>
      <p:sp>
        <p:nvSpPr>
          <p:cNvPr id="8" name="TextBox 7"/>
          <p:cNvSpPr txBox="1"/>
          <p:nvPr/>
        </p:nvSpPr>
        <p:spPr>
          <a:xfrm>
            <a:off x="731520" y="1856231"/>
            <a:ext cx="7040880" cy="1737360"/>
          </a:xfrm>
          <a:prstGeom prst="rect">
            <a:avLst/>
          </a:prstGeom>
          <a:noFill/>
          <a:effectLst/>
        </p:spPr>
        <p:txBody>
          <a:bodyPr wrap="square" lIns="0" rIns="0" tIns="0" bIns="0" anchor="t">
            <a:spAutoFit/>
          </a:bodyPr>
          <a:lstStyle/>
          <a:p>
            <a:pPr>
              <a:lnSpc>
                <a:spcPct val="112000"/>
              </a:lnSpc>
              <a:spcBef>
                <a:spcPts val="0"/>
              </a:spcBef>
              <a:spcAft>
                <a:spcPts val="0"/>
              </a:spcAft>
              <a:defRPr sz="3150" b="1">
                <a:solidFill>
                  <a:srgbClr val="233E39"/>
                </a:solidFill>
                <a:latin typeface="Noto Sans CJK SC"/>
              </a:defRPr>
            </a:pPr>
            <a:r>
              <a:rPr sz="3150" b="1">
                <a:solidFill>
                  <a:srgbClr val="233E39"/>
                </a:solidFill>
                <a:latin typeface="Noto Sans CJK SC"/>
                <a:ea typeface="Noto Sans CJK SC"/>
                <a:cs typeface="Noto Sans CJK SC"/>
              </a:rPr>
              <a:t>全面推进人与自然和谐共生</a:t>
            </a:r>
          </a:p>
          <a:p>
            <a:pPr>
              <a:lnSpc>
                <a:spcPct val="112000"/>
              </a:lnSpc>
              <a:spcBef>
                <a:spcPts val="0"/>
              </a:spcBef>
              <a:spcAft>
                <a:spcPts val="0"/>
              </a:spcAft>
              <a:defRPr sz="3150" b="1">
                <a:solidFill>
                  <a:srgbClr val="233E39"/>
                </a:solidFill>
                <a:latin typeface="Noto Sans CJK SC"/>
              </a:defRPr>
            </a:pPr>
            <a:r>
              <a:rPr sz="3150" b="1">
                <a:solidFill>
                  <a:srgbClr val="233E39"/>
                </a:solidFill>
                <a:latin typeface="Noto Sans CJK SC"/>
                <a:ea typeface="Noto Sans CJK SC"/>
                <a:cs typeface="Noto Sans CJK SC"/>
              </a:rPr>
              <a:t>实现中华民族永续发展</a:t>
            </a:r>
          </a:p>
        </p:txBody>
      </p:sp>
      <p:sp>
        <p:nvSpPr>
          <p:cNvPr id="9" name="TextBox 8"/>
          <p:cNvSpPr txBox="1"/>
          <p:nvPr/>
        </p:nvSpPr>
        <p:spPr>
          <a:xfrm>
            <a:off x="777240" y="3959352"/>
            <a:ext cx="6400800" cy="438912"/>
          </a:xfrm>
          <a:prstGeom prst="rect">
            <a:avLst/>
          </a:prstGeom>
          <a:noFill/>
          <a:effectLst/>
        </p:spPr>
        <p:txBody>
          <a:bodyPr wrap="square" lIns="0" rIns="0" tIns="0" bIns="0" anchor="t">
            <a:spAutoFit/>
          </a:bodyPr>
          <a:lstStyle/>
          <a:p>
            <a:pPr>
              <a:lnSpc>
                <a:spcPct val="112000"/>
              </a:lnSpc>
              <a:spcBef>
                <a:spcPts val="0"/>
              </a:spcBef>
              <a:spcAft>
                <a:spcPts val="0"/>
              </a:spcAft>
              <a:defRPr sz="2300" b="1">
                <a:solidFill>
                  <a:srgbClr val="236548"/>
                </a:solidFill>
                <a:latin typeface="Noto Sans CJK SC"/>
              </a:defRPr>
            </a:pPr>
            <a:r>
              <a:rPr sz="2300" b="1">
                <a:solidFill>
                  <a:srgbClr val="236548"/>
                </a:solidFill>
                <a:latin typeface="Noto Sans CJK SC"/>
                <a:ea typeface="Noto Sans CJK SC"/>
                <a:cs typeface="Noto Sans CJK SC"/>
              </a:rPr>
              <a:t>成就 · 法治 · “十五五”</a:t>
            </a:r>
          </a:p>
        </p:txBody>
      </p:sp>
      <p:sp>
        <p:nvSpPr>
          <p:cNvPr id="10" name="TextBox 9"/>
          <p:cNvSpPr txBox="1"/>
          <p:nvPr/>
        </p:nvSpPr>
        <p:spPr>
          <a:xfrm>
            <a:off x="777240" y="4636008"/>
            <a:ext cx="5852160" cy="411480"/>
          </a:xfrm>
          <a:prstGeom prst="rect">
            <a:avLst/>
          </a:prstGeom>
          <a:noFill/>
          <a:effectLst/>
        </p:spPr>
        <p:txBody>
          <a:bodyPr wrap="square" lIns="0" rIns="0" tIns="0" bIns="0" anchor="t">
            <a:spAutoFit/>
          </a:bodyPr>
          <a:lstStyle/>
          <a:p>
            <a:pPr>
              <a:lnSpc>
                <a:spcPct val="112000"/>
              </a:lnSpc>
              <a:spcBef>
                <a:spcPts val="0"/>
              </a:spcBef>
              <a:spcAft>
                <a:spcPts val="0"/>
              </a:spcAft>
              <a:defRPr sz="1500" b="0">
                <a:solidFill>
                  <a:srgbClr val="63766E"/>
                </a:solidFill>
                <a:latin typeface="Noto Sans CJK SC"/>
              </a:defRPr>
            </a:pPr>
            <a:r>
              <a:rPr sz="1500" b="0">
                <a:solidFill>
                  <a:srgbClr val="63766E"/>
                </a:solidFill>
                <a:latin typeface="Noto Sans CJK SC"/>
                <a:ea typeface="Noto Sans CJK SC"/>
                <a:cs typeface="Noto Sans CJK SC"/>
              </a:rPr>
              <a:t>约120分钟  |  100页教学课件  |  4段视频学习</a:t>
            </a:r>
          </a:p>
        </p:txBody>
      </p:sp>
      <p:pic>
        <p:nvPicPr>
          <p:cNvPr id="11" name="Picture 10" descr="eco_scenes.png"/>
          <p:cNvPicPr>
            <a:picLocks noChangeAspect="1"/>
          </p:cNvPicPr>
          <p:nvPr/>
        </p:nvPicPr>
        <p:blipFill>
          <a:blip r:embed="rId3"/>
          <a:srcRect l="9137" r="59137" b="50000"/>
          <a:stretch>
            <a:fillRect/>
          </a:stretch>
        </p:blipFill>
        <p:spPr>
          <a:xfrm>
            <a:off x="7863840" y="1234440"/>
            <a:ext cx="3611880" cy="3794760"/>
          </a:xfrm>
          <a:prstGeom prst="rect">
            <a:avLst/>
          </a:prstGeom>
          <a:effectLst/>
        </p:spPr>
      </p:pic>
      <p:sp>
        <p:nvSpPr>
          <p:cNvPr id="12" name="Rectangle 11"/>
          <p:cNvSpPr/>
          <p:nvPr/>
        </p:nvSpPr>
        <p:spPr>
          <a:xfrm>
            <a:off x="7863840" y="4764024"/>
            <a:ext cx="36118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955279" y="4791456"/>
            <a:ext cx="34290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导入 · 人与自然</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资料：R04 / R06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02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从一口空气、一杯清水说起</a:t>
            </a:r>
          </a:p>
        </p:txBody>
      </p:sp>
      <p:sp>
        <p:nvSpPr>
          <p:cNvPr id="8" name="TextBox 7"/>
          <p:cNvSpPr txBox="1"/>
          <p:nvPr/>
        </p:nvSpPr>
        <p:spPr>
          <a:xfrm>
            <a:off x="859536" y="1901952"/>
            <a:ext cx="5486400" cy="1325880"/>
          </a:xfrm>
          <a:prstGeom prst="rect">
            <a:avLst/>
          </a:prstGeom>
          <a:noFill/>
          <a:effectLst/>
        </p:spPr>
        <p:txBody>
          <a:bodyPr wrap="square" lIns="0" rIns="0" tIns="0" bIns="0" anchor="t">
            <a:spAutoFit/>
          </a:bodyPr>
          <a:lstStyle/>
          <a:p>
            <a:pPr>
              <a:lnSpc>
                <a:spcPct val="112000"/>
              </a:lnSpc>
              <a:spcBef>
                <a:spcPts val="0"/>
              </a:spcBef>
              <a:spcAft>
                <a:spcPts val="0"/>
              </a:spcAft>
              <a:defRPr sz="3100" b="1">
                <a:solidFill>
                  <a:srgbClr val="236548"/>
                </a:solidFill>
                <a:latin typeface="Noto Sans CJK SC"/>
              </a:defRPr>
            </a:pPr>
            <a:r>
              <a:rPr sz="3100" b="1">
                <a:solidFill>
                  <a:srgbClr val="236548"/>
                </a:solidFill>
                <a:latin typeface="Noto Sans CJK SC"/>
                <a:ea typeface="Noto Sans CJK SC"/>
                <a:cs typeface="Noto Sans CJK SC"/>
              </a:rPr>
              <a:t>生态环境连接每个人的一天</a:t>
            </a:r>
          </a:p>
        </p:txBody>
      </p:sp>
      <p:sp>
        <p:nvSpPr>
          <p:cNvPr id="9" name="TextBox 8"/>
          <p:cNvSpPr txBox="1"/>
          <p:nvPr/>
        </p:nvSpPr>
        <p:spPr>
          <a:xfrm>
            <a:off x="886968" y="3675887"/>
            <a:ext cx="4983480" cy="411480"/>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63766E"/>
                </a:solidFill>
                <a:latin typeface="Noto Sans CJK SC"/>
              </a:defRPr>
            </a:pPr>
            <a:r>
              <a:rPr sz="1900" b="0">
                <a:solidFill>
                  <a:srgbClr val="63766E"/>
                </a:solidFill>
                <a:latin typeface="Noto Sans CJK SC"/>
                <a:ea typeface="Noto Sans CJK SC"/>
                <a:cs typeface="Noto Sans CJK SC"/>
              </a:rPr>
              <a:t>先给出观察，再说明依据。</a:t>
            </a:r>
          </a:p>
        </p:txBody>
      </p:sp>
      <p:pic>
        <p:nvPicPr>
          <p:cNvPr id="10" name="Picture 9" descr="eco_scenes.png"/>
          <p:cNvPicPr>
            <a:picLocks noChangeAspect="1"/>
          </p:cNvPicPr>
          <p:nvPr/>
        </p:nvPicPr>
        <p:blipFill>
          <a:blip r:embed="rId3"/>
          <a:srcRect r="50000" t="2732" b="52732"/>
          <a:stretch>
            <a:fillRect/>
          </a:stretch>
        </p:blipFill>
        <p:spPr>
          <a:xfrm>
            <a:off x="6931152" y="1783080"/>
            <a:ext cx="4434840" cy="2633472"/>
          </a:xfrm>
          <a:prstGeom prst="rect">
            <a:avLst/>
          </a:prstGeom>
          <a:effectLst/>
        </p:spPr>
      </p:pic>
      <p:sp>
        <p:nvSpPr>
          <p:cNvPr id="11" name="Rectangle 10"/>
          <p:cNvSpPr/>
          <p:nvPr/>
        </p:nvSpPr>
        <p:spPr>
          <a:xfrm>
            <a:off x="6931152" y="4151376"/>
            <a:ext cx="443484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022592" y="4178808"/>
            <a:ext cx="4251959"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3" name="Rounded Rectangle 12"/>
          <p:cNvSpPr/>
          <p:nvPr/>
        </p:nvSpPr>
        <p:spPr>
          <a:xfrm>
            <a:off x="896112" y="4736592"/>
            <a:ext cx="3337560" cy="8046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33271" y="4837176"/>
            <a:ext cx="3063240" cy="603504"/>
          </a:xfrm>
          <a:prstGeom prst="rect">
            <a:avLst/>
          </a:prstGeom>
          <a:noFill/>
          <a:effectLst/>
        </p:spPr>
        <p:txBody>
          <a:bodyPr wrap="square" lIns="0" rIns="0" tIns="0" bIns="0" anchor="t">
            <a:spAutoFit/>
          </a:bodyPr>
          <a:lstStyle/>
          <a:p>
            <a:pPr>
              <a:lnSpc>
                <a:spcPct val="112000"/>
              </a:lnSpc>
              <a:spcBef>
                <a:spcPts val="0"/>
              </a:spcBef>
              <a:spcAft>
                <a:spcPts val="0"/>
              </a:spcAft>
              <a:defRPr sz="1650" b="0">
                <a:solidFill>
                  <a:srgbClr val="233E39"/>
                </a:solidFill>
                <a:latin typeface="Noto Sans CJK SC"/>
              </a:defRPr>
            </a:pPr>
            <a:r>
              <a:rPr sz="1650" b="0">
                <a:solidFill>
                  <a:srgbClr val="233E39"/>
                </a:solidFill>
                <a:latin typeface="Noto Sans CJK SC"/>
                <a:ea typeface="Noto Sans CJK SC"/>
                <a:cs typeface="Noto Sans CJK SC"/>
              </a:rPr>
              <a:t>呼吸、饮水、出行和消费都依赖生态环境</a:t>
            </a:r>
          </a:p>
        </p:txBody>
      </p:sp>
      <p:sp>
        <p:nvSpPr>
          <p:cNvPr id="15" name="Rounded Rectangle 14"/>
          <p:cNvSpPr/>
          <p:nvPr/>
        </p:nvSpPr>
        <p:spPr>
          <a:xfrm>
            <a:off x="4480560" y="4736592"/>
            <a:ext cx="3337560" cy="8046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617720" y="4837176"/>
            <a:ext cx="3063240" cy="603504"/>
          </a:xfrm>
          <a:prstGeom prst="rect">
            <a:avLst/>
          </a:prstGeom>
          <a:noFill/>
          <a:effectLst/>
        </p:spPr>
        <p:txBody>
          <a:bodyPr wrap="square" lIns="0" rIns="0" tIns="0" bIns="0" anchor="t">
            <a:spAutoFit/>
          </a:bodyPr>
          <a:lstStyle/>
          <a:p>
            <a:pPr>
              <a:lnSpc>
                <a:spcPct val="112000"/>
              </a:lnSpc>
              <a:spcBef>
                <a:spcPts val="0"/>
              </a:spcBef>
              <a:spcAft>
                <a:spcPts val="0"/>
              </a:spcAft>
              <a:defRPr sz="1650" b="0">
                <a:solidFill>
                  <a:srgbClr val="233E39"/>
                </a:solidFill>
                <a:latin typeface="Noto Sans CJK SC"/>
              </a:defRPr>
            </a:pPr>
            <a:r>
              <a:rPr sz="1650" b="0">
                <a:solidFill>
                  <a:srgbClr val="233E39"/>
                </a:solidFill>
                <a:latin typeface="Noto Sans CJK SC"/>
                <a:ea typeface="Noto Sans CJK SC"/>
                <a:cs typeface="Noto Sans CJK SC"/>
              </a:rPr>
              <a:t>环境质量影响健康、生活成本和公共安全</a:t>
            </a:r>
          </a:p>
        </p:txBody>
      </p:sp>
      <p:sp>
        <p:nvSpPr>
          <p:cNvPr id="17" name="Rounded Rectangle 16"/>
          <p:cNvSpPr/>
          <p:nvPr/>
        </p:nvSpPr>
        <p:spPr>
          <a:xfrm>
            <a:off x="8065008" y="4736592"/>
            <a:ext cx="3337560" cy="8046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02168" y="4837176"/>
            <a:ext cx="3063240" cy="603504"/>
          </a:xfrm>
          <a:prstGeom prst="rect">
            <a:avLst/>
          </a:prstGeom>
          <a:noFill/>
          <a:effectLst/>
        </p:spPr>
        <p:txBody>
          <a:bodyPr wrap="square" lIns="0" rIns="0" tIns="0" bIns="0" anchor="t">
            <a:spAutoFit/>
          </a:bodyPr>
          <a:lstStyle/>
          <a:p>
            <a:pPr>
              <a:lnSpc>
                <a:spcPct val="112000"/>
              </a:lnSpc>
              <a:spcBef>
                <a:spcPts val="0"/>
              </a:spcBef>
              <a:spcAft>
                <a:spcPts val="0"/>
              </a:spcAft>
              <a:defRPr sz="1650" b="0">
                <a:solidFill>
                  <a:srgbClr val="233E39"/>
                </a:solidFill>
                <a:latin typeface="Noto Sans CJK SC"/>
              </a:defRPr>
            </a:pPr>
            <a:r>
              <a:rPr sz="1650" b="0">
                <a:solidFill>
                  <a:srgbClr val="233E39"/>
                </a:solidFill>
                <a:latin typeface="Noto Sans CJK SC"/>
                <a:ea typeface="Noto Sans CJK SC"/>
                <a:cs typeface="Noto Sans CJK SC"/>
              </a:rPr>
              <a:t>请用一句话说说家乡近年的一处环境变化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导入 · 人与自然</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资料：R01 / R09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03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这堂课回答三个问题</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怎么看成就，为什么靠法治，下一步怎么干</a:t>
            </a:r>
          </a:p>
        </p:txBody>
      </p:sp>
      <p:sp>
        <p:nvSpPr>
          <p:cNvPr id="9" name="Rounded Rectangle 8"/>
          <p:cNvSpPr/>
          <p:nvPr/>
        </p:nvSpPr>
        <p:spPr>
          <a:xfrm>
            <a:off x="822960" y="2194560"/>
            <a:ext cx="10561320" cy="78638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24128" y="2286000"/>
            <a:ext cx="640080" cy="512064"/>
          </a:xfrm>
          <a:prstGeom prst="rect">
            <a:avLst/>
          </a:prstGeom>
          <a:noFill/>
          <a:effectLst/>
        </p:spPr>
        <p:txBody>
          <a:bodyPr wrap="square" lIns="0" rIns="0" tIns="0" bIns="0" anchor="t">
            <a:spAutoFit/>
          </a:bodyPr>
          <a:lstStyle/>
          <a:p>
            <a:pPr>
              <a:lnSpc>
                <a:spcPct val="112000"/>
              </a:lnSpc>
              <a:spcBef>
                <a:spcPts val="0"/>
              </a:spcBef>
              <a:spcAft>
                <a:spcPts val="0"/>
              </a:spcAft>
              <a:defRPr sz="2900" b="1">
                <a:solidFill>
                  <a:srgbClr val="75BD42"/>
                </a:solidFill>
                <a:latin typeface="Noto Sans CJK SC"/>
              </a:defRPr>
            </a:pPr>
            <a:r>
              <a:rPr sz="2900" b="1">
                <a:solidFill>
                  <a:srgbClr val="75BD42"/>
                </a:solidFill>
                <a:latin typeface="Noto Sans CJK SC"/>
                <a:ea typeface="Noto Sans CJK SC"/>
                <a:cs typeface="Noto Sans CJK SC"/>
              </a:rPr>
              <a:t>01</a:t>
            </a:r>
          </a:p>
        </p:txBody>
      </p:sp>
      <p:sp>
        <p:nvSpPr>
          <p:cNvPr id="11" name="TextBox 10"/>
          <p:cNvSpPr txBox="1"/>
          <p:nvPr/>
        </p:nvSpPr>
        <p:spPr>
          <a:xfrm>
            <a:off x="1874519" y="2340864"/>
            <a:ext cx="2880360" cy="457200"/>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6548"/>
                </a:solidFill>
                <a:latin typeface="Noto Sans CJK SC"/>
              </a:defRPr>
            </a:pPr>
            <a:r>
              <a:rPr sz="2400" b="1">
                <a:solidFill>
                  <a:srgbClr val="236548"/>
                </a:solidFill>
                <a:latin typeface="Noto Sans CJK SC"/>
                <a:ea typeface="Noto Sans CJK SC"/>
                <a:cs typeface="Noto Sans CJK SC"/>
              </a:rPr>
              <a:t>怎么看成就</a:t>
            </a:r>
          </a:p>
        </p:txBody>
      </p:sp>
      <p:sp>
        <p:nvSpPr>
          <p:cNvPr id="12" name="TextBox 11"/>
          <p:cNvSpPr txBox="1"/>
          <p:nvPr/>
        </p:nvSpPr>
        <p:spPr>
          <a:xfrm>
            <a:off x="4773168" y="2340864"/>
            <a:ext cx="6355080" cy="484632"/>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从环境质量、生态系统、绿色转型和治理能力观察。</a:t>
            </a:r>
          </a:p>
        </p:txBody>
      </p:sp>
      <p:sp>
        <p:nvSpPr>
          <p:cNvPr id="13" name="Rounded Rectangle 12"/>
          <p:cNvSpPr/>
          <p:nvPr/>
        </p:nvSpPr>
        <p:spPr>
          <a:xfrm>
            <a:off x="822960" y="3127248"/>
            <a:ext cx="10561320" cy="78638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24128" y="3218688"/>
            <a:ext cx="640080" cy="512064"/>
          </a:xfrm>
          <a:prstGeom prst="rect">
            <a:avLst/>
          </a:prstGeom>
          <a:noFill/>
          <a:effectLst/>
        </p:spPr>
        <p:txBody>
          <a:bodyPr wrap="square" lIns="0" rIns="0" tIns="0" bIns="0" anchor="t">
            <a:spAutoFit/>
          </a:bodyPr>
          <a:lstStyle/>
          <a:p>
            <a:pPr>
              <a:lnSpc>
                <a:spcPct val="112000"/>
              </a:lnSpc>
              <a:spcBef>
                <a:spcPts val="0"/>
              </a:spcBef>
              <a:spcAft>
                <a:spcPts val="0"/>
              </a:spcAft>
              <a:defRPr sz="2900" b="1">
                <a:solidFill>
                  <a:srgbClr val="75BD42"/>
                </a:solidFill>
                <a:latin typeface="Noto Sans CJK SC"/>
              </a:defRPr>
            </a:pPr>
            <a:r>
              <a:rPr sz="2900" b="1">
                <a:solidFill>
                  <a:srgbClr val="75BD42"/>
                </a:solidFill>
                <a:latin typeface="Noto Sans CJK SC"/>
                <a:ea typeface="Noto Sans CJK SC"/>
                <a:cs typeface="Noto Sans CJK SC"/>
              </a:rPr>
              <a:t>02</a:t>
            </a:r>
          </a:p>
        </p:txBody>
      </p:sp>
      <p:sp>
        <p:nvSpPr>
          <p:cNvPr id="15" name="TextBox 14"/>
          <p:cNvSpPr txBox="1"/>
          <p:nvPr/>
        </p:nvSpPr>
        <p:spPr>
          <a:xfrm>
            <a:off x="1874519" y="3273552"/>
            <a:ext cx="2880360" cy="457200"/>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6548"/>
                </a:solidFill>
                <a:latin typeface="Noto Sans CJK SC"/>
              </a:defRPr>
            </a:pPr>
            <a:r>
              <a:rPr sz="2400" b="1">
                <a:solidFill>
                  <a:srgbClr val="236548"/>
                </a:solidFill>
                <a:latin typeface="Noto Sans CJK SC"/>
                <a:ea typeface="Noto Sans CJK SC"/>
                <a:cs typeface="Noto Sans CJK SC"/>
              </a:rPr>
              <a:t>为什么靠法治</a:t>
            </a:r>
          </a:p>
        </p:txBody>
      </p:sp>
      <p:sp>
        <p:nvSpPr>
          <p:cNvPr id="16" name="TextBox 15"/>
          <p:cNvSpPr txBox="1"/>
          <p:nvPr/>
        </p:nvSpPr>
        <p:spPr>
          <a:xfrm>
            <a:off x="4773168" y="3273552"/>
            <a:ext cx="6355080" cy="484632"/>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把有效经验转化为稳定、协同、可执行的制度。</a:t>
            </a:r>
          </a:p>
        </p:txBody>
      </p:sp>
      <p:sp>
        <p:nvSpPr>
          <p:cNvPr id="17" name="Rounded Rectangle 16"/>
          <p:cNvSpPr/>
          <p:nvPr/>
        </p:nvSpPr>
        <p:spPr>
          <a:xfrm>
            <a:off x="822960" y="4059935"/>
            <a:ext cx="10561320" cy="78638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8" y="4151375"/>
            <a:ext cx="640080" cy="512064"/>
          </a:xfrm>
          <a:prstGeom prst="rect">
            <a:avLst/>
          </a:prstGeom>
          <a:noFill/>
          <a:effectLst/>
        </p:spPr>
        <p:txBody>
          <a:bodyPr wrap="square" lIns="0" rIns="0" tIns="0" bIns="0" anchor="t">
            <a:spAutoFit/>
          </a:bodyPr>
          <a:lstStyle/>
          <a:p>
            <a:pPr>
              <a:lnSpc>
                <a:spcPct val="112000"/>
              </a:lnSpc>
              <a:spcBef>
                <a:spcPts val="0"/>
              </a:spcBef>
              <a:spcAft>
                <a:spcPts val="0"/>
              </a:spcAft>
              <a:defRPr sz="2900" b="1">
                <a:solidFill>
                  <a:srgbClr val="75BD42"/>
                </a:solidFill>
                <a:latin typeface="Noto Sans CJK SC"/>
              </a:defRPr>
            </a:pPr>
            <a:r>
              <a:rPr sz="2900" b="1">
                <a:solidFill>
                  <a:srgbClr val="75BD42"/>
                </a:solidFill>
                <a:latin typeface="Noto Sans CJK SC"/>
                <a:ea typeface="Noto Sans CJK SC"/>
                <a:cs typeface="Noto Sans CJK SC"/>
              </a:rPr>
              <a:t>03</a:t>
            </a:r>
          </a:p>
        </p:txBody>
      </p:sp>
      <p:sp>
        <p:nvSpPr>
          <p:cNvPr id="19" name="TextBox 18"/>
          <p:cNvSpPr txBox="1"/>
          <p:nvPr/>
        </p:nvSpPr>
        <p:spPr>
          <a:xfrm>
            <a:off x="1874519" y="4206240"/>
            <a:ext cx="2880360" cy="457200"/>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6548"/>
                </a:solidFill>
                <a:latin typeface="Noto Sans CJK SC"/>
              </a:defRPr>
            </a:pPr>
            <a:r>
              <a:rPr sz="2400" b="1">
                <a:solidFill>
                  <a:srgbClr val="236548"/>
                </a:solidFill>
                <a:latin typeface="Noto Sans CJK SC"/>
                <a:ea typeface="Noto Sans CJK SC"/>
                <a:cs typeface="Noto Sans CJK SC"/>
              </a:rPr>
              <a:t>下一步怎么干</a:t>
            </a:r>
          </a:p>
        </p:txBody>
      </p:sp>
      <p:sp>
        <p:nvSpPr>
          <p:cNvPr id="20" name="TextBox 19"/>
          <p:cNvSpPr txBox="1"/>
          <p:nvPr/>
        </p:nvSpPr>
        <p:spPr>
          <a:xfrm>
            <a:off x="4773168" y="4206240"/>
            <a:ext cx="6355080" cy="484632"/>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面向2026—2030年，统筹美丽中国建设任务。</a:t>
            </a:r>
          </a:p>
        </p:txBody>
      </p:sp>
      <p:sp>
        <p:nvSpPr>
          <p:cNvPr id="21" name="Rounded Rectangle 20"/>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一条学习主线：看见变化 → 理解制度 → 回到行动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导入 · 人与自然</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资料：R02 / R09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04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把成就、法治与未来连起来</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一条主线：实践成就—制度保障—系统行动</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从风景变化中理解理念、治理与投入的共同作用</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把有效做法转化为清晰、稳定、可执行的规则</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把长远目标落实到发展方式、治理能力和日常行动</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导入 · 人与自然</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资料：R01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05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人与自然是生命共同体</a:t>
            </a:r>
          </a:p>
        </p:txBody>
      </p:sp>
      <p:sp>
        <p:nvSpPr>
          <p:cNvPr id="8" name="TextBox 7"/>
          <p:cNvSpPr txBox="1"/>
          <p:nvPr/>
        </p:nvSpPr>
        <p:spPr>
          <a:xfrm>
            <a:off x="850392" y="1737360"/>
            <a:ext cx="914400" cy="1188720"/>
          </a:xfrm>
          <a:prstGeom prst="rect">
            <a:avLst/>
          </a:prstGeom>
          <a:noFill/>
          <a:effectLst/>
        </p:spPr>
        <p:txBody>
          <a:bodyPr wrap="square" lIns="0" rIns="0" tIns="0" bIns="0" anchor="t">
            <a:spAutoFit/>
          </a:bodyPr>
          <a:lstStyle/>
          <a:p>
            <a:pPr>
              <a:lnSpc>
                <a:spcPct val="112000"/>
              </a:lnSpc>
              <a:spcBef>
                <a:spcPts val="0"/>
              </a:spcBef>
              <a:spcAft>
                <a:spcPts val="0"/>
              </a:spcAft>
              <a:defRPr sz="7400" b="1">
                <a:solidFill>
                  <a:srgbClr val="75BD42"/>
                </a:solidFill>
                <a:latin typeface="Noto Sans CJK SC"/>
              </a:defRPr>
            </a:pPr>
            <a:r>
              <a:rPr sz="7400" b="1">
                <a:solidFill>
                  <a:srgbClr val="75BD42"/>
                </a:solidFill>
                <a:latin typeface="Noto Sans CJK SC"/>
                <a:ea typeface="Noto Sans CJK SC"/>
                <a:cs typeface="Noto Sans CJK SC"/>
              </a:rPr>
              <a:t>“</a:t>
            </a:r>
          </a:p>
        </p:txBody>
      </p:sp>
      <p:sp>
        <p:nvSpPr>
          <p:cNvPr id="9" name="TextBox 8"/>
          <p:cNvSpPr txBox="1"/>
          <p:nvPr/>
        </p:nvSpPr>
        <p:spPr>
          <a:xfrm>
            <a:off x="1508760" y="2212848"/>
            <a:ext cx="9189720" cy="914400"/>
          </a:xfrm>
          <a:prstGeom prst="rect">
            <a:avLst/>
          </a:prstGeom>
          <a:noFill/>
          <a:effectLst/>
        </p:spPr>
        <p:txBody>
          <a:bodyPr wrap="square" lIns="0" rIns="0" tIns="0" bIns="0" anchor="t">
            <a:spAutoFit/>
          </a:bodyPr>
          <a:lstStyle/>
          <a:p>
            <a:pPr algn="ctr">
              <a:lnSpc>
                <a:spcPct val="112000"/>
              </a:lnSpc>
              <a:spcBef>
                <a:spcPts val="0"/>
              </a:spcBef>
              <a:spcAft>
                <a:spcPts val="0"/>
              </a:spcAft>
              <a:defRPr sz="3700" b="1">
                <a:solidFill>
                  <a:srgbClr val="236548"/>
                </a:solidFill>
                <a:latin typeface="Noto Sans CJK SC"/>
              </a:defRPr>
            </a:pPr>
            <a:r>
              <a:rPr sz="3700" b="1">
                <a:solidFill>
                  <a:srgbClr val="236548"/>
                </a:solidFill>
                <a:latin typeface="Noto Sans CJK SC"/>
                <a:ea typeface="Noto Sans CJK SC"/>
                <a:cs typeface="Noto Sans CJK SC"/>
              </a:rPr>
              <a:t>人与自然是生命共同体</a:t>
            </a:r>
          </a:p>
        </p:txBody>
      </p:sp>
      <p:sp>
        <p:nvSpPr>
          <p:cNvPr id="10" name="TextBox 9"/>
          <p:cNvSpPr txBox="1"/>
          <p:nvPr/>
        </p:nvSpPr>
        <p:spPr>
          <a:xfrm>
            <a:off x="5852160" y="3182112"/>
            <a:ext cx="4846320" cy="329184"/>
          </a:xfrm>
          <a:prstGeom prst="rect">
            <a:avLst/>
          </a:prstGeom>
          <a:noFill/>
          <a:effectLst/>
        </p:spPr>
        <p:txBody>
          <a:bodyPr wrap="square" lIns="0" rIns="0" tIns="0" bIns="0" anchor="t">
            <a:spAutoFit/>
          </a:bodyPr>
          <a:lstStyle/>
          <a:p>
            <a:pPr algn="r">
              <a:lnSpc>
                <a:spcPct val="112000"/>
              </a:lnSpc>
              <a:spcBef>
                <a:spcPts val="0"/>
              </a:spcBef>
              <a:spcAft>
                <a:spcPts val="0"/>
              </a:spcAft>
              <a:defRPr sz="1600" b="0">
                <a:solidFill>
                  <a:srgbClr val="63766E"/>
                </a:solidFill>
                <a:latin typeface="Noto Sans CJK SC"/>
              </a:defRPr>
            </a:pPr>
            <a:r>
              <a:rPr sz="1600" b="0">
                <a:solidFill>
                  <a:srgbClr val="63766E"/>
                </a:solidFill>
                <a:latin typeface="Noto Sans CJK SC"/>
                <a:ea typeface="Noto Sans CJK SC"/>
                <a:cs typeface="Noto Sans CJK SC"/>
              </a:rPr>
              <a:t>——党的二十大报告</a:t>
            </a:r>
          </a:p>
        </p:txBody>
      </p:sp>
      <p:sp>
        <p:nvSpPr>
          <p:cNvPr id="11" name="Rounded Rectangle 10"/>
          <p:cNvSpPr/>
          <p:nvPr/>
        </p:nvSpPr>
        <p:spPr>
          <a:xfrm>
            <a:off x="841248" y="3977639"/>
            <a:ext cx="3337560" cy="12618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24128" y="4133087"/>
            <a:ext cx="2971800" cy="932688"/>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把生态承载力作为发展的重要边界</a:t>
            </a:r>
          </a:p>
        </p:txBody>
      </p:sp>
      <p:sp>
        <p:nvSpPr>
          <p:cNvPr id="13" name="Rounded Rectangle 12"/>
          <p:cNvSpPr/>
          <p:nvPr/>
        </p:nvSpPr>
        <p:spPr>
          <a:xfrm>
            <a:off x="4434840" y="3977639"/>
            <a:ext cx="3337560" cy="12618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17720" y="4133087"/>
            <a:ext cx="2971800" cy="932688"/>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生产生活依赖空气、水、土壤与生态系统</a:t>
            </a:r>
          </a:p>
        </p:txBody>
      </p:sp>
      <p:sp>
        <p:nvSpPr>
          <p:cNvPr id="15" name="Rounded Rectangle 14"/>
          <p:cNvSpPr/>
          <p:nvPr/>
        </p:nvSpPr>
        <p:spPr>
          <a:xfrm>
            <a:off x="8028432" y="3977639"/>
            <a:ext cx="3337560" cy="12618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211312" y="4133087"/>
            <a:ext cx="2971800" cy="932688"/>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尊重自然规律，把生态影响纳入发展选择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导入 · 人与自然</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资料：R01 / R05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06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中国式现代化的绿色要求</a:t>
            </a:r>
          </a:p>
        </p:txBody>
      </p:sp>
      <p:sp>
        <p:nvSpPr>
          <p:cNvPr id="8" name="TextBox 7"/>
          <p:cNvSpPr txBox="1"/>
          <p:nvPr/>
        </p:nvSpPr>
        <p:spPr>
          <a:xfrm>
            <a:off x="850392" y="1737360"/>
            <a:ext cx="914400" cy="1188720"/>
          </a:xfrm>
          <a:prstGeom prst="rect">
            <a:avLst/>
          </a:prstGeom>
          <a:noFill/>
          <a:effectLst/>
        </p:spPr>
        <p:txBody>
          <a:bodyPr wrap="square" lIns="0" rIns="0" tIns="0" bIns="0" anchor="t">
            <a:spAutoFit/>
          </a:bodyPr>
          <a:lstStyle/>
          <a:p>
            <a:pPr>
              <a:lnSpc>
                <a:spcPct val="112000"/>
              </a:lnSpc>
              <a:spcBef>
                <a:spcPts val="0"/>
              </a:spcBef>
              <a:spcAft>
                <a:spcPts val="0"/>
              </a:spcAft>
              <a:defRPr sz="7400" b="1">
                <a:solidFill>
                  <a:srgbClr val="75BD42"/>
                </a:solidFill>
                <a:latin typeface="Noto Sans CJK SC"/>
              </a:defRPr>
            </a:pPr>
            <a:r>
              <a:rPr sz="7400" b="1">
                <a:solidFill>
                  <a:srgbClr val="75BD42"/>
                </a:solidFill>
                <a:latin typeface="Noto Sans CJK SC"/>
                <a:ea typeface="Noto Sans CJK SC"/>
                <a:cs typeface="Noto Sans CJK SC"/>
              </a:rPr>
              <a:t>“</a:t>
            </a:r>
          </a:p>
        </p:txBody>
      </p:sp>
      <p:sp>
        <p:nvSpPr>
          <p:cNvPr id="9" name="TextBox 8"/>
          <p:cNvSpPr txBox="1"/>
          <p:nvPr/>
        </p:nvSpPr>
        <p:spPr>
          <a:xfrm>
            <a:off x="1508760" y="2212848"/>
            <a:ext cx="9189720" cy="914400"/>
          </a:xfrm>
          <a:prstGeom prst="rect">
            <a:avLst/>
          </a:prstGeom>
          <a:noFill/>
          <a:effectLst/>
        </p:spPr>
        <p:txBody>
          <a:bodyPr wrap="square" lIns="0" rIns="0" tIns="0" bIns="0" anchor="t">
            <a:spAutoFit/>
          </a:bodyPr>
          <a:lstStyle/>
          <a:p>
            <a:pPr algn="ctr">
              <a:lnSpc>
                <a:spcPct val="112000"/>
              </a:lnSpc>
              <a:spcBef>
                <a:spcPts val="0"/>
              </a:spcBef>
              <a:spcAft>
                <a:spcPts val="0"/>
              </a:spcAft>
              <a:defRPr sz="3700" b="1">
                <a:solidFill>
                  <a:srgbClr val="236548"/>
                </a:solidFill>
                <a:latin typeface="Noto Sans CJK SC"/>
              </a:defRPr>
            </a:pPr>
            <a:r>
              <a:rPr sz="3700" b="1">
                <a:solidFill>
                  <a:srgbClr val="236548"/>
                </a:solidFill>
                <a:latin typeface="Noto Sans CJK SC"/>
                <a:ea typeface="Noto Sans CJK SC"/>
                <a:cs typeface="Noto Sans CJK SC"/>
              </a:rPr>
              <a:t>现代化的质量，要看人与自然怎样相处</a:t>
            </a:r>
          </a:p>
        </p:txBody>
      </p:sp>
      <p:sp>
        <p:nvSpPr>
          <p:cNvPr id="10" name="TextBox 9"/>
          <p:cNvSpPr txBox="1"/>
          <p:nvPr/>
        </p:nvSpPr>
        <p:spPr>
          <a:xfrm>
            <a:off x="1280160" y="3273552"/>
            <a:ext cx="9601200" cy="320040"/>
          </a:xfrm>
          <a:prstGeom prst="rect">
            <a:avLst/>
          </a:prstGeom>
          <a:noFill/>
          <a:effectLst/>
        </p:spPr>
        <p:txBody>
          <a:bodyPr wrap="square" lIns="0" rIns="0" tIns="0" bIns="0" anchor="t">
            <a:spAutoFit/>
          </a:bodyPr>
          <a:lstStyle/>
          <a:p>
            <a:pPr algn="ctr">
              <a:lnSpc>
                <a:spcPct val="112000"/>
              </a:lnSpc>
              <a:spcBef>
                <a:spcPts val="0"/>
              </a:spcBef>
              <a:spcAft>
                <a:spcPts val="0"/>
              </a:spcAft>
              <a:defRPr sz="1300" b="0">
                <a:solidFill>
                  <a:srgbClr val="63766E"/>
                </a:solidFill>
                <a:latin typeface="Noto Sans CJK SC"/>
              </a:defRPr>
            </a:pPr>
            <a:r>
              <a:rPr sz="1300" b="0">
                <a:solidFill>
                  <a:srgbClr val="63766E"/>
                </a:solidFill>
                <a:latin typeface="Noto Sans CJK SC"/>
                <a:ea typeface="Noto Sans CJK SC"/>
                <a:cs typeface="Noto Sans CJK SC"/>
              </a:rPr>
              <a:t>本页为教学归纳</a:t>
            </a:r>
          </a:p>
        </p:txBody>
      </p:sp>
      <p:sp>
        <p:nvSpPr>
          <p:cNvPr id="11" name="Rounded Rectangle 10"/>
          <p:cNvSpPr/>
          <p:nvPr/>
        </p:nvSpPr>
        <p:spPr>
          <a:xfrm>
            <a:off x="841248" y="3977639"/>
            <a:ext cx="3337560" cy="12618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24128" y="4133087"/>
            <a:ext cx="2971800" cy="932688"/>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人口规模巨大、区域差异显著，资源环境约束长期存在</a:t>
            </a:r>
          </a:p>
        </p:txBody>
      </p:sp>
      <p:sp>
        <p:nvSpPr>
          <p:cNvPr id="13" name="Rounded Rectangle 12"/>
          <p:cNvSpPr/>
          <p:nvPr/>
        </p:nvSpPr>
        <p:spPr>
          <a:xfrm>
            <a:off x="4434840" y="3977639"/>
            <a:ext cx="3337560" cy="12618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17720" y="4133087"/>
            <a:ext cx="2971800" cy="932688"/>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发展水平既看收入产业，也看环境、效率与生态安全</a:t>
            </a:r>
          </a:p>
        </p:txBody>
      </p:sp>
      <p:sp>
        <p:nvSpPr>
          <p:cNvPr id="15" name="Rounded Rectangle 14"/>
          <p:cNvSpPr/>
          <p:nvPr/>
        </p:nvSpPr>
        <p:spPr>
          <a:xfrm>
            <a:off x="8028432" y="3977639"/>
            <a:ext cx="3337560" cy="12618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211312" y="4133087"/>
            <a:ext cx="2971800" cy="932688"/>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把节约资源和保护环境贯穿现代化建设全过程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导入 · 人与自然</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资料：R03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07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把握生态文明建设五组关系</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复杂问题需要系统地看、统筹地干</a:t>
            </a:r>
          </a:p>
        </p:txBody>
      </p:sp>
      <p:sp>
        <p:nvSpPr>
          <p:cNvPr id="9" name="TextBox 8"/>
          <p:cNvSpPr txBox="1"/>
          <p:nvPr/>
        </p:nvSpPr>
        <p:spPr>
          <a:xfrm>
            <a:off x="932688" y="2221992"/>
            <a:ext cx="548640" cy="310896"/>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75BD42"/>
                </a:solidFill>
                <a:latin typeface="Noto Sans CJK SC"/>
              </a:defRPr>
            </a:pPr>
            <a:r>
              <a:rPr sz="1900" b="1">
                <a:solidFill>
                  <a:srgbClr val="75BD42"/>
                </a:solidFill>
                <a:latin typeface="Noto Sans CJK SC"/>
                <a:ea typeface="Noto Sans CJK SC"/>
                <a:cs typeface="Noto Sans CJK SC"/>
              </a:rPr>
              <a:t>01</a:t>
            </a:r>
          </a:p>
        </p:txBody>
      </p:sp>
      <p:sp>
        <p:nvSpPr>
          <p:cNvPr id="10" name="Rounded Rectangle 9"/>
          <p:cNvSpPr/>
          <p:nvPr/>
        </p:nvSpPr>
        <p:spPr>
          <a:xfrm>
            <a:off x="1773936" y="2185416"/>
            <a:ext cx="3913632" cy="42062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901952" y="2244852"/>
            <a:ext cx="3657600"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236548"/>
                </a:solidFill>
                <a:latin typeface="Noto Sans CJK SC"/>
              </a:defRPr>
            </a:pPr>
            <a:r>
              <a:rPr sz="2000" b="1">
                <a:solidFill>
                  <a:srgbClr val="236548"/>
                </a:solidFill>
                <a:latin typeface="Noto Sans CJK SC"/>
                <a:ea typeface="Noto Sans CJK SC"/>
                <a:cs typeface="Noto Sans CJK SC"/>
              </a:rPr>
              <a:t>高质量发展</a:t>
            </a:r>
          </a:p>
        </p:txBody>
      </p:sp>
      <p:sp>
        <p:nvSpPr>
          <p:cNvPr id="12" name="TextBox 11"/>
          <p:cNvSpPr txBox="1"/>
          <p:nvPr/>
        </p:nvSpPr>
        <p:spPr>
          <a:xfrm>
            <a:off x="5760720" y="2240280"/>
            <a:ext cx="658368"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200" b="0">
                <a:solidFill>
                  <a:srgbClr val="63766E"/>
                </a:solidFill>
                <a:latin typeface="Noto Sans CJK SC"/>
              </a:defRPr>
            </a:pPr>
            <a:r>
              <a:rPr sz="2200" b="0">
                <a:solidFill>
                  <a:srgbClr val="63766E"/>
                </a:solidFill>
                <a:latin typeface="Noto Sans CJK SC"/>
                <a:ea typeface="Noto Sans CJK SC"/>
                <a:cs typeface="Noto Sans CJK SC"/>
              </a:rPr>
              <a:t>↔</a:t>
            </a:r>
          </a:p>
        </p:txBody>
      </p:sp>
      <p:sp>
        <p:nvSpPr>
          <p:cNvPr id="13" name="Rounded Rectangle 12"/>
          <p:cNvSpPr/>
          <p:nvPr/>
        </p:nvSpPr>
        <p:spPr>
          <a:xfrm>
            <a:off x="6510528" y="2185416"/>
            <a:ext cx="4544568" cy="42062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638544" y="2244852"/>
            <a:ext cx="4288536"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23527F"/>
                </a:solidFill>
                <a:latin typeface="Noto Sans CJK SC"/>
              </a:defRPr>
            </a:pPr>
            <a:r>
              <a:rPr sz="2000" b="1">
                <a:solidFill>
                  <a:srgbClr val="23527F"/>
                </a:solidFill>
                <a:latin typeface="Noto Sans CJK SC"/>
                <a:ea typeface="Noto Sans CJK SC"/>
                <a:cs typeface="Noto Sans CJK SC"/>
              </a:rPr>
              <a:t>高水平保护</a:t>
            </a:r>
          </a:p>
        </p:txBody>
      </p:sp>
      <p:sp>
        <p:nvSpPr>
          <p:cNvPr id="15" name="TextBox 14"/>
          <p:cNvSpPr txBox="1"/>
          <p:nvPr/>
        </p:nvSpPr>
        <p:spPr>
          <a:xfrm>
            <a:off x="932688" y="2761488"/>
            <a:ext cx="548640" cy="310896"/>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75BD42"/>
                </a:solidFill>
                <a:latin typeface="Noto Sans CJK SC"/>
              </a:defRPr>
            </a:pPr>
            <a:r>
              <a:rPr sz="1900" b="1">
                <a:solidFill>
                  <a:srgbClr val="75BD42"/>
                </a:solidFill>
                <a:latin typeface="Noto Sans CJK SC"/>
                <a:ea typeface="Noto Sans CJK SC"/>
                <a:cs typeface="Noto Sans CJK SC"/>
              </a:rPr>
              <a:t>02</a:t>
            </a:r>
          </a:p>
        </p:txBody>
      </p:sp>
      <p:sp>
        <p:nvSpPr>
          <p:cNvPr id="16" name="Rounded Rectangle 15"/>
          <p:cNvSpPr/>
          <p:nvPr/>
        </p:nvSpPr>
        <p:spPr>
          <a:xfrm>
            <a:off x="1773936" y="2724912"/>
            <a:ext cx="3913632" cy="42062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901952" y="2784348"/>
            <a:ext cx="3657600"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236548"/>
                </a:solidFill>
                <a:latin typeface="Noto Sans CJK SC"/>
              </a:defRPr>
            </a:pPr>
            <a:r>
              <a:rPr sz="2000" b="1">
                <a:solidFill>
                  <a:srgbClr val="236548"/>
                </a:solidFill>
                <a:latin typeface="Noto Sans CJK SC"/>
                <a:ea typeface="Noto Sans CJK SC"/>
                <a:cs typeface="Noto Sans CJK SC"/>
              </a:rPr>
              <a:t>重点攻坚</a:t>
            </a:r>
          </a:p>
        </p:txBody>
      </p:sp>
      <p:sp>
        <p:nvSpPr>
          <p:cNvPr id="18" name="TextBox 17"/>
          <p:cNvSpPr txBox="1"/>
          <p:nvPr/>
        </p:nvSpPr>
        <p:spPr>
          <a:xfrm>
            <a:off x="5760720" y="2779776"/>
            <a:ext cx="658368"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200" b="0">
                <a:solidFill>
                  <a:srgbClr val="63766E"/>
                </a:solidFill>
                <a:latin typeface="Noto Sans CJK SC"/>
              </a:defRPr>
            </a:pPr>
            <a:r>
              <a:rPr sz="2200" b="0">
                <a:solidFill>
                  <a:srgbClr val="63766E"/>
                </a:solidFill>
                <a:latin typeface="Noto Sans CJK SC"/>
                <a:ea typeface="Noto Sans CJK SC"/>
                <a:cs typeface="Noto Sans CJK SC"/>
              </a:rPr>
              <a:t>↔</a:t>
            </a:r>
          </a:p>
        </p:txBody>
      </p:sp>
      <p:sp>
        <p:nvSpPr>
          <p:cNvPr id="19" name="Rounded Rectangle 18"/>
          <p:cNvSpPr/>
          <p:nvPr/>
        </p:nvSpPr>
        <p:spPr>
          <a:xfrm>
            <a:off x="6510528" y="2724912"/>
            <a:ext cx="4544568" cy="42062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638544" y="2784348"/>
            <a:ext cx="4288536"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23527F"/>
                </a:solidFill>
                <a:latin typeface="Noto Sans CJK SC"/>
              </a:defRPr>
            </a:pPr>
            <a:r>
              <a:rPr sz="2000" b="1">
                <a:solidFill>
                  <a:srgbClr val="23527F"/>
                </a:solidFill>
                <a:latin typeface="Noto Sans CJK SC"/>
                <a:ea typeface="Noto Sans CJK SC"/>
                <a:cs typeface="Noto Sans CJK SC"/>
              </a:rPr>
              <a:t>协同治理</a:t>
            </a:r>
          </a:p>
        </p:txBody>
      </p:sp>
      <p:sp>
        <p:nvSpPr>
          <p:cNvPr id="21" name="TextBox 20"/>
          <p:cNvSpPr txBox="1"/>
          <p:nvPr/>
        </p:nvSpPr>
        <p:spPr>
          <a:xfrm>
            <a:off x="932688" y="3300984"/>
            <a:ext cx="548640" cy="310896"/>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75BD42"/>
                </a:solidFill>
                <a:latin typeface="Noto Sans CJK SC"/>
              </a:defRPr>
            </a:pPr>
            <a:r>
              <a:rPr sz="1900" b="1">
                <a:solidFill>
                  <a:srgbClr val="75BD42"/>
                </a:solidFill>
                <a:latin typeface="Noto Sans CJK SC"/>
                <a:ea typeface="Noto Sans CJK SC"/>
                <a:cs typeface="Noto Sans CJK SC"/>
              </a:rPr>
              <a:t>03</a:t>
            </a:r>
          </a:p>
        </p:txBody>
      </p:sp>
      <p:sp>
        <p:nvSpPr>
          <p:cNvPr id="22" name="Rounded Rectangle 21"/>
          <p:cNvSpPr/>
          <p:nvPr/>
        </p:nvSpPr>
        <p:spPr>
          <a:xfrm>
            <a:off x="1773936" y="3264408"/>
            <a:ext cx="3913632" cy="42062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1901952" y="3323844"/>
            <a:ext cx="3657600"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236548"/>
                </a:solidFill>
                <a:latin typeface="Noto Sans CJK SC"/>
              </a:defRPr>
            </a:pPr>
            <a:r>
              <a:rPr sz="2000" b="1">
                <a:solidFill>
                  <a:srgbClr val="236548"/>
                </a:solidFill>
                <a:latin typeface="Noto Sans CJK SC"/>
                <a:ea typeface="Noto Sans CJK SC"/>
                <a:cs typeface="Noto Sans CJK SC"/>
              </a:rPr>
              <a:t>自然恢复</a:t>
            </a:r>
          </a:p>
        </p:txBody>
      </p:sp>
      <p:sp>
        <p:nvSpPr>
          <p:cNvPr id="24" name="TextBox 23"/>
          <p:cNvSpPr txBox="1"/>
          <p:nvPr/>
        </p:nvSpPr>
        <p:spPr>
          <a:xfrm>
            <a:off x="5760720" y="3319272"/>
            <a:ext cx="658368"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200" b="0">
                <a:solidFill>
                  <a:srgbClr val="63766E"/>
                </a:solidFill>
                <a:latin typeface="Noto Sans CJK SC"/>
              </a:defRPr>
            </a:pPr>
            <a:r>
              <a:rPr sz="2200" b="0">
                <a:solidFill>
                  <a:srgbClr val="63766E"/>
                </a:solidFill>
                <a:latin typeface="Noto Sans CJK SC"/>
                <a:ea typeface="Noto Sans CJK SC"/>
                <a:cs typeface="Noto Sans CJK SC"/>
              </a:rPr>
              <a:t>↔</a:t>
            </a:r>
          </a:p>
        </p:txBody>
      </p:sp>
      <p:sp>
        <p:nvSpPr>
          <p:cNvPr id="25" name="Rounded Rectangle 24"/>
          <p:cNvSpPr/>
          <p:nvPr/>
        </p:nvSpPr>
        <p:spPr>
          <a:xfrm>
            <a:off x="6510528" y="3264408"/>
            <a:ext cx="4544568" cy="42062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638544" y="3323844"/>
            <a:ext cx="4288536"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23527F"/>
                </a:solidFill>
                <a:latin typeface="Noto Sans CJK SC"/>
              </a:defRPr>
            </a:pPr>
            <a:r>
              <a:rPr sz="2000" b="1">
                <a:solidFill>
                  <a:srgbClr val="23527F"/>
                </a:solidFill>
                <a:latin typeface="Noto Sans CJK SC"/>
                <a:ea typeface="Noto Sans CJK SC"/>
                <a:cs typeface="Noto Sans CJK SC"/>
              </a:rPr>
              <a:t>人工修复</a:t>
            </a:r>
          </a:p>
        </p:txBody>
      </p:sp>
      <p:sp>
        <p:nvSpPr>
          <p:cNvPr id="27" name="TextBox 26"/>
          <p:cNvSpPr txBox="1"/>
          <p:nvPr/>
        </p:nvSpPr>
        <p:spPr>
          <a:xfrm>
            <a:off x="932688" y="3840480"/>
            <a:ext cx="548640" cy="310896"/>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75BD42"/>
                </a:solidFill>
                <a:latin typeface="Noto Sans CJK SC"/>
              </a:defRPr>
            </a:pPr>
            <a:r>
              <a:rPr sz="1900" b="1">
                <a:solidFill>
                  <a:srgbClr val="75BD42"/>
                </a:solidFill>
                <a:latin typeface="Noto Sans CJK SC"/>
                <a:ea typeface="Noto Sans CJK SC"/>
                <a:cs typeface="Noto Sans CJK SC"/>
              </a:rPr>
              <a:t>04</a:t>
            </a:r>
          </a:p>
        </p:txBody>
      </p:sp>
      <p:sp>
        <p:nvSpPr>
          <p:cNvPr id="28" name="Rounded Rectangle 27"/>
          <p:cNvSpPr/>
          <p:nvPr/>
        </p:nvSpPr>
        <p:spPr>
          <a:xfrm>
            <a:off x="1773936" y="3803904"/>
            <a:ext cx="3913632" cy="42062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1901952" y="3863340"/>
            <a:ext cx="3657600"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236548"/>
                </a:solidFill>
                <a:latin typeface="Noto Sans CJK SC"/>
              </a:defRPr>
            </a:pPr>
            <a:r>
              <a:rPr sz="2000" b="1">
                <a:solidFill>
                  <a:srgbClr val="236548"/>
                </a:solidFill>
                <a:latin typeface="Noto Sans CJK SC"/>
                <a:ea typeface="Noto Sans CJK SC"/>
                <a:cs typeface="Noto Sans CJK SC"/>
              </a:rPr>
              <a:t>外部约束</a:t>
            </a:r>
          </a:p>
        </p:txBody>
      </p:sp>
      <p:sp>
        <p:nvSpPr>
          <p:cNvPr id="30" name="TextBox 29"/>
          <p:cNvSpPr txBox="1"/>
          <p:nvPr/>
        </p:nvSpPr>
        <p:spPr>
          <a:xfrm>
            <a:off x="5760720" y="3858768"/>
            <a:ext cx="658368"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200" b="0">
                <a:solidFill>
                  <a:srgbClr val="63766E"/>
                </a:solidFill>
                <a:latin typeface="Noto Sans CJK SC"/>
              </a:defRPr>
            </a:pPr>
            <a:r>
              <a:rPr sz="2200" b="0">
                <a:solidFill>
                  <a:srgbClr val="63766E"/>
                </a:solidFill>
                <a:latin typeface="Noto Sans CJK SC"/>
                <a:ea typeface="Noto Sans CJK SC"/>
                <a:cs typeface="Noto Sans CJK SC"/>
              </a:rPr>
              <a:t>↔</a:t>
            </a:r>
          </a:p>
        </p:txBody>
      </p:sp>
      <p:sp>
        <p:nvSpPr>
          <p:cNvPr id="31" name="Rounded Rectangle 30"/>
          <p:cNvSpPr/>
          <p:nvPr/>
        </p:nvSpPr>
        <p:spPr>
          <a:xfrm>
            <a:off x="6510528" y="3803904"/>
            <a:ext cx="4544568" cy="42062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638544" y="3863340"/>
            <a:ext cx="4288536"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23527F"/>
                </a:solidFill>
                <a:latin typeface="Noto Sans CJK SC"/>
              </a:defRPr>
            </a:pPr>
            <a:r>
              <a:rPr sz="2000" b="1">
                <a:solidFill>
                  <a:srgbClr val="23527F"/>
                </a:solidFill>
                <a:latin typeface="Noto Sans CJK SC"/>
                <a:ea typeface="Noto Sans CJK SC"/>
                <a:cs typeface="Noto Sans CJK SC"/>
              </a:rPr>
              <a:t>内生动力</a:t>
            </a:r>
          </a:p>
        </p:txBody>
      </p:sp>
      <p:sp>
        <p:nvSpPr>
          <p:cNvPr id="33" name="TextBox 32"/>
          <p:cNvSpPr txBox="1"/>
          <p:nvPr/>
        </p:nvSpPr>
        <p:spPr>
          <a:xfrm>
            <a:off x="932688" y="4379976"/>
            <a:ext cx="548640" cy="310896"/>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75BD42"/>
                </a:solidFill>
                <a:latin typeface="Noto Sans CJK SC"/>
              </a:defRPr>
            </a:pPr>
            <a:r>
              <a:rPr sz="1900" b="1">
                <a:solidFill>
                  <a:srgbClr val="75BD42"/>
                </a:solidFill>
                <a:latin typeface="Noto Sans CJK SC"/>
                <a:ea typeface="Noto Sans CJK SC"/>
                <a:cs typeface="Noto Sans CJK SC"/>
              </a:rPr>
              <a:t>05</a:t>
            </a:r>
          </a:p>
        </p:txBody>
      </p:sp>
      <p:sp>
        <p:nvSpPr>
          <p:cNvPr id="34" name="Rounded Rectangle 33"/>
          <p:cNvSpPr/>
          <p:nvPr/>
        </p:nvSpPr>
        <p:spPr>
          <a:xfrm>
            <a:off x="1773936" y="4343400"/>
            <a:ext cx="3913632" cy="42062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1901952" y="4402836"/>
            <a:ext cx="3657600"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236548"/>
                </a:solidFill>
                <a:latin typeface="Noto Sans CJK SC"/>
              </a:defRPr>
            </a:pPr>
            <a:r>
              <a:rPr sz="2000" b="1">
                <a:solidFill>
                  <a:srgbClr val="236548"/>
                </a:solidFill>
                <a:latin typeface="Noto Sans CJK SC"/>
                <a:ea typeface="Noto Sans CJK SC"/>
                <a:cs typeface="Noto Sans CJK SC"/>
              </a:rPr>
              <a:t>“双碳”承诺</a:t>
            </a:r>
          </a:p>
        </p:txBody>
      </p:sp>
      <p:sp>
        <p:nvSpPr>
          <p:cNvPr id="36" name="TextBox 35"/>
          <p:cNvSpPr txBox="1"/>
          <p:nvPr/>
        </p:nvSpPr>
        <p:spPr>
          <a:xfrm>
            <a:off x="5760720" y="4398264"/>
            <a:ext cx="658368"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200" b="0">
                <a:solidFill>
                  <a:srgbClr val="63766E"/>
                </a:solidFill>
                <a:latin typeface="Noto Sans CJK SC"/>
              </a:defRPr>
            </a:pPr>
            <a:r>
              <a:rPr sz="2200" b="0">
                <a:solidFill>
                  <a:srgbClr val="63766E"/>
                </a:solidFill>
                <a:latin typeface="Noto Sans CJK SC"/>
                <a:ea typeface="Noto Sans CJK SC"/>
                <a:cs typeface="Noto Sans CJK SC"/>
              </a:rPr>
              <a:t>↔</a:t>
            </a:r>
          </a:p>
        </p:txBody>
      </p:sp>
      <p:sp>
        <p:nvSpPr>
          <p:cNvPr id="37" name="Rounded Rectangle 36"/>
          <p:cNvSpPr/>
          <p:nvPr/>
        </p:nvSpPr>
        <p:spPr>
          <a:xfrm>
            <a:off x="6510528" y="4343400"/>
            <a:ext cx="4544568" cy="42062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638544" y="4402836"/>
            <a:ext cx="4288536" cy="310896"/>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23527F"/>
                </a:solidFill>
                <a:latin typeface="Noto Sans CJK SC"/>
              </a:defRPr>
            </a:pPr>
            <a:r>
              <a:rPr sz="2000" b="1">
                <a:solidFill>
                  <a:srgbClr val="23527F"/>
                </a:solidFill>
                <a:latin typeface="Noto Sans CJK SC"/>
                <a:ea typeface="Noto Sans CJK SC"/>
                <a:cs typeface="Noto Sans CJK SC"/>
              </a:rPr>
              <a:t>自主行动</a:t>
            </a:r>
          </a:p>
        </p:txBody>
      </p:sp>
      <p:sp>
        <p:nvSpPr>
          <p:cNvPr id="39" name="Rounded Rectangle 38"/>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处理关系的方法：统筹兼顾、因地制宜，让发展与保护相互促进。</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导入 · 人与自然</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资料：R06 / R09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08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用四把尺子评价生态文明建设</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既看环境面貌，也看发展方式和治理能力</a:t>
            </a:r>
          </a:p>
        </p:txBody>
      </p:sp>
      <p:sp>
        <p:nvSpPr>
          <p:cNvPr id="9" name="Rounded Rectangle 8"/>
          <p:cNvSpPr/>
          <p:nvPr/>
        </p:nvSpPr>
        <p:spPr>
          <a:xfrm>
            <a:off x="859536" y="2194560"/>
            <a:ext cx="5157216" cy="118872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69848" y="2331720"/>
            <a:ext cx="4718304" cy="365760"/>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23527F"/>
                </a:solidFill>
                <a:latin typeface="Noto Sans CJK SC"/>
              </a:defRPr>
            </a:pPr>
            <a:r>
              <a:rPr sz="2500" b="1">
                <a:solidFill>
                  <a:srgbClr val="23527F"/>
                </a:solidFill>
                <a:latin typeface="Noto Sans CJK SC"/>
                <a:ea typeface="Noto Sans CJK SC"/>
                <a:cs typeface="Noto Sans CJK SC"/>
              </a:rPr>
              <a:t>环境质量</a:t>
            </a:r>
          </a:p>
        </p:txBody>
      </p:sp>
      <p:sp>
        <p:nvSpPr>
          <p:cNvPr id="11" name="TextBox 10"/>
          <p:cNvSpPr txBox="1"/>
          <p:nvPr/>
        </p:nvSpPr>
        <p:spPr>
          <a:xfrm>
            <a:off x="1069848" y="2880360"/>
            <a:ext cx="4718304" cy="365760"/>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空气、水体等是否持续改善</a:t>
            </a:r>
          </a:p>
        </p:txBody>
      </p:sp>
      <p:sp>
        <p:nvSpPr>
          <p:cNvPr id="12" name="Rounded Rectangle 11"/>
          <p:cNvSpPr/>
          <p:nvPr/>
        </p:nvSpPr>
        <p:spPr>
          <a:xfrm>
            <a:off x="6263640" y="2194560"/>
            <a:ext cx="5157216" cy="118872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73952" y="2331720"/>
            <a:ext cx="4718304" cy="365760"/>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236548"/>
                </a:solidFill>
                <a:latin typeface="Noto Sans CJK SC"/>
              </a:defRPr>
            </a:pPr>
            <a:r>
              <a:rPr sz="2500" b="1">
                <a:solidFill>
                  <a:srgbClr val="236548"/>
                </a:solidFill>
                <a:latin typeface="Noto Sans CJK SC"/>
                <a:ea typeface="Noto Sans CJK SC"/>
                <a:cs typeface="Noto Sans CJK SC"/>
              </a:rPr>
              <a:t>生态系统</a:t>
            </a:r>
          </a:p>
        </p:txBody>
      </p:sp>
      <p:sp>
        <p:nvSpPr>
          <p:cNvPr id="14" name="TextBox 13"/>
          <p:cNvSpPr txBox="1"/>
          <p:nvPr/>
        </p:nvSpPr>
        <p:spPr>
          <a:xfrm>
            <a:off x="6473952" y="2880360"/>
            <a:ext cx="4718304" cy="365760"/>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关键生态功能是否稳定发挥</a:t>
            </a:r>
          </a:p>
        </p:txBody>
      </p:sp>
      <p:sp>
        <p:nvSpPr>
          <p:cNvPr id="15" name="Rounded Rectangle 14"/>
          <p:cNvSpPr/>
          <p:nvPr/>
        </p:nvSpPr>
        <p:spPr>
          <a:xfrm>
            <a:off x="859536" y="3584448"/>
            <a:ext cx="5157216" cy="118872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69848" y="3721608"/>
            <a:ext cx="4718304" cy="365760"/>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236548"/>
                </a:solidFill>
                <a:latin typeface="Noto Sans CJK SC"/>
              </a:defRPr>
            </a:pPr>
            <a:r>
              <a:rPr sz="2500" b="1">
                <a:solidFill>
                  <a:srgbClr val="236548"/>
                </a:solidFill>
                <a:latin typeface="Noto Sans CJK SC"/>
                <a:ea typeface="Noto Sans CJK SC"/>
                <a:cs typeface="Noto Sans CJK SC"/>
              </a:rPr>
              <a:t>发展方式</a:t>
            </a:r>
          </a:p>
        </p:txBody>
      </p:sp>
      <p:sp>
        <p:nvSpPr>
          <p:cNvPr id="17" name="TextBox 16"/>
          <p:cNvSpPr txBox="1"/>
          <p:nvPr/>
        </p:nvSpPr>
        <p:spPr>
          <a:xfrm>
            <a:off x="1069848" y="4270248"/>
            <a:ext cx="4718304" cy="365760"/>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资源效率与绿色结构怎样变化</a:t>
            </a:r>
          </a:p>
        </p:txBody>
      </p:sp>
      <p:sp>
        <p:nvSpPr>
          <p:cNvPr id="18" name="Rounded Rectangle 17"/>
          <p:cNvSpPr/>
          <p:nvPr/>
        </p:nvSpPr>
        <p:spPr>
          <a:xfrm>
            <a:off x="6263640" y="3584448"/>
            <a:ext cx="5157216" cy="118872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73952" y="3721608"/>
            <a:ext cx="4718304" cy="365760"/>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23527F"/>
                </a:solidFill>
                <a:latin typeface="Noto Sans CJK SC"/>
              </a:defRPr>
            </a:pPr>
            <a:r>
              <a:rPr sz="2500" b="1">
                <a:solidFill>
                  <a:srgbClr val="23527F"/>
                </a:solidFill>
                <a:latin typeface="Noto Sans CJK SC"/>
                <a:ea typeface="Noto Sans CJK SC"/>
                <a:cs typeface="Noto Sans CJK SC"/>
              </a:rPr>
              <a:t>治理能力</a:t>
            </a:r>
          </a:p>
        </p:txBody>
      </p:sp>
      <p:sp>
        <p:nvSpPr>
          <p:cNvPr id="20" name="TextBox 19"/>
          <p:cNvSpPr txBox="1"/>
          <p:nvPr/>
        </p:nvSpPr>
        <p:spPr>
          <a:xfrm>
            <a:off x="6473952" y="4270248"/>
            <a:ext cx="4718304" cy="365760"/>
          </a:xfrm>
          <a:prstGeom prst="rect">
            <a:avLst/>
          </a:prstGeom>
          <a:noFill/>
          <a:effectLst/>
        </p:spPr>
        <p:txBody>
          <a:bodyPr wrap="square" lIns="0" rIns="0" tIns="0" bIns="0" anchor="t">
            <a:spAutoFit/>
          </a:bodyPr>
          <a:lstStyle/>
          <a:p>
            <a:pPr>
              <a:lnSpc>
                <a:spcPct val="112000"/>
              </a:lnSpc>
              <a:spcBef>
                <a:spcPts val="0"/>
              </a:spcBef>
              <a:spcAft>
                <a:spcPts val="0"/>
              </a:spcAft>
              <a:defRPr sz="1850" b="0">
                <a:solidFill>
                  <a:srgbClr val="233E39"/>
                </a:solidFill>
                <a:latin typeface="Noto Sans CJK SC"/>
              </a:defRPr>
            </a:pPr>
            <a:r>
              <a:rPr sz="1850" b="0">
                <a:solidFill>
                  <a:srgbClr val="233E39"/>
                </a:solidFill>
                <a:latin typeface="Noto Sans CJK SC"/>
                <a:ea typeface="Noto Sans CJK SC"/>
                <a:cs typeface="Noto Sans CJK SC"/>
              </a:rPr>
              <a:t>责任、监测与规则能否有效运行</a:t>
            </a:r>
          </a:p>
        </p:txBody>
      </p:sp>
      <p:sp>
        <p:nvSpPr>
          <p:cNvPr id="21" name="Rounded Rectangle 20"/>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同时看空间与时间：不把污染转移当改善，不把短期景观当长期成效。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资料：R01 / R02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09 / 100</a:t>
            </a:r>
          </a:p>
        </p:txBody>
      </p:sp>
      <p:sp>
        <p:nvSpPr>
          <p:cNvPr id="6" name="TextBox 5"/>
          <p:cNvSpPr txBox="1"/>
          <p:nvPr/>
        </p:nvSpPr>
        <p:spPr>
          <a:xfrm>
            <a:off x="713232" y="1124712"/>
            <a:ext cx="1828800" cy="1143000"/>
          </a:xfrm>
          <a:prstGeom prst="rect">
            <a:avLst/>
          </a:prstGeom>
          <a:noFill/>
          <a:effectLst/>
        </p:spPr>
        <p:txBody>
          <a:bodyPr wrap="square" lIns="0" rIns="0" tIns="0" bIns="0" anchor="t">
            <a:spAutoFit/>
          </a:bodyPr>
          <a:lstStyle/>
          <a:p>
            <a:pPr>
              <a:lnSpc>
                <a:spcPct val="112000"/>
              </a:lnSpc>
              <a:spcBef>
                <a:spcPts val="0"/>
              </a:spcBef>
              <a:spcAft>
                <a:spcPts val="0"/>
              </a:spcAft>
              <a:defRPr sz="6800" b="1">
                <a:solidFill>
                  <a:srgbClr val="75BD42"/>
                </a:solidFill>
                <a:latin typeface="Noto Sans CJK SC"/>
              </a:defRPr>
            </a:pPr>
            <a:r>
              <a:rPr sz="6800" b="1">
                <a:solidFill>
                  <a:srgbClr val="75BD42"/>
                </a:solidFill>
                <a:latin typeface="Noto Sans CJK SC"/>
                <a:ea typeface="Noto Sans CJK SC"/>
                <a:cs typeface="Noto Sans CJK SC"/>
              </a:rPr>
              <a:t>01</a:t>
            </a:r>
          </a:p>
        </p:txBody>
      </p:sp>
      <p:sp>
        <p:nvSpPr>
          <p:cNvPr id="7" name="TextBox 6"/>
          <p:cNvSpPr txBox="1"/>
          <p:nvPr/>
        </p:nvSpPr>
        <p:spPr>
          <a:xfrm>
            <a:off x="777240" y="2295144"/>
            <a:ext cx="7132320" cy="1463040"/>
          </a:xfrm>
          <a:prstGeom prst="rect">
            <a:avLst/>
          </a:prstGeom>
          <a:noFill/>
          <a:effectLst/>
        </p:spPr>
        <p:txBody>
          <a:bodyPr wrap="square" lIns="0" rIns="0" tIns="0" bIns="0" anchor="t">
            <a:spAutoFit/>
          </a:bodyPr>
          <a:lstStyle/>
          <a:p>
            <a:pPr>
              <a:lnSpc>
                <a:spcPct val="112000"/>
              </a:lnSpc>
              <a:spcBef>
                <a:spcPts val="0"/>
              </a:spcBef>
              <a:spcAft>
                <a:spcPts val="0"/>
              </a:spcAft>
              <a:defRPr sz="3100" b="1">
                <a:solidFill>
                  <a:srgbClr val="233E39"/>
                </a:solidFill>
                <a:latin typeface="Noto Sans CJK SC"/>
              </a:defRPr>
            </a:pPr>
            <a:r>
              <a:rPr sz="3100" b="1">
                <a:solidFill>
                  <a:srgbClr val="233E39"/>
                </a:solidFill>
                <a:latin typeface="Noto Sans CJK SC"/>
                <a:ea typeface="Noto Sans CJK SC"/>
                <a:cs typeface="Noto Sans CJK SC"/>
              </a:rPr>
              <a:t>新时代生态文明建设</a:t>
            </a:r>
          </a:p>
          <a:p>
            <a:pPr>
              <a:lnSpc>
                <a:spcPct val="112000"/>
              </a:lnSpc>
              <a:spcBef>
                <a:spcPts val="0"/>
              </a:spcBef>
              <a:spcAft>
                <a:spcPts val="0"/>
              </a:spcAft>
              <a:defRPr sz="3100" b="1">
                <a:solidFill>
                  <a:srgbClr val="233E39"/>
                </a:solidFill>
                <a:latin typeface="Noto Sans CJK SC"/>
              </a:defRPr>
            </a:pPr>
            <a:r>
              <a:rPr sz="3100" b="1">
                <a:solidFill>
                  <a:srgbClr val="233E39"/>
                </a:solidFill>
                <a:latin typeface="Noto Sans CJK SC"/>
                <a:ea typeface="Noto Sans CJK SC"/>
                <a:cs typeface="Noto Sans CJK SC"/>
              </a:rPr>
              <a:t>取得举世瞩目的巨大成就</a:t>
            </a:r>
          </a:p>
        </p:txBody>
      </p:sp>
      <p:sp>
        <p:nvSpPr>
          <p:cNvPr id="8" name="TextBox 7"/>
          <p:cNvSpPr txBox="1"/>
          <p:nvPr/>
        </p:nvSpPr>
        <p:spPr>
          <a:xfrm>
            <a:off x="822960" y="4160520"/>
            <a:ext cx="6263640" cy="822960"/>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6548"/>
                </a:solidFill>
                <a:latin typeface="Noto Sans CJK SC"/>
              </a:defRPr>
            </a:pPr>
            <a:r>
              <a:rPr sz="2100" b="0">
                <a:solidFill>
                  <a:srgbClr val="236548"/>
                </a:solidFill>
                <a:latin typeface="Noto Sans CJK SC"/>
                <a:ea typeface="Noto Sans CJK SC"/>
                <a:cs typeface="Noto Sans CJK SC"/>
              </a:rPr>
              <a:t>新时代生态文明建设取得举世瞩目的巨大成就</a:t>
            </a:r>
          </a:p>
        </p:txBody>
      </p:sp>
      <p:pic>
        <p:nvPicPr>
          <p:cNvPr id="9" name="Picture 8" descr="eco_scenes.png"/>
          <p:cNvPicPr>
            <a:picLocks noChangeAspect="1"/>
          </p:cNvPicPr>
          <p:nvPr/>
        </p:nvPicPr>
        <p:blipFill>
          <a:blip r:embed="rId3"/>
          <a:srcRect l="9330" r="59330" b="50000"/>
          <a:stretch>
            <a:fillRect/>
          </a:stretch>
        </p:blipFill>
        <p:spPr>
          <a:xfrm>
            <a:off x="7882127" y="1261872"/>
            <a:ext cx="3593592" cy="3822191"/>
          </a:xfrm>
          <a:prstGeom prst="rect">
            <a:avLst/>
          </a:prstGeom>
          <a:effectLst/>
        </p:spPr>
      </p:pic>
      <p:sp>
        <p:nvSpPr>
          <p:cNvPr id="10" name="Rectangle 9"/>
          <p:cNvSpPr/>
          <p:nvPr/>
        </p:nvSpPr>
        <p:spPr>
          <a:xfrm>
            <a:off x="7882127" y="4818888"/>
            <a:ext cx="3593592"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973567" y="4846320"/>
            <a:ext cx="3410712"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资料：R04 / R05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10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理念之变：重新认识生态价值</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绿水青山能够转化为可持续的发展优势</a:t>
            </a:r>
          </a:p>
        </p:txBody>
      </p:sp>
      <p:pic>
        <p:nvPicPr>
          <p:cNvPr id="9" name="Picture 8" descr="eco_scenes.png"/>
          <p:cNvPicPr>
            <a:picLocks noChangeAspect="1"/>
          </p:cNvPicPr>
          <p:nvPr/>
        </p:nvPicPr>
        <p:blipFill>
          <a:blip r:embed="rId3"/>
          <a:srcRect l="50000" t="51667" b="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保护生态环境，既改善生活，也为绿色产业创造条件</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生态优势转化需要公共服务、经营能力与稳定规则</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因地制宜探索路径，兼顾保护前提与利益分配</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绿水青山能够转化为可持续的发展优势</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资料：R02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11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制度之变：让保护责任更清晰</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治理成效的背后，是能追踪的责任链</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规划、监管、督察和考核逐步形成工作衔接</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发生污染，要找到来源、属地和相关部门责任</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完成整改，还要用监测与公开信息持续检验效果</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资料：R04 / V1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12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视频一：在余村观察绿色转型</a:t>
            </a:r>
          </a:p>
        </p:txBody>
      </p:sp>
      <p:sp>
        <p:nvSpPr>
          <p:cNvPr id="8" name="Rounded Rectangle 7"/>
          <p:cNvSpPr/>
          <p:nvPr/>
        </p:nvSpPr>
        <p:spPr>
          <a:xfrm>
            <a:off x="832104" y="1819656"/>
            <a:ext cx="6620256" cy="3337560"/>
          </a:xfrm>
          <a:prstGeom prst="roundRect">
            <a:avLst>
              <a:gd name="adj" fmla="val 8000"/>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1088136" y="2066543"/>
            <a:ext cx="1508760" cy="320040"/>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61288" y="2098548"/>
            <a:ext cx="1362456" cy="256032"/>
          </a:xfrm>
          <a:prstGeom prst="rect">
            <a:avLst/>
          </a:prstGeom>
          <a:noFill/>
          <a:effectLst/>
        </p:spPr>
        <p:txBody>
          <a:bodyPr wrap="square" lIns="0" rIns="0" tIns="0" bIns="0" anchor="t">
            <a:spAutoFit/>
          </a:bodyPr>
          <a:lstStyle/>
          <a:p>
            <a:pPr algn="ctr">
              <a:lnSpc>
                <a:spcPct val="112000"/>
              </a:lnSpc>
              <a:spcBef>
                <a:spcPts val="0"/>
              </a:spcBef>
              <a:spcAft>
                <a:spcPts val="0"/>
              </a:spcAft>
              <a:defRPr sz="1400" b="1">
                <a:solidFill>
                  <a:srgbClr val="FFFFFF"/>
                </a:solidFill>
                <a:latin typeface="Noto Sans CJK SC"/>
              </a:defRPr>
            </a:pPr>
            <a:r>
              <a:rPr sz="1400" b="1">
                <a:solidFill>
                  <a:srgbClr val="FFFFFF"/>
                </a:solidFill>
                <a:latin typeface="Noto Sans CJK SC"/>
                <a:ea typeface="Noto Sans CJK SC"/>
                <a:cs typeface="Noto Sans CJK SC"/>
              </a:rPr>
              <a:t>V1 · 视频学习</a:t>
            </a:r>
          </a:p>
        </p:txBody>
      </p:sp>
      <p:sp>
        <p:nvSpPr>
          <p:cNvPr id="11" name="TextBox 10"/>
          <p:cNvSpPr txBox="1"/>
          <p:nvPr/>
        </p:nvSpPr>
        <p:spPr>
          <a:xfrm>
            <a:off x="1097280" y="2770632"/>
            <a:ext cx="6035040" cy="1024128"/>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FFFFFF"/>
                </a:solidFill>
                <a:latin typeface="Noto Sans CJK SC"/>
              </a:defRPr>
            </a:pPr>
            <a:r>
              <a:rPr sz="2500" b="1">
                <a:solidFill>
                  <a:srgbClr val="FFFFFF"/>
                </a:solidFill>
                <a:latin typeface="Noto Sans CJK SC"/>
                <a:ea typeface="Noto Sans CJK SC"/>
                <a:cs typeface="Noto Sans CJK SC"/>
              </a:rPr>
              <a:t>《绿水青山中国答卷》在湖州看见美丽中国</a:t>
            </a:r>
          </a:p>
        </p:txBody>
      </p:sp>
      <p:sp>
        <p:nvSpPr>
          <p:cNvPr id="12" name="Rounded Rectangle 11">
            <a:hlinkClick r:id="rId3"/>
          </p:cNvPr>
          <p:cNvSpPr/>
          <p:nvPr/>
        </p:nvSpPr>
        <p:spPr>
          <a:xfrm>
            <a:off x="1124712" y="4224528"/>
            <a:ext cx="3044952" cy="539496"/>
          </a:xfrm>
          <a:prstGeom prst="roundRect">
            <a:avLst>
              <a:gd name="adj" fmla="val 8000"/>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a:hlinkClick r:id="rId3"/>
          </p:cNvPr>
          <p:cNvSpPr txBox="1"/>
          <p:nvPr/>
        </p:nvSpPr>
        <p:spPr>
          <a:xfrm>
            <a:off x="1234440" y="4325112"/>
            <a:ext cx="2825496" cy="329184"/>
          </a:xfrm>
          <a:prstGeom prst="rect">
            <a:avLst/>
          </a:prstGeom>
          <a:noFill/>
          <a:effectLst/>
        </p:spPr>
        <p:txBody>
          <a:bodyPr wrap="square" lIns="0" rIns="0" tIns="0" bIns="0" anchor="t">
            <a:spAutoFit/>
          </a:bodyPr>
          <a:lstStyle/>
          <a:p>
            <a:pPr algn="ctr">
              <a:lnSpc>
                <a:spcPct val="112000"/>
              </a:lnSpc>
              <a:spcBef>
                <a:spcPts val="0"/>
              </a:spcBef>
              <a:spcAft>
                <a:spcPts val="0"/>
              </a:spcAft>
              <a:defRPr sz="1800" b="1">
                <a:solidFill>
                  <a:srgbClr val="FFFFFF"/>
                </a:solidFill>
                <a:latin typeface="Noto Sans CJK SC"/>
              </a:defRPr>
            </a:pPr>
            <a:r>
              <a:rPr sz="1800" b="1">
                <a:solidFill>
                  <a:srgbClr val="FFFFFF"/>
                </a:solidFill>
                <a:latin typeface="Noto Sans CJK SC"/>
                <a:ea typeface="Noto Sans CJK SC"/>
                <a:cs typeface="Noto Sans CJK SC"/>
              </a:rPr>
              <a:t>▶  点击打开央视原片</a:t>
            </a:r>
          </a:p>
        </p:txBody>
      </p:sp>
      <p:sp>
        <p:nvSpPr>
          <p:cNvPr id="14" name="TextBox 13"/>
          <p:cNvSpPr txBox="1"/>
          <p:nvPr/>
        </p:nvSpPr>
        <p:spPr>
          <a:xfrm>
            <a:off x="4370832" y="4416552"/>
            <a:ext cx="2697480"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300" b="0">
                <a:solidFill>
                  <a:srgbClr val="FFFFFF"/>
                </a:solidFill>
                <a:latin typeface="Noto Sans CJK SC"/>
              </a:defRPr>
            </a:pPr>
            <a:r>
              <a:rPr sz="1300" b="0">
                <a:solidFill>
                  <a:srgbClr val="FFFFFF"/>
                </a:solidFill>
                <a:latin typeface="Noto Sans CJK SC"/>
                <a:ea typeface="Noto Sans CJK SC"/>
                <a:cs typeface="Noto Sans CJK SC"/>
              </a:rPr>
              <a:t>网络链接式播放</a:t>
            </a:r>
          </a:p>
        </p:txBody>
      </p:sp>
      <p:sp>
        <p:nvSpPr>
          <p:cNvPr id="15" name="TextBox 14"/>
          <p:cNvSpPr txBox="1"/>
          <p:nvPr/>
        </p:nvSpPr>
        <p:spPr>
          <a:xfrm>
            <a:off x="7909560" y="1847088"/>
            <a:ext cx="3401568" cy="393192"/>
          </a:xfrm>
          <a:prstGeom prst="rect">
            <a:avLst/>
          </a:prstGeom>
          <a:noFill/>
          <a:effectLst/>
        </p:spPr>
        <p:txBody>
          <a:bodyPr wrap="square" lIns="0" rIns="0" tIns="0" bIns="0" anchor="t">
            <a:spAutoFit/>
          </a:bodyPr>
          <a:lstStyle/>
          <a:p>
            <a:pPr>
              <a:lnSpc>
                <a:spcPct val="112000"/>
              </a:lnSpc>
              <a:spcBef>
                <a:spcPts val="0"/>
              </a:spcBef>
              <a:spcAft>
                <a:spcPts val="0"/>
              </a:spcAft>
              <a:defRPr sz="2300" b="1">
                <a:solidFill>
                  <a:srgbClr val="236548"/>
                </a:solidFill>
                <a:latin typeface="Noto Sans CJK SC"/>
              </a:defRPr>
            </a:pPr>
            <a:r>
              <a:rPr sz="2300" b="1">
                <a:solidFill>
                  <a:srgbClr val="236548"/>
                </a:solidFill>
                <a:latin typeface="Noto Sans CJK SC"/>
                <a:ea typeface="Noto Sans CJK SC"/>
                <a:cs typeface="Noto Sans CJK SC"/>
              </a:rPr>
              <a:t>带着问题看视频</a:t>
            </a:r>
          </a:p>
        </p:txBody>
      </p:sp>
      <p:sp>
        <p:nvSpPr>
          <p:cNvPr id="16" name="TextBox 15"/>
          <p:cNvSpPr txBox="1"/>
          <p:nvPr/>
        </p:nvSpPr>
        <p:spPr>
          <a:xfrm>
            <a:off x="7909560" y="2505456"/>
            <a:ext cx="3383280" cy="1143000"/>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变化的是风景、产业还是治理？请找出一项片中线索。</a:t>
            </a:r>
          </a:p>
        </p:txBody>
      </p:sp>
      <p:pic>
        <p:nvPicPr>
          <p:cNvPr id="17" name="Picture 16" descr="V1.png"/>
          <p:cNvPicPr>
            <a:picLocks noChangeAspect="1"/>
          </p:cNvPicPr>
          <p:nvPr/>
        </p:nvPicPr>
        <p:blipFill>
          <a:blip r:embed="rId4"/>
          <a:stretch>
            <a:fillRect/>
          </a:stretch>
        </p:blipFill>
        <p:spPr>
          <a:xfrm>
            <a:off x="7891272" y="3959352"/>
            <a:ext cx="1078992" cy="1078992"/>
          </a:xfrm>
          <a:prstGeom prst="rect">
            <a:avLst/>
          </a:prstGeom>
          <a:effectLst/>
        </p:spPr>
      </p:pic>
      <p:sp>
        <p:nvSpPr>
          <p:cNvPr id="18" name="TextBox 17"/>
          <p:cNvSpPr txBox="1"/>
          <p:nvPr/>
        </p:nvSpPr>
        <p:spPr>
          <a:xfrm>
            <a:off x="9189720" y="4005072"/>
            <a:ext cx="2057400" cy="713232"/>
          </a:xfrm>
          <a:prstGeom prst="rect">
            <a:avLst/>
          </a:prstGeom>
          <a:noFill/>
          <a:effectLst/>
        </p:spPr>
        <p:txBody>
          <a:bodyPr wrap="square" lIns="0" rIns="0" tIns="0" bIns="0" anchor="t">
            <a:spAutoFit/>
          </a:bodyPr>
          <a:lstStyle/>
          <a:p>
            <a:pPr>
              <a:lnSpc>
                <a:spcPct val="112000"/>
              </a:lnSpc>
              <a:spcBef>
                <a:spcPts val="0"/>
              </a:spcBef>
              <a:spcAft>
                <a:spcPts val="0"/>
              </a:spcAft>
              <a:defRPr sz="1600" b="1">
                <a:solidFill>
                  <a:srgbClr val="236548"/>
                </a:solidFill>
                <a:latin typeface="Noto Sans CJK SC"/>
              </a:defRPr>
            </a:pPr>
            <a:r>
              <a:rPr sz="1600" b="1">
                <a:solidFill>
                  <a:srgbClr val="236548"/>
                </a:solidFill>
                <a:latin typeface="Noto Sans CJK SC"/>
                <a:ea typeface="Noto Sans CJK SC"/>
                <a:cs typeface="Noto Sans CJK SC"/>
              </a:rPr>
              <a:t>建议选播</a:t>
            </a:r>
          </a:p>
          <a:p>
            <a:pPr>
              <a:lnSpc>
                <a:spcPct val="112000"/>
              </a:lnSpc>
              <a:spcBef>
                <a:spcPts val="0"/>
              </a:spcBef>
              <a:spcAft>
                <a:spcPts val="0"/>
              </a:spcAft>
              <a:defRPr sz="1600" b="1">
                <a:solidFill>
                  <a:srgbClr val="236548"/>
                </a:solidFill>
                <a:latin typeface="Noto Sans CJK SC"/>
              </a:defRPr>
            </a:pPr>
            <a:r>
              <a:rPr sz="1600" b="1">
                <a:solidFill>
                  <a:srgbClr val="236548"/>
                </a:solidFill>
                <a:latin typeface="Noto Sans CJK SC"/>
                <a:ea typeface="Noto Sans CJK SC"/>
                <a:cs typeface="Noto Sans CJK SC"/>
              </a:rPr>
              <a:t>00:30—02:15</a:t>
            </a:r>
          </a:p>
        </p:txBody>
      </p:sp>
      <p:sp>
        <p:nvSpPr>
          <p:cNvPr id="19" name="TextBox 18"/>
          <p:cNvSpPr txBox="1"/>
          <p:nvPr/>
        </p:nvSpPr>
        <p:spPr>
          <a:xfrm>
            <a:off x="9189720" y="4764024"/>
            <a:ext cx="2103120" cy="274320"/>
          </a:xfrm>
          <a:prstGeom prst="rect">
            <a:avLst/>
          </a:prstGeom>
          <a:noFill/>
          <a:effectLst/>
        </p:spPr>
        <p:txBody>
          <a:bodyPr wrap="square" lIns="0" rIns="0" tIns="0" bIns="0" anchor="t">
            <a:spAutoFit/>
          </a:bodyPr>
          <a:lstStyle/>
          <a:p>
            <a:pPr>
              <a:lnSpc>
                <a:spcPct val="112000"/>
              </a:lnSpc>
              <a:spcBef>
                <a:spcPts val="0"/>
              </a:spcBef>
              <a:spcAft>
                <a:spcPts val="0"/>
              </a:spcAft>
              <a:defRPr sz="1400" b="0">
                <a:solidFill>
                  <a:srgbClr val="63766E"/>
                </a:solidFill>
                <a:latin typeface="Noto Sans CJK SC"/>
              </a:defRPr>
            </a:pPr>
            <a:r>
              <a:rPr sz="1400" b="0">
                <a:solidFill>
                  <a:srgbClr val="63766E"/>
                </a:solidFill>
                <a:latin typeface="Noto Sans CJK SC"/>
                <a:ea typeface="Noto Sans CJK SC"/>
                <a:cs typeface="Noto Sans CJK SC"/>
              </a:rPr>
              <a:t>105秒</a:t>
            </a:r>
          </a:p>
        </p:txBody>
      </p:sp>
      <p:sp>
        <p:nvSpPr>
          <p:cNvPr id="20" name="Rounded Rectangle 19"/>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官方原片链接与时码据配套清单；课前试播，片中历史资料按原年份理解。</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资料：R07 / R19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13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蓝天保卫战：从一片蓝看到治理链</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空气改善来自能源、产业、交通与监管协同</a:t>
            </a:r>
          </a:p>
        </p:txBody>
      </p:sp>
      <p:pic>
        <p:nvPicPr>
          <p:cNvPr id="9" name="Picture 8" descr="eco_scenes.png"/>
          <p:cNvPicPr>
            <a:picLocks noChangeAspect="1"/>
          </p:cNvPicPr>
          <p:nvPr/>
        </p:nvPicPr>
        <p:blipFill>
          <a:blip r:embed="rId3"/>
          <a:srcRect r="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治理工业排放、燃煤、机动车和扬尘等多类污染源</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既关注细颗粒物，也关注臭氧等复合污染问题</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晴朗一天不能替代全年评价，区域协同需要长期坚持</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空气改善来自能源、产业、交通与监管协同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资料：R06 / R07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14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2025年空气质量：两个核心指标</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数字帮助我们从个人感受走向整体认识</a:t>
            </a:r>
          </a:p>
        </p:txBody>
      </p:sp>
      <p:sp>
        <p:nvSpPr>
          <p:cNvPr id="9" name="Rounded Rectangle 8"/>
          <p:cNvSpPr/>
          <p:nvPr/>
        </p:nvSpPr>
        <p:spPr>
          <a:xfrm>
            <a:off x="868680" y="2267712"/>
            <a:ext cx="5093208" cy="258775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43000" y="2496312"/>
            <a:ext cx="4480560" cy="411480"/>
          </a:xfrm>
          <a:prstGeom prst="rect">
            <a:avLst/>
          </a:prstGeom>
          <a:noFill/>
          <a:effectLst/>
        </p:spPr>
        <p:txBody>
          <a:bodyPr wrap="square" lIns="0" rIns="0" tIns="0" bIns="0" anchor="t">
            <a:spAutoFit/>
          </a:bodyPr>
          <a:lstStyle/>
          <a:p>
            <a:pPr>
              <a:lnSpc>
                <a:spcPct val="112000"/>
              </a:lnSpc>
              <a:spcBef>
                <a:spcPts val="0"/>
              </a:spcBef>
              <a:spcAft>
                <a:spcPts val="0"/>
              </a:spcAft>
              <a:defRPr sz="2000" b="1">
                <a:solidFill>
                  <a:srgbClr val="236548"/>
                </a:solidFill>
                <a:latin typeface="Noto Sans CJK SC"/>
              </a:defRPr>
            </a:pPr>
            <a:r>
              <a:rPr sz="2000" b="1">
                <a:solidFill>
                  <a:srgbClr val="236548"/>
                </a:solidFill>
                <a:latin typeface="Noto Sans CJK SC"/>
                <a:ea typeface="Noto Sans CJK SC"/>
                <a:cs typeface="Noto Sans CJK SC"/>
              </a:rPr>
              <a:t>2025年 PM₂.₅平均浓度</a:t>
            </a:r>
          </a:p>
        </p:txBody>
      </p:sp>
      <p:sp>
        <p:nvSpPr>
          <p:cNvPr id="11" name="TextBox 10"/>
          <p:cNvSpPr txBox="1"/>
          <p:nvPr/>
        </p:nvSpPr>
        <p:spPr>
          <a:xfrm>
            <a:off x="1124712" y="3163824"/>
            <a:ext cx="2834640" cy="932688"/>
          </a:xfrm>
          <a:prstGeom prst="rect">
            <a:avLst/>
          </a:prstGeom>
          <a:noFill/>
          <a:effectLst/>
        </p:spPr>
        <p:txBody>
          <a:bodyPr wrap="square" lIns="0" rIns="0" tIns="0" bIns="0" anchor="t">
            <a:spAutoFit/>
          </a:bodyPr>
          <a:lstStyle/>
          <a:p>
            <a:pPr>
              <a:lnSpc>
                <a:spcPct val="112000"/>
              </a:lnSpc>
              <a:spcBef>
                <a:spcPts val="0"/>
              </a:spcBef>
              <a:spcAft>
                <a:spcPts val="0"/>
              </a:spcAft>
              <a:defRPr sz="6100" b="1">
                <a:solidFill>
                  <a:srgbClr val="23527F"/>
                </a:solidFill>
                <a:latin typeface="Noto Sans CJK SC"/>
              </a:defRPr>
            </a:pPr>
            <a:r>
              <a:rPr sz="6100" b="1">
                <a:solidFill>
                  <a:srgbClr val="23527F"/>
                </a:solidFill>
                <a:latin typeface="Noto Sans CJK SC"/>
                <a:ea typeface="Noto Sans CJK SC"/>
                <a:cs typeface="Noto Sans CJK SC"/>
              </a:rPr>
              <a:t>28.0</a:t>
            </a:r>
          </a:p>
        </p:txBody>
      </p:sp>
      <p:sp>
        <p:nvSpPr>
          <p:cNvPr id="12" name="TextBox 11"/>
          <p:cNvSpPr txBox="1"/>
          <p:nvPr/>
        </p:nvSpPr>
        <p:spPr>
          <a:xfrm>
            <a:off x="4050791" y="3685032"/>
            <a:ext cx="1664208" cy="393192"/>
          </a:xfrm>
          <a:prstGeom prst="rect">
            <a:avLst/>
          </a:prstGeom>
          <a:noFill/>
          <a:effectLst/>
        </p:spPr>
        <p:txBody>
          <a:bodyPr wrap="square" lIns="0" rIns="0" tIns="0" bIns="0" anchor="t">
            <a:spAutoFit/>
          </a:bodyPr>
          <a:lstStyle/>
          <a:p>
            <a:pP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微克 / 立方米</a:t>
            </a:r>
          </a:p>
        </p:txBody>
      </p:sp>
      <p:sp>
        <p:nvSpPr>
          <p:cNvPr id="13" name="TextBox 12"/>
          <p:cNvSpPr txBox="1"/>
          <p:nvPr/>
        </p:nvSpPr>
        <p:spPr>
          <a:xfrm>
            <a:off x="1143000" y="4416552"/>
            <a:ext cx="4517136" cy="274320"/>
          </a:xfrm>
          <a:prstGeom prst="rect">
            <a:avLst/>
          </a:prstGeom>
          <a:noFill/>
          <a:effectLst/>
        </p:spPr>
        <p:txBody>
          <a:bodyPr wrap="square" lIns="0" rIns="0" tIns="0" bIns="0" anchor="t">
            <a:spAutoFit/>
          </a:bodyPr>
          <a:lstStyle/>
          <a:p>
            <a:pPr>
              <a:lnSpc>
                <a:spcPct val="112000"/>
              </a:lnSpc>
              <a:spcBef>
                <a:spcPts val="0"/>
              </a:spcBef>
              <a:spcAft>
                <a:spcPts val="0"/>
              </a:spcAft>
              <a:defRPr sz="1300" b="0">
                <a:solidFill>
                  <a:srgbClr val="63766E"/>
                </a:solidFill>
                <a:latin typeface="Noto Sans CJK SC"/>
              </a:defRPr>
            </a:pPr>
            <a:r>
              <a:rPr sz="1300" b="0">
                <a:solidFill>
                  <a:srgbClr val="63766E"/>
                </a:solidFill>
                <a:latin typeface="Noto Sans CJK SC"/>
                <a:ea typeface="Noto Sans CJK SC"/>
                <a:cs typeface="Noto Sans CJK SC"/>
              </a:rPr>
              <a:t>全国339个地级及以上城市 · 全年口径</a:t>
            </a:r>
          </a:p>
        </p:txBody>
      </p:sp>
      <p:sp>
        <p:nvSpPr>
          <p:cNvPr id="14" name="Rounded Rectangle 13"/>
          <p:cNvSpPr/>
          <p:nvPr/>
        </p:nvSpPr>
        <p:spPr>
          <a:xfrm>
            <a:off x="6272784" y="2267712"/>
            <a:ext cx="5093208" cy="258775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547104" y="2496312"/>
            <a:ext cx="4480560" cy="411480"/>
          </a:xfrm>
          <a:prstGeom prst="rect">
            <a:avLst/>
          </a:prstGeom>
          <a:noFill/>
          <a:effectLst/>
        </p:spPr>
        <p:txBody>
          <a:bodyPr wrap="square" lIns="0" rIns="0" tIns="0" bIns="0" anchor="t">
            <a:spAutoFit/>
          </a:bodyPr>
          <a:lstStyle/>
          <a:p>
            <a:pPr>
              <a:lnSpc>
                <a:spcPct val="112000"/>
              </a:lnSpc>
              <a:spcBef>
                <a:spcPts val="0"/>
              </a:spcBef>
              <a:spcAft>
                <a:spcPts val="0"/>
              </a:spcAft>
              <a:defRPr sz="2000" b="1">
                <a:solidFill>
                  <a:srgbClr val="236548"/>
                </a:solidFill>
                <a:latin typeface="Noto Sans CJK SC"/>
              </a:defRPr>
            </a:pPr>
            <a:r>
              <a:rPr sz="2000" b="1">
                <a:solidFill>
                  <a:srgbClr val="236548"/>
                </a:solidFill>
                <a:latin typeface="Noto Sans CJK SC"/>
                <a:ea typeface="Noto Sans CJK SC"/>
                <a:cs typeface="Noto Sans CJK SC"/>
              </a:rPr>
              <a:t>2025年 平均优良天数比例</a:t>
            </a:r>
          </a:p>
        </p:txBody>
      </p:sp>
      <p:sp>
        <p:nvSpPr>
          <p:cNvPr id="16" name="TextBox 15"/>
          <p:cNvSpPr txBox="1"/>
          <p:nvPr/>
        </p:nvSpPr>
        <p:spPr>
          <a:xfrm>
            <a:off x="6528816" y="3163824"/>
            <a:ext cx="2834640" cy="932688"/>
          </a:xfrm>
          <a:prstGeom prst="rect">
            <a:avLst/>
          </a:prstGeom>
          <a:noFill/>
          <a:effectLst/>
        </p:spPr>
        <p:txBody>
          <a:bodyPr wrap="square" lIns="0" rIns="0" tIns="0" bIns="0" anchor="t">
            <a:spAutoFit/>
          </a:bodyPr>
          <a:lstStyle/>
          <a:p>
            <a:pPr>
              <a:lnSpc>
                <a:spcPct val="112000"/>
              </a:lnSpc>
              <a:spcBef>
                <a:spcPts val="0"/>
              </a:spcBef>
              <a:spcAft>
                <a:spcPts val="0"/>
              </a:spcAft>
              <a:defRPr sz="6100" b="1">
                <a:solidFill>
                  <a:srgbClr val="23527F"/>
                </a:solidFill>
                <a:latin typeface="Noto Sans CJK SC"/>
              </a:defRPr>
            </a:pPr>
            <a:r>
              <a:rPr sz="6100" b="1">
                <a:solidFill>
                  <a:srgbClr val="23527F"/>
                </a:solidFill>
                <a:latin typeface="Noto Sans CJK SC"/>
                <a:ea typeface="Noto Sans CJK SC"/>
                <a:cs typeface="Noto Sans CJK SC"/>
              </a:rPr>
              <a:t>88.1</a:t>
            </a:r>
          </a:p>
        </p:txBody>
      </p:sp>
      <p:sp>
        <p:nvSpPr>
          <p:cNvPr id="17" name="TextBox 16"/>
          <p:cNvSpPr txBox="1"/>
          <p:nvPr/>
        </p:nvSpPr>
        <p:spPr>
          <a:xfrm>
            <a:off x="9454896" y="3685032"/>
            <a:ext cx="1664208" cy="393192"/>
          </a:xfrm>
          <a:prstGeom prst="rect">
            <a:avLst/>
          </a:prstGeom>
          <a:noFill/>
          <a:effectLst/>
        </p:spPr>
        <p:txBody>
          <a:bodyPr wrap="square" lIns="0" rIns="0" tIns="0" bIns="0" anchor="t">
            <a:spAutoFit/>
          </a:bodyPr>
          <a:lstStyle/>
          <a:p>
            <a:pP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a:t>
            </a:r>
          </a:p>
        </p:txBody>
      </p:sp>
      <p:sp>
        <p:nvSpPr>
          <p:cNvPr id="18" name="TextBox 17"/>
          <p:cNvSpPr txBox="1"/>
          <p:nvPr/>
        </p:nvSpPr>
        <p:spPr>
          <a:xfrm>
            <a:off x="6547104" y="4416552"/>
            <a:ext cx="4517136" cy="274320"/>
          </a:xfrm>
          <a:prstGeom prst="rect">
            <a:avLst/>
          </a:prstGeom>
          <a:noFill/>
          <a:effectLst/>
        </p:spPr>
        <p:txBody>
          <a:bodyPr wrap="square" lIns="0" rIns="0" tIns="0" bIns="0" anchor="t">
            <a:spAutoFit/>
          </a:bodyPr>
          <a:lstStyle/>
          <a:p>
            <a:pPr>
              <a:lnSpc>
                <a:spcPct val="112000"/>
              </a:lnSpc>
              <a:spcBef>
                <a:spcPts val="0"/>
              </a:spcBef>
              <a:spcAft>
                <a:spcPts val="0"/>
              </a:spcAft>
              <a:defRPr sz="1300" b="0">
                <a:solidFill>
                  <a:srgbClr val="63766E"/>
                </a:solidFill>
                <a:latin typeface="Noto Sans CJK SC"/>
              </a:defRPr>
            </a:pPr>
            <a:r>
              <a:rPr sz="1300" b="0">
                <a:solidFill>
                  <a:srgbClr val="63766E"/>
                </a:solidFill>
                <a:latin typeface="Noto Sans CJK SC"/>
                <a:ea typeface="Noto Sans CJK SC"/>
                <a:cs typeface="Noto Sans CJK SC"/>
              </a:rPr>
              <a:t>全国339个地级及以上城市 · 全年口径</a:t>
            </a:r>
          </a:p>
        </p:txBody>
      </p:sp>
      <p:sp>
        <p:nvSpPr>
          <p:cNvPr id="19" name="Rounded Rectangle 18"/>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88.1%为全年口径；扣除沙尘异常超标天后为89.3%，两者不能混用。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资料：R06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15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碧水保卫战：从治污走向流域治理</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一条河的变化，连着岸上的生产生活</a:t>
            </a:r>
          </a:p>
        </p:txBody>
      </p:sp>
      <p:pic>
        <p:nvPicPr>
          <p:cNvPr id="9" name="Picture 8" descr="eco_scenes.png"/>
          <p:cNvPicPr>
            <a:picLocks noChangeAspect="1"/>
          </p:cNvPicPr>
          <p:nvPr/>
        </p:nvPicPr>
        <p:blipFill>
          <a:blip r:embed="rId3"/>
          <a:srcRect l="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统筹工业废水、生活污水和农业面源污染治理</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把管网、排口、生态流量和岸线保护衔接起来</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评价水质，也评价生态功能、设施运行与公共空间</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一条河的变化，连着岸上的生产生活</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资料：R06 / R08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16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2025年水质：先认清统计对象</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91.4%说的是Ⅰ至Ⅲ类国考断面比例</a:t>
            </a:r>
          </a:p>
        </p:txBody>
      </p:sp>
      <p:sp>
        <p:nvSpPr>
          <p:cNvPr id="9" name="TextBox 8"/>
          <p:cNvSpPr txBox="1"/>
          <p:nvPr/>
        </p:nvSpPr>
        <p:spPr>
          <a:xfrm>
            <a:off x="914400" y="2212848"/>
            <a:ext cx="3566160" cy="1078992"/>
          </a:xfrm>
          <a:prstGeom prst="rect">
            <a:avLst/>
          </a:prstGeom>
          <a:noFill/>
          <a:effectLst/>
        </p:spPr>
        <p:txBody>
          <a:bodyPr wrap="square" lIns="0" rIns="0" tIns="0" bIns="0" anchor="t">
            <a:spAutoFit/>
          </a:bodyPr>
          <a:lstStyle/>
          <a:p>
            <a:pPr>
              <a:lnSpc>
                <a:spcPct val="112000"/>
              </a:lnSpc>
              <a:spcBef>
                <a:spcPts val="0"/>
              </a:spcBef>
              <a:spcAft>
                <a:spcPts val="0"/>
              </a:spcAft>
              <a:defRPr sz="6400" b="1">
                <a:solidFill>
                  <a:srgbClr val="23527F"/>
                </a:solidFill>
                <a:latin typeface="Noto Sans CJK SC"/>
              </a:defRPr>
            </a:pPr>
            <a:r>
              <a:rPr sz="6400" b="1">
                <a:solidFill>
                  <a:srgbClr val="23527F"/>
                </a:solidFill>
                <a:latin typeface="Noto Sans CJK SC"/>
                <a:ea typeface="Noto Sans CJK SC"/>
                <a:cs typeface="Noto Sans CJK SC"/>
              </a:rPr>
              <a:t>91.4%</a:t>
            </a:r>
          </a:p>
        </p:txBody>
      </p:sp>
      <p:sp>
        <p:nvSpPr>
          <p:cNvPr id="10" name="TextBox 9"/>
          <p:cNvSpPr txBox="1"/>
          <p:nvPr/>
        </p:nvSpPr>
        <p:spPr>
          <a:xfrm>
            <a:off x="4754880" y="2459736"/>
            <a:ext cx="6172200" cy="585216"/>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6548"/>
                </a:solidFill>
                <a:latin typeface="Noto Sans CJK SC"/>
              </a:defRPr>
            </a:pPr>
            <a:r>
              <a:rPr sz="2400" b="1">
                <a:solidFill>
                  <a:srgbClr val="236548"/>
                </a:solidFill>
                <a:latin typeface="Noto Sans CJK SC"/>
                <a:ea typeface="Noto Sans CJK SC"/>
                <a:cs typeface="Noto Sans CJK SC"/>
              </a:rPr>
              <a:t>2025年地表水Ⅰ—Ⅲ类断面比例</a:t>
            </a:r>
          </a:p>
        </p:txBody>
      </p:sp>
      <p:sp>
        <p:nvSpPr>
          <p:cNvPr id="11" name="TextBox 10"/>
          <p:cNvSpPr txBox="1"/>
          <p:nvPr/>
        </p:nvSpPr>
        <p:spPr>
          <a:xfrm>
            <a:off x="4782312" y="3182112"/>
            <a:ext cx="6016752" cy="539496"/>
          </a:xfrm>
          <a:prstGeom prst="rect">
            <a:avLst/>
          </a:prstGeom>
          <a:noFill/>
          <a:effectLst/>
        </p:spPr>
        <p:txBody>
          <a:bodyPr wrap="square" lIns="0" rIns="0" tIns="0" bIns="0" anchor="t">
            <a:spAutoFit/>
          </a:bodyPr>
          <a:lstStyle/>
          <a:p>
            <a:pPr>
              <a:lnSpc>
                <a:spcPct val="112000"/>
              </a:lnSpc>
              <a:spcBef>
                <a:spcPts val="0"/>
              </a:spcBef>
              <a:spcAft>
                <a:spcPts val="0"/>
              </a:spcAft>
              <a:defRPr sz="1800" b="0">
                <a:solidFill>
                  <a:srgbClr val="63766E"/>
                </a:solidFill>
                <a:latin typeface="Noto Sans CJK SC"/>
              </a:defRPr>
            </a:pPr>
            <a:r>
              <a:rPr sz="1800" b="0">
                <a:solidFill>
                  <a:srgbClr val="63766E"/>
                </a:solidFill>
                <a:latin typeface="Noto Sans CJK SC"/>
                <a:ea typeface="Noto Sans CJK SC"/>
                <a:cs typeface="Noto Sans CJK SC"/>
              </a:rPr>
              <a:t>统计对象：3641个国家地表水考核断面</a:t>
            </a:r>
          </a:p>
        </p:txBody>
      </p:sp>
      <p:sp>
        <p:nvSpPr>
          <p:cNvPr id="12" name="Rounded Rectangle 11"/>
          <p:cNvSpPr/>
          <p:nvPr/>
        </p:nvSpPr>
        <p:spPr>
          <a:xfrm>
            <a:off x="941832" y="4069080"/>
            <a:ext cx="10277856" cy="548640"/>
          </a:xfrm>
          <a:prstGeom prst="roundRect">
            <a:avLst>
              <a:gd name="adj" fmla="val 8000"/>
            </a:avLst>
          </a:prstGeom>
          <a:solidFill>
            <a:srgbClr val="CBDCC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941832" y="4069080"/>
            <a:ext cx="9393960" cy="548640"/>
          </a:xfrm>
          <a:prstGeom prst="roundRect">
            <a:avLst>
              <a:gd name="adj" fmla="val 8000"/>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05840" y="4782312"/>
            <a:ext cx="5669280" cy="365760"/>
          </a:xfrm>
          <a:prstGeom prst="rect">
            <a:avLst/>
          </a:prstGeom>
          <a:noFill/>
          <a:effectLst/>
        </p:spPr>
        <p:txBody>
          <a:bodyPr wrap="square" lIns="0" rIns="0" tIns="0" bIns="0" anchor="t">
            <a:spAutoFit/>
          </a:bodyPr>
          <a:lstStyle/>
          <a:p>
            <a:pPr>
              <a:lnSpc>
                <a:spcPct val="112000"/>
              </a:lnSpc>
              <a:spcBef>
                <a:spcPts val="0"/>
              </a:spcBef>
              <a:spcAft>
                <a:spcPts val="0"/>
              </a:spcAft>
              <a:defRPr sz="1800" b="1">
                <a:solidFill>
                  <a:srgbClr val="236548"/>
                </a:solidFill>
                <a:latin typeface="Noto Sans CJK SC"/>
              </a:defRPr>
            </a:pPr>
            <a:r>
              <a:rPr sz="1800" b="1">
                <a:solidFill>
                  <a:srgbClr val="236548"/>
                </a:solidFill>
                <a:latin typeface="Noto Sans CJK SC"/>
                <a:ea typeface="Noto Sans CJK SC"/>
                <a:cs typeface="Noto Sans CJK SC"/>
              </a:rPr>
              <a:t>Ⅰ—Ⅲ类：91.4%</a:t>
            </a:r>
          </a:p>
        </p:txBody>
      </p:sp>
      <p:sp>
        <p:nvSpPr>
          <p:cNvPr id="15" name="TextBox 14"/>
          <p:cNvSpPr txBox="1"/>
          <p:nvPr/>
        </p:nvSpPr>
        <p:spPr>
          <a:xfrm>
            <a:off x="8074152" y="4782312"/>
            <a:ext cx="3090672" cy="365760"/>
          </a:xfrm>
          <a:prstGeom prst="rect">
            <a:avLst/>
          </a:prstGeom>
          <a:noFill/>
          <a:effectLst/>
        </p:spPr>
        <p:txBody>
          <a:bodyPr wrap="square" lIns="0" rIns="0" tIns="0" bIns="0" anchor="t">
            <a:spAutoFit/>
          </a:bodyPr>
          <a:lstStyle/>
          <a:p>
            <a:pPr algn="r">
              <a:lnSpc>
                <a:spcPct val="112000"/>
              </a:lnSpc>
              <a:spcBef>
                <a:spcPts val="0"/>
              </a:spcBef>
              <a:spcAft>
                <a:spcPts val="0"/>
              </a:spcAft>
              <a:defRPr sz="1800" b="0">
                <a:solidFill>
                  <a:srgbClr val="63766E"/>
                </a:solidFill>
                <a:latin typeface="Noto Sans CJK SC"/>
              </a:defRPr>
            </a:pPr>
            <a:r>
              <a:rPr sz="1800" b="0">
                <a:solidFill>
                  <a:srgbClr val="63766E"/>
                </a:solidFill>
                <a:latin typeface="Noto Sans CJK SC"/>
                <a:ea typeface="Noto Sans CJK SC"/>
                <a:cs typeface="Noto Sans CJK SC"/>
              </a:rPr>
              <a:t>其余类别：8.6%</a:t>
            </a:r>
          </a:p>
        </p:txBody>
      </p:sp>
      <p:sp>
        <p:nvSpPr>
          <p:cNvPr id="16" name="Rounded Rectangle 15"/>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监测断面比例 ≠ 全部河流比例 ≠ 饮用水合格率。</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资料：R06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17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净土保卫战：守住看不见的底线</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表面整洁，不等于土壤环境风险已经消除</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污染源预防、风险识别、分类管理与修复相互衔接</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住宅、学校和工业用地对应不同的暴露情景</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用调查评估和安全利用要求，守住土地使用底线</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R18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18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从末端治理走向源头预防</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越早识别环境风险，越能减少后续治理成本</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规划和项目选址阶段，就把生态空间约束纳入决策</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以清洁工艺、原料节约和产品设计减少污染产生</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把环境要求前移，形成预防、治理与责任的闭环</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资料：R03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19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系统保护：从单个要素看向整体</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山水林田湖草沙构成相互联系的生态系统</a:t>
            </a:r>
          </a:p>
        </p:txBody>
      </p:sp>
      <p:pic>
        <p:nvPicPr>
          <p:cNvPr id="9" name="Picture 8" descr="eco_scenes.png"/>
          <p:cNvPicPr>
            <a:picLocks noChangeAspect="1"/>
          </p:cNvPicPr>
          <p:nvPr/>
        </p:nvPicPr>
        <p:blipFill>
          <a:blip r:embed="rId3"/>
          <a:srcRect r="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上游植被会影响下游泥沙、水质与流域安全</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湿地连接栖息地保护、蓄洪调节与区域生态功能</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修复要研究自然过程、空间格局和人类活动之间的联系</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山水林田湖草沙构成相互联系的生态系统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R18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20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生态保护红线：守住关键生态空间</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地图上的边界，需要落实为决策和行为约束</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重要生态空间承担水源涵养、水土保持等功能</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把严格保护与用途管制、监测监管衔接起来</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红线之外也应依法保护，底线制度与日常治理共同发力</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资料：R24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21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国家公园：保护重要自然生态系统</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看不同区域，更要看各自承担的生态功能</a:t>
            </a:r>
          </a:p>
        </p:txBody>
      </p:sp>
      <p:pic>
        <p:nvPicPr>
          <p:cNvPr id="9" name="Picture 8" descr="eco_scenes.png"/>
          <p:cNvPicPr>
            <a:picLocks noChangeAspect="1"/>
          </p:cNvPicPr>
          <p:nvPr/>
        </p:nvPicPr>
        <p:blipFill>
          <a:blip r:embed="rId3"/>
          <a:srcRect r="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三江源、大熊猫、东北虎豹等首批国家公园于2021年设立</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空间与物种保护，需要结合科研监测和社区参与</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首批名单是历史事实，不能据此推断当前公园总数</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看不同区域，更要看各自承担的生态功能</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资料：R23 / R24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22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生物多样性：维护生命网络</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保护的不仅是明星物种，还有完整的生态联系</a:t>
            </a:r>
          </a:p>
        </p:txBody>
      </p:sp>
      <p:pic>
        <p:nvPicPr>
          <p:cNvPr id="9" name="Picture 8" descr="eco_scenes.png"/>
          <p:cNvPicPr>
            <a:picLocks noChangeAspect="1"/>
          </p:cNvPicPr>
          <p:nvPr/>
        </p:nvPicPr>
        <p:blipFill>
          <a:blip r:embed="rId3"/>
          <a:srcRect r="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遗传、物种和生态系统多样性共同支撑生态稳定</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栖息地完整性、生态廊道和外来入侵问题都需关注</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珍稀动物出现是线索，整体成效仍需系统监测</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保护的不仅是明星物种，还有完整的生态联系</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资料：R06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23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流域保护：把上下游看作共同体</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共享一条河，也共享保护责任和治理成果</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水资源、产业布局、岸线和污染防治相互影响</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跨地区、跨部门协同，避免问题在行政边界转移</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用明确责任、共同规则与利益协调维护长期成效</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R25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24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2025年能源结构：看清指标口径</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30.4%是清洁能源消费占比，须准确理解统计范围</a:t>
            </a:r>
          </a:p>
        </p:txBody>
      </p:sp>
      <p:sp>
        <p:nvSpPr>
          <p:cNvPr id="9" name="TextBox 8"/>
          <p:cNvSpPr txBox="1"/>
          <p:nvPr/>
        </p:nvSpPr>
        <p:spPr>
          <a:xfrm>
            <a:off x="960120" y="2240280"/>
            <a:ext cx="3886200" cy="1097280"/>
          </a:xfrm>
          <a:prstGeom prst="rect">
            <a:avLst/>
          </a:prstGeom>
          <a:noFill/>
          <a:effectLst/>
        </p:spPr>
        <p:txBody>
          <a:bodyPr wrap="square" lIns="0" rIns="0" tIns="0" bIns="0" anchor="t">
            <a:spAutoFit/>
          </a:bodyPr>
          <a:lstStyle/>
          <a:p>
            <a:pPr>
              <a:lnSpc>
                <a:spcPct val="112000"/>
              </a:lnSpc>
              <a:spcBef>
                <a:spcPts val="0"/>
              </a:spcBef>
              <a:spcAft>
                <a:spcPts val="0"/>
              </a:spcAft>
              <a:defRPr sz="6500" b="1">
                <a:solidFill>
                  <a:srgbClr val="23527F"/>
                </a:solidFill>
                <a:latin typeface="Noto Sans CJK SC"/>
              </a:defRPr>
            </a:pPr>
            <a:r>
              <a:rPr sz="6500" b="1">
                <a:solidFill>
                  <a:srgbClr val="23527F"/>
                </a:solidFill>
                <a:latin typeface="Noto Sans CJK SC"/>
                <a:ea typeface="Noto Sans CJK SC"/>
                <a:cs typeface="Noto Sans CJK SC"/>
              </a:rPr>
              <a:t>30.4%</a:t>
            </a:r>
          </a:p>
        </p:txBody>
      </p:sp>
      <p:sp>
        <p:nvSpPr>
          <p:cNvPr id="10" name="TextBox 9"/>
          <p:cNvSpPr txBox="1"/>
          <p:nvPr/>
        </p:nvSpPr>
        <p:spPr>
          <a:xfrm>
            <a:off x="1005840" y="3584448"/>
            <a:ext cx="4297680" cy="768096"/>
          </a:xfrm>
          <a:prstGeom prst="rect">
            <a:avLst/>
          </a:prstGeom>
          <a:noFill/>
          <a:effectLst/>
        </p:spPr>
        <p:txBody>
          <a:bodyPr wrap="square" lIns="0" rIns="0" tIns="0" bIns="0" anchor="t">
            <a:spAutoFit/>
          </a:bodyPr>
          <a:lstStyle/>
          <a:p>
            <a:pPr>
              <a:lnSpc>
                <a:spcPct val="112000"/>
              </a:lnSpc>
              <a:spcBef>
                <a:spcPts val="0"/>
              </a:spcBef>
              <a:spcAft>
                <a:spcPts val="0"/>
              </a:spcAft>
              <a:defRPr sz="2200" b="1">
                <a:solidFill>
                  <a:srgbClr val="236548"/>
                </a:solidFill>
                <a:latin typeface="Noto Sans CJK SC"/>
              </a:defRPr>
            </a:pPr>
            <a:r>
              <a:rPr sz="2200" b="1">
                <a:solidFill>
                  <a:srgbClr val="236548"/>
                </a:solidFill>
                <a:latin typeface="Noto Sans CJK SC"/>
                <a:ea typeface="Noto Sans CJK SC"/>
                <a:cs typeface="Noto Sans CJK SC"/>
              </a:rPr>
              <a:t>2025年清洁能源消费量</a:t>
            </a:r>
          </a:p>
          <a:p>
            <a:pPr>
              <a:lnSpc>
                <a:spcPct val="112000"/>
              </a:lnSpc>
              <a:spcBef>
                <a:spcPts val="0"/>
              </a:spcBef>
              <a:spcAft>
                <a:spcPts val="0"/>
              </a:spcAft>
              <a:defRPr sz="2200" b="1">
                <a:solidFill>
                  <a:srgbClr val="236548"/>
                </a:solidFill>
                <a:latin typeface="Noto Sans CJK SC"/>
              </a:defRPr>
            </a:pPr>
            <a:r>
              <a:rPr sz="2200" b="1">
                <a:solidFill>
                  <a:srgbClr val="236548"/>
                </a:solidFill>
                <a:latin typeface="Noto Sans CJK SC"/>
                <a:ea typeface="Noto Sans CJK SC"/>
                <a:cs typeface="Noto Sans CJK SC"/>
              </a:rPr>
              <a:t>占能源消费总量的比重</a:t>
            </a:r>
          </a:p>
        </p:txBody>
      </p:sp>
      <p:sp>
        <p:nvSpPr>
          <p:cNvPr id="11" name="Oval 10"/>
          <p:cNvSpPr/>
          <p:nvPr/>
        </p:nvSpPr>
        <p:spPr>
          <a:xfrm>
            <a:off x="5870448" y="236829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126480" y="2295144"/>
            <a:ext cx="5001768" cy="786384"/>
          </a:xfrm>
          <a:prstGeom prst="rect">
            <a:avLst/>
          </a:prstGeom>
          <a:noFill/>
          <a:effectLst/>
        </p:spPr>
        <p:txBody>
          <a:bodyPr wrap="square" lIns="0" rIns="0" tIns="0" bIns="0" anchor="t">
            <a:spAutoFit/>
          </a:bodyPr>
          <a:lstStyle/>
          <a:p>
            <a:pPr>
              <a:lnSpc>
                <a:spcPct val="112000"/>
              </a:lnSpc>
              <a:spcBef>
                <a:spcPts val="0"/>
              </a:spcBef>
              <a:spcAft>
                <a:spcPts val="0"/>
              </a:spcAft>
              <a:defRPr sz="2050" b="0">
                <a:solidFill>
                  <a:srgbClr val="233E39"/>
                </a:solidFill>
                <a:latin typeface="Noto Sans CJK SC"/>
              </a:defRPr>
            </a:pPr>
            <a:r>
              <a:rPr sz="2050" b="0">
                <a:solidFill>
                  <a:srgbClr val="233E39"/>
                </a:solidFill>
                <a:latin typeface="Noto Sans CJK SC"/>
                <a:ea typeface="Noto Sans CJK SC"/>
                <a:cs typeface="Noto Sans CJK SC"/>
              </a:rPr>
              <a:t>口径包含天然气、水电、核电、风电、太阳能发电等。</a:t>
            </a:r>
          </a:p>
        </p:txBody>
      </p:sp>
      <p:sp>
        <p:nvSpPr>
          <p:cNvPr id="13" name="Oval 12"/>
          <p:cNvSpPr/>
          <p:nvPr/>
        </p:nvSpPr>
        <p:spPr>
          <a:xfrm>
            <a:off x="5870448" y="3300984"/>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126480" y="3227832"/>
            <a:ext cx="5001768" cy="786384"/>
          </a:xfrm>
          <a:prstGeom prst="rect">
            <a:avLst/>
          </a:prstGeom>
          <a:noFill/>
          <a:effectLst/>
        </p:spPr>
        <p:txBody>
          <a:bodyPr wrap="square" lIns="0" rIns="0" tIns="0" bIns="0" anchor="t">
            <a:spAutoFit/>
          </a:bodyPr>
          <a:lstStyle/>
          <a:p>
            <a:pPr>
              <a:lnSpc>
                <a:spcPct val="112000"/>
              </a:lnSpc>
              <a:spcBef>
                <a:spcPts val="0"/>
              </a:spcBef>
              <a:spcAft>
                <a:spcPts val="0"/>
              </a:spcAft>
              <a:defRPr sz="2050" b="0">
                <a:solidFill>
                  <a:srgbClr val="233E39"/>
                </a:solidFill>
                <a:latin typeface="Noto Sans CJK SC"/>
              </a:defRPr>
            </a:pPr>
            <a:r>
              <a:rPr sz="2050" b="0">
                <a:solidFill>
                  <a:srgbClr val="233E39"/>
                </a:solidFill>
                <a:latin typeface="Noto Sans CJK SC"/>
                <a:ea typeface="Noto Sans CJK SC"/>
                <a:cs typeface="Noto Sans CJK SC"/>
              </a:rPr>
              <a:t>清洁能源与非化石能源是不同指标，不能混用。</a:t>
            </a:r>
          </a:p>
        </p:txBody>
      </p:sp>
      <p:sp>
        <p:nvSpPr>
          <p:cNvPr id="15" name="Oval 14"/>
          <p:cNvSpPr/>
          <p:nvPr/>
        </p:nvSpPr>
        <p:spPr>
          <a:xfrm>
            <a:off x="5870448" y="4233672"/>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126480" y="4160520"/>
            <a:ext cx="5001768" cy="786384"/>
          </a:xfrm>
          <a:prstGeom prst="rect">
            <a:avLst/>
          </a:prstGeom>
          <a:noFill/>
          <a:effectLst/>
        </p:spPr>
        <p:txBody>
          <a:bodyPr wrap="square" lIns="0" rIns="0" tIns="0" bIns="0" anchor="t">
            <a:spAutoFit/>
          </a:bodyPr>
          <a:lstStyle/>
          <a:p>
            <a:pPr>
              <a:lnSpc>
                <a:spcPct val="112000"/>
              </a:lnSpc>
              <a:spcBef>
                <a:spcPts val="0"/>
              </a:spcBef>
              <a:spcAft>
                <a:spcPts val="0"/>
              </a:spcAft>
              <a:defRPr sz="2050" b="0">
                <a:solidFill>
                  <a:srgbClr val="233E39"/>
                </a:solidFill>
                <a:latin typeface="Noto Sans CJK SC"/>
              </a:defRPr>
            </a:pPr>
            <a:r>
              <a:rPr sz="2050" b="0">
                <a:solidFill>
                  <a:srgbClr val="233E39"/>
                </a:solidFill>
                <a:latin typeface="Noto Sans CJK SC"/>
                <a:ea typeface="Noto Sans CJK SC"/>
                <a:cs typeface="Noto Sans CJK SC"/>
              </a:rPr>
              <a:t>判断转型还要考察供给安全、系统调节与消费效率。</a:t>
            </a:r>
          </a:p>
        </p:txBody>
      </p:sp>
      <p:sp>
        <p:nvSpPr>
          <p:cNvPr id="17" name="Rounded Rectangle 16"/>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把指标名称、统计范围、年份和单位一起读出来。</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R25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25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能源转型：绿色低碳也要安全可靠</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从供给、消费到系统能力一起改变</a:t>
            </a:r>
          </a:p>
        </p:txBody>
      </p:sp>
      <p:pic>
        <p:nvPicPr>
          <p:cNvPr id="9" name="Picture 8" descr="eco_scenes.png"/>
          <p:cNvPicPr>
            <a:picLocks noChangeAspect="1"/>
          </p:cNvPicPr>
          <p:nvPr/>
        </p:nvPicPr>
        <p:blipFill>
          <a:blip r:embed="rId3"/>
          <a:srcRect r="50000" t="51667" b="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发展清洁能源，同步提高能源利用效率</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加强电网、储能与调节能力，适应供需时空变化</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把低碳转型与能源安全、成本和民生保障统筹起来</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从供给、消费到系统能力一起改变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26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绿色产业：看产品，也看全链条</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评价绿色优势，要跨越单一生产或使用环节</a:t>
            </a:r>
          </a:p>
        </p:txBody>
      </p:sp>
      <p:sp>
        <p:nvSpPr>
          <p:cNvPr id="9" name="Rounded Rectangle 8"/>
          <p:cNvSpPr/>
          <p:nvPr/>
        </p:nvSpPr>
        <p:spPr>
          <a:xfrm>
            <a:off x="877824" y="2313432"/>
            <a:ext cx="3319272" cy="259689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69848" y="2560320"/>
            <a:ext cx="2935224" cy="466344"/>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236548"/>
                </a:solidFill>
                <a:latin typeface="Noto Sans CJK SC"/>
              </a:defRPr>
            </a:pPr>
            <a:r>
              <a:rPr sz="2500" b="1">
                <a:solidFill>
                  <a:srgbClr val="236548"/>
                </a:solidFill>
                <a:latin typeface="Noto Sans CJK SC"/>
                <a:ea typeface="Noto Sans CJK SC"/>
                <a:cs typeface="Noto Sans CJK SC"/>
              </a:rPr>
              <a:t>材料与制造</a:t>
            </a:r>
          </a:p>
        </p:txBody>
      </p:sp>
      <p:sp>
        <p:nvSpPr>
          <p:cNvPr id="11" name="TextBox 10"/>
          <p:cNvSpPr txBox="1"/>
          <p:nvPr/>
        </p:nvSpPr>
        <p:spPr>
          <a:xfrm>
            <a:off x="1088136" y="3410712"/>
            <a:ext cx="2898648" cy="117043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关注资源消耗、清洁生产和制造环节的环境影响</a:t>
            </a:r>
          </a:p>
        </p:txBody>
      </p:sp>
      <p:sp>
        <p:nvSpPr>
          <p:cNvPr id="12" name="Chevron 11"/>
          <p:cNvSpPr/>
          <p:nvPr/>
        </p:nvSpPr>
        <p:spPr>
          <a:xfrm>
            <a:off x="4242816" y="3383280"/>
            <a:ext cx="210312"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4480560" y="2313432"/>
            <a:ext cx="3319272" cy="259689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72584" y="2560320"/>
            <a:ext cx="2935224" cy="466344"/>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236548"/>
                </a:solidFill>
                <a:latin typeface="Noto Sans CJK SC"/>
              </a:defRPr>
            </a:pPr>
            <a:r>
              <a:rPr sz="2500" b="1">
                <a:solidFill>
                  <a:srgbClr val="236548"/>
                </a:solidFill>
                <a:latin typeface="Noto Sans CJK SC"/>
                <a:ea typeface="Noto Sans CJK SC"/>
                <a:cs typeface="Noto Sans CJK SC"/>
              </a:rPr>
              <a:t>能源与使用</a:t>
            </a:r>
          </a:p>
        </p:txBody>
      </p:sp>
      <p:sp>
        <p:nvSpPr>
          <p:cNvPr id="15" name="TextBox 14"/>
          <p:cNvSpPr txBox="1"/>
          <p:nvPr/>
        </p:nvSpPr>
        <p:spPr>
          <a:xfrm>
            <a:off x="4690872" y="3410712"/>
            <a:ext cx="2898648" cy="117043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结合电力来源、使用效率和实际出行情境评价</a:t>
            </a:r>
          </a:p>
        </p:txBody>
      </p:sp>
      <p:sp>
        <p:nvSpPr>
          <p:cNvPr id="16" name="Chevron 15"/>
          <p:cNvSpPr/>
          <p:nvPr/>
        </p:nvSpPr>
        <p:spPr>
          <a:xfrm>
            <a:off x="7845552" y="3383280"/>
            <a:ext cx="210312"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8083296" y="2313432"/>
            <a:ext cx="3319272" cy="2596896"/>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75320" y="2560320"/>
            <a:ext cx="2935224" cy="466344"/>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236548"/>
                </a:solidFill>
                <a:latin typeface="Noto Sans CJK SC"/>
              </a:defRPr>
            </a:pPr>
            <a:r>
              <a:rPr sz="2500" b="1">
                <a:solidFill>
                  <a:srgbClr val="236548"/>
                </a:solidFill>
                <a:latin typeface="Noto Sans CJK SC"/>
                <a:ea typeface="Noto Sans CJK SC"/>
                <a:cs typeface="Noto Sans CJK SC"/>
              </a:rPr>
              <a:t>回收与利用</a:t>
            </a:r>
          </a:p>
        </p:txBody>
      </p:sp>
      <p:sp>
        <p:nvSpPr>
          <p:cNvPr id="19" name="TextBox 18"/>
          <p:cNvSpPr txBox="1"/>
          <p:nvPr/>
        </p:nvSpPr>
        <p:spPr>
          <a:xfrm>
            <a:off x="8293608" y="3410712"/>
            <a:ext cx="2898648" cy="117043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把电池回收、材料循环与后续责任纳入分析</a:t>
            </a:r>
          </a:p>
        </p:txBody>
      </p:sp>
      <p:sp>
        <p:nvSpPr>
          <p:cNvPr id="20" name="Rounded Rectangle 19"/>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以新能源汽车为例：跨越单一环节，用全生命周期思维识别收益与成本。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27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绿色生活：让参与成为日常习惯</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个人行动需要与便利设施和可靠服务相配合</a:t>
            </a:r>
          </a:p>
        </p:txBody>
      </p:sp>
      <p:sp>
        <p:nvSpPr>
          <p:cNvPr id="9" name="Rounded Rectangle 8"/>
          <p:cNvSpPr/>
          <p:nvPr/>
        </p:nvSpPr>
        <p:spPr>
          <a:xfrm>
            <a:off x="822960"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22960" y="2240280"/>
            <a:ext cx="5175504" cy="530352"/>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个人行动</a:t>
            </a:r>
          </a:p>
        </p:txBody>
      </p:sp>
      <p:sp>
        <p:nvSpPr>
          <p:cNvPr id="12" name="TextBox 11"/>
          <p:cNvSpPr txBox="1"/>
          <p:nvPr/>
        </p:nvSpPr>
        <p:spPr>
          <a:xfrm>
            <a:off x="1078992"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节水节电、减少食物浪费、分类投放都可从今天做起</a:t>
            </a:r>
          </a:p>
        </p:txBody>
      </p:sp>
      <p:sp>
        <p:nvSpPr>
          <p:cNvPr id="13" name="TextBox 12"/>
          <p:cNvSpPr txBox="1"/>
          <p:nvPr/>
        </p:nvSpPr>
        <p:spPr>
          <a:xfrm>
            <a:off x="1078992" y="3968496"/>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降低参与门槛，让绿色出行和绿色消费更容易坚持</a:t>
            </a:r>
          </a:p>
        </p:txBody>
      </p:sp>
      <p:sp>
        <p:nvSpPr>
          <p:cNvPr id="14" name="Rounded Rectangle 13"/>
          <p:cNvSpPr/>
          <p:nvPr/>
        </p:nvSpPr>
        <p:spPr>
          <a:xfrm>
            <a:off x="6272784"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272784" y="2240280"/>
            <a:ext cx="5175504" cy="530352"/>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01384"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公共服务</a:t>
            </a:r>
          </a:p>
        </p:txBody>
      </p:sp>
      <p:sp>
        <p:nvSpPr>
          <p:cNvPr id="17" name="TextBox 16"/>
          <p:cNvSpPr txBox="1"/>
          <p:nvPr/>
        </p:nvSpPr>
        <p:spPr>
          <a:xfrm>
            <a:off x="6528816"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居民分类以后，收运处理环节还要保持衔接</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区分适用对象、时间和口径，再作比较与判断。</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资料：R16 / V2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28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视频二：一条河为何持续变好</a:t>
            </a:r>
          </a:p>
        </p:txBody>
      </p:sp>
      <p:sp>
        <p:nvSpPr>
          <p:cNvPr id="8" name="Rounded Rectangle 7"/>
          <p:cNvSpPr/>
          <p:nvPr/>
        </p:nvSpPr>
        <p:spPr>
          <a:xfrm>
            <a:off x="832104" y="1819656"/>
            <a:ext cx="6620256" cy="3337560"/>
          </a:xfrm>
          <a:prstGeom prst="roundRect">
            <a:avLst>
              <a:gd name="adj" fmla="val 8000"/>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1088136" y="2066543"/>
            <a:ext cx="1508760" cy="320040"/>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61288" y="2098548"/>
            <a:ext cx="1362456" cy="256032"/>
          </a:xfrm>
          <a:prstGeom prst="rect">
            <a:avLst/>
          </a:prstGeom>
          <a:noFill/>
          <a:effectLst/>
        </p:spPr>
        <p:txBody>
          <a:bodyPr wrap="square" lIns="0" rIns="0" tIns="0" bIns="0" anchor="t">
            <a:spAutoFit/>
          </a:bodyPr>
          <a:lstStyle/>
          <a:p>
            <a:pPr algn="ctr">
              <a:lnSpc>
                <a:spcPct val="112000"/>
              </a:lnSpc>
              <a:spcBef>
                <a:spcPts val="0"/>
              </a:spcBef>
              <a:spcAft>
                <a:spcPts val="0"/>
              </a:spcAft>
              <a:defRPr sz="1400" b="1">
                <a:solidFill>
                  <a:srgbClr val="FFFFFF"/>
                </a:solidFill>
                <a:latin typeface="Noto Sans CJK SC"/>
              </a:defRPr>
            </a:pPr>
            <a:r>
              <a:rPr sz="1400" b="1">
                <a:solidFill>
                  <a:srgbClr val="FFFFFF"/>
                </a:solidFill>
                <a:latin typeface="Noto Sans CJK SC"/>
                <a:ea typeface="Noto Sans CJK SC"/>
                <a:cs typeface="Noto Sans CJK SC"/>
              </a:rPr>
              <a:t>V2 · 视频学习</a:t>
            </a:r>
          </a:p>
        </p:txBody>
      </p:sp>
      <p:sp>
        <p:nvSpPr>
          <p:cNvPr id="11" name="TextBox 10"/>
          <p:cNvSpPr txBox="1"/>
          <p:nvPr/>
        </p:nvSpPr>
        <p:spPr>
          <a:xfrm>
            <a:off x="1097280" y="2770632"/>
            <a:ext cx="6035040" cy="1024128"/>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FFFFFF"/>
                </a:solidFill>
                <a:latin typeface="Noto Sans CJK SC"/>
              </a:defRPr>
            </a:pPr>
            <a:r>
              <a:rPr sz="2500" b="1">
                <a:solidFill>
                  <a:srgbClr val="FFFFFF"/>
                </a:solidFill>
                <a:latin typeface="Noto Sans CJK SC"/>
                <a:ea typeface="Noto Sans CJK SC"/>
                <a:cs typeface="Noto Sans CJK SC"/>
              </a:rPr>
              <a:t>[逐梦山水]筼筜湖华丽蜕变 “臭水湖”变成“城市会客厅”</a:t>
            </a:r>
          </a:p>
        </p:txBody>
      </p:sp>
      <p:sp>
        <p:nvSpPr>
          <p:cNvPr id="12" name="Rounded Rectangle 11">
            <a:hlinkClick r:id="rId3"/>
          </p:cNvPr>
          <p:cNvSpPr/>
          <p:nvPr/>
        </p:nvSpPr>
        <p:spPr>
          <a:xfrm>
            <a:off x="1124712" y="4224528"/>
            <a:ext cx="3044952" cy="539496"/>
          </a:xfrm>
          <a:prstGeom prst="roundRect">
            <a:avLst>
              <a:gd name="adj" fmla="val 8000"/>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a:hlinkClick r:id="rId3"/>
          </p:cNvPr>
          <p:cNvSpPr txBox="1"/>
          <p:nvPr/>
        </p:nvSpPr>
        <p:spPr>
          <a:xfrm>
            <a:off x="1234440" y="4325112"/>
            <a:ext cx="2825496" cy="329184"/>
          </a:xfrm>
          <a:prstGeom prst="rect">
            <a:avLst/>
          </a:prstGeom>
          <a:noFill/>
          <a:effectLst/>
        </p:spPr>
        <p:txBody>
          <a:bodyPr wrap="square" lIns="0" rIns="0" tIns="0" bIns="0" anchor="t">
            <a:spAutoFit/>
          </a:bodyPr>
          <a:lstStyle/>
          <a:p>
            <a:pPr algn="ctr">
              <a:lnSpc>
                <a:spcPct val="112000"/>
              </a:lnSpc>
              <a:spcBef>
                <a:spcPts val="0"/>
              </a:spcBef>
              <a:spcAft>
                <a:spcPts val="0"/>
              </a:spcAft>
              <a:defRPr sz="1800" b="1">
                <a:solidFill>
                  <a:srgbClr val="FFFFFF"/>
                </a:solidFill>
                <a:latin typeface="Noto Sans CJK SC"/>
              </a:defRPr>
            </a:pPr>
            <a:r>
              <a:rPr sz="1800" b="1">
                <a:solidFill>
                  <a:srgbClr val="FFFFFF"/>
                </a:solidFill>
                <a:latin typeface="Noto Sans CJK SC"/>
                <a:ea typeface="Noto Sans CJK SC"/>
                <a:cs typeface="Noto Sans CJK SC"/>
              </a:rPr>
              <a:t>▶  点击打开央视原片</a:t>
            </a:r>
          </a:p>
        </p:txBody>
      </p:sp>
      <p:sp>
        <p:nvSpPr>
          <p:cNvPr id="14" name="TextBox 13"/>
          <p:cNvSpPr txBox="1"/>
          <p:nvPr/>
        </p:nvSpPr>
        <p:spPr>
          <a:xfrm>
            <a:off x="4370832" y="4416552"/>
            <a:ext cx="2697480"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300" b="0">
                <a:solidFill>
                  <a:srgbClr val="FFFFFF"/>
                </a:solidFill>
                <a:latin typeface="Noto Sans CJK SC"/>
              </a:defRPr>
            </a:pPr>
            <a:r>
              <a:rPr sz="1300" b="0">
                <a:solidFill>
                  <a:srgbClr val="FFFFFF"/>
                </a:solidFill>
                <a:latin typeface="Noto Sans CJK SC"/>
                <a:ea typeface="Noto Sans CJK SC"/>
                <a:cs typeface="Noto Sans CJK SC"/>
              </a:rPr>
              <a:t>网络链接式播放</a:t>
            </a:r>
          </a:p>
        </p:txBody>
      </p:sp>
      <p:sp>
        <p:nvSpPr>
          <p:cNvPr id="15" name="TextBox 14"/>
          <p:cNvSpPr txBox="1"/>
          <p:nvPr/>
        </p:nvSpPr>
        <p:spPr>
          <a:xfrm>
            <a:off x="7909560" y="1847088"/>
            <a:ext cx="3401568" cy="393192"/>
          </a:xfrm>
          <a:prstGeom prst="rect">
            <a:avLst/>
          </a:prstGeom>
          <a:noFill/>
          <a:effectLst/>
        </p:spPr>
        <p:txBody>
          <a:bodyPr wrap="square" lIns="0" rIns="0" tIns="0" bIns="0" anchor="t">
            <a:spAutoFit/>
          </a:bodyPr>
          <a:lstStyle/>
          <a:p>
            <a:pPr>
              <a:lnSpc>
                <a:spcPct val="112000"/>
              </a:lnSpc>
              <a:spcBef>
                <a:spcPts val="0"/>
              </a:spcBef>
              <a:spcAft>
                <a:spcPts val="0"/>
              </a:spcAft>
              <a:defRPr sz="2300" b="1">
                <a:solidFill>
                  <a:srgbClr val="236548"/>
                </a:solidFill>
                <a:latin typeface="Noto Sans CJK SC"/>
              </a:defRPr>
            </a:pPr>
            <a:r>
              <a:rPr sz="2300" b="1">
                <a:solidFill>
                  <a:srgbClr val="236548"/>
                </a:solidFill>
                <a:latin typeface="Noto Sans CJK SC"/>
                <a:ea typeface="Noto Sans CJK SC"/>
                <a:cs typeface="Noto Sans CJK SC"/>
              </a:rPr>
              <a:t>带着问题看视频</a:t>
            </a:r>
          </a:p>
        </p:txBody>
      </p:sp>
      <p:sp>
        <p:nvSpPr>
          <p:cNvPr id="16" name="TextBox 15"/>
          <p:cNvSpPr txBox="1"/>
          <p:nvPr/>
        </p:nvSpPr>
        <p:spPr>
          <a:xfrm>
            <a:off x="7909560" y="2505456"/>
            <a:ext cx="3383280" cy="1143000"/>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哪些岸上措施与水体改善有关？为什么不能只在水里治水？</a:t>
            </a:r>
          </a:p>
        </p:txBody>
      </p:sp>
      <p:pic>
        <p:nvPicPr>
          <p:cNvPr id="17" name="Picture 16" descr="V2.png"/>
          <p:cNvPicPr>
            <a:picLocks noChangeAspect="1"/>
          </p:cNvPicPr>
          <p:nvPr/>
        </p:nvPicPr>
        <p:blipFill>
          <a:blip r:embed="rId4"/>
          <a:stretch>
            <a:fillRect/>
          </a:stretch>
        </p:blipFill>
        <p:spPr>
          <a:xfrm>
            <a:off x="7891272" y="3959352"/>
            <a:ext cx="1078992" cy="1078992"/>
          </a:xfrm>
          <a:prstGeom prst="rect">
            <a:avLst/>
          </a:prstGeom>
          <a:effectLst/>
        </p:spPr>
      </p:pic>
      <p:sp>
        <p:nvSpPr>
          <p:cNvPr id="18" name="TextBox 17"/>
          <p:cNvSpPr txBox="1"/>
          <p:nvPr/>
        </p:nvSpPr>
        <p:spPr>
          <a:xfrm>
            <a:off x="9189720" y="4005072"/>
            <a:ext cx="2057400" cy="713232"/>
          </a:xfrm>
          <a:prstGeom prst="rect">
            <a:avLst/>
          </a:prstGeom>
          <a:noFill/>
          <a:effectLst/>
        </p:spPr>
        <p:txBody>
          <a:bodyPr wrap="square" lIns="0" rIns="0" tIns="0" bIns="0" anchor="t">
            <a:spAutoFit/>
          </a:bodyPr>
          <a:lstStyle/>
          <a:p>
            <a:pPr>
              <a:lnSpc>
                <a:spcPct val="112000"/>
              </a:lnSpc>
              <a:spcBef>
                <a:spcPts val="0"/>
              </a:spcBef>
              <a:spcAft>
                <a:spcPts val="0"/>
              </a:spcAft>
              <a:defRPr sz="1600" b="1">
                <a:solidFill>
                  <a:srgbClr val="236548"/>
                </a:solidFill>
                <a:latin typeface="Noto Sans CJK SC"/>
              </a:defRPr>
            </a:pPr>
            <a:r>
              <a:rPr sz="1600" b="1">
                <a:solidFill>
                  <a:srgbClr val="236548"/>
                </a:solidFill>
                <a:latin typeface="Noto Sans CJK SC"/>
                <a:ea typeface="Noto Sans CJK SC"/>
                <a:cs typeface="Noto Sans CJK SC"/>
              </a:rPr>
              <a:t>建议选播</a:t>
            </a:r>
          </a:p>
          <a:p>
            <a:pPr>
              <a:lnSpc>
                <a:spcPct val="112000"/>
              </a:lnSpc>
              <a:spcBef>
                <a:spcPts val="0"/>
              </a:spcBef>
              <a:spcAft>
                <a:spcPts val="0"/>
              </a:spcAft>
              <a:defRPr sz="1600" b="1">
                <a:solidFill>
                  <a:srgbClr val="236548"/>
                </a:solidFill>
                <a:latin typeface="Noto Sans CJK SC"/>
              </a:defRPr>
            </a:pPr>
            <a:r>
              <a:rPr sz="1600" b="1">
                <a:solidFill>
                  <a:srgbClr val="236548"/>
                </a:solidFill>
                <a:latin typeface="Noto Sans CJK SC"/>
                <a:ea typeface="Noto Sans CJK SC"/>
                <a:cs typeface="Noto Sans CJK SC"/>
              </a:rPr>
              <a:t>00:15—02:00</a:t>
            </a:r>
          </a:p>
        </p:txBody>
      </p:sp>
      <p:sp>
        <p:nvSpPr>
          <p:cNvPr id="19" name="TextBox 18"/>
          <p:cNvSpPr txBox="1"/>
          <p:nvPr/>
        </p:nvSpPr>
        <p:spPr>
          <a:xfrm>
            <a:off x="9189720" y="4764024"/>
            <a:ext cx="2103120" cy="274320"/>
          </a:xfrm>
          <a:prstGeom prst="rect">
            <a:avLst/>
          </a:prstGeom>
          <a:noFill/>
          <a:effectLst/>
        </p:spPr>
        <p:txBody>
          <a:bodyPr wrap="square" lIns="0" rIns="0" tIns="0" bIns="0" anchor="t">
            <a:spAutoFit/>
          </a:bodyPr>
          <a:lstStyle/>
          <a:p>
            <a:pPr>
              <a:lnSpc>
                <a:spcPct val="112000"/>
              </a:lnSpc>
              <a:spcBef>
                <a:spcPts val="0"/>
              </a:spcBef>
              <a:spcAft>
                <a:spcPts val="0"/>
              </a:spcAft>
              <a:defRPr sz="1400" b="0">
                <a:solidFill>
                  <a:srgbClr val="63766E"/>
                </a:solidFill>
                <a:latin typeface="Noto Sans CJK SC"/>
              </a:defRPr>
            </a:pPr>
            <a:r>
              <a:rPr sz="1400" b="0">
                <a:solidFill>
                  <a:srgbClr val="63766E"/>
                </a:solidFill>
                <a:latin typeface="Noto Sans CJK SC"/>
                <a:ea typeface="Noto Sans CJK SC"/>
                <a:cs typeface="Noto Sans CJK SC"/>
              </a:rPr>
              <a:t>105秒</a:t>
            </a:r>
          </a:p>
        </p:txBody>
      </p:sp>
      <p:sp>
        <p:nvSpPr>
          <p:cNvPr id="20" name="Rounded Rectangle 19"/>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官方原片链接与时码据配套清单；课前试播，片中历史资料按原年份理解。</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R24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29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国际合作：共同应对全球生态挑战</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气候、污染与生物多样性问题具有跨国影响</a:t>
            </a:r>
          </a:p>
        </p:txBody>
      </p:sp>
      <p:pic>
        <p:nvPicPr>
          <p:cNvPr id="9" name="Picture 8" descr="eco_scenes.png"/>
          <p:cNvPicPr>
            <a:picLocks noChangeAspect="1"/>
          </p:cNvPicPr>
          <p:nvPr/>
        </p:nvPicPr>
        <p:blipFill>
          <a:blip r:embed="rId3"/>
          <a:srcRect r="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参与气候变化、生物多样性等领域的国际合作</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在共同目标下尊重发展阶段差异与各国实际条件</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把国内绿色转型与全球环境治理的贡献联系起来</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气候、污染与生物多样性问题具有跨国影响</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资料：R02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30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成就从何而来：治理体系形成合力</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理念引领、责任落实、制度约束与科技支撑相互作用</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理念回答为什么保护，责任回答由谁持续推进</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制度为监管、督察、考核和公众参与提供依据</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技术与行动使治理措施能够落地、监测和改进</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资料：R04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31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人民立场：环境改善由群众感受</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发展成果，要落实到健康、安全与日常生活</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饮水、空气、噪声与人居环境直接影响获得感</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把群众身边的突出问题转化为明确治理任务</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评价既看统计变化，也看公共服务与实际生活改善</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资料：R06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32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科学方法：用监测和证据支撑治理</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观察现象之后，还要识别来源、过程与效果</a:t>
            </a:r>
          </a:p>
        </p:txBody>
      </p:sp>
      <p:pic>
        <p:nvPicPr>
          <p:cNvPr id="9" name="Picture 8" descr="eco_scenes.png"/>
          <p:cNvPicPr>
            <a:picLocks noChangeAspect="1"/>
          </p:cNvPicPr>
          <p:nvPr/>
        </p:nvPicPr>
        <p:blipFill>
          <a:blip r:embed="rId3"/>
          <a:srcRect l="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可靠数据帮助发现问题、解释变化、评价措施</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规范采样、分析方法、原始记录与质量控制</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区分相关关系与因果判断，不能仅凭单次观察下结论</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观察现象之后，还要识别来源、过程与效果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资料：R02 / R06 / R24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33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怎样理解“举世瞩目”</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既讲改善规模，也讲制度变革与发展方式变化</a:t>
            </a:r>
          </a:p>
        </p:txBody>
      </p:sp>
      <p:pic>
        <p:nvPicPr>
          <p:cNvPr id="9" name="Picture 8" descr="eco_scenes.png"/>
          <p:cNvPicPr>
            <a:picLocks noChangeAspect="1"/>
          </p:cNvPicPr>
          <p:nvPr/>
        </p:nvPicPr>
        <p:blipFill>
          <a:blip r:embed="rId3"/>
          <a:srcRect r="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在人口与经济规模较大的条件下持续推进环境改善</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从单项治理走向系统保护和绿色转型</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用可比数据、具体案例与制度事实支撑成就判断</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既讲改善规模，也讲制度变革与发展方式变化</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资料：R06 / 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34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肯定成就，也认识任务的长期性</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结构性压力与新型风险仍需持续应对</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部分地区、时段与领域仍存在突出环境问题</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产业、能源和交通结构调整需要长期投入</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巩固成果与解决深层矛盾，要放在同一进程中推进</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35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课堂辨析：投入大就一定效果好吗</a:t>
            </a:r>
          </a:p>
        </p:txBody>
      </p:sp>
      <p:sp>
        <p:nvSpPr>
          <p:cNvPr id="8" name="TextBox 7"/>
          <p:cNvSpPr txBox="1"/>
          <p:nvPr/>
        </p:nvSpPr>
        <p:spPr>
          <a:xfrm>
            <a:off x="859536" y="1901952"/>
            <a:ext cx="5486400" cy="1325880"/>
          </a:xfrm>
          <a:prstGeom prst="rect">
            <a:avLst/>
          </a:prstGeom>
          <a:noFill/>
          <a:effectLst/>
        </p:spPr>
        <p:txBody>
          <a:bodyPr wrap="square" lIns="0" rIns="0" tIns="0" bIns="0" anchor="t">
            <a:spAutoFit/>
          </a:bodyPr>
          <a:lstStyle/>
          <a:p>
            <a:pPr>
              <a:lnSpc>
                <a:spcPct val="112000"/>
              </a:lnSpc>
              <a:spcBef>
                <a:spcPts val="0"/>
              </a:spcBef>
              <a:spcAft>
                <a:spcPts val="0"/>
              </a:spcAft>
              <a:defRPr sz="3100" b="1">
                <a:solidFill>
                  <a:srgbClr val="236548"/>
                </a:solidFill>
                <a:latin typeface="Noto Sans CJK SC"/>
              </a:defRPr>
            </a:pPr>
            <a:r>
              <a:rPr sz="3100" b="1">
                <a:solidFill>
                  <a:srgbClr val="236548"/>
                </a:solidFill>
                <a:latin typeface="Noto Sans CJK SC"/>
                <a:ea typeface="Noto Sans CJK SC"/>
                <a:cs typeface="Noto Sans CJK SC"/>
              </a:rPr>
              <a:t>投入增加，</a:t>
            </a:r>
          </a:p>
          <a:p>
            <a:pPr>
              <a:lnSpc>
                <a:spcPct val="112000"/>
              </a:lnSpc>
              <a:spcBef>
                <a:spcPts val="0"/>
              </a:spcBef>
              <a:spcAft>
                <a:spcPts val="0"/>
              </a:spcAft>
              <a:defRPr sz="3100" b="1">
                <a:solidFill>
                  <a:srgbClr val="236548"/>
                </a:solidFill>
                <a:latin typeface="Noto Sans CJK SC"/>
              </a:defRPr>
            </a:pPr>
            <a:r>
              <a:rPr sz="3100" b="1">
                <a:solidFill>
                  <a:srgbClr val="236548"/>
                </a:solidFill>
                <a:latin typeface="Noto Sans CJK SC"/>
                <a:ea typeface="Noto Sans CJK SC"/>
                <a:cs typeface="Noto Sans CJK SC"/>
              </a:rPr>
              <a:t>治理效果就一定更好吗？</a:t>
            </a:r>
          </a:p>
        </p:txBody>
      </p:sp>
      <p:sp>
        <p:nvSpPr>
          <p:cNvPr id="9" name="TextBox 8"/>
          <p:cNvSpPr txBox="1"/>
          <p:nvPr/>
        </p:nvSpPr>
        <p:spPr>
          <a:xfrm>
            <a:off x="886968" y="3675887"/>
            <a:ext cx="4983480" cy="411480"/>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63766E"/>
                </a:solidFill>
                <a:latin typeface="Noto Sans CJK SC"/>
              </a:defRPr>
            </a:pPr>
            <a:r>
              <a:rPr sz="1900" b="0">
                <a:solidFill>
                  <a:srgbClr val="63766E"/>
                </a:solidFill>
                <a:latin typeface="Noto Sans CJK SC"/>
                <a:ea typeface="Noto Sans CJK SC"/>
                <a:cs typeface="Noto Sans CJK SC"/>
              </a:rPr>
              <a:t>先给出观察，再说明依据。</a:t>
            </a:r>
          </a:p>
        </p:txBody>
      </p:sp>
      <p:pic>
        <p:nvPicPr>
          <p:cNvPr id="10" name="Picture 9" descr="eco_scenes.png"/>
          <p:cNvPicPr>
            <a:picLocks noChangeAspect="1"/>
          </p:cNvPicPr>
          <p:nvPr/>
        </p:nvPicPr>
        <p:blipFill>
          <a:blip r:embed="rId3"/>
          <a:srcRect l="50000" t="52732" b="2732"/>
          <a:stretch>
            <a:fillRect/>
          </a:stretch>
        </p:blipFill>
        <p:spPr>
          <a:xfrm>
            <a:off x="6931152" y="1783080"/>
            <a:ext cx="4434840" cy="2633472"/>
          </a:xfrm>
          <a:prstGeom prst="rect">
            <a:avLst/>
          </a:prstGeom>
          <a:effectLst/>
        </p:spPr>
      </p:pic>
      <p:sp>
        <p:nvSpPr>
          <p:cNvPr id="11" name="Rectangle 10"/>
          <p:cNvSpPr/>
          <p:nvPr/>
        </p:nvSpPr>
        <p:spPr>
          <a:xfrm>
            <a:off x="6931152" y="4151376"/>
            <a:ext cx="443484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022592" y="4178808"/>
            <a:ext cx="4251959"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3" name="Rounded Rectangle 12"/>
          <p:cNvSpPr/>
          <p:nvPr/>
        </p:nvSpPr>
        <p:spPr>
          <a:xfrm>
            <a:off x="896112" y="4736592"/>
            <a:ext cx="3337560" cy="8046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33271" y="4837176"/>
            <a:ext cx="3063240" cy="603504"/>
          </a:xfrm>
          <a:prstGeom prst="rect">
            <a:avLst/>
          </a:prstGeom>
          <a:noFill/>
          <a:effectLst/>
        </p:spPr>
        <p:txBody>
          <a:bodyPr wrap="square" lIns="0" rIns="0" tIns="0" bIns="0" anchor="t">
            <a:spAutoFit/>
          </a:bodyPr>
          <a:lstStyle/>
          <a:p>
            <a:pPr>
              <a:lnSpc>
                <a:spcPct val="112000"/>
              </a:lnSpc>
              <a:spcBef>
                <a:spcPts val="0"/>
              </a:spcBef>
              <a:spcAft>
                <a:spcPts val="0"/>
              </a:spcAft>
              <a:defRPr sz="1650" b="0">
                <a:solidFill>
                  <a:srgbClr val="233E39"/>
                </a:solidFill>
                <a:latin typeface="Noto Sans CJK SC"/>
              </a:defRPr>
            </a:pPr>
            <a:r>
              <a:rPr sz="1650" b="0">
                <a:solidFill>
                  <a:srgbClr val="233E39"/>
                </a:solidFill>
                <a:latin typeface="Noto Sans CJK SC"/>
                <a:ea typeface="Noto Sans CJK SC"/>
                <a:cs typeface="Noto Sans CJK SC"/>
              </a:rPr>
              <a:t>只看投入规模，能否说明治理有效？</a:t>
            </a:r>
          </a:p>
        </p:txBody>
      </p:sp>
      <p:sp>
        <p:nvSpPr>
          <p:cNvPr id="15" name="Rounded Rectangle 14"/>
          <p:cNvSpPr/>
          <p:nvPr/>
        </p:nvSpPr>
        <p:spPr>
          <a:xfrm>
            <a:off x="4480560" y="4736592"/>
            <a:ext cx="3337560" cy="8046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617720" y="4837176"/>
            <a:ext cx="3063240" cy="603504"/>
          </a:xfrm>
          <a:prstGeom prst="rect">
            <a:avLst/>
          </a:prstGeom>
          <a:noFill/>
          <a:effectLst/>
        </p:spPr>
        <p:txBody>
          <a:bodyPr wrap="square" lIns="0" rIns="0" tIns="0" bIns="0" anchor="t">
            <a:spAutoFit/>
          </a:bodyPr>
          <a:lstStyle/>
          <a:p>
            <a:pPr>
              <a:lnSpc>
                <a:spcPct val="112000"/>
              </a:lnSpc>
              <a:spcBef>
                <a:spcPts val="0"/>
              </a:spcBef>
              <a:spcAft>
                <a:spcPts val="0"/>
              </a:spcAft>
              <a:defRPr sz="1650" b="0">
                <a:solidFill>
                  <a:srgbClr val="233E39"/>
                </a:solidFill>
                <a:latin typeface="Noto Sans CJK SC"/>
              </a:defRPr>
            </a:pPr>
            <a:r>
              <a:rPr sz="1650" b="0">
                <a:solidFill>
                  <a:srgbClr val="233E39"/>
                </a:solidFill>
                <a:latin typeface="Noto Sans CJK SC"/>
                <a:ea typeface="Noto Sans CJK SC"/>
                <a:cs typeface="Noto Sans CJK SC"/>
              </a:rPr>
              <a:t>请举出一项需要长期运维的治理设施</a:t>
            </a:r>
          </a:p>
        </p:txBody>
      </p:sp>
      <p:sp>
        <p:nvSpPr>
          <p:cNvPr id="17" name="Rounded Rectangle 16"/>
          <p:cNvSpPr/>
          <p:nvPr/>
        </p:nvSpPr>
        <p:spPr>
          <a:xfrm>
            <a:off x="8065008" y="4736592"/>
            <a:ext cx="3337560" cy="8046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02168" y="4837176"/>
            <a:ext cx="3063240" cy="603504"/>
          </a:xfrm>
          <a:prstGeom prst="rect">
            <a:avLst/>
          </a:prstGeom>
          <a:noFill/>
          <a:effectLst/>
        </p:spPr>
        <p:txBody>
          <a:bodyPr wrap="square" lIns="0" rIns="0" tIns="0" bIns="0" anchor="t">
            <a:spAutoFit/>
          </a:bodyPr>
          <a:lstStyle/>
          <a:p>
            <a:pPr>
              <a:lnSpc>
                <a:spcPct val="112000"/>
              </a:lnSpc>
              <a:spcBef>
                <a:spcPts val="0"/>
              </a:spcBef>
              <a:spcAft>
                <a:spcPts val="0"/>
              </a:spcAft>
              <a:defRPr sz="1650" b="0">
                <a:solidFill>
                  <a:srgbClr val="233E39"/>
                </a:solidFill>
                <a:latin typeface="Noto Sans CJK SC"/>
              </a:defRPr>
            </a:pPr>
            <a:r>
              <a:rPr sz="1650" b="0">
                <a:solidFill>
                  <a:srgbClr val="233E39"/>
                </a:solidFill>
                <a:latin typeface="Noto Sans CJK SC"/>
                <a:ea typeface="Noto Sans CJK SC"/>
                <a:cs typeface="Noto Sans CJK SC"/>
              </a:rPr>
              <a:t>用事实、效果和持续性说明你的判断</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资料：R02 / R05 / R06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36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第一部分小结：四个维度认识成就</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环境改善、生态保护、绿色转型、治理进步</a:t>
            </a:r>
          </a:p>
        </p:txBody>
      </p:sp>
      <p:sp>
        <p:nvSpPr>
          <p:cNvPr id="9" name="Rectangle 8"/>
          <p:cNvSpPr/>
          <p:nvPr/>
        </p:nvSpPr>
        <p:spPr>
          <a:xfrm>
            <a:off x="923544" y="2276856"/>
            <a:ext cx="100584" cy="621792"/>
          </a:xfrm>
          <a:prstGeom prst="rect">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307592" y="2304288"/>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环境质量：以年度数据和群众感受共同观察</a:t>
            </a:r>
          </a:p>
        </p:txBody>
      </p:sp>
      <p:sp>
        <p:nvSpPr>
          <p:cNvPr id="11" name="Rectangle 10"/>
          <p:cNvSpPr/>
          <p:nvPr/>
        </p:nvSpPr>
        <p:spPr>
          <a:xfrm>
            <a:off x="923544" y="3154680"/>
            <a:ext cx="100584" cy="6217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307592" y="3182112"/>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生态系统与发展方式：保护功能，提高资源效率</a:t>
            </a:r>
          </a:p>
        </p:txBody>
      </p:sp>
      <p:sp>
        <p:nvSpPr>
          <p:cNvPr id="13" name="Rectangle 12"/>
          <p:cNvSpPr/>
          <p:nvPr/>
        </p:nvSpPr>
        <p:spPr>
          <a:xfrm>
            <a:off x="923544" y="4032504"/>
            <a:ext cx="100584" cy="621792"/>
          </a:xfrm>
          <a:prstGeom prst="rect">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307592" y="4059936"/>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治理能力：责任、规则、监测与公众参与共同支撑</a:t>
            </a:r>
          </a:p>
        </p:txBody>
      </p:sp>
      <p:sp>
        <p:nvSpPr>
          <p:cNvPr id="15" name="Rounded Rectangle 1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把今天的认识转化为有依据、可执行、能持续的行动。</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第一部分 · 新时代成就</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R10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37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从治理成就走向稳定制度保障</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怎样让已经取得的成效持续保持并不断提升？</a:t>
            </a:r>
          </a:p>
        </p:txBody>
      </p:sp>
      <p:sp>
        <p:nvSpPr>
          <p:cNvPr id="9" name="Rectangle 8"/>
          <p:cNvSpPr/>
          <p:nvPr/>
        </p:nvSpPr>
        <p:spPr>
          <a:xfrm>
            <a:off x="923544" y="2276856"/>
            <a:ext cx="100584" cy="621792"/>
          </a:xfrm>
          <a:prstGeom prst="rect">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307592" y="2304288"/>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生态环境治理需要长期投入和跨主体利益协调</a:t>
            </a:r>
          </a:p>
        </p:txBody>
      </p:sp>
      <p:sp>
        <p:nvSpPr>
          <p:cNvPr id="11" name="Rectangle 10"/>
          <p:cNvSpPr/>
          <p:nvPr/>
        </p:nvSpPr>
        <p:spPr>
          <a:xfrm>
            <a:off x="923544" y="3154680"/>
            <a:ext cx="100584" cy="6217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307592" y="3182112"/>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稳定规则明确权利义务，规范行政与生产经营行为</a:t>
            </a:r>
          </a:p>
        </p:txBody>
      </p:sp>
      <p:sp>
        <p:nvSpPr>
          <p:cNvPr id="13" name="Rectangle 12"/>
          <p:cNvSpPr/>
          <p:nvPr/>
        </p:nvSpPr>
        <p:spPr>
          <a:xfrm>
            <a:off x="923544" y="4032504"/>
            <a:ext cx="100584" cy="621792"/>
          </a:xfrm>
          <a:prstGeom prst="rect">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307592" y="4059936"/>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从阶段行动走向持续履责，进入生态环境法治议题</a:t>
            </a:r>
          </a:p>
        </p:txBody>
      </p:sp>
      <p:sp>
        <p:nvSpPr>
          <p:cNvPr id="15" name="Rounded Rectangle 1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把今天的认识转化为有依据、可执行、能持续的行动。</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R10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38 / 100</a:t>
            </a:r>
          </a:p>
        </p:txBody>
      </p:sp>
      <p:sp>
        <p:nvSpPr>
          <p:cNvPr id="6" name="TextBox 5"/>
          <p:cNvSpPr txBox="1"/>
          <p:nvPr/>
        </p:nvSpPr>
        <p:spPr>
          <a:xfrm>
            <a:off x="713232" y="1124712"/>
            <a:ext cx="1828800" cy="1143000"/>
          </a:xfrm>
          <a:prstGeom prst="rect">
            <a:avLst/>
          </a:prstGeom>
          <a:noFill/>
          <a:effectLst/>
        </p:spPr>
        <p:txBody>
          <a:bodyPr wrap="square" lIns="0" rIns="0" tIns="0" bIns="0" anchor="t">
            <a:spAutoFit/>
          </a:bodyPr>
          <a:lstStyle/>
          <a:p>
            <a:pPr>
              <a:lnSpc>
                <a:spcPct val="112000"/>
              </a:lnSpc>
              <a:spcBef>
                <a:spcPts val="0"/>
              </a:spcBef>
              <a:spcAft>
                <a:spcPts val="0"/>
              </a:spcAft>
              <a:defRPr sz="6800" b="1">
                <a:solidFill>
                  <a:srgbClr val="75BD42"/>
                </a:solidFill>
                <a:latin typeface="Noto Sans CJK SC"/>
              </a:defRPr>
            </a:pPr>
            <a:r>
              <a:rPr sz="6800" b="1">
                <a:solidFill>
                  <a:srgbClr val="75BD42"/>
                </a:solidFill>
                <a:latin typeface="Noto Sans CJK SC"/>
                <a:ea typeface="Noto Sans CJK SC"/>
                <a:cs typeface="Noto Sans CJK SC"/>
              </a:rPr>
              <a:t>02</a:t>
            </a:r>
          </a:p>
        </p:txBody>
      </p:sp>
      <p:sp>
        <p:nvSpPr>
          <p:cNvPr id="7" name="TextBox 6"/>
          <p:cNvSpPr txBox="1"/>
          <p:nvPr/>
        </p:nvSpPr>
        <p:spPr>
          <a:xfrm>
            <a:off x="777240" y="2295144"/>
            <a:ext cx="7132320" cy="1463040"/>
          </a:xfrm>
          <a:prstGeom prst="rect">
            <a:avLst/>
          </a:prstGeom>
          <a:noFill/>
          <a:effectLst/>
        </p:spPr>
        <p:txBody>
          <a:bodyPr wrap="square" lIns="0" rIns="0" tIns="0" bIns="0" anchor="t">
            <a:spAutoFit/>
          </a:bodyPr>
          <a:lstStyle/>
          <a:p>
            <a:pPr>
              <a:lnSpc>
                <a:spcPct val="112000"/>
              </a:lnSpc>
              <a:spcBef>
                <a:spcPts val="0"/>
              </a:spcBef>
              <a:spcAft>
                <a:spcPts val="0"/>
              </a:spcAft>
              <a:defRPr sz="3100" b="1">
                <a:solidFill>
                  <a:srgbClr val="233E39"/>
                </a:solidFill>
                <a:latin typeface="Noto Sans CJK SC"/>
              </a:defRPr>
            </a:pPr>
            <a:r>
              <a:rPr sz="3100" b="1">
                <a:solidFill>
                  <a:srgbClr val="233E39"/>
                </a:solidFill>
                <a:latin typeface="Noto Sans CJK SC"/>
                <a:ea typeface="Noto Sans CJK SC"/>
                <a:cs typeface="Noto Sans CJK SC"/>
              </a:rPr>
              <a:t>充分认识编纂施行</a:t>
            </a:r>
          </a:p>
          <a:p>
            <a:pPr>
              <a:lnSpc>
                <a:spcPct val="112000"/>
              </a:lnSpc>
              <a:spcBef>
                <a:spcPts val="0"/>
              </a:spcBef>
              <a:spcAft>
                <a:spcPts val="0"/>
              </a:spcAft>
              <a:defRPr sz="3100" b="1">
                <a:solidFill>
                  <a:srgbClr val="233E39"/>
                </a:solidFill>
                <a:latin typeface="Noto Sans CJK SC"/>
              </a:defRPr>
            </a:pPr>
            <a:r>
              <a:rPr sz="3100" b="1">
                <a:solidFill>
                  <a:srgbClr val="233E39"/>
                </a:solidFill>
                <a:latin typeface="Noto Sans CJK SC"/>
                <a:ea typeface="Noto Sans CJK SC"/>
                <a:cs typeface="Noto Sans CJK SC"/>
              </a:rPr>
              <a:t>生态环境法典的重大意义</a:t>
            </a:r>
          </a:p>
        </p:txBody>
      </p:sp>
      <p:sp>
        <p:nvSpPr>
          <p:cNvPr id="8" name="TextBox 7"/>
          <p:cNvSpPr txBox="1"/>
          <p:nvPr/>
        </p:nvSpPr>
        <p:spPr>
          <a:xfrm>
            <a:off x="822960" y="4160520"/>
            <a:ext cx="6263640" cy="822960"/>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6548"/>
                </a:solidFill>
                <a:latin typeface="Noto Sans CJK SC"/>
              </a:defRPr>
            </a:pPr>
            <a:r>
              <a:rPr sz="2100" b="0">
                <a:solidFill>
                  <a:srgbClr val="236548"/>
                </a:solidFill>
                <a:latin typeface="Noto Sans CJK SC"/>
                <a:ea typeface="Noto Sans CJK SC"/>
                <a:cs typeface="Noto Sans CJK SC"/>
              </a:rPr>
              <a:t>以生态环境法治保障人与自然和谐共生</a:t>
            </a:r>
          </a:p>
        </p:txBody>
      </p:sp>
      <p:pic>
        <p:nvPicPr>
          <p:cNvPr id="9" name="Picture 8" descr="eco_scenes.png"/>
          <p:cNvPicPr>
            <a:picLocks noChangeAspect="1"/>
          </p:cNvPicPr>
          <p:nvPr/>
        </p:nvPicPr>
        <p:blipFill>
          <a:blip r:embed="rId3"/>
          <a:srcRect l="59330" r="9330" b="50000"/>
          <a:stretch>
            <a:fillRect/>
          </a:stretch>
        </p:blipFill>
        <p:spPr>
          <a:xfrm>
            <a:off x="7882127" y="1261872"/>
            <a:ext cx="3593592" cy="3822191"/>
          </a:xfrm>
          <a:prstGeom prst="rect">
            <a:avLst/>
          </a:prstGeom>
          <a:effectLst/>
        </p:spPr>
      </p:pic>
      <p:sp>
        <p:nvSpPr>
          <p:cNvPr id="10" name="Rectangle 9"/>
          <p:cNvSpPr/>
          <p:nvPr/>
        </p:nvSpPr>
        <p:spPr>
          <a:xfrm>
            <a:off x="7882127" y="4818888"/>
            <a:ext cx="3593592"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973567" y="4846320"/>
            <a:ext cx="3410712"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R10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39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生态环境法典：从编纂走向实施</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以系统法治保障，支撑人与自然和谐共生</a:t>
            </a:r>
          </a:p>
        </p:txBody>
      </p:sp>
      <p:sp>
        <p:nvSpPr>
          <p:cNvPr id="9" name="TextBox 8"/>
          <p:cNvSpPr txBox="1"/>
          <p:nvPr/>
        </p:nvSpPr>
        <p:spPr>
          <a:xfrm>
            <a:off x="941832" y="2148840"/>
            <a:ext cx="4389120" cy="521207"/>
          </a:xfrm>
          <a:prstGeom prst="rect">
            <a:avLst/>
          </a:prstGeom>
          <a:noFill/>
          <a:effectLst/>
        </p:spPr>
        <p:txBody>
          <a:bodyPr wrap="square" lIns="0" rIns="0" tIns="0" bIns="0" anchor="t">
            <a:spAutoFit/>
          </a:bodyPr>
          <a:lstStyle/>
          <a:p>
            <a:pPr>
              <a:lnSpc>
                <a:spcPct val="112000"/>
              </a:lnSpc>
              <a:spcBef>
                <a:spcPts val="0"/>
              </a:spcBef>
              <a:spcAft>
                <a:spcPts val="0"/>
              </a:spcAft>
              <a:defRPr sz="3100" b="1">
                <a:solidFill>
                  <a:srgbClr val="23527F"/>
                </a:solidFill>
                <a:latin typeface="Noto Sans CJK SC"/>
              </a:defRPr>
            </a:pPr>
            <a:r>
              <a:rPr sz="3100" b="1">
                <a:solidFill>
                  <a:srgbClr val="23527F"/>
                </a:solidFill>
                <a:latin typeface="Noto Sans CJK SC"/>
                <a:ea typeface="Noto Sans CJK SC"/>
                <a:cs typeface="Noto Sans CJK SC"/>
              </a:rPr>
              <a:t>2026.03.12</a:t>
            </a:r>
          </a:p>
        </p:txBody>
      </p:sp>
      <p:sp>
        <p:nvSpPr>
          <p:cNvPr id="10" name="TextBox 9"/>
          <p:cNvSpPr txBox="1"/>
          <p:nvPr/>
        </p:nvSpPr>
        <p:spPr>
          <a:xfrm>
            <a:off x="941832" y="2743200"/>
            <a:ext cx="4389120" cy="34747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63766E"/>
                </a:solidFill>
                <a:latin typeface="Noto Sans CJK SC"/>
              </a:defRPr>
            </a:pPr>
            <a:r>
              <a:rPr sz="1900" b="0">
                <a:solidFill>
                  <a:srgbClr val="63766E"/>
                </a:solidFill>
                <a:latin typeface="Noto Sans CJK SC"/>
                <a:ea typeface="Noto Sans CJK SC"/>
                <a:cs typeface="Noto Sans CJK SC"/>
              </a:rPr>
              <a:t>通过并公布</a:t>
            </a:r>
          </a:p>
        </p:txBody>
      </p:sp>
      <p:sp>
        <p:nvSpPr>
          <p:cNvPr id="11" name="TextBox 10"/>
          <p:cNvSpPr txBox="1"/>
          <p:nvPr/>
        </p:nvSpPr>
        <p:spPr>
          <a:xfrm>
            <a:off x="6601968" y="2148840"/>
            <a:ext cx="4389120" cy="521207"/>
          </a:xfrm>
          <a:prstGeom prst="rect">
            <a:avLst/>
          </a:prstGeom>
          <a:noFill/>
          <a:effectLst/>
        </p:spPr>
        <p:txBody>
          <a:bodyPr wrap="square" lIns="0" rIns="0" tIns="0" bIns="0" anchor="t">
            <a:spAutoFit/>
          </a:bodyPr>
          <a:lstStyle/>
          <a:p>
            <a:pPr>
              <a:lnSpc>
                <a:spcPct val="112000"/>
              </a:lnSpc>
              <a:spcBef>
                <a:spcPts val="0"/>
              </a:spcBef>
              <a:spcAft>
                <a:spcPts val="0"/>
              </a:spcAft>
              <a:defRPr sz="3100" b="1">
                <a:solidFill>
                  <a:srgbClr val="23527F"/>
                </a:solidFill>
                <a:latin typeface="Noto Sans CJK SC"/>
              </a:defRPr>
            </a:pPr>
            <a:r>
              <a:rPr sz="3100" b="1">
                <a:solidFill>
                  <a:srgbClr val="23527F"/>
                </a:solidFill>
                <a:latin typeface="Noto Sans CJK SC"/>
                <a:ea typeface="Noto Sans CJK SC"/>
                <a:cs typeface="Noto Sans CJK SC"/>
              </a:rPr>
              <a:t>2026.08.15</a:t>
            </a:r>
          </a:p>
        </p:txBody>
      </p:sp>
      <p:sp>
        <p:nvSpPr>
          <p:cNvPr id="12" name="TextBox 11"/>
          <p:cNvSpPr txBox="1"/>
          <p:nvPr/>
        </p:nvSpPr>
        <p:spPr>
          <a:xfrm>
            <a:off x="6601968" y="2743200"/>
            <a:ext cx="4389120" cy="34747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63766E"/>
                </a:solidFill>
                <a:latin typeface="Noto Sans CJK SC"/>
              </a:defRPr>
            </a:pPr>
            <a:r>
              <a:rPr sz="1900" b="0">
                <a:solidFill>
                  <a:srgbClr val="63766E"/>
                </a:solidFill>
                <a:latin typeface="Noto Sans CJK SC"/>
                <a:ea typeface="Noto Sans CJK SC"/>
                <a:cs typeface="Noto Sans CJK SC"/>
              </a:rPr>
              <a:t>开始施行</a:t>
            </a:r>
          </a:p>
        </p:txBody>
      </p:sp>
      <p:cxnSp>
        <p:nvCxnSpPr>
          <p:cNvPr id="13" name="Connector 12"/>
          <p:cNvCxnSpPr/>
          <p:nvPr/>
        </p:nvCxnSpPr>
        <p:spPr>
          <a:xfrm>
            <a:off x="960120" y="3319272"/>
            <a:ext cx="10204704" cy="0"/>
          </a:xfrm>
          <a:prstGeom prst="line">
            <a:avLst/>
          </a:prstGeom>
          <a:ln w="2667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Rounded Rectangle 13"/>
          <p:cNvSpPr/>
          <p:nvPr/>
        </p:nvSpPr>
        <p:spPr>
          <a:xfrm>
            <a:off x="905256" y="3675887"/>
            <a:ext cx="1947672" cy="1252728"/>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24128" y="3968496"/>
            <a:ext cx="1709928" cy="722376"/>
          </a:xfrm>
          <a:prstGeom prst="rect">
            <a:avLst/>
          </a:prstGeom>
          <a:noFill/>
          <a:effectLst/>
        </p:spPr>
        <p:txBody>
          <a:bodyPr wrap="square" lIns="0" rIns="0" tIns="0" bIns="0" anchor="t">
            <a:spAutoFit/>
          </a:bodyPr>
          <a:lstStyle/>
          <a:p>
            <a:pPr algn="ct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总则</a:t>
            </a:r>
          </a:p>
        </p:txBody>
      </p:sp>
      <p:sp>
        <p:nvSpPr>
          <p:cNvPr id="16" name="Rounded Rectangle 15"/>
          <p:cNvSpPr/>
          <p:nvPr/>
        </p:nvSpPr>
        <p:spPr>
          <a:xfrm>
            <a:off x="3054096" y="3675887"/>
            <a:ext cx="1947672" cy="1252728"/>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172968" y="3968496"/>
            <a:ext cx="1709928" cy="722376"/>
          </a:xfrm>
          <a:prstGeom prst="rect">
            <a:avLst/>
          </a:prstGeom>
          <a:noFill/>
          <a:effectLst/>
        </p:spPr>
        <p:txBody>
          <a:bodyPr wrap="square" lIns="0" rIns="0" tIns="0" bIns="0" anchor="t">
            <a:spAutoFit/>
          </a:bodyPr>
          <a:lstStyle/>
          <a:p>
            <a:pPr algn="ct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污染防治</a:t>
            </a:r>
          </a:p>
        </p:txBody>
      </p:sp>
      <p:sp>
        <p:nvSpPr>
          <p:cNvPr id="18" name="Rounded Rectangle 17"/>
          <p:cNvSpPr/>
          <p:nvPr/>
        </p:nvSpPr>
        <p:spPr>
          <a:xfrm>
            <a:off x="5202936" y="3675887"/>
            <a:ext cx="1947672" cy="1252728"/>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321808" y="3968496"/>
            <a:ext cx="1709928" cy="722376"/>
          </a:xfrm>
          <a:prstGeom prst="rect">
            <a:avLst/>
          </a:prstGeom>
          <a:noFill/>
          <a:effectLst/>
        </p:spPr>
        <p:txBody>
          <a:bodyPr wrap="square" lIns="0" rIns="0" tIns="0" bIns="0" anchor="t">
            <a:spAutoFit/>
          </a:bodyPr>
          <a:lstStyle/>
          <a:p>
            <a:pPr algn="ct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生态保护</a:t>
            </a:r>
          </a:p>
        </p:txBody>
      </p:sp>
      <p:sp>
        <p:nvSpPr>
          <p:cNvPr id="20" name="Rounded Rectangle 19"/>
          <p:cNvSpPr/>
          <p:nvPr/>
        </p:nvSpPr>
        <p:spPr>
          <a:xfrm>
            <a:off x="7351776" y="3675887"/>
            <a:ext cx="1947672" cy="1252728"/>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70648" y="3968496"/>
            <a:ext cx="1709928" cy="722376"/>
          </a:xfrm>
          <a:prstGeom prst="rect">
            <a:avLst/>
          </a:prstGeom>
          <a:noFill/>
          <a:effectLst/>
        </p:spPr>
        <p:txBody>
          <a:bodyPr wrap="square" lIns="0" rIns="0" tIns="0" bIns="0" anchor="t">
            <a:spAutoFit/>
          </a:bodyPr>
          <a:lstStyle/>
          <a:p>
            <a:pPr algn="ct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绿色低碳</a:t>
            </a:r>
          </a:p>
          <a:p>
            <a:pPr algn="ct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发展</a:t>
            </a:r>
          </a:p>
        </p:txBody>
      </p:sp>
      <p:sp>
        <p:nvSpPr>
          <p:cNvPr id="22" name="Rounded Rectangle 21"/>
          <p:cNvSpPr/>
          <p:nvPr/>
        </p:nvSpPr>
        <p:spPr>
          <a:xfrm>
            <a:off x="9500616" y="3675887"/>
            <a:ext cx="1947672" cy="1252728"/>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619488" y="3968496"/>
            <a:ext cx="1709928" cy="722376"/>
          </a:xfrm>
          <a:prstGeom prst="rect">
            <a:avLst/>
          </a:prstGeom>
          <a:noFill/>
          <a:effectLst/>
        </p:spPr>
        <p:txBody>
          <a:bodyPr wrap="square" lIns="0" rIns="0" tIns="0" bIns="0" anchor="t">
            <a:spAutoFit/>
          </a:bodyPr>
          <a:lstStyle/>
          <a:p>
            <a:pPr algn="ct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法律责任</a:t>
            </a:r>
          </a:p>
          <a:p>
            <a:pPr algn="ct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和附则</a:t>
            </a:r>
          </a:p>
        </p:txBody>
      </p:sp>
      <p:sp>
        <p:nvSpPr>
          <p:cNvPr id="24" name="Rounded Rectangle 23"/>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五编 · 1242条  |  新旧法律适用与废止，须以正式文本和衔接规则为准。</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40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为什么生态环境治理需要法典化</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现实问题相互联系，规则也需要系统协调</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企业用水、用能、排放与废物处置跨越多个治理环节</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流域保护连接地区、产业与不同生态要素</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把成熟经验转化为清楚规则，增强程序与责任衔接</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41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制度更协调：让责任与程序形成闭环</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找得到主体，接得上程序，追得清责任</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规划、建设、生产、排污、监测和应急需要信息互通</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处理好综合管理与专业管理、统一要求与地方实际关系</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检验制度协调，要看治理流程能否连续运转</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R13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42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保障人民群众的环境利益</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把健康、安宁与良好环境的关切落到规则中</a:t>
            </a:r>
          </a:p>
        </p:txBody>
      </p:sp>
      <p:pic>
        <p:nvPicPr>
          <p:cNvPr id="9" name="Picture 8" descr="eco_scenes.png"/>
          <p:cNvPicPr>
            <a:picLocks noChangeAspect="1"/>
          </p:cNvPicPr>
          <p:nvPr/>
        </p:nvPicPr>
        <p:blipFill>
          <a:blip r:embed="rId3"/>
          <a:srcRect l="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清晰的权利义务，让环境治理更可理解、更可监督</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信息公开、参与和救济需要明确依据与规范程序</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个案责任仍须结合事实、适用法律和法定程序判断</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把健康、安宁与良好环境的关切落到规则中</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43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稳定规则支持高质量发展</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清晰预期，推动企业把环境成本纳入长期决策</a:t>
            </a:r>
          </a:p>
        </p:txBody>
      </p:sp>
      <p:pic>
        <p:nvPicPr>
          <p:cNvPr id="9" name="Picture 8" descr="eco_scenes.png"/>
          <p:cNvPicPr>
            <a:picLocks noChangeAspect="1"/>
          </p:cNvPicPr>
          <p:nvPr/>
        </p:nvPicPr>
        <p:blipFill>
          <a:blip r:embed="rId3"/>
          <a:srcRect l="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明确选址、建设、运行和污染防治的基本要求</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维护公平竞争，鼓励绿色技术创新与合规经营</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提高政策协同与执行透明度，使保护与发展相互促进</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清晰预期，推动企业把环境成本纳入长期决策</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44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系统治理有了制度支撑</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从上下游、左右岸和各要素联系中安排治理</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一条河的水质连接排放、来水、湿地和岸线利用</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以法定职责、协作程序和信息共享促成跨区域治理</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以水质、生态功能与群众感受检验制度实施效果</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45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把治理要求转化为治理能力</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规则建设与人员、技术、组织能力共同发力</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决策、执行、监督和责任追究应当有效衔接</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监测人员、执法人员与企业管理者各尽其责</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持续培训、可靠技术和规范程序决定制度实施质量</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R11 / R12 / R26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46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珍视生态环境法治的发展基础</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从宪法原则、单行法经验走向法典系统整合</a:t>
            </a:r>
          </a:p>
        </p:txBody>
      </p:sp>
      <p:sp>
        <p:nvSpPr>
          <p:cNvPr id="9" name="Rounded Rectangle 8"/>
          <p:cNvSpPr/>
          <p:nvPr/>
        </p:nvSpPr>
        <p:spPr>
          <a:xfrm>
            <a:off x="822960" y="2267712"/>
            <a:ext cx="3346704" cy="278892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24128" y="2468880"/>
            <a:ext cx="1005840" cy="594360"/>
          </a:xfrm>
          <a:prstGeom prst="rect">
            <a:avLst/>
          </a:prstGeom>
          <a:noFill/>
          <a:effectLst/>
        </p:spPr>
        <p:txBody>
          <a:bodyPr wrap="square" lIns="0" rIns="0" tIns="0" bIns="0" anchor="t">
            <a:spAutoFit/>
          </a:bodyPr>
          <a:lstStyle/>
          <a:p>
            <a:pPr>
              <a:lnSpc>
                <a:spcPct val="112000"/>
              </a:lnSpc>
              <a:spcBef>
                <a:spcPts val="0"/>
              </a:spcBef>
              <a:spcAft>
                <a:spcPts val="0"/>
              </a:spcAft>
              <a:defRPr sz="3500" b="1">
                <a:solidFill>
                  <a:srgbClr val="75BD42"/>
                </a:solidFill>
                <a:latin typeface="Noto Sans CJK SC"/>
              </a:defRPr>
            </a:pPr>
            <a:r>
              <a:rPr sz="3500" b="1">
                <a:solidFill>
                  <a:srgbClr val="75BD42"/>
                </a:solidFill>
                <a:latin typeface="Noto Sans CJK SC"/>
                <a:ea typeface="Noto Sans CJK SC"/>
                <a:cs typeface="Noto Sans CJK SC"/>
              </a:rPr>
              <a:t>01</a:t>
            </a:r>
          </a:p>
        </p:txBody>
      </p:sp>
      <p:cxnSp>
        <p:nvCxnSpPr>
          <p:cNvPr id="11" name="Connector 10"/>
          <p:cNvCxnSpPr/>
          <p:nvPr/>
        </p:nvCxnSpPr>
        <p:spPr>
          <a:xfrm>
            <a:off x="1042416" y="3218688"/>
            <a:ext cx="2871216" cy="0"/>
          </a:xfrm>
          <a:prstGeom prst="line">
            <a:avLst/>
          </a:prstGeom>
          <a:ln w="16510">
            <a:solidFill>
              <a:srgbClr val="CBDCCB"/>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1042416" y="3493008"/>
            <a:ext cx="2907792" cy="1234440"/>
          </a:xfrm>
          <a:prstGeom prst="rect">
            <a:avLst/>
          </a:prstGeom>
          <a:noFill/>
          <a:effectLst/>
        </p:spPr>
        <p:txBody>
          <a:bodyPr wrap="square" lIns="0" rIns="0" tIns="0" bIns="0" anchor="t">
            <a:spAutoFit/>
          </a:bodyPr>
          <a:lstStyle/>
          <a:p>
            <a:pPr>
              <a:lnSpc>
                <a:spcPct val="112000"/>
              </a:lnSpc>
              <a:spcBef>
                <a:spcPts val="0"/>
              </a:spcBef>
              <a:spcAft>
                <a:spcPts val="0"/>
              </a:spcAft>
              <a:defRPr sz="2200" b="0">
                <a:solidFill>
                  <a:srgbClr val="233E39"/>
                </a:solidFill>
                <a:latin typeface="Noto Sans CJK SC"/>
              </a:defRPr>
            </a:pPr>
            <a:r>
              <a:rPr sz="2200" b="0">
                <a:solidFill>
                  <a:srgbClr val="233E39"/>
                </a:solidFill>
                <a:latin typeface="Noto Sans CJK SC"/>
                <a:ea typeface="Noto Sans CJK SC"/>
                <a:cs typeface="Noto Sans CJK SC"/>
              </a:rPr>
              <a:t>宪法提供根本依据，民法典等法律规范相关责任</a:t>
            </a:r>
          </a:p>
        </p:txBody>
      </p:sp>
      <p:sp>
        <p:nvSpPr>
          <p:cNvPr id="13" name="Rounded Rectangle 12"/>
          <p:cNvSpPr/>
          <p:nvPr/>
        </p:nvSpPr>
        <p:spPr>
          <a:xfrm>
            <a:off x="4416552" y="2267712"/>
            <a:ext cx="3346704" cy="278892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17720" y="2468880"/>
            <a:ext cx="1005840" cy="594360"/>
          </a:xfrm>
          <a:prstGeom prst="rect">
            <a:avLst/>
          </a:prstGeom>
          <a:noFill/>
          <a:effectLst/>
        </p:spPr>
        <p:txBody>
          <a:bodyPr wrap="square" lIns="0" rIns="0" tIns="0" bIns="0" anchor="t">
            <a:spAutoFit/>
          </a:bodyPr>
          <a:lstStyle/>
          <a:p>
            <a:pPr>
              <a:lnSpc>
                <a:spcPct val="112000"/>
              </a:lnSpc>
              <a:spcBef>
                <a:spcPts val="0"/>
              </a:spcBef>
              <a:spcAft>
                <a:spcPts val="0"/>
              </a:spcAft>
              <a:defRPr sz="3500" b="1">
                <a:solidFill>
                  <a:srgbClr val="75BD42"/>
                </a:solidFill>
                <a:latin typeface="Noto Sans CJK SC"/>
              </a:defRPr>
            </a:pPr>
            <a:r>
              <a:rPr sz="3500" b="1">
                <a:solidFill>
                  <a:srgbClr val="75BD42"/>
                </a:solidFill>
                <a:latin typeface="Noto Sans CJK SC"/>
                <a:ea typeface="Noto Sans CJK SC"/>
                <a:cs typeface="Noto Sans CJK SC"/>
              </a:rPr>
              <a:t>02</a:t>
            </a:r>
          </a:p>
        </p:txBody>
      </p:sp>
      <p:cxnSp>
        <p:nvCxnSpPr>
          <p:cNvPr id="15" name="Connector 14"/>
          <p:cNvCxnSpPr/>
          <p:nvPr/>
        </p:nvCxnSpPr>
        <p:spPr>
          <a:xfrm>
            <a:off x="4636008" y="3218688"/>
            <a:ext cx="2871216" cy="0"/>
          </a:xfrm>
          <a:prstGeom prst="line">
            <a:avLst/>
          </a:prstGeom>
          <a:ln w="16510">
            <a:solidFill>
              <a:srgbClr val="CBDCCB"/>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4636008" y="3493008"/>
            <a:ext cx="2907792" cy="1234440"/>
          </a:xfrm>
          <a:prstGeom prst="rect">
            <a:avLst/>
          </a:prstGeom>
          <a:noFill/>
          <a:effectLst/>
        </p:spPr>
        <p:txBody>
          <a:bodyPr wrap="square" lIns="0" rIns="0" tIns="0" bIns="0" anchor="t">
            <a:spAutoFit/>
          </a:bodyPr>
          <a:lstStyle/>
          <a:p>
            <a:pPr>
              <a:lnSpc>
                <a:spcPct val="112000"/>
              </a:lnSpc>
              <a:spcBef>
                <a:spcPts val="0"/>
              </a:spcBef>
              <a:spcAft>
                <a:spcPts val="0"/>
              </a:spcAft>
              <a:defRPr sz="2200" b="0">
                <a:solidFill>
                  <a:srgbClr val="233E39"/>
                </a:solidFill>
                <a:latin typeface="Noto Sans CJK SC"/>
              </a:defRPr>
            </a:pPr>
            <a:r>
              <a:rPr sz="2200" b="0">
                <a:solidFill>
                  <a:srgbClr val="233E39"/>
                </a:solidFill>
                <a:latin typeface="Noto Sans CJK SC"/>
                <a:ea typeface="Noto Sans CJK SC"/>
                <a:cs typeface="Noto Sans CJK SC"/>
              </a:rPr>
              <a:t>2014年修订的环境保护法是重要历史制度基础</a:t>
            </a:r>
          </a:p>
        </p:txBody>
      </p:sp>
      <p:sp>
        <p:nvSpPr>
          <p:cNvPr id="17" name="Rounded Rectangle 16"/>
          <p:cNvSpPr/>
          <p:nvPr/>
        </p:nvSpPr>
        <p:spPr>
          <a:xfrm>
            <a:off x="8010144" y="2267712"/>
            <a:ext cx="3346704" cy="278892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11312" y="2468880"/>
            <a:ext cx="1005840" cy="594360"/>
          </a:xfrm>
          <a:prstGeom prst="rect">
            <a:avLst/>
          </a:prstGeom>
          <a:noFill/>
          <a:effectLst/>
        </p:spPr>
        <p:txBody>
          <a:bodyPr wrap="square" lIns="0" rIns="0" tIns="0" bIns="0" anchor="t">
            <a:spAutoFit/>
          </a:bodyPr>
          <a:lstStyle/>
          <a:p>
            <a:pPr>
              <a:lnSpc>
                <a:spcPct val="112000"/>
              </a:lnSpc>
              <a:spcBef>
                <a:spcPts val="0"/>
              </a:spcBef>
              <a:spcAft>
                <a:spcPts val="0"/>
              </a:spcAft>
              <a:defRPr sz="3500" b="1">
                <a:solidFill>
                  <a:srgbClr val="75BD42"/>
                </a:solidFill>
                <a:latin typeface="Noto Sans CJK SC"/>
              </a:defRPr>
            </a:pPr>
            <a:r>
              <a:rPr sz="3500" b="1">
                <a:solidFill>
                  <a:srgbClr val="75BD42"/>
                </a:solidFill>
                <a:latin typeface="Noto Sans CJK SC"/>
                <a:ea typeface="Noto Sans CJK SC"/>
                <a:cs typeface="Noto Sans CJK SC"/>
              </a:rPr>
              <a:t>03</a:t>
            </a:r>
          </a:p>
        </p:txBody>
      </p:sp>
      <p:cxnSp>
        <p:nvCxnSpPr>
          <p:cNvPr id="19" name="Connector 18"/>
          <p:cNvCxnSpPr/>
          <p:nvPr/>
        </p:nvCxnSpPr>
        <p:spPr>
          <a:xfrm>
            <a:off x="8229600" y="3218688"/>
            <a:ext cx="2871216" cy="0"/>
          </a:xfrm>
          <a:prstGeom prst="line">
            <a:avLst/>
          </a:prstGeom>
          <a:ln w="16510">
            <a:solidFill>
              <a:srgbClr val="CBDCCB"/>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8229600" y="3493008"/>
            <a:ext cx="2907792" cy="1234440"/>
          </a:xfrm>
          <a:prstGeom prst="rect">
            <a:avLst/>
          </a:prstGeom>
          <a:noFill/>
          <a:effectLst/>
        </p:spPr>
        <p:txBody>
          <a:bodyPr wrap="square" lIns="0" rIns="0" tIns="0" bIns="0" anchor="t">
            <a:spAutoFit/>
          </a:bodyPr>
          <a:lstStyle/>
          <a:p>
            <a:pPr>
              <a:lnSpc>
                <a:spcPct val="112000"/>
              </a:lnSpc>
              <a:spcBef>
                <a:spcPts val="0"/>
              </a:spcBef>
              <a:spcAft>
                <a:spcPts val="0"/>
              </a:spcAft>
              <a:defRPr sz="2200" b="0">
                <a:solidFill>
                  <a:srgbClr val="233E39"/>
                </a:solidFill>
                <a:latin typeface="Noto Sans CJK SC"/>
              </a:defRPr>
            </a:pPr>
            <a:r>
              <a:rPr sz="2200" b="0">
                <a:solidFill>
                  <a:srgbClr val="233E39"/>
                </a:solidFill>
                <a:latin typeface="Noto Sans CJK SC"/>
                <a:ea typeface="Noto Sans CJK SC"/>
                <a:cs typeface="Noto Sans CJK SC"/>
              </a:rPr>
              <a:t>旧法的现行效力与配套清理，应依正式新法和决定判断</a:t>
            </a:r>
          </a:p>
        </p:txBody>
      </p:sp>
      <p:sp>
        <p:nvSpPr>
          <p:cNvPr id="21" name="Rounded Rectangle 20"/>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把概念放回具体情境：谁来做、依据什么、怎样判断效果？</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资料：R11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47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宪法：生态环境保护的根本依据</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把身边环境问题与国家公共责任联系起来</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宪法规定保护和合理利用自然资源的重要要求</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国家保护和改善生活环境、生态环境，防治污染公害</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具体立法、行政和司法活动在宪法框架内展开</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R12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48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从历史环保法理解基本治理原则</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历史经验帮助我们理解制度是怎样形成的</a:t>
            </a:r>
          </a:p>
        </p:txBody>
      </p:sp>
      <p:sp>
        <p:nvSpPr>
          <p:cNvPr id="9" name="Rounded Rectangle 8"/>
          <p:cNvSpPr/>
          <p:nvPr/>
        </p:nvSpPr>
        <p:spPr>
          <a:xfrm>
            <a:off x="822960" y="2267712"/>
            <a:ext cx="3346704" cy="278892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24128" y="2468880"/>
            <a:ext cx="1005840" cy="594360"/>
          </a:xfrm>
          <a:prstGeom prst="rect">
            <a:avLst/>
          </a:prstGeom>
          <a:noFill/>
          <a:effectLst/>
        </p:spPr>
        <p:txBody>
          <a:bodyPr wrap="square" lIns="0" rIns="0" tIns="0" bIns="0" anchor="t">
            <a:spAutoFit/>
          </a:bodyPr>
          <a:lstStyle/>
          <a:p>
            <a:pPr>
              <a:lnSpc>
                <a:spcPct val="112000"/>
              </a:lnSpc>
              <a:spcBef>
                <a:spcPts val="0"/>
              </a:spcBef>
              <a:spcAft>
                <a:spcPts val="0"/>
              </a:spcAft>
              <a:defRPr sz="3500" b="1">
                <a:solidFill>
                  <a:srgbClr val="75BD42"/>
                </a:solidFill>
                <a:latin typeface="Noto Sans CJK SC"/>
              </a:defRPr>
            </a:pPr>
            <a:r>
              <a:rPr sz="3500" b="1">
                <a:solidFill>
                  <a:srgbClr val="75BD42"/>
                </a:solidFill>
                <a:latin typeface="Noto Sans CJK SC"/>
                <a:ea typeface="Noto Sans CJK SC"/>
                <a:cs typeface="Noto Sans CJK SC"/>
              </a:rPr>
              <a:t>01</a:t>
            </a:r>
          </a:p>
        </p:txBody>
      </p:sp>
      <p:cxnSp>
        <p:nvCxnSpPr>
          <p:cNvPr id="11" name="Connector 10"/>
          <p:cNvCxnSpPr/>
          <p:nvPr/>
        </p:nvCxnSpPr>
        <p:spPr>
          <a:xfrm>
            <a:off x="1042416" y="3218688"/>
            <a:ext cx="2871216" cy="0"/>
          </a:xfrm>
          <a:prstGeom prst="line">
            <a:avLst/>
          </a:prstGeom>
          <a:ln w="16510">
            <a:solidFill>
              <a:srgbClr val="CBDCCB"/>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1042416" y="3493008"/>
            <a:ext cx="2907792" cy="1234440"/>
          </a:xfrm>
          <a:prstGeom prst="rect">
            <a:avLst/>
          </a:prstGeom>
          <a:noFill/>
          <a:effectLst/>
        </p:spPr>
        <p:txBody>
          <a:bodyPr wrap="square" lIns="0" rIns="0" tIns="0" bIns="0" anchor="t">
            <a:spAutoFit/>
          </a:bodyPr>
          <a:lstStyle/>
          <a:p>
            <a:pPr>
              <a:lnSpc>
                <a:spcPct val="112000"/>
              </a:lnSpc>
              <a:spcBef>
                <a:spcPts val="0"/>
              </a:spcBef>
              <a:spcAft>
                <a:spcPts val="0"/>
              </a:spcAft>
              <a:defRPr sz="2200" b="0">
                <a:solidFill>
                  <a:srgbClr val="233E39"/>
                </a:solidFill>
                <a:latin typeface="Noto Sans CJK SC"/>
              </a:defRPr>
            </a:pPr>
            <a:r>
              <a:rPr sz="2200" b="0">
                <a:solidFill>
                  <a:srgbClr val="233E39"/>
                </a:solidFill>
                <a:latin typeface="Noto Sans CJK SC"/>
                <a:ea typeface="Noto Sans CJK SC"/>
                <a:cs typeface="Noto Sans CJK SC"/>
              </a:rPr>
              <a:t>2014年修订的环境保护法曾系统确立重要原则</a:t>
            </a:r>
          </a:p>
        </p:txBody>
      </p:sp>
      <p:sp>
        <p:nvSpPr>
          <p:cNvPr id="13" name="Rounded Rectangle 12"/>
          <p:cNvSpPr/>
          <p:nvPr/>
        </p:nvSpPr>
        <p:spPr>
          <a:xfrm>
            <a:off x="4416552" y="2267712"/>
            <a:ext cx="3346704" cy="278892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17720" y="2468880"/>
            <a:ext cx="1005840" cy="594360"/>
          </a:xfrm>
          <a:prstGeom prst="rect">
            <a:avLst/>
          </a:prstGeom>
          <a:noFill/>
          <a:effectLst/>
        </p:spPr>
        <p:txBody>
          <a:bodyPr wrap="square" lIns="0" rIns="0" tIns="0" bIns="0" anchor="t">
            <a:spAutoFit/>
          </a:bodyPr>
          <a:lstStyle/>
          <a:p>
            <a:pPr>
              <a:lnSpc>
                <a:spcPct val="112000"/>
              </a:lnSpc>
              <a:spcBef>
                <a:spcPts val="0"/>
              </a:spcBef>
              <a:spcAft>
                <a:spcPts val="0"/>
              </a:spcAft>
              <a:defRPr sz="3500" b="1">
                <a:solidFill>
                  <a:srgbClr val="75BD42"/>
                </a:solidFill>
                <a:latin typeface="Noto Sans CJK SC"/>
              </a:defRPr>
            </a:pPr>
            <a:r>
              <a:rPr sz="3500" b="1">
                <a:solidFill>
                  <a:srgbClr val="75BD42"/>
                </a:solidFill>
                <a:latin typeface="Noto Sans CJK SC"/>
                <a:ea typeface="Noto Sans CJK SC"/>
                <a:cs typeface="Noto Sans CJK SC"/>
              </a:rPr>
              <a:t>02</a:t>
            </a:r>
          </a:p>
        </p:txBody>
      </p:sp>
      <p:cxnSp>
        <p:nvCxnSpPr>
          <p:cNvPr id="15" name="Connector 14"/>
          <p:cNvCxnSpPr/>
          <p:nvPr/>
        </p:nvCxnSpPr>
        <p:spPr>
          <a:xfrm>
            <a:off x="4636008" y="3218688"/>
            <a:ext cx="2871216" cy="0"/>
          </a:xfrm>
          <a:prstGeom prst="line">
            <a:avLst/>
          </a:prstGeom>
          <a:ln w="16510">
            <a:solidFill>
              <a:srgbClr val="CBDCCB"/>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4636008" y="3493008"/>
            <a:ext cx="2907792" cy="1234440"/>
          </a:xfrm>
          <a:prstGeom prst="rect">
            <a:avLst/>
          </a:prstGeom>
          <a:noFill/>
          <a:effectLst/>
        </p:spPr>
        <p:txBody>
          <a:bodyPr wrap="square" lIns="0" rIns="0" tIns="0" bIns="0" anchor="t">
            <a:spAutoFit/>
          </a:bodyPr>
          <a:lstStyle/>
          <a:p>
            <a:pPr>
              <a:lnSpc>
                <a:spcPct val="112000"/>
              </a:lnSpc>
              <a:spcBef>
                <a:spcPts val="0"/>
              </a:spcBef>
              <a:spcAft>
                <a:spcPts val="0"/>
              </a:spcAft>
              <a:defRPr sz="2200" b="0">
                <a:solidFill>
                  <a:srgbClr val="233E39"/>
                </a:solidFill>
                <a:latin typeface="Noto Sans CJK SC"/>
              </a:defRPr>
            </a:pPr>
            <a:r>
              <a:rPr sz="2200" b="0">
                <a:solidFill>
                  <a:srgbClr val="233E39"/>
                </a:solidFill>
                <a:latin typeface="Noto Sans CJK SC"/>
                <a:ea typeface="Noto Sans CJK SC"/>
                <a:cs typeface="Noto Sans CJK SC"/>
              </a:rPr>
              <a:t>保护优先、预防为主、综合治理、公众参与、损害担责</a:t>
            </a:r>
          </a:p>
        </p:txBody>
      </p:sp>
      <p:sp>
        <p:nvSpPr>
          <p:cNvPr id="17" name="Rounded Rectangle 16"/>
          <p:cNvSpPr/>
          <p:nvPr/>
        </p:nvSpPr>
        <p:spPr>
          <a:xfrm>
            <a:off x="8010144" y="2267712"/>
            <a:ext cx="3346704" cy="278892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11312" y="2468880"/>
            <a:ext cx="1005840" cy="594360"/>
          </a:xfrm>
          <a:prstGeom prst="rect">
            <a:avLst/>
          </a:prstGeom>
          <a:noFill/>
          <a:effectLst/>
        </p:spPr>
        <p:txBody>
          <a:bodyPr wrap="square" lIns="0" rIns="0" tIns="0" bIns="0" anchor="t">
            <a:spAutoFit/>
          </a:bodyPr>
          <a:lstStyle/>
          <a:p>
            <a:pPr>
              <a:lnSpc>
                <a:spcPct val="112000"/>
              </a:lnSpc>
              <a:spcBef>
                <a:spcPts val="0"/>
              </a:spcBef>
              <a:spcAft>
                <a:spcPts val="0"/>
              </a:spcAft>
              <a:defRPr sz="3500" b="1">
                <a:solidFill>
                  <a:srgbClr val="75BD42"/>
                </a:solidFill>
                <a:latin typeface="Noto Sans CJK SC"/>
              </a:defRPr>
            </a:pPr>
            <a:r>
              <a:rPr sz="3500" b="1">
                <a:solidFill>
                  <a:srgbClr val="75BD42"/>
                </a:solidFill>
                <a:latin typeface="Noto Sans CJK SC"/>
                <a:ea typeface="Noto Sans CJK SC"/>
                <a:cs typeface="Noto Sans CJK SC"/>
              </a:rPr>
              <a:t>03</a:t>
            </a:r>
          </a:p>
        </p:txBody>
      </p:sp>
      <p:cxnSp>
        <p:nvCxnSpPr>
          <p:cNvPr id="19" name="Connector 18"/>
          <p:cNvCxnSpPr/>
          <p:nvPr/>
        </p:nvCxnSpPr>
        <p:spPr>
          <a:xfrm>
            <a:off x="8229600" y="3218688"/>
            <a:ext cx="2871216" cy="0"/>
          </a:xfrm>
          <a:prstGeom prst="line">
            <a:avLst/>
          </a:prstGeom>
          <a:ln w="16510">
            <a:solidFill>
              <a:srgbClr val="CBDCCB"/>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8229600" y="3493008"/>
            <a:ext cx="2907792" cy="1234440"/>
          </a:xfrm>
          <a:prstGeom prst="rect">
            <a:avLst/>
          </a:prstGeom>
          <a:noFill/>
          <a:effectLst/>
        </p:spPr>
        <p:txBody>
          <a:bodyPr wrap="square" lIns="0" rIns="0" tIns="0" bIns="0" anchor="t">
            <a:spAutoFit/>
          </a:bodyPr>
          <a:lstStyle/>
          <a:p>
            <a:pPr>
              <a:lnSpc>
                <a:spcPct val="112000"/>
              </a:lnSpc>
              <a:spcBef>
                <a:spcPts val="0"/>
              </a:spcBef>
              <a:spcAft>
                <a:spcPts val="0"/>
              </a:spcAft>
              <a:defRPr sz="2200" b="0">
                <a:solidFill>
                  <a:srgbClr val="233E39"/>
                </a:solidFill>
                <a:latin typeface="Noto Sans CJK SC"/>
              </a:defRPr>
            </a:pPr>
            <a:r>
              <a:rPr sz="2200" b="0">
                <a:solidFill>
                  <a:srgbClr val="233E39"/>
                </a:solidFill>
                <a:latin typeface="Noto Sans CJK SC"/>
                <a:ea typeface="Noto Sans CJK SC"/>
                <a:cs typeface="Noto Sans CJK SC"/>
              </a:rPr>
              <a:t>本页讲法治沿革；现行适用须查生态环境法典等正式文本</a:t>
            </a:r>
          </a:p>
        </p:txBody>
      </p:sp>
      <p:sp>
        <p:nvSpPr>
          <p:cNvPr id="21" name="Rounded Rectangle 20"/>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把概念放回具体情境：谁来做、依据什么、怎样判断效果？</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R13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49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民法典：绿色原则与修复责任</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让生态要求进入日常交易和生产经营活动</a:t>
            </a:r>
          </a:p>
        </p:txBody>
      </p:sp>
      <p:sp>
        <p:nvSpPr>
          <p:cNvPr id="9" name="Rounded Rectangle 8"/>
          <p:cNvSpPr/>
          <p:nvPr/>
        </p:nvSpPr>
        <p:spPr>
          <a:xfrm>
            <a:off x="822960"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22960" y="2240280"/>
            <a:ext cx="5175504" cy="530352"/>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绿色原则</a:t>
            </a:r>
          </a:p>
        </p:txBody>
      </p:sp>
      <p:sp>
        <p:nvSpPr>
          <p:cNvPr id="12" name="TextBox 11"/>
          <p:cNvSpPr txBox="1"/>
          <p:nvPr/>
        </p:nvSpPr>
        <p:spPr>
          <a:xfrm>
            <a:off x="1078992"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民事活动应有利于节约资源、保护生态环境</a:t>
            </a:r>
          </a:p>
        </p:txBody>
      </p:sp>
      <p:sp>
        <p:nvSpPr>
          <p:cNvPr id="13" name="TextBox 12"/>
          <p:cNvSpPr txBox="1"/>
          <p:nvPr/>
        </p:nvSpPr>
        <p:spPr>
          <a:xfrm>
            <a:off x="1078992" y="3968496"/>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请求主体、责任范围和承担方式，应依法律与事实判断</a:t>
            </a:r>
          </a:p>
        </p:txBody>
      </p:sp>
      <p:sp>
        <p:nvSpPr>
          <p:cNvPr id="14" name="Rounded Rectangle 13"/>
          <p:cNvSpPr/>
          <p:nvPr/>
        </p:nvSpPr>
        <p:spPr>
          <a:xfrm>
            <a:off x="6272784"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272784" y="2240280"/>
            <a:ext cx="5175504" cy="530352"/>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01384"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修复责任</a:t>
            </a:r>
          </a:p>
        </p:txBody>
      </p:sp>
      <p:sp>
        <p:nvSpPr>
          <p:cNvPr id="17" name="TextBox 16"/>
          <p:cNvSpPr txBox="1"/>
          <p:nvPr/>
        </p:nvSpPr>
        <p:spPr>
          <a:xfrm>
            <a:off x="6528816"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生态损害相关修复责任与损失费用承担有法律依据</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区分适用对象、时间和口径，再作比较与判断。</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50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把预防贯穿生产生活全过程</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在规划、选址与运行中，把风险发现得更早</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生态损害恢复可能时间长、成本高，部分功能难以复原</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把论证程序、设施建设和风险防控落实到岗位</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越早识别问题，越有机会选择成本合理的解决方案</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51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生产链条中的污染治理责任</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装了治理设备，还要保证设备持续正常运行</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假设食品企业污水处理设备因维护不足而运行不稳</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依次查清法定义务、许可排放要求与实际运行证据</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责任覆盖人员、设施、记录和日常管理，不只看设备有无</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R13 / R22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52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以责任机制推动生态修复</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既要追究责任，也要让受损生态得到修复</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把损害后果与责任主体、修复和赔偿联系起来</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依据损害类型、生态功能与实际条件确定修复方案</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修复效果需要评价，责任机制也能倒逼前期预防</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53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真实监测数据是依法治理的基础</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数据可以帮助发现问题，造假会破坏治理依据</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从采样、分析、设备维护到原始记录，实施质量控制</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依法承担监测义务的主体，应保存真实可靠的信息</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技术越先进，越要把程序规范和数据责任落实到位</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R13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54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行政执法与司法共同发挥作用</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在法定职责和程序中，把事实、证据与责任接起来</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行政机关依职责监管，对发现的问题依法调查处理</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相关纠纷和损害救济通过适用的法律程序解决</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专业能力与协作机制，支撑监管、修复和公共利益保护</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R21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55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企业：把主体责任落实到岗位</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让每一项环境义务都对应到日常管理</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明确谁维护设施、核查记录、识别风险和组织应急</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依法纳入披露范围的企业，按现行规定披露信息</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结合企业类型与适用规则培训、检查和技术改造</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56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政府：依法履职，形成治理协同</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公共责任落实，需要明确边界、信息共享和工作衔接</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把规划引导、公共服务、依法监管与政策协调联系起来</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跨层级、跨部门与跨区域协作，应在法定职责内开展</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以责任落实、问题解决和环境改善检验履职效果</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57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公众：有渠道、有依据地参与</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真实记录、规范表达，可以提高公共参与质量</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依法获取信息、提出意见、反映身边的环境问题</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记录时间、地点与现象，区分事实、推测和专业判断</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学校社区普及知识，让参与程序更清楚、反馈更有效</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V3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58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视频三：数据异常之后还要查什么</a:t>
            </a:r>
          </a:p>
        </p:txBody>
      </p:sp>
      <p:sp>
        <p:nvSpPr>
          <p:cNvPr id="8" name="Rounded Rectangle 7"/>
          <p:cNvSpPr/>
          <p:nvPr/>
        </p:nvSpPr>
        <p:spPr>
          <a:xfrm>
            <a:off x="832104" y="1819656"/>
            <a:ext cx="6620256" cy="3337560"/>
          </a:xfrm>
          <a:prstGeom prst="roundRect">
            <a:avLst>
              <a:gd name="adj" fmla="val 8000"/>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1088136" y="2066543"/>
            <a:ext cx="1508760" cy="320040"/>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61288" y="2098548"/>
            <a:ext cx="1362456" cy="256032"/>
          </a:xfrm>
          <a:prstGeom prst="rect">
            <a:avLst/>
          </a:prstGeom>
          <a:noFill/>
          <a:effectLst/>
        </p:spPr>
        <p:txBody>
          <a:bodyPr wrap="square" lIns="0" rIns="0" tIns="0" bIns="0" anchor="t">
            <a:spAutoFit/>
          </a:bodyPr>
          <a:lstStyle/>
          <a:p>
            <a:pPr algn="ctr">
              <a:lnSpc>
                <a:spcPct val="112000"/>
              </a:lnSpc>
              <a:spcBef>
                <a:spcPts val="0"/>
              </a:spcBef>
              <a:spcAft>
                <a:spcPts val="0"/>
              </a:spcAft>
              <a:defRPr sz="1400" b="1">
                <a:solidFill>
                  <a:srgbClr val="FFFFFF"/>
                </a:solidFill>
                <a:latin typeface="Noto Sans CJK SC"/>
              </a:defRPr>
            </a:pPr>
            <a:r>
              <a:rPr sz="1400" b="1">
                <a:solidFill>
                  <a:srgbClr val="FFFFFF"/>
                </a:solidFill>
                <a:latin typeface="Noto Sans CJK SC"/>
                <a:ea typeface="Noto Sans CJK SC"/>
                <a:cs typeface="Noto Sans CJK SC"/>
              </a:rPr>
              <a:t>V3 · 视频学习</a:t>
            </a:r>
          </a:p>
        </p:txBody>
      </p:sp>
      <p:sp>
        <p:nvSpPr>
          <p:cNvPr id="11" name="TextBox 10"/>
          <p:cNvSpPr txBox="1"/>
          <p:nvPr/>
        </p:nvSpPr>
        <p:spPr>
          <a:xfrm>
            <a:off x="1097280" y="2770632"/>
            <a:ext cx="6035040" cy="1024128"/>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FFFFFF"/>
                </a:solidFill>
                <a:latin typeface="Noto Sans CJK SC"/>
              </a:defRPr>
            </a:pPr>
            <a:r>
              <a:rPr sz="2500" b="1">
                <a:solidFill>
                  <a:srgbClr val="FFFFFF"/>
                </a:solidFill>
                <a:latin typeface="Noto Sans CJK SC"/>
                <a:ea typeface="Noto Sans CJK SC"/>
                <a:cs typeface="Noto Sans CJK SC"/>
              </a:rPr>
              <a:t>《焦点访谈》20250525 车检站里有“猫腻”</a:t>
            </a:r>
          </a:p>
        </p:txBody>
      </p:sp>
      <p:sp>
        <p:nvSpPr>
          <p:cNvPr id="12" name="Rounded Rectangle 11">
            <a:hlinkClick r:id="rId3"/>
          </p:cNvPr>
          <p:cNvSpPr/>
          <p:nvPr/>
        </p:nvSpPr>
        <p:spPr>
          <a:xfrm>
            <a:off x="1124712" y="4224528"/>
            <a:ext cx="3044952" cy="539496"/>
          </a:xfrm>
          <a:prstGeom prst="roundRect">
            <a:avLst>
              <a:gd name="adj" fmla="val 8000"/>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a:hlinkClick r:id="rId3"/>
          </p:cNvPr>
          <p:cNvSpPr txBox="1"/>
          <p:nvPr/>
        </p:nvSpPr>
        <p:spPr>
          <a:xfrm>
            <a:off x="1234440" y="4325112"/>
            <a:ext cx="2825496" cy="329184"/>
          </a:xfrm>
          <a:prstGeom prst="rect">
            <a:avLst/>
          </a:prstGeom>
          <a:noFill/>
          <a:effectLst/>
        </p:spPr>
        <p:txBody>
          <a:bodyPr wrap="square" lIns="0" rIns="0" tIns="0" bIns="0" anchor="t">
            <a:spAutoFit/>
          </a:bodyPr>
          <a:lstStyle/>
          <a:p>
            <a:pPr algn="ctr">
              <a:lnSpc>
                <a:spcPct val="112000"/>
              </a:lnSpc>
              <a:spcBef>
                <a:spcPts val="0"/>
              </a:spcBef>
              <a:spcAft>
                <a:spcPts val="0"/>
              </a:spcAft>
              <a:defRPr sz="1800" b="1">
                <a:solidFill>
                  <a:srgbClr val="FFFFFF"/>
                </a:solidFill>
                <a:latin typeface="Noto Sans CJK SC"/>
              </a:defRPr>
            </a:pPr>
            <a:r>
              <a:rPr sz="1800" b="1">
                <a:solidFill>
                  <a:srgbClr val="FFFFFF"/>
                </a:solidFill>
                <a:latin typeface="Noto Sans CJK SC"/>
                <a:ea typeface="Noto Sans CJK SC"/>
                <a:cs typeface="Noto Sans CJK SC"/>
              </a:rPr>
              <a:t>▶  点击打开央视原片</a:t>
            </a:r>
          </a:p>
        </p:txBody>
      </p:sp>
      <p:sp>
        <p:nvSpPr>
          <p:cNvPr id="14" name="TextBox 13"/>
          <p:cNvSpPr txBox="1"/>
          <p:nvPr/>
        </p:nvSpPr>
        <p:spPr>
          <a:xfrm>
            <a:off x="4370832" y="4416552"/>
            <a:ext cx="2697480"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300" b="0">
                <a:solidFill>
                  <a:srgbClr val="FFFFFF"/>
                </a:solidFill>
                <a:latin typeface="Noto Sans CJK SC"/>
              </a:defRPr>
            </a:pPr>
            <a:r>
              <a:rPr sz="1300" b="0">
                <a:solidFill>
                  <a:srgbClr val="FFFFFF"/>
                </a:solidFill>
                <a:latin typeface="Noto Sans CJK SC"/>
                <a:ea typeface="Noto Sans CJK SC"/>
                <a:cs typeface="Noto Sans CJK SC"/>
              </a:rPr>
              <a:t>网络链接式播放</a:t>
            </a:r>
          </a:p>
        </p:txBody>
      </p:sp>
      <p:sp>
        <p:nvSpPr>
          <p:cNvPr id="15" name="TextBox 14"/>
          <p:cNvSpPr txBox="1"/>
          <p:nvPr/>
        </p:nvSpPr>
        <p:spPr>
          <a:xfrm>
            <a:off x="7909560" y="1847088"/>
            <a:ext cx="3401568" cy="393192"/>
          </a:xfrm>
          <a:prstGeom prst="rect">
            <a:avLst/>
          </a:prstGeom>
          <a:noFill/>
          <a:effectLst/>
        </p:spPr>
        <p:txBody>
          <a:bodyPr wrap="square" lIns="0" rIns="0" tIns="0" bIns="0" anchor="t">
            <a:spAutoFit/>
          </a:bodyPr>
          <a:lstStyle/>
          <a:p>
            <a:pPr>
              <a:lnSpc>
                <a:spcPct val="112000"/>
              </a:lnSpc>
              <a:spcBef>
                <a:spcPts val="0"/>
              </a:spcBef>
              <a:spcAft>
                <a:spcPts val="0"/>
              </a:spcAft>
              <a:defRPr sz="2300" b="1">
                <a:solidFill>
                  <a:srgbClr val="236548"/>
                </a:solidFill>
                <a:latin typeface="Noto Sans CJK SC"/>
              </a:defRPr>
            </a:pPr>
            <a:r>
              <a:rPr sz="2300" b="1">
                <a:solidFill>
                  <a:srgbClr val="236548"/>
                </a:solidFill>
                <a:latin typeface="Noto Sans CJK SC"/>
                <a:ea typeface="Noto Sans CJK SC"/>
                <a:cs typeface="Noto Sans CJK SC"/>
              </a:rPr>
              <a:t>带着问题看视频</a:t>
            </a:r>
          </a:p>
        </p:txBody>
      </p:sp>
      <p:sp>
        <p:nvSpPr>
          <p:cNvPr id="16" name="TextBox 15"/>
          <p:cNvSpPr txBox="1"/>
          <p:nvPr/>
        </p:nvSpPr>
        <p:spPr>
          <a:xfrm>
            <a:off x="7909560" y="2505456"/>
            <a:ext cx="3383280" cy="1143000"/>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发现异常数据以后，还需要哪些现场、日志或其他证据？</a:t>
            </a:r>
          </a:p>
        </p:txBody>
      </p:sp>
      <p:pic>
        <p:nvPicPr>
          <p:cNvPr id="17" name="Picture 16" descr="V3.png"/>
          <p:cNvPicPr>
            <a:picLocks noChangeAspect="1"/>
          </p:cNvPicPr>
          <p:nvPr/>
        </p:nvPicPr>
        <p:blipFill>
          <a:blip r:embed="rId4"/>
          <a:stretch>
            <a:fillRect/>
          </a:stretch>
        </p:blipFill>
        <p:spPr>
          <a:xfrm>
            <a:off x="7891272" y="3959352"/>
            <a:ext cx="1078992" cy="1078992"/>
          </a:xfrm>
          <a:prstGeom prst="rect">
            <a:avLst/>
          </a:prstGeom>
          <a:effectLst/>
        </p:spPr>
      </p:pic>
      <p:sp>
        <p:nvSpPr>
          <p:cNvPr id="18" name="TextBox 17"/>
          <p:cNvSpPr txBox="1"/>
          <p:nvPr/>
        </p:nvSpPr>
        <p:spPr>
          <a:xfrm>
            <a:off x="9189720" y="4005072"/>
            <a:ext cx="2057400" cy="713232"/>
          </a:xfrm>
          <a:prstGeom prst="rect">
            <a:avLst/>
          </a:prstGeom>
          <a:noFill/>
          <a:effectLst/>
        </p:spPr>
        <p:txBody>
          <a:bodyPr wrap="square" lIns="0" rIns="0" tIns="0" bIns="0" anchor="t">
            <a:spAutoFit/>
          </a:bodyPr>
          <a:lstStyle/>
          <a:p>
            <a:pPr>
              <a:lnSpc>
                <a:spcPct val="112000"/>
              </a:lnSpc>
              <a:spcBef>
                <a:spcPts val="0"/>
              </a:spcBef>
              <a:spcAft>
                <a:spcPts val="0"/>
              </a:spcAft>
              <a:defRPr sz="1600" b="1">
                <a:solidFill>
                  <a:srgbClr val="236548"/>
                </a:solidFill>
                <a:latin typeface="Noto Sans CJK SC"/>
              </a:defRPr>
            </a:pPr>
            <a:r>
              <a:rPr sz="1600" b="1">
                <a:solidFill>
                  <a:srgbClr val="236548"/>
                </a:solidFill>
                <a:latin typeface="Noto Sans CJK SC"/>
                <a:ea typeface="Noto Sans CJK SC"/>
                <a:cs typeface="Noto Sans CJK SC"/>
              </a:rPr>
              <a:t>建议选播</a:t>
            </a:r>
          </a:p>
          <a:p>
            <a:pPr>
              <a:lnSpc>
                <a:spcPct val="112000"/>
              </a:lnSpc>
              <a:spcBef>
                <a:spcPts val="0"/>
              </a:spcBef>
              <a:spcAft>
                <a:spcPts val="0"/>
              </a:spcAft>
              <a:defRPr sz="1600" b="1">
                <a:solidFill>
                  <a:srgbClr val="236548"/>
                </a:solidFill>
                <a:latin typeface="Noto Sans CJK SC"/>
              </a:defRPr>
            </a:pPr>
            <a:r>
              <a:rPr sz="1600" b="1">
                <a:solidFill>
                  <a:srgbClr val="236548"/>
                </a:solidFill>
                <a:latin typeface="Noto Sans CJK SC"/>
                <a:ea typeface="Noto Sans CJK SC"/>
                <a:cs typeface="Noto Sans CJK SC"/>
              </a:rPr>
              <a:t>00:50—02:35</a:t>
            </a:r>
          </a:p>
        </p:txBody>
      </p:sp>
      <p:sp>
        <p:nvSpPr>
          <p:cNvPr id="19" name="TextBox 18"/>
          <p:cNvSpPr txBox="1"/>
          <p:nvPr/>
        </p:nvSpPr>
        <p:spPr>
          <a:xfrm>
            <a:off x="9189720" y="4764024"/>
            <a:ext cx="2103120" cy="274320"/>
          </a:xfrm>
          <a:prstGeom prst="rect">
            <a:avLst/>
          </a:prstGeom>
          <a:noFill/>
          <a:effectLst/>
        </p:spPr>
        <p:txBody>
          <a:bodyPr wrap="square" lIns="0" rIns="0" tIns="0" bIns="0" anchor="t">
            <a:spAutoFit/>
          </a:bodyPr>
          <a:lstStyle/>
          <a:p>
            <a:pPr>
              <a:lnSpc>
                <a:spcPct val="112000"/>
              </a:lnSpc>
              <a:spcBef>
                <a:spcPts val="0"/>
              </a:spcBef>
              <a:spcAft>
                <a:spcPts val="0"/>
              </a:spcAft>
              <a:defRPr sz="1400" b="0">
                <a:solidFill>
                  <a:srgbClr val="63766E"/>
                </a:solidFill>
                <a:latin typeface="Noto Sans CJK SC"/>
              </a:defRPr>
            </a:pPr>
            <a:r>
              <a:rPr sz="1400" b="0">
                <a:solidFill>
                  <a:srgbClr val="63766E"/>
                </a:solidFill>
                <a:latin typeface="Noto Sans CJK SC"/>
                <a:ea typeface="Noto Sans CJK SC"/>
                <a:cs typeface="Noto Sans CJK SC"/>
              </a:rPr>
              <a:t>105秒</a:t>
            </a:r>
          </a:p>
        </p:txBody>
      </p:sp>
      <p:sp>
        <p:nvSpPr>
          <p:cNvPr id="20" name="Rounded Rectangle 19"/>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官方原片链接与时码据配套清单；课前试播，片中历史资料按原年份理解。</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59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严格规范履职，提高治理精准度</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严格执行与规范程序，应当在同一过程中实现</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依据事实、适用规则和法定权限处理具体问题</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加强政策协同，防止脱离实际层层加码</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依法回应合理关切，让整改方向清楚、措施有针对性</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R21 / R26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60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配套制度：既要协调，也要科学</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法律、法规、规章与标准，需要有效衔接</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在法定权限内制定措施，遵守上位法和程序要求</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结合流域条件、产业特点与生态功能科学安排治理</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配套清理是持续工作，不能把个别调整当作全部完成</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61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课堂情境：一处雨污混排问题</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先把事实查清，再讨论责任和处理方案</a:t>
            </a:r>
          </a:p>
        </p:txBody>
      </p:sp>
      <p:sp>
        <p:nvSpPr>
          <p:cNvPr id="9" name="Rounded Rectangle 8"/>
          <p:cNvSpPr/>
          <p:nvPr/>
        </p:nvSpPr>
        <p:spPr>
          <a:xfrm>
            <a:off x="841248" y="2167128"/>
            <a:ext cx="1463040" cy="320040"/>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14400" y="2199132"/>
            <a:ext cx="1316736" cy="256032"/>
          </a:xfrm>
          <a:prstGeom prst="rect">
            <a:avLst/>
          </a:prstGeom>
          <a:noFill/>
          <a:effectLst/>
        </p:spPr>
        <p:txBody>
          <a:bodyPr wrap="square" lIns="0" rIns="0" tIns="0" bIns="0" anchor="t">
            <a:spAutoFit/>
          </a:bodyPr>
          <a:lstStyle/>
          <a:p>
            <a:pPr algn="ctr">
              <a:lnSpc>
                <a:spcPct val="112000"/>
              </a:lnSpc>
              <a:spcBef>
                <a:spcPts val="0"/>
              </a:spcBef>
              <a:spcAft>
                <a:spcPts val="0"/>
              </a:spcAft>
              <a:defRPr sz="1400" b="1">
                <a:solidFill>
                  <a:srgbClr val="236548"/>
                </a:solidFill>
                <a:latin typeface="Noto Sans CJK SC"/>
              </a:defRPr>
            </a:pPr>
            <a:r>
              <a:rPr sz="1400" b="1">
                <a:solidFill>
                  <a:srgbClr val="236548"/>
                </a:solidFill>
                <a:latin typeface="Noto Sans CJK SC"/>
                <a:ea typeface="Noto Sans CJK SC"/>
                <a:cs typeface="Noto Sans CJK SC"/>
              </a:rPr>
              <a:t>课堂假设</a:t>
            </a:r>
          </a:p>
        </p:txBody>
      </p:sp>
      <p:sp>
        <p:nvSpPr>
          <p:cNvPr id="11" name="Rounded Rectangle 10"/>
          <p:cNvSpPr/>
          <p:nvPr/>
        </p:nvSpPr>
        <p:spPr>
          <a:xfrm>
            <a:off x="822960" y="2724912"/>
            <a:ext cx="3794760" cy="2368296"/>
          </a:xfrm>
          <a:prstGeom prst="roundRect">
            <a:avLst>
              <a:gd name="adj" fmla="val 8000"/>
            </a:avLst>
          </a:prstGeom>
          <a:solidFill>
            <a:srgbClr val="EBF1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60704" y="2953512"/>
            <a:ext cx="3319272" cy="1737360"/>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527F"/>
                </a:solidFill>
                <a:latin typeface="Noto Sans CJK SC"/>
              </a:defRPr>
            </a:pPr>
            <a:r>
              <a:rPr sz="2400" b="1">
                <a:solidFill>
                  <a:srgbClr val="23527F"/>
                </a:solidFill>
                <a:latin typeface="Noto Sans CJK SC"/>
                <a:ea typeface="Noto Sans CJK SC"/>
                <a:cs typeface="Noto Sans CJK SC"/>
              </a:rPr>
              <a:t>假设园区雨天河道出现异味，初查可能存在管网混接</a:t>
            </a:r>
          </a:p>
        </p:txBody>
      </p:sp>
      <p:sp>
        <p:nvSpPr>
          <p:cNvPr id="13" name="Oval 12"/>
          <p:cNvSpPr/>
          <p:nvPr/>
        </p:nvSpPr>
        <p:spPr>
          <a:xfrm>
            <a:off x="5148072" y="2404872"/>
            <a:ext cx="393192" cy="39319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148072" y="2450591"/>
            <a:ext cx="393192"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00" b="1">
                <a:solidFill>
                  <a:srgbClr val="FFFFFF"/>
                </a:solidFill>
                <a:latin typeface="Noto Sans CJK SC"/>
              </a:defRPr>
            </a:pPr>
            <a:r>
              <a:rPr sz="1500" b="1">
                <a:solidFill>
                  <a:srgbClr val="FFFFFF"/>
                </a:solidFill>
                <a:latin typeface="Noto Sans CJK SC"/>
                <a:ea typeface="Noto Sans CJK SC"/>
                <a:cs typeface="Noto Sans CJK SC"/>
              </a:rPr>
              <a:t>1</a:t>
            </a:r>
          </a:p>
        </p:txBody>
      </p:sp>
      <p:sp>
        <p:nvSpPr>
          <p:cNvPr id="15" name="TextBox 14"/>
          <p:cNvSpPr txBox="1"/>
          <p:nvPr/>
        </p:nvSpPr>
        <p:spPr>
          <a:xfrm>
            <a:off x="5742432" y="2386584"/>
            <a:ext cx="5513832" cy="80467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还需调查管线归属、排水流向和监测结果</a:t>
            </a:r>
          </a:p>
        </p:txBody>
      </p:sp>
      <p:sp>
        <p:nvSpPr>
          <p:cNvPr id="16" name="Oval 15"/>
          <p:cNvSpPr/>
          <p:nvPr/>
        </p:nvSpPr>
        <p:spPr>
          <a:xfrm>
            <a:off x="5148072" y="3355848"/>
            <a:ext cx="393192" cy="39319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148072" y="3401568"/>
            <a:ext cx="393192"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00" b="1">
                <a:solidFill>
                  <a:srgbClr val="FFFFFF"/>
                </a:solidFill>
                <a:latin typeface="Noto Sans CJK SC"/>
              </a:defRPr>
            </a:pPr>
            <a:r>
              <a:rPr sz="1500" b="1">
                <a:solidFill>
                  <a:srgbClr val="FFFFFF"/>
                </a:solidFill>
                <a:latin typeface="Noto Sans CJK SC"/>
                <a:ea typeface="Noto Sans CJK SC"/>
                <a:cs typeface="Noto Sans CJK SC"/>
              </a:rPr>
              <a:t>2</a:t>
            </a:r>
          </a:p>
        </p:txBody>
      </p:sp>
      <p:sp>
        <p:nvSpPr>
          <p:cNvPr id="18" name="TextBox 17"/>
          <p:cNvSpPr txBox="1"/>
          <p:nvPr/>
        </p:nvSpPr>
        <p:spPr>
          <a:xfrm>
            <a:off x="5742432" y="3337560"/>
            <a:ext cx="5513832" cy="80467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分别讨论企业、园区运营方与主管部门的职责</a:t>
            </a:r>
          </a:p>
        </p:txBody>
      </p:sp>
      <p:sp>
        <p:nvSpPr>
          <p:cNvPr id="19" name="Oval 18"/>
          <p:cNvSpPr/>
          <p:nvPr/>
        </p:nvSpPr>
        <p:spPr>
          <a:xfrm>
            <a:off x="5148072" y="4306823"/>
            <a:ext cx="393192" cy="39319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148072" y="4352544"/>
            <a:ext cx="393192"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00" b="1">
                <a:solidFill>
                  <a:srgbClr val="FFFFFF"/>
                </a:solidFill>
                <a:latin typeface="Noto Sans CJK SC"/>
              </a:defRPr>
            </a:pPr>
            <a:r>
              <a:rPr sz="1500" b="1">
                <a:solidFill>
                  <a:srgbClr val="FFFFFF"/>
                </a:solidFill>
                <a:latin typeface="Noto Sans CJK SC"/>
                <a:ea typeface="Noto Sans CJK SC"/>
                <a:cs typeface="Noto Sans CJK SC"/>
              </a:rPr>
              <a:t>3</a:t>
            </a:r>
          </a:p>
        </p:txBody>
      </p:sp>
      <p:sp>
        <p:nvSpPr>
          <p:cNvPr id="21" name="TextBox 20"/>
          <p:cNvSpPr txBox="1"/>
          <p:nvPr/>
        </p:nvSpPr>
        <p:spPr>
          <a:xfrm>
            <a:off x="5742432" y="4288536"/>
            <a:ext cx="5513832" cy="80467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现有证据足以判断责任吗？还需要补充什么？</a:t>
            </a:r>
          </a:p>
        </p:txBody>
      </p:sp>
      <p:sp>
        <p:nvSpPr>
          <p:cNvPr id="22" name="Rounded Rectangle 21"/>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讨论要求：说明事实与证据，区分主体责任，提出可执行方案。</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62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练习法治思维：四步分析一个问题</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事实—主体—证据与规则—整改评价</a:t>
            </a:r>
          </a:p>
        </p:txBody>
      </p:sp>
      <p:sp>
        <p:nvSpPr>
          <p:cNvPr id="9" name="Oval 8"/>
          <p:cNvSpPr/>
          <p:nvPr/>
        </p:nvSpPr>
        <p:spPr>
          <a:xfrm>
            <a:off x="1731645"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731645"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227457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192709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查事实</a:t>
            </a:r>
          </a:p>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列明已知事实</a:t>
            </a:r>
          </a:p>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找出待调查问题</a:t>
            </a:r>
          </a:p>
        </p:txBody>
      </p:sp>
      <p:cxnSp>
        <p:nvCxnSpPr>
          <p:cNvPr id="13" name="Connector 12"/>
          <p:cNvCxnSpPr/>
          <p:nvPr/>
        </p:nvCxnSpPr>
        <p:spPr>
          <a:xfrm>
            <a:off x="2261997" y="2615184"/>
            <a:ext cx="215569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318897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4417695"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417695"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3545586" y="3182112"/>
            <a:ext cx="227457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719322" y="3438144"/>
            <a:ext cx="192709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明主体</a:t>
            </a:r>
          </a:p>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识别相关主体</a:t>
            </a:r>
          </a:p>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厘清各方职责</a:t>
            </a:r>
          </a:p>
        </p:txBody>
      </p:sp>
      <p:cxnSp>
        <p:nvCxnSpPr>
          <p:cNvPr id="19" name="Connector 18"/>
          <p:cNvCxnSpPr/>
          <p:nvPr/>
        </p:nvCxnSpPr>
        <p:spPr>
          <a:xfrm>
            <a:off x="4948047" y="2615184"/>
            <a:ext cx="215569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58750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7103745"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103745"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6231636" y="3182112"/>
            <a:ext cx="227457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05372" y="3438144"/>
            <a:ext cx="192709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找依据</a:t>
            </a:r>
          </a:p>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收集事实证据</a:t>
            </a:r>
          </a:p>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核对适用规则</a:t>
            </a:r>
          </a:p>
        </p:txBody>
      </p:sp>
      <p:cxnSp>
        <p:nvCxnSpPr>
          <p:cNvPr id="25" name="Connector 24"/>
          <p:cNvCxnSpPr/>
          <p:nvPr/>
        </p:nvCxnSpPr>
        <p:spPr>
          <a:xfrm>
            <a:off x="7634097" y="2615184"/>
            <a:ext cx="215569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6" name="Chevron 25"/>
          <p:cNvSpPr/>
          <p:nvPr/>
        </p:nvSpPr>
        <p:spPr>
          <a:xfrm>
            <a:off x="856107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9789795"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9789795"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4</a:t>
            </a:r>
          </a:p>
        </p:txBody>
      </p:sp>
      <p:sp>
        <p:nvSpPr>
          <p:cNvPr id="29" name="Rounded Rectangle 28"/>
          <p:cNvSpPr/>
          <p:nvPr/>
        </p:nvSpPr>
        <p:spPr>
          <a:xfrm>
            <a:off x="8917686" y="3182112"/>
            <a:ext cx="227457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9091422" y="3438144"/>
            <a:ext cx="192709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看整改</a:t>
            </a:r>
          </a:p>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提出整改方案</a:t>
            </a:r>
          </a:p>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检验整改效果</a:t>
            </a:r>
          </a:p>
        </p:txBody>
      </p:sp>
      <p:sp>
        <p:nvSpPr>
          <p:cNvPr id="31" name="Rounded Rectangle 30"/>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63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持续实施，才能体现制度价值</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让主体知责、程序运转、问题纠正、经验反馈</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学习宣传与岗位培训，使法律要求进入日常工作</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配套完善、依法履职、社会监督形成实施合力</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新旧制度的适用衔接，以正式文本和有权机关规定为准</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64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把制度要求转化为身边行动</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不同身份有不同责任，都能找到具体实践入口</a:t>
            </a:r>
          </a:p>
        </p:txBody>
      </p:sp>
      <p:sp>
        <p:nvSpPr>
          <p:cNvPr id="9" name="Rectangle 8"/>
          <p:cNvSpPr/>
          <p:nvPr/>
        </p:nvSpPr>
        <p:spPr>
          <a:xfrm>
            <a:off x="923544" y="2276856"/>
            <a:ext cx="100584" cy="621792"/>
          </a:xfrm>
          <a:prstGeom prst="rect">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307592" y="2304288"/>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政府重依法履职，企业重合规运营和环境风险管理</a:t>
            </a:r>
          </a:p>
        </p:txBody>
      </p:sp>
      <p:sp>
        <p:nvSpPr>
          <p:cNvPr id="11" name="Rectangle 10"/>
          <p:cNvSpPr/>
          <p:nvPr/>
        </p:nvSpPr>
        <p:spPr>
          <a:xfrm>
            <a:off x="923544" y="3154680"/>
            <a:ext cx="100584" cy="6217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307592" y="3182112"/>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科研教育提供科学知识、技术支持与法律普及</a:t>
            </a:r>
          </a:p>
        </p:txBody>
      </p:sp>
      <p:sp>
        <p:nvSpPr>
          <p:cNvPr id="13" name="Rectangle 12"/>
          <p:cNvSpPr/>
          <p:nvPr/>
        </p:nvSpPr>
        <p:spPr>
          <a:xfrm>
            <a:off x="923544" y="4032504"/>
            <a:ext cx="100584" cy="621792"/>
          </a:xfrm>
          <a:prstGeom prst="rect">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307592" y="4059936"/>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青年从节约资源、理解信息和依法参与公共事务做起</a:t>
            </a:r>
          </a:p>
        </p:txBody>
      </p:sp>
      <p:sp>
        <p:nvSpPr>
          <p:cNvPr id="15" name="Rounded Rectangle 1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把今天的认识转化为有依据、可执行、能持续的行动。</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第二部分 · 生态环境法典</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65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第二部分小结：以法治保障美丽中国</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用协调规则、明确责任与持续实施巩固治理成效</a:t>
            </a:r>
          </a:p>
        </p:txBody>
      </p:sp>
      <p:sp>
        <p:nvSpPr>
          <p:cNvPr id="9" name="Rectangle 8"/>
          <p:cNvSpPr/>
          <p:nvPr/>
        </p:nvSpPr>
        <p:spPr>
          <a:xfrm>
            <a:off x="923544" y="2276856"/>
            <a:ext cx="100584" cy="621792"/>
          </a:xfrm>
          <a:prstGeom prst="rect">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307592" y="2304288"/>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对人民：回应环境关切，提供参与和救济依据</a:t>
            </a:r>
          </a:p>
        </p:txBody>
      </p:sp>
      <p:sp>
        <p:nvSpPr>
          <p:cNvPr id="11" name="Rectangle 10"/>
          <p:cNvSpPr/>
          <p:nvPr/>
        </p:nvSpPr>
        <p:spPr>
          <a:xfrm>
            <a:off x="923544" y="3154680"/>
            <a:ext cx="100584" cy="6217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307592" y="3182112"/>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对发展：形成稳定预期，支持绿色转型与公平竞争</a:t>
            </a:r>
          </a:p>
        </p:txBody>
      </p:sp>
      <p:sp>
        <p:nvSpPr>
          <p:cNvPr id="13" name="Rectangle 12"/>
          <p:cNvSpPr/>
          <p:nvPr/>
        </p:nvSpPr>
        <p:spPr>
          <a:xfrm>
            <a:off x="923544" y="4032504"/>
            <a:ext cx="100584" cy="621792"/>
          </a:xfrm>
          <a:prstGeom prst="rect">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307592" y="4059936"/>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对治理：加强系统协调，把制度文本转化为行动能力</a:t>
            </a:r>
          </a:p>
        </p:txBody>
      </p:sp>
      <p:sp>
        <p:nvSpPr>
          <p:cNvPr id="15" name="Rounded Rectangle 1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把今天的认识转化为有依据、可执行、能持续的行动。</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R15 / R16 / R27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66 / 100</a:t>
            </a:r>
          </a:p>
        </p:txBody>
      </p:sp>
      <p:sp>
        <p:nvSpPr>
          <p:cNvPr id="6" name="TextBox 5"/>
          <p:cNvSpPr txBox="1"/>
          <p:nvPr/>
        </p:nvSpPr>
        <p:spPr>
          <a:xfrm>
            <a:off x="713232" y="1124712"/>
            <a:ext cx="1828800" cy="1143000"/>
          </a:xfrm>
          <a:prstGeom prst="rect">
            <a:avLst/>
          </a:prstGeom>
          <a:noFill/>
          <a:effectLst/>
        </p:spPr>
        <p:txBody>
          <a:bodyPr wrap="square" lIns="0" rIns="0" tIns="0" bIns="0" anchor="t">
            <a:spAutoFit/>
          </a:bodyPr>
          <a:lstStyle/>
          <a:p>
            <a:pPr>
              <a:lnSpc>
                <a:spcPct val="112000"/>
              </a:lnSpc>
              <a:spcBef>
                <a:spcPts val="0"/>
              </a:spcBef>
              <a:spcAft>
                <a:spcPts val="0"/>
              </a:spcAft>
              <a:defRPr sz="6800" b="1">
                <a:solidFill>
                  <a:srgbClr val="75BD42"/>
                </a:solidFill>
                <a:latin typeface="Noto Sans CJK SC"/>
              </a:defRPr>
            </a:pPr>
            <a:r>
              <a:rPr sz="6800" b="1">
                <a:solidFill>
                  <a:srgbClr val="75BD42"/>
                </a:solidFill>
                <a:latin typeface="Noto Sans CJK SC"/>
                <a:ea typeface="Noto Sans CJK SC"/>
                <a:cs typeface="Noto Sans CJK SC"/>
              </a:rPr>
              <a:t>03</a:t>
            </a:r>
          </a:p>
        </p:txBody>
      </p:sp>
      <p:sp>
        <p:nvSpPr>
          <p:cNvPr id="7" name="TextBox 6"/>
          <p:cNvSpPr txBox="1"/>
          <p:nvPr/>
        </p:nvSpPr>
        <p:spPr>
          <a:xfrm>
            <a:off x="777240" y="2295144"/>
            <a:ext cx="7132320" cy="1463040"/>
          </a:xfrm>
          <a:prstGeom prst="rect">
            <a:avLst/>
          </a:prstGeom>
          <a:noFill/>
          <a:effectLst/>
        </p:spPr>
        <p:txBody>
          <a:bodyPr wrap="square" lIns="0" rIns="0" tIns="0" bIns="0" anchor="t">
            <a:spAutoFit/>
          </a:bodyPr>
          <a:lstStyle/>
          <a:p>
            <a:pPr>
              <a:lnSpc>
                <a:spcPct val="112000"/>
              </a:lnSpc>
              <a:spcBef>
                <a:spcPts val="0"/>
              </a:spcBef>
              <a:spcAft>
                <a:spcPts val="0"/>
              </a:spcAft>
              <a:defRPr sz="3100" b="1">
                <a:solidFill>
                  <a:srgbClr val="233E39"/>
                </a:solidFill>
                <a:latin typeface="Noto Sans CJK SC"/>
              </a:defRPr>
            </a:pPr>
            <a:r>
              <a:rPr sz="3100" b="1">
                <a:solidFill>
                  <a:srgbClr val="233E39"/>
                </a:solidFill>
                <a:latin typeface="Noto Sans CJK SC"/>
                <a:ea typeface="Noto Sans CJK SC"/>
                <a:cs typeface="Noto Sans CJK SC"/>
              </a:rPr>
              <a:t>“十五五”时期美丽中国建设</a:t>
            </a:r>
          </a:p>
          <a:p>
            <a:pPr>
              <a:lnSpc>
                <a:spcPct val="112000"/>
              </a:lnSpc>
              <a:spcBef>
                <a:spcPts val="0"/>
              </a:spcBef>
              <a:spcAft>
                <a:spcPts val="0"/>
              </a:spcAft>
              <a:defRPr sz="3100" b="1">
                <a:solidFill>
                  <a:srgbClr val="233E39"/>
                </a:solidFill>
                <a:latin typeface="Noto Sans CJK SC"/>
              </a:defRPr>
            </a:pPr>
            <a:r>
              <a:rPr sz="3100" b="1">
                <a:solidFill>
                  <a:srgbClr val="233E39"/>
                </a:solidFill>
                <a:latin typeface="Noto Sans CJK SC"/>
                <a:ea typeface="Noto Sans CJK SC"/>
                <a:cs typeface="Noto Sans CJK SC"/>
              </a:rPr>
              <a:t>面临的形势和任务</a:t>
            </a:r>
          </a:p>
        </p:txBody>
      </p:sp>
      <p:sp>
        <p:nvSpPr>
          <p:cNvPr id="8" name="TextBox 7"/>
          <p:cNvSpPr txBox="1"/>
          <p:nvPr/>
        </p:nvSpPr>
        <p:spPr>
          <a:xfrm>
            <a:off x="822960" y="4160520"/>
            <a:ext cx="6263640" cy="822960"/>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6548"/>
                </a:solidFill>
                <a:latin typeface="Noto Sans CJK SC"/>
              </a:defRPr>
            </a:pPr>
            <a:r>
              <a:rPr sz="2100" b="0">
                <a:solidFill>
                  <a:srgbClr val="236548"/>
                </a:solidFill>
                <a:latin typeface="Noto Sans CJK SC"/>
                <a:ea typeface="Noto Sans CJK SC"/>
                <a:cs typeface="Noto Sans CJK SC"/>
              </a:rPr>
              <a:t>2026—2030年，连接碳达峰与美丽中国长远目标</a:t>
            </a:r>
          </a:p>
        </p:txBody>
      </p:sp>
      <p:pic>
        <p:nvPicPr>
          <p:cNvPr id="9" name="Picture 8" descr="eco_scenes.png"/>
          <p:cNvPicPr>
            <a:picLocks noChangeAspect="1"/>
          </p:cNvPicPr>
          <p:nvPr/>
        </p:nvPicPr>
        <p:blipFill>
          <a:blip r:embed="rId3"/>
          <a:srcRect l="9330" r="59330" t="50000"/>
          <a:stretch>
            <a:fillRect/>
          </a:stretch>
        </p:blipFill>
        <p:spPr>
          <a:xfrm>
            <a:off x="7882127" y="1261872"/>
            <a:ext cx="3593592" cy="3822191"/>
          </a:xfrm>
          <a:prstGeom prst="rect">
            <a:avLst/>
          </a:prstGeom>
          <a:effectLst/>
        </p:spPr>
      </p:pic>
      <p:sp>
        <p:nvSpPr>
          <p:cNvPr id="10" name="Rectangle 9"/>
          <p:cNvSpPr/>
          <p:nvPr/>
        </p:nvSpPr>
        <p:spPr>
          <a:xfrm>
            <a:off x="7882127" y="4818888"/>
            <a:ext cx="3593592"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973567" y="4846320"/>
            <a:ext cx="3410712"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R14 / R25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67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机遇：绿色发展积累新动能</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技术创新、产业基础与社会需求形成新的空间</a:t>
            </a:r>
          </a:p>
        </p:txBody>
      </p:sp>
      <p:sp>
        <p:nvSpPr>
          <p:cNvPr id="9" name="Rounded Rectangle 8"/>
          <p:cNvSpPr/>
          <p:nvPr/>
        </p:nvSpPr>
        <p:spPr>
          <a:xfrm>
            <a:off x="822960"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22960" y="2240280"/>
            <a:ext cx="5175504" cy="530352"/>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技术与产业</a:t>
            </a:r>
          </a:p>
        </p:txBody>
      </p:sp>
      <p:sp>
        <p:nvSpPr>
          <p:cNvPr id="12" name="TextBox 11"/>
          <p:cNvSpPr txBox="1"/>
          <p:nvPr/>
        </p:nvSpPr>
        <p:spPr>
          <a:xfrm>
            <a:off x="1078992"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新能源、节能环保和绿色制造等领域持续发展</a:t>
            </a:r>
          </a:p>
        </p:txBody>
      </p:sp>
      <p:sp>
        <p:nvSpPr>
          <p:cNvPr id="13" name="TextBox 12"/>
          <p:cNvSpPr txBox="1"/>
          <p:nvPr/>
        </p:nvSpPr>
        <p:spPr>
          <a:xfrm>
            <a:off x="1078992" y="3968496"/>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把绿色需求转化为创新机会，也需完善服务和市场条件</a:t>
            </a:r>
          </a:p>
        </p:txBody>
      </p:sp>
      <p:sp>
        <p:nvSpPr>
          <p:cNvPr id="14" name="Rounded Rectangle 13"/>
          <p:cNvSpPr/>
          <p:nvPr/>
        </p:nvSpPr>
        <p:spPr>
          <a:xfrm>
            <a:off x="6272784"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272784" y="2240280"/>
            <a:ext cx="5175504" cy="530352"/>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01384"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需求与治理</a:t>
            </a:r>
          </a:p>
        </p:txBody>
      </p:sp>
      <p:sp>
        <p:nvSpPr>
          <p:cNvPr id="17" name="TextBox 16"/>
          <p:cNvSpPr txBox="1"/>
          <p:nvPr/>
        </p:nvSpPr>
        <p:spPr>
          <a:xfrm>
            <a:off x="6528816"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技术进步与产业协同，有利于提高资源利用效率</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区分适用对象、时间和口径，再作比较与判断。</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68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压力：深层问题仍在结构之中</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环境改善之后，结构调整仍是一场长期任务</a:t>
            </a:r>
          </a:p>
        </p:txBody>
      </p:sp>
      <p:sp>
        <p:nvSpPr>
          <p:cNvPr id="9" name="Rounded Rectangle 8"/>
          <p:cNvSpPr/>
          <p:nvPr/>
        </p:nvSpPr>
        <p:spPr>
          <a:xfrm>
            <a:off x="822960"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22960" y="2240280"/>
            <a:ext cx="5175504" cy="530352"/>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观察对象</a:t>
            </a:r>
          </a:p>
        </p:txBody>
      </p:sp>
      <p:sp>
        <p:nvSpPr>
          <p:cNvPr id="12" name="TextBox 11"/>
          <p:cNvSpPr txBox="1"/>
          <p:nvPr/>
        </p:nvSpPr>
        <p:spPr>
          <a:xfrm>
            <a:off x="1078992"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一些地区产业、能源和运输结构仍有较大转型压力</a:t>
            </a:r>
          </a:p>
        </p:txBody>
      </p:sp>
      <p:sp>
        <p:nvSpPr>
          <p:cNvPr id="13" name="TextBox 12"/>
          <p:cNvSpPr txBox="1"/>
          <p:nvPr/>
        </p:nvSpPr>
        <p:spPr>
          <a:xfrm>
            <a:off x="1078992" y="3968496"/>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既巩固现有成效，也破解影响长期质量的深层矛盾</a:t>
            </a:r>
          </a:p>
        </p:txBody>
      </p:sp>
      <p:sp>
        <p:nvSpPr>
          <p:cNvPr id="14" name="Rounded Rectangle 13"/>
          <p:cNvSpPr/>
          <p:nvPr/>
        </p:nvSpPr>
        <p:spPr>
          <a:xfrm>
            <a:off x="6272784"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272784" y="2240280"/>
            <a:ext cx="5175504" cy="530352"/>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01384"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分析方法</a:t>
            </a:r>
          </a:p>
        </p:txBody>
      </p:sp>
      <p:sp>
        <p:nvSpPr>
          <p:cNvPr id="17" name="TextBox 16"/>
          <p:cNvSpPr txBox="1"/>
          <p:nvPr/>
        </p:nvSpPr>
        <p:spPr>
          <a:xfrm>
            <a:off x="6528816"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历史存量问题与新增风险可能叠加，需要统筹安排</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区分适用对象、时间和口径，再作比较与判断。</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69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挑战：环境问题更加复杂交织</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污染、生态与气候风险，需要协同研判和治理</a:t>
            </a:r>
          </a:p>
        </p:txBody>
      </p:sp>
      <p:sp>
        <p:nvSpPr>
          <p:cNvPr id="9" name="Rounded Rectangle 8"/>
          <p:cNvSpPr/>
          <p:nvPr/>
        </p:nvSpPr>
        <p:spPr>
          <a:xfrm>
            <a:off x="822960"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22960" y="2240280"/>
            <a:ext cx="5175504" cy="530352"/>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叠加风险</a:t>
            </a:r>
          </a:p>
        </p:txBody>
      </p:sp>
      <p:sp>
        <p:nvSpPr>
          <p:cNvPr id="12" name="TextBox 11"/>
          <p:cNvSpPr txBox="1"/>
          <p:nvPr/>
        </p:nvSpPr>
        <p:spPr>
          <a:xfrm>
            <a:off x="1078992"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污染物之间、不同介质之间可能相互转化或影响</a:t>
            </a:r>
          </a:p>
        </p:txBody>
      </p:sp>
      <p:sp>
        <p:nvSpPr>
          <p:cNvPr id="13" name="TextBox 12"/>
          <p:cNvSpPr txBox="1"/>
          <p:nvPr/>
        </p:nvSpPr>
        <p:spPr>
          <a:xfrm>
            <a:off x="1078992" y="3968496"/>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避免只解决一个局部问题，却把成本转移到其他环节</a:t>
            </a:r>
          </a:p>
        </p:txBody>
      </p:sp>
      <p:sp>
        <p:nvSpPr>
          <p:cNvPr id="14" name="Rounded Rectangle 13"/>
          <p:cNvSpPr/>
          <p:nvPr/>
        </p:nvSpPr>
        <p:spPr>
          <a:xfrm>
            <a:off x="6272784"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272784" y="2240280"/>
            <a:ext cx="5175504" cy="530352"/>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01384"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协同应对</a:t>
            </a:r>
          </a:p>
        </p:txBody>
      </p:sp>
      <p:sp>
        <p:nvSpPr>
          <p:cNvPr id="17" name="TextBox 16"/>
          <p:cNvSpPr txBox="1"/>
          <p:nvPr/>
        </p:nvSpPr>
        <p:spPr>
          <a:xfrm>
            <a:off x="6528816"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流域、区域与产业链联系，提高治理协调难度</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区分适用对象、时间和口径，再作比较与判断。</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R20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70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气候风险怎样进入日常生活</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减缓与适应并进，提高生产生活的安全韧性</a:t>
            </a:r>
          </a:p>
        </p:txBody>
      </p:sp>
      <p:sp>
        <p:nvSpPr>
          <p:cNvPr id="9" name="Rounded Rectangle 8"/>
          <p:cNvSpPr/>
          <p:nvPr/>
        </p:nvSpPr>
        <p:spPr>
          <a:xfrm>
            <a:off x="822960"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22960" y="2240280"/>
            <a:ext cx="5175504" cy="530352"/>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减缓气候变化</a:t>
            </a:r>
          </a:p>
        </p:txBody>
      </p:sp>
      <p:sp>
        <p:nvSpPr>
          <p:cNvPr id="12" name="TextBox 11"/>
          <p:cNvSpPr txBox="1"/>
          <p:nvPr/>
        </p:nvSpPr>
        <p:spPr>
          <a:xfrm>
            <a:off x="1078992"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高温、强降雨和干旱等风险影响城市、农业与基础设施</a:t>
            </a:r>
          </a:p>
        </p:txBody>
      </p:sp>
      <p:sp>
        <p:nvSpPr>
          <p:cNvPr id="13" name="TextBox 12"/>
          <p:cNvSpPr txBox="1"/>
          <p:nvPr/>
        </p:nvSpPr>
        <p:spPr>
          <a:xfrm>
            <a:off x="1078992" y="3968496"/>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不能把单次天气事件直接作为气候变化的归因结论</a:t>
            </a:r>
          </a:p>
        </p:txBody>
      </p:sp>
      <p:sp>
        <p:nvSpPr>
          <p:cNvPr id="14" name="Rounded Rectangle 13"/>
          <p:cNvSpPr/>
          <p:nvPr/>
        </p:nvSpPr>
        <p:spPr>
          <a:xfrm>
            <a:off x="6272784"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272784" y="2240280"/>
            <a:ext cx="5175504" cy="530352"/>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01384"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适应气候变化</a:t>
            </a:r>
          </a:p>
        </p:txBody>
      </p:sp>
      <p:sp>
        <p:nvSpPr>
          <p:cNvPr id="17" name="TextBox 16"/>
          <p:cNvSpPr txBox="1"/>
          <p:nvPr/>
        </p:nvSpPr>
        <p:spPr>
          <a:xfrm>
            <a:off x="6528816"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减排用于减缓，风险评估和韧性建设用于适应</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区分适用对象、时间和口径，再作比较与判断。</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71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外部环境：合作与竞争同时存在</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绿色转型也是技术、规则与产业能力的竞争</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全球气候与生态问题要求合作，绿色规则又影响贸易产业</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提高自主创新、绿色供应链和标准适应能力</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坚持立足国情，也积极参与国际交流与合作</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72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“十五五”绿色发展：目标与任务</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把规划目标转化为绿色转型、系统保护和治理行动</a:t>
            </a:r>
          </a:p>
        </p:txBody>
      </p:sp>
      <p:sp>
        <p:nvSpPr>
          <p:cNvPr id="9" name="Rounded Rectangle 8"/>
          <p:cNvSpPr/>
          <p:nvPr/>
        </p:nvSpPr>
        <p:spPr>
          <a:xfrm>
            <a:off x="850392" y="2267712"/>
            <a:ext cx="3346704" cy="258775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060704" y="2523744"/>
            <a:ext cx="2926080" cy="868680"/>
          </a:xfrm>
          <a:prstGeom prst="rect">
            <a:avLst/>
          </a:prstGeom>
          <a:noFill/>
          <a:effectLst/>
        </p:spPr>
        <p:txBody>
          <a:bodyPr wrap="square" lIns="0" rIns="0" tIns="0" bIns="0" anchor="t">
            <a:spAutoFit/>
          </a:bodyPr>
          <a:lstStyle/>
          <a:p>
            <a:pPr>
              <a:lnSpc>
                <a:spcPct val="112000"/>
              </a:lnSpc>
              <a:spcBef>
                <a:spcPts val="0"/>
              </a:spcBef>
              <a:spcAft>
                <a:spcPts val="0"/>
              </a:spcAft>
              <a:defRPr sz="5200" b="1">
                <a:solidFill>
                  <a:srgbClr val="23527F"/>
                </a:solidFill>
                <a:latin typeface="Noto Sans CJK SC"/>
              </a:defRPr>
            </a:pPr>
            <a:r>
              <a:rPr sz="5200" b="1">
                <a:solidFill>
                  <a:srgbClr val="23527F"/>
                </a:solidFill>
                <a:latin typeface="Noto Sans CJK SC"/>
                <a:ea typeface="Noto Sans CJK SC"/>
                <a:cs typeface="Noto Sans CJK SC"/>
              </a:rPr>
              <a:t>17%</a:t>
            </a:r>
          </a:p>
        </p:txBody>
      </p:sp>
      <p:sp>
        <p:nvSpPr>
          <p:cNvPr id="11" name="TextBox 10"/>
          <p:cNvSpPr txBox="1"/>
          <p:nvPr/>
        </p:nvSpPr>
        <p:spPr>
          <a:xfrm>
            <a:off x="1069848" y="3648456"/>
            <a:ext cx="2907792" cy="676656"/>
          </a:xfrm>
          <a:prstGeom prst="rect">
            <a:avLst/>
          </a:prstGeom>
          <a:noFill/>
          <a:effectLst/>
        </p:spPr>
        <p:txBody>
          <a:bodyPr wrap="square" lIns="0" rIns="0" tIns="0" bIns="0" anchor="t">
            <a:spAutoFit/>
          </a:bodyPr>
          <a:lstStyle/>
          <a:p>
            <a:pPr>
              <a:lnSpc>
                <a:spcPct val="112000"/>
              </a:lnSpc>
              <a:spcBef>
                <a:spcPts val="0"/>
              </a:spcBef>
              <a:spcAft>
                <a:spcPts val="0"/>
              </a:spcAft>
              <a:defRPr sz="2000" b="1">
                <a:solidFill>
                  <a:srgbClr val="236548"/>
                </a:solidFill>
                <a:latin typeface="Noto Sans CJK SC"/>
              </a:defRPr>
            </a:pPr>
            <a:r>
              <a:rPr sz="2000" b="1">
                <a:solidFill>
                  <a:srgbClr val="236548"/>
                </a:solidFill>
                <a:latin typeface="Noto Sans CJK SC"/>
                <a:ea typeface="Noto Sans CJK SC"/>
                <a:cs typeface="Noto Sans CJK SC"/>
              </a:rPr>
              <a:t>单位GDP二氧化碳排放降低</a:t>
            </a:r>
          </a:p>
        </p:txBody>
      </p:sp>
      <p:sp>
        <p:nvSpPr>
          <p:cNvPr id="12" name="TextBox 11"/>
          <p:cNvSpPr txBox="1"/>
          <p:nvPr/>
        </p:nvSpPr>
        <p:spPr>
          <a:xfrm>
            <a:off x="1069848" y="4517136"/>
            <a:ext cx="2907792" cy="274320"/>
          </a:xfrm>
          <a:prstGeom prst="rect">
            <a:avLst/>
          </a:prstGeom>
          <a:noFill/>
          <a:effectLst/>
        </p:spPr>
        <p:txBody>
          <a:bodyPr wrap="square" lIns="0" rIns="0" tIns="0" bIns="0" anchor="t">
            <a:spAutoFit/>
          </a:bodyPr>
          <a:lstStyle/>
          <a:p>
            <a:pPr>
              <a:lnSpc>
                <a:spcPct val="112000"/>
              </a:lnSpc>
              <a:spcBef>
                <a:spcPts val="0"/>
              </a:spcBef>
              <a:spcAft>
                <a:spcPts val="0"/>
              </a:spcAft>
              <a:defRPr sz="1400" b="0">
                <a:solidFill>
                  <a:srgbClr val="63766E"/>
                </a:solidFill>
                <a:latin typeface="Noto Sans CJK SC"/>
              </a:defRPr>
            </a:pPr>
            <a:r>
              <a:rPr sz="1400" b="0">
                <a:solidFill>
                  <a:srgbClr val="63766E"/>
                </a:solidFill>
                <a:latin typeface="Noto Sans CJK SC"/>
                <a:ea typeface="Noto Sans CJK SC"/>
                <a:cs typeface="Noto Sans CJK SC"/>
              </a:rPr>
              <a:t>2026—2030年累计</a:t>
            </a:r>
          </a:p>
        </p:txBody>
      </p:sp>
      <p:sp>
        <p:nvSpPr>
          <p:cNvPr id="13" name="Rounded Rectangle 12"/>
          <p:cNvSpPr/>
          <p:nvPr/>
        </p:nvSpPr>
        <p:spPr>
          <a:xfrm>
            <a:off x="4453128" y="2267712"/>
            <a:ext cx="3346704" cy="258775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63440" y="2523744"/>
            <a:ext cx="2926080" cy="868680"/>
          </a:xfrm>
          <a:prstGeom prst="rect">
            <a:avLst/>
          </a:prstGeom>
          <a:noFill/>
          <a:effectLst/>
        </p:spPr>
        <p:txBody>
          <a:bodyPr wrap="square" lIns="0" rIns="0" tIns="0" bIns="0" anchor="t">
            <a:spAutoFit/>
          </a:bodyPr>
          <a:lstStyle/>
          <a:p>
            <a:pPr>
              <a:lnSpc>
                <a:spcPct val="112000"/>
              </a:lnSpc>
              <a:spcBef>
                <a:spcPts val="0"/>
              </a:spcBef>
              <a:spcAft>
                <a:spcPts val="0"/>
              </a:spcAft>
              <a:defRPr sz="5200" b="1">
                <a:solidFill>
                  <a:srgbClr val="23527F"/>
                </a:solidFill>
                <a:latin typeface="Noto Sans CJK SC"/>
              </a:defRPr>
            </a:pPr>
            <a:r>
              <a:rPr sz="5200" b="1">
                <a:solidFill>
                  <a:srgbClr val="23527F"/>
                </a:solidFill>
                <a:latin typeface="Noto Sans CJK SC"/>
                <a:ea typeface="Noto Sans CJK SC"/>
                <a:cs typeface="Noto Sans CJK SC"/>
              </a:rPr>
              <a:t>25%</a:t>
            </a:r>
          </a:p>
        </p:txBody>
      </p:sp>
      <p:sp>
        <p:nvSpPr>
          <p:cNvPr id="15" name="TextBox 14"/>
          <p:cNvSpPr txBox="1"/>
          <p:nvPr/>
        </p:nvSpPr>
        <p:spPr>
          <a:xfrm>
            <a:off x="4672584" y="3648456"/>
            <a:ext cx="2907792" cy="676656"/>
          </a:xfrm>
          <a:prstGeom prst="rect">
            <a:avLst/>
          </a:prstGeom>
          <a:noFill/>
          <a:effectLst/>
        </p:spPr>
        <p:txBody>
          <a:bodyPr wrap="square" lIns="0" rIns="0" tIns="0" bIns="0" anchor="t">
            <a:spAutoFit/>
          </a:bodyPr>
          <a:lstStyle/>
          <a:p>
            <a:pPr>
              <a:lnSpc>
                <a:spcPct val="112000"/>
              </a:lnSpc>
              <a:spcBef>
                <a:spcPts val="0"/>
              </a:spcBef>
              <a:spcAft>
                <a:spcPts val="0"/>
              </a:spcAft>
              <a:defRPr sz="2000" b="1">
                <a:solidFill>
                  <a:srgbClr val="236548"/>
                </a:solidFill>
                <a:latin typeface="Noto Sans CJK SC"/>
              </a:defRPr>
            </a:pPr>
            <a:r>
              <a:rPr sz="2000" b="1">
                <a:solidFill>
                  <a:srgbClr val="236548"/>
                </a:solidFill>
                <a:latin typeface="Noto Sans CJK SC"/>
                <a:ea typeface="Noto Sans CJK SC"/>
                <a:cs typeface="Noto Sans CJK SC"/>
              </a:rPr>
              <a:t>非化石能源消费占比</a:t>
            </a:r>
          </a:p>
        </p:txBody>
      </p:sp>
      <p:sp>
        <p:nvSpPr>
          <p:cNvPr id="16" name="TextBox 15"/>
          <p:cNvSpPr txBox="1"/>
          <p:nvPr/>
        </p:nvSpPr>
        <p:spPr>
          <a:xfrm>
            <a:off x="4672584" y="4517136"/>
            <a:ext cx="2907792" cy="274320"/>
          </a:xfrm>
          <a:prstGeom prst="rect">
            <a:avLst/>
          </a:prstGeom>
          <a:noFill/>
          <a:effectLst/>
        </p:spPr>
        <p:txBody>
          <a:bodyPr wrap="square" lIns="0" rIns="0" tIns="0" bIns="0" anchor="t">
            <a:spAutoFit/>
          </a:bodyPr>
          <a:lstStyle/>
          <a:p>
            <a:pPr>
              <a:lnSpc>
                <a:spcPct val="112000"/>
              </a:lnSpc>
              <a:spcBef>
                <a:spcPts val="0"/>
              </a:spcBef>
              <a:spcAft>
                <a:spcPts val="0"/>
              </a:spcAft>
              <a:defRPr sz="1400" b="0">
                <a:solidFill>
                  <a:srgbClr val="63766E"/>
                </a:solidFill>
                <a:latin typeface="Noto Sans CJK SC"/>
              </a:defRPr>
            </a:pPr>
            <a:r>
              <a:rPr sz="1400" b="0">
                <a:solidFill>
                  <a:srgbClr val="63766E"/>
                </a:solidFill>
                <a:latin typeface="Noto Sans CJK SC"/>
                <a:ea typeface="Noto Sans CJK SC"/>
                <a:cs typeface="Noto Sans CJK SC"/>
              </a:rPr>
              <a:t>到2030年</a:t>
            </a:r>
          </a:p>
        </p:txBody>
      </p:sp>
      <p:sp>
        <p:nvSpPr>
          <p:cNvPr id="17" name="Rounded Rectangle 16"/>
          <p:cNvSpPr/>
          <p:nvPr/>
        </p:nvSpPr>
        <p:spPr>
          <a:xfrm>
            <a:off x="8055864" y="2267712"/>
            <a:ext cx="3346704" cy="258775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66176" y="2523744"/>
            <a:ext cx="2926080" cy="868680"/>
          </a:xfrm>
          <a:prstGeom prst="rect">
            <a:avLst/>
          </a:prstGeom>
          <a:noFill/>
          <a:effectLst/>
        </p:spPr>
        <p:txBody>
          <a:bodyPr wrap="square" lIns="0" rIns="0" tIns="0" bIns="0" anchor="t">
            <a:spAutoFit/>
          </a:bodyPr>
          <a:lstStyle/>
          <a:p>
            <a:pPr>
              <a:lnSpc>
                <a:spcPct val="112000"/>
              </a:lnSpc>
              <a:spcBef>
                <a:spcPts val="0"/>
              </a:spcBef>
              <a:spcAft>
                <a:spcPts val="0"/>
              </a:spcAft>
              <a:defRPr sz="5200" b="1">
                <a:solidFill>
                  <a:srgbClr val="23527F"/>
                </a:solidFill>
                <a:latin typeface="Noto Sans CJK SC"/>
              </a:defRPr>
            </a:pPr>
            <a:r>
              <a:rPr sz="5200" b="1">
                <a:solidFill>
                  <a:srgbClr val="23527F"/>
                </a:solidFill>
                <a:latin typeface="Noto Sans CJK SC"/>
                <a:ea typeface="Noto Sans CJK SC"/>
                <a:cs typeface="Noto Sans CJK SC"/>
              </a:rPr>
              <a:t>&lt;27</a:t>
            </a:r>
          </a:p>
        </p:txBody>
      </p:sp>
      <p:sp>
        <p:nvSpPr>
          <p:cNvPr id="19" name="TextBox 18"/>
          <p:cNvSpPr txBox="1"/>
          <p:nvPr/>
        </p:nvSpPr>
        <p:spPr>
          <a:xfrm>
            <a:off x="8275320" y="3648456"/>
            <a:ext cx="2907792" cy="676656"/>
          </a:xfrm>
          <a:prstGeom prst="rect">
            <a:avLst/>
          </a:prstGeom>
          <a:noFill/>
          <a:effectLst/>
        </p:spPr>
        <p:txBody>
          <a:bodyPr wrap="square" lIns="0" rIns="0" tIns="0" bIns="0" anchor="t">
            <a:spAutoFit/>
          </a:bodyPr>
          <a:lstStyle/>
          <a:p>
            <a:pPr>
              <a:lnSpc>
                <a:spcPct val="112000"/>
              </a:lnSpc>
              <a:spcBef>
                <a:spcPts val="0"/>
              </a:spcBef>
              <a:spcAft>
                <a:spcPts val="0"/>
              </a:spcAft>
              <a:defRPr sz="2000" b="1">
                <a:solidFill>
                  <a:srgbClr val="236548"/>
                </a:solidFill>
                <a:latin typeface="Noto Sans CJK SC"/>
              </a:defRPr>
            </a:pPr>
            <a:r>
              <a:rPr sz="2000" b="1">
                <a:solidFill>
                  <a:srgbClr val="236548"/>
                </a:solidFill>
                <a:latin typeface="Noto Sans CJK SC"/>
                <a:ea typeface="Noto Sans CJK SC"/>
                <a:cs typeface="Noto Sans CJK SC"/>
              </a:rPr>
              <a:t>PM₂.₅浓度（微克/立方米）</a:t>
            </a:r>
          </a:p>
        </p:txBody>
      </p:sp>
      <p:sp>
        <p:nvSpPr>
          <p:cNvPr id="20" name="TextBox 19"/>
          <p:cNvSpPr txBox="1"/>
          <p:nvPr/>
        </p:nvSpPr>
        <p:spPr>
          <a:xfrm>
            <a:off x="8275320" y="4517136"/>
            <a:ext cx="2907792" cy="274320"/>
          </a:xfrm>
          <a:prstGeom prst="rect">
            <a:avLst/>
          </a:prstGeom>
          <a:noFill/>
          <a:effectLst/>
        </p:spPr>
        <p:txBody>
          <a:bodyPr wrap="square" lIns="0" rIns="0" tIns="0" bIns="0" anchor="t">
            <a:spAutoFit/>
          </a:bodyPr>
          <a:lstStyle/>
          <a:p>
            <a:pPr>
              <a:lnSpc>
                <a:spcPct val="112000"/>
              </a:lnSpc>
              <a:spcBef>
                <a:spcPts val="0"/>
              </a:spcBef>
              <a:spcAft>
                <a:spcPts val="0"/>
              </a:spcAft>
              <a:defRPr sz="1400" b="0">
                <a:solidFill>
                  <a:srgbClr val="63766E"/>
                </a:solidFill>
                <a:latin typeface="Noto Sans CJK SC"/>
              </a:defRPr>
            </a:pPr>
            <a:r>
              <a:rPr sz="1400" b="0">
                <a:solidFill>
                  <a:srgbClr val="63766E"/>
                </a:solidFill>
                <a:latin typeface="Noto Sans CJK SC"/>
                <a:ea typeface="Noto Sans CJK SC"/>
                <a:cs typeface="Noto Sans CJK SC"/>
              </a:rPr>
              <a:t>到2030年</a:t>
            </a:r>
          </a:p>
        </p:txBody>
      </p:sp>
      <p:sp>
        <p:nvSpPr>
          <p:cNvPr id="21" name="Rounded Rectangle 20"/>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以上为规划目标，不能写成已经实现的年度实绩；据配套资料R14。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73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全面绿色转型：改变发展的实现方式</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把资源效率与生态要求纳入全链条决策</a:t>
            </a:r>
          </a:p>
        </p:txBody>
      </p:sp>
      <p:pic>
        <p:nvPicPr>
          <p:cNvPr id="9" name="Picture 8" descr="eco_scenes.png"/>
          <p:cNvPicPr>
            <a:picLocks noChangeAspect="1"/>
          </p:cNvPicPr>
          <p:nvPr/>
        </p:nvPicPr>
        <p:blipFill>
          <a:blip r:embed="rId3"/>
          <a:srcRect r="50000" t="51667" b="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生产端节约能源原料，减少污染和温室气体排放</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流通消费端改进物流、产品选择和资源回收</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政策、标准和公共服务配套，支持转型持续推进</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把资源效率与生态要求纳入全链条决策</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74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产业：存量改造与增量优化并进</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既改好已有产业，也培育符合生态要求的新动能</a:t>
            </a:r>
          </a:p>
        </p:txBody>
      </p:sp>
      <p:pic>
        <p:nvPicPr>
          <p:cNvPr id="9" name="Picture 8" descr="eco_scenes.png"/>
          <p:cNvPicPr>
            <a:picLocks noChangeAspect="1"/>
          </p:cNvPicPr>
          <p:nvPr/>
        </p:nvPicPr>
        <p:blipFill>
          <a:blip r:embed="rId3"/>
          <a:srcRect r="50000" t="51667" b="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以节能技术、清洁工艺和循环利用改造存量生产</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新增项目重布局、资源效率与全过程环境表现</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不能只按产业名称判断绿色程度，应看实际运行效果</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既改好已有产业，也培育符合生态要求的新动能</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75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能源：绿色低碳与安全可靠统筹</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发展新供给，也增强电力系统的适应和调节能力</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提升非化石能源供给与消费比重，推进节约高效利用</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加强电网、储能与调节能力，适应新能源波动特征</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结合地区资源条件与负荷需求，统筹安全、成本和减排</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R17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76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碳达峰：把时间要求转化为行动</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达峰是发展方式转变中的系统性任务</a:t>
            </a:r>
          </a:p>
        </p:txBody>
      </p:sp>
      <p:pic>
        <p:nvPicPr>
          <p:cNvPr id="9" name="Picture 8" descr="eco_scenes.png"/>
          <p:cNvPicPr>
            <a:picLocks noChangeAspect="1"/>
          </p:cNvPicPr>
          <p:nvPr/>
        </p:nvPicPr>
        <p:blipFill>
          <a:blip r:embed="rId3"/>
          <a:srcRect r="50000" t="51667" b="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统筹产业、能源、交通与建筑等重点领域降碳</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区分排放总量与排放强度，防止指标概念混用</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以技术、管理和结构调整提高效率，避免简单化运动式做法</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达峰是发展方式转变中的系统性任务</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77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城市：让绿色成为生活空间的品质</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从建筑、公共服务到基础设施一起提升</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推动建筑节能、绿色更新与资源高效利用</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完善污水、垃圾处理和绿色公共空间等基础服务</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把热环境、排水与应急能力纳入韧性城市建设</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78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交通：从单一工具走向出行系统优化</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低碳出行要兼顾可达性、效率、安全与舒适</a:t>
            </a:r>
          </a:p>
        </p:txBody>
      </p:sp>
      <p:pic>
        <p:nvPicPr>
          <p:cNvPr id="9" name="Picture 8" descr="eco_scenes.png"/>
          <p:cNvPicPr>
            <a:picLocks noChangeAspect="1"/>
          </p:cNvPicPr>
          <p:nvPr/>
        </p:nvPicPr>
        <p:blipFill>
          <a:blip r:embed="rId3"/>
          <a:srcRect l="50000" t="51667" b="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完善公共交通、步行骑行与换乘衔接</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推进运输结构和绿色物流优化，减少无效能耗</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评价交通转型既看车辆技术，也看整体出行需求和服务</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低碳出行要兼顾可达性、效率、安全与舒适</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79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农业农村：生态优势与宜居生活相促进</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环境整治、公共服务和适宜产业需要一起推进</a:t>
            </a:r>
          </a:p>
        </p:txBody>
      </p:sp>
      <p:pic>
        <p:nvPicPr>
          <p:cNvPr id="9" name="Picture 8" descr="eco_scenes.png"/>
          <p:cNvPicPr>
            <a:picLocks noChangeAspect="1"/>
          </p:cNvPicPr>
          <p:nvPr/>
        </p:nvPicPr>
        <p:blipFill>
          <a:blip r:embed="rId3"/>
          <a:srcRect l="50000" t="51667" b="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改善生活污水、垃圾处理等农村人居环境短板</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结合资源条件发展绿色农业和适合本地的产业</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设施建成以后，还要建立稳定运行和维护的机制</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环境整治、公共服务和适宜产业需要一起推进</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资料：R16 / V4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80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视频四：“千万工程”怎样进入生活</a:t>
            </a:r>
          </a:p>
        </p:txBody>
      </p:sp>
      <p:sp>
        <p:nvSpPr>
          <p:cNvPr id="8" name="Rounded Rectangle 7"/>
          <p:cNvSpPr/>
          <p:nvPr/>
        </p:nvSpPr>
        <p:spPr>
          <a:xfrm>
            <a:off x="832104" y="1819656"/>
            <a:ext cx="6620256" cy="3337560"/>
          </a:xfrm>
          <a:prstGeom prst="roundRect">
            <a:avLst>
              <a:gd name="adj" fmla="val 8000"/>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1088136" y="2066543"/>
            <a:ext cx="1508760" cy="320040"/>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161288" y="2098548"/>
            <a:ext cx="1362456" cy="256032"/>
          </a:xfrm>
          <a:prstGeom prst="rect">
            <a:avLst/>
          </a:prstGeom>
          <a:noFill/>
          <a:effectLst/>
        </p:spPr>
        <p:txBody>
          <a:bodyPr wrap="square" lIns="0" rIns="0" tIns="0" bIns="0" anchor="t">
            <a:spAutoFit/>
          </a:bodyPr>
          <a:lstStyle/>
          <a:p>
            <a:pPr algn="ctr">
              <a:lnSpc>
                <a:spcPct val="112000"/>
              </a:lnSpc>
              <a:spcBef>
                <a:spcPts val="0"/>
              </a:spcBef>
              <a:spcAft>
                <a:spcPts val="0"/>
              </a:spcAft>
              <a:defRPr sz="1400" b="1">
                <a:solidFill>
                  <a:srgbClr val="FFFFFF"/>
                </a:solidFill>
                <a:latin typeface="Noto Sans CJK SC"/>
              </a:defRPr>
            </a:pPr>
            <a:r>
              <a:rPr sz="1400" b="1">
                <a:solidFill>
                  <a:srgbClr val="FFFFFF"/>
                </a:solidFill>
                <a:latin typeface="Noto Sans CJK SC"/>
                <a:ea typeface="Noto Sans CJK SC"/>
                <a:cs typeface="Noto Sans CJK SC"/>
              </a:rPr>
              <a:t>V4 · 视频学习</a:t>
            </a:r>
          </a:p>
        </p:txBody>
      </p:sp>
      <p:sp>
        <p:nvSpPr>
          <p:cNvPr id="11" name="TextBox 10"/>
          <p:cNvSpPr txBox="1"/>
          <p:nvPr/>
        </p:nvSpPr>
        <p:spPr>
          <a:xfrm>
            <a:off x="1097280" y="2770632"/>
            <a:ext cx="6035040" cy="1024128"/>
          </a:xfrm>
          <a:prstGeom prst="rect">
            <a:avLst/>
          </a:prstGeom>
          <a:noFill/>
          <a:effectLst/>
        </p:spPr>
        <p:txBody>
          <a:bodyPr wrap="square" lIns="0" rIns="0" tIns="0" bIns="0" anchor="t">
            <a:spAutoFit/>
          </a:bodyPr>
          <a:lstStyle/>
          <a:p>
            <a:pPr>
              <a:lnSpc>
                <a:spcPct val="112000"/>
              </a:lnSpc>
              <a:spcBef>
                <a:spcPts val="0"/>
              </a:spcBef>
              <a:spcAft>
                <a:spcPts val="0"/>
              </a:spcAft>
              <a:defRPr sz="2500" b="1">
                <a:solidFill>
                  <a:srgbClr val="FFFFFF"/>
                </a:solidFill>
                <a:latin typeface="Noto Sans CJK SC"/>
              </a:defRPr>
            </a:pPr>
            <a:r>
              <a:rPr sz="2500" b="1">
                <a:solidFill>
                  <a:srgbClr val="FFFFFF"/>
                </a:solidFill>
                <a:latin typeface="Noto Sans CJK SC"/>
                <a:ea typeface="Noto Sans CJK SC"/>
                <a:cs typeface="Noto Sans CJK SC"/>
              </a:rPr>
              <a:t>【新思想引领新征程】“千万工程”实施二十年 描绘村美人和共富新画卷</a:t>
            </a:r>
          </a:p>
        </p:txBody>
      </p:sp>
      <p:sp>
        <p:nvSpPr>
          <p:cNvPr id="12" name="Rounded Rectangle 11">
            <a:hlinkClick r:id="rId3"/>
          </p:cNvPr>
          <p:cNvSpPr/>
          <p:nvPr/>
        </p:nvSpPr>
        <p:spPr>
          <a:xfrm>
            <a:off x="1124712" y="4224528"/>
            <a:ext cx="3044952" cy="539496"/>
          </a:xfrm>
          <a:prstGeom prst="roundRect">
            <a:avLst>
              <a:gd name="adj" fmla="val 8000"/>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a:hlinkClick r:id="rId3"/>
          </p:cNvPr>
          <p:cNvSpPr txBox="1"/>
          <p:nvPr/>
        </p:nvSpPr>
        <p:spPr>
          <a:xfrm>
            <a:off x="1234440" y="4325112"/>
            <a:ext cx="2825496" cy="329184"/>
          </a:xfrm>
          <a:prstGeom prst="rect">
            <a:avLst/>
          </a:prstGeom>
          <a:noFill/>
          <a:effectLst/>
        </p:spPr>
        <p:txBody>
          <a:bodyPr wrap="square" lIns="0" rIns="0" tIns="0" bIns="0" anchor="t">
            <a:spAutoFit/>
          </a:bodyPr>
          <a:lstStyle/>
          <a:p>
            <a:pPr algn="ctr">
              <a:lnSpc>
                <a:spcPct val="112000"/>
              </a:lnSpc>
              <a:spcBef>
                <a:spcPts val="0"/>
              </a:spcBef>
              <a:spcAft>
                <a:spcPts val="0"/>
              </a:spcAft>
              <a:defRPr sz="1800" b="1">
                <a:solidFill>
                  <a:srgbClr val="FFFFFF"/>
                </a:solidFill>
                <a:latin typeface="Noto Sans CJK SC"/>
              </a:defRPr>
            </a:pPr>
            <a:r>
              <a:rPr sz="1800" b="1">
                <a:solidFill>
                  <a:srgbClr val="FFFFFF"/>
                </a:solidFill>
                <a:latin typeface="Noto Sans CJK SC"/>
                <a:ea typeface="Noto Sans CJK SC"/>
                <a:cs typeface="Noto Sans CJK SC"/>
              </a:rPr>
              <a:t>▶  点击打开央视原片</a:t>
            </a:r>
          </a:p>
        </p:txBody>
      </p:sp>
      <p:sp>
        <p:nvSpPr>
          <p:cNvPr id="14" name="TextBox 13"/>
          <p:cNvSpPr txBox="1"/>
          <p:nvPr/>
        </p:nvSpPr>
        <p:spPr>
          <a:xfrm>
            <a:off x="4370832" y="4416552"/>
            <a:ext cx="2697480"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300" b="0">
                <a:solidFill>
                  <a:srgbClr val="FFFFFF"/>
                </a:solidFill>
                <a:latin typeface="Noto Sans CJK SC"/>
              </a:defRPr>
            </a:pPr>
            <a:r>
              <a:rPr sz="1300" b="0">
                <a:solidFill>
                  <a:srgbClr val="FFFFFF"/>
                </a:solidFill>
                <a:latin typeface="Noto Sans CJK SC"/>
                <a:ea typeface="Noto Sans CJK SC"/>
                <a:cs typeface="Noto Sans CJK SC"/>
              </a:rPr>
              <a:t>网络链接式播放</a:t>
            </a:r>
          </a:p>
        </p:txBody>
      </p:sp>
      <p:sp>
        <p:nvSpPr>
          <p:cNvPr id="15" name="TextBox 14"/>
          <p:cNvSpPr txBox="1"/>
          <p:nvPr/>
        </p:nvSpPr>
        <p:spPr>
          <a:xfrm>
            <a:off x="7909560" y="1847088"/>
            <a:ext cx="3401568" cy="393192"/>
          </a:xfrm>
          <a:prstGeom prst="rect">
            <a:avLst/>
          </a:prstGeom>
          <a:noFill/>
          <a:effectLst/>
        </p:spPr>
        <p:txBody>
          <a:bodyPr wrap="square" lIns="0" rIns="0" tIns="0" bIns="0" anchor="t">
            <a:spAutoFit/>
          </a:bodyPr>
          <a:lstStyle/>
          <a:p>
            <a:pPr>
              <a:lnSpc>
                <a:spcPct val="112000"/>
              </a:lnSpc>
              <a:spcBef>
                <a:spcPts val="0"/>
              </a:spcBef>
              <a:spcAft>
                <a:spcPts val="0"/>
              </a:spcAft>
              <a:defRPr sz="2300" b="1">
                <a:solidFill>
                  <a:srgbClr val="236548"/>
                </a:solidFill>
                <a:latin typeface="Noto Sans CJK SC"/>
              </a:defRPr>
            </a:pPr>
            <a:r>
              <a:rPr sz="2300" b="1">
                <a:solidFill>
                  <a:srgbClr val="236548"/>
                </a:solidFill>
                <a:latin typeface="Noto Sans CJK SC"/>
                <a:ea typeface="Noto Sans CJK SC"/>
                <a:cs typeface="Noto Sans CJK SC"/>
              </a:rPr>
              <a:t>带着问题看视频</a:t>
            </a:r>
          </a:p>
        </p:txBody>
      </p:sp>
      <p:sp>
        <p:nvSpPr>
          <p:cNvPr id="16" name="TextBox 15"/>
          <p:cNvSpPr txBox="1"/>
          <p:nvPr/>
        </p:nvSpPr>
        <p:spPr>
          <a:xfrm>
            <a:off x="7909560" y="2505456"/>
            <a:ext cx="3383280" cy="1143000"/>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哪项工作需要长期运维？哪些方法可以迁移，哪些条件不能照搬？</a:t>
            </a:r>
          </a:p>
        </p:txBody>
      </p:sp>
      <p:pic>
        <p:nvPicPr>
          <p:cNvPr id="17" name="Picture 16" descr="V4.png"/>
          <p:cNvPicPr>
            <a:picLocks noChangeAspect="1"/>
          </p:cNvPicPr>
          <p:nvPr/>
        </p:nvPicPr>
        <p:blipFill>
          <a:blip r:embed="rId4"/>
          <a:stretch>
            <a:fillRect/>
          </a:stretch>
        </p:blipFill>
        <p:spPr>
          <a:xfrm>
            <a:off x="7891272" y="3959352"/>
            <a:ext cx="1078992" cy="1078992"/>
          </a:xfrm>
          <a:prstGeom prst="rect">
            <a:avLst/>
          </a:prstGeom>
          <a:effectLst/>
        </p:spPr>
      </p:pic>
      <p:sp>
        <p:nvSpPr>
          <p:cNvPr id="18" name="TextBox 17"/>
          <p:cNvSpPr txBox="1"/>
          <p:nvPr/>
        </p:nvSpPr>
        <p:spPr>
          <a:xfrm>
            <a:off x="9189720" y="4005072"/>
            <a:ext cx="2057400" cy="713232"/>
          </a:xfrm>
          <a:prstGeom prst="rect">
            <a:avLst/>
          </a:prstGeom>
          <a:noFill/>
          <a:effectLst/>
        </p:spPr>
        <p:txBody>
          <a:bodyPr wrap="square" lIns="0" rIns="0" tIns="0" bIns="0" anchor="t">
            <a:spAutoFit/>
          </a:bodyPr>
          <a:lstStyle/>
          <a:p>
            <a:pPr>
              <a:lnSpc>
                <a:spcPct val="112000"/>
              </a:lnSpc>
              <a:spcBef>
                <a:spcPts val="0"/>
              </a:spcBef>
              <a:spcAft>
                <a:spcPts val="0"/>
              </a:spcAft>
              <a:defRPr sz="1600" b="1">
                <a:solidFill>
                  <a:srgbClr val="236548"/>
                </a:solidFill>
                <a:latin typeface="Noto Sans CJK SC"/>
              </a:defRPr>
            </a:pPr>
            <a:r>
              <a:rPr sz="1600" b="1">
                <a:solidFill>
                  <a:srgbClr val="236548"/>
                </a:solidFill>
                <a:latin typeface="Noto Sans CJK SC"/>
                <a:ea typeface="Noto Sans CJK SC"/>
                <a:cs typeface="Noto Sans CJK SC"/>
              </a:rPr>
              <a:t>建议选播</a:t>
            </a:r>
          </a:p>
          <a:p>
            <a:pPr>
              <a:lnSpc>
                <a:spcPct val="112000"/>
              </a:lnSpc>
              <a:spcBef>
                <a:spcPts val="0"/>
              </a:spcBef>
              <a:spcAft>
                <a:spcPts val="0"/>
              </a:spcAft>
              <a:defRPr sz="1600" b="1">
                <a:solidFill>
                  <a:srgbClr val="236548"/>
                </a:solidFill>
                <a:latin typeface="Noto Sans CJK SC"/>
              </a:defRPr>
            </a:pPr>
            <a:r>
              <a:rPr sz="1600" b="1">
                <a:solidFill>
                  <a:srgbClr val="236548"/>
                </a:solidFill>
                <a:latin typeface="Noto Sans CJK SC"/>
                <a:ea typeface="Noto Sans CJK SC"/>
                <a:cs typeface="Noto Sans CJK SC"/>
              </a:rPr>
              <a:t>00:40—03:10</a:t>
            </a:r>
          </a:p>
        </p:txBody>
      </p:sp>
      <p:sp>
        <p:nvSpPr>
          <p:cNvPr id="19" name="TextBox 18"/>
          <p:cNvSpPr txBox="1"/>
          <p:nvPr/>
        </p:nvSpPr>
        <p:spPr>
          <a:xfrm>
            <a:off x="9189720" y="4764024"/>
            <a:ext cx="2103120" cy="274320"/>
          </a:xfrm>
          <a:prstGeom prst="rect">
            <a:avLst/>
          </a:prstGeom>
          <a:noFill/>
          <a:effectLst/>
        </p:spPr>
        <p:txBody>
          <a:bodyPr wrap="square" lIns="0" rIns="0" tIns="0" bIns="0" anchor="t">
            <a:spAutoFit/>
          </a:bodyPr>
          <a:lstStyle/>
          <a:p>
            <a:pPr>
              <a:lnSpc>
                <a:spcPct val="112000"/>
              </a:lnSpc>
              <a:spcBef>
                <a:spcPts val="0"/>
              </a:spcBef>
              <a:spcAft>
                <a:spcPts val="0"/>
              </a:spcAft>
              <a:defRPr sz="1400" b="0">
                <a:solidFill>
                  <a:srgbClr val="63766E"/>
                </a:solidFill>
                <a:latin typeface="Noto Sans CJK SC"/>
              </a:defRPr>
            </a:pPr>
            <a:r>
              <a:rPr sz="1400" b="0">
                <a:solidFill>
                  <a:srgbClr val="63766E"/>
                </a:solidFill>
                <a:latin typeface="Noto Sans CJK SC"/>
                <a:ea typeface="Noto Sans CJK SC"/>
                <a:cs typeface="Noto Sans CJK SC"/>
              </a:rPr>
              <a:t>150秒</a:t>
            </a:r>
          </a:p>
        </p:txBody>
      </p:sp>
      <p:sp>
        <p:nvSpPr>
          <p:cNvPr id="20" name="Rounded Rectangle 19"/>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官方原片链接与时码据配套清单；课前试播，片中历史资料按原年份理解。</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81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蓝天：在协同治理中巩固改善成果</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污染治理与结构转型共同推进</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统筹细颗粒物和臭氧等污染问题，强化区域联防联控</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改进产业、能源和交通结构，配合精细化日常管理</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持续关注重点区域、重点时段与群众感受强的问题</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82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碧水：从水质改善走向水生态修复</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水资源、水环境与水生态需要统筹安排</a:t>
            </a:r>
          </a:p>
        </p:txBody>
      </p:sp>
      <p:pic>
        <p:nvPicPr>
          <p:cNvPr id="9" name="Picture 8" descr="eco_scenes.png"/>
          <p:cNvPicPr>
            <a:picLocks noChangeAspect="1"/>
          </p:cNvPicPr>
          <p:nvPr/>
        </p:nvPicPr>
        <p:blipFill>
          <a:blip r:embed="rId3"/>
          <a:srcRect l="50000" t="1667" b="5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推动污染源控制、管网排口整治和设施稳定运行</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兼顾生态流量、岸线保护与水生生物栖息条件</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避免把水体景观美化替代污染治理和生态功能恢复</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水资源、水环境与水生态需要统筹安排</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83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净土与固废：安全利用，循环发展</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既防范污染风险，也提高资源循环利用水平</a:t>
            </a:r>
          </a:p>
        </p:txBody>
      </p:sp>
      <p:pic>
        <p:nvPicPr>
          <p:cNvPr id="9" name="Picture 8" descr="eco_scenes.png"/>
          <p:cNvPicPr>
            <a:picLocks noChangeAspect="1"/>
          </p:cNvPicPr>
          <p:nvPr/>
        </p:nvPicPr>
        <p:blipFill>
          <a:blip r:embed="rId3"/>
          <a:srcRect r="50000" t="51667" b="1667"/>
          <a:stretch>
            <a:fillRect/>
          </a:stretch>
        </p:blipFill>
        <p:spPr>
          <a:xfrm>
            <a:off x="6876288" y="2221992"/>
            <a:ext cx="4526280" cy="2816352"/>
          </a:xfrm>
          <a:prstGeom prst="rect">
            <a:avLst/>
          </a:prstGeom>
          <a:effectLst/>
        </p:spPr>
      </p:pic>
      <p:sp>
        <p:nvSpPr>
          <p:cNvPr id="10" name="Rectangle 9"/>
          <p:cNvSpPr/>
          <p:nvPr/>
        </p:nvSpPr>
        <p:spPr>
          <a:xfrm>
            <a:off x="6876288" y="4773168"/>
            <a:ext cx="452628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967727" y="4800600"/>
            <a:ext cx="4343400"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2" name="Oval 11"/>
          <p:cNvSpPr/>
          <p:nvPr/>
        </p:nvSpPr>
        <p:spPr>
          <a:xfrm>
            <a:off x="822960" y="2322576"/>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78992" y="2249424"/>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落实土壤风险识别、分类管理与安全利用要求</a:t>
            </a:r>
          </a:p>
        </p:txBody>
      </p:sp>
      <p:sp>
        <p:nvSpPr>
          <p:cNvPr id="14" name="Oval 13"/>
          <p:cNvSpPr/>
          <p:nvPr/>
        </p:nvSpPr>
        <p:spPr>
          <a:xfrm>
            <a:off x="822960" y="3264408"/>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1078992" y="3191256"/>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固体废物减量化、资源化与无害化相互衔接</a:t>
            </a:r>
          </a:p>
        </p:txBody>
      </p:sp>
      <p:sp>
        <p:nvSpPr>
          <p:cNvPr id="16" name="Oval 15"/>
          <p:cNvSpPr/>
          <p:nvPr/>
        </p:nvSpPr>
        <p:spPr>
          <a:xfrm>
            <a:off x="822960" y="4206240"/>
            <a:ext cx="109728" cy="109728"/>
          </a:xfrm>
          <a:prstGeom prst="ellipse">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78992" y="4133087"/>
            <a:ext cx="5294376" cy="795528"/>
          </a:xfrm>
          <a:prstGeom prst="rect">
            <a:avLst/>
          </a:prstGeom>
          <a:noFill/>
          <a:effectLst/>
        </p:spPr>
        <p:txBody>
          <a:bodyPr wrap="square" lIns="0" rIns="0" tIns="0" bIns="0" anchor="t">
            <a:spAutoFit/>
          </a:bodyPr>
          <a:lstStyle/>
          <a:p>
            <a:pPr>
              <a:lnSpc>
                <a:spcPct val="112000"/>
              </a:lnSpc>
              <a:spcBef>
                <a:spcPts val="0"/>
              </a:spcBef>
              <a:spcAft>
                <a:spcPts val="0"/>
              </a:spcAft>
              <a:defRPr sz="2150" b="0">
                <a:solidFill>
                  <a:srgbClr val="233E39"/>
                </a:solidFill>
                <a:latin typeface="Noto Sans CJK SC"/>
              </a:defRPr>
            </a:pPr>
            <a:r>
              <a:rPr sz="2150" b="0">
                <a:solidFill>
                  <a:srgbClr val="233E39"/>
                </a:solidFill>
                <a:latin typeface="Noto Sans CJK SC"/>
                <a:ea typeface="Noto Sans CJK SC"/>
                <a:cs typeface="Noto Sans CJK SC"/>
              </a:rPr>
              <a:t>危险废物与普通可回收物管理要求不同，须分类落实责任</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既防范污染风险，也提高资源循环利用水平</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R16 / R23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84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生物多样性：保护生命共同体的联系</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保护空间、物种与生态过程的完整性</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保护重要自然生态系统和关键栖息地</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加强廊道连通、监测研究和外来入侵物种防控</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把保护目标与社区参与、科普教育和合理利用协调起来</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资料：R03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85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系统修复：尊重自然，统筹人工干预</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修复方案需要建立在生态规律和区域实际之上</a:t>
            </a:r>
          </a:p>
        </p:txBody>
      </p:sp>
      <p:sp>
        <p:nvSpPr>
          <p:cNvPr id="9" name="Rounded Rectangle 8"/>
          <p:cNvSpPr/>
          <p:nvPr/>
        </p:nvSpPr>
        <p:spPr>
          <a:xfrm>
            <a:off x="822960"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22960" y="2240280"/>
            <a:ext cx="5175504" cy="530352"/>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自然恢复</a:t>
            </a:r>
          </a:p>
        </p:txBody>
      </p:sp>
      <p:sp>
        <p:nvSpPr>
          <p:cNvPr id="12" name="TextBox 11"/>
          <p:cNvSpPr txBox="1"/>
          <p:nvPr/>
        </p:nvSpPr>
        <p:spPr>
          <a:xfrm>
            <a:off x="1078992"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统筹山水林田湖草沙，避免各类工程彼此冲突</a:t>
            </a:r>
          </a:p>
        </p:txBody>
      </p:sp>
      <p:sp>
        <p:nvSpPr>
          <p:cNvPr id="13" name="TextBox 12"/>
          <p:cNvSpPr txBox="1"/>
          <p:nvPr/>
        </p:nvSpPr>
        <p:spPr>
          <a:xfrm>
            <a:off x="1078992" y="3968496"/>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以生态功能、长期稳定性和持续管护评价效果</a:t>
            </a:r>
          </a:p>
        </p:txBody>
      </p:sp>
      <p:sp>
        <p:nvSpPr>
          <p:cNvPr id="14" name="Rounded Rectangle 13"/>
          <p:cNvSpPr/>
          <p:nvPr/>
        </p:nvSpPr>
        <p:spPr>
          <a:xfrm>
            <a:off x="6272784"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272784" y="2240280"/>
            <a:ext cx="5175504" cy="530352"/>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01384"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人工修复</a:t>
            </a:r>
          </a:p>
        </p:txBody>
      </p:sp>
      <p:sp>
        <p:nvSpPr>
          <p:cNvPr id="17" name="TextBox 16"/>
          <p:cNvSpPr txBox="1"/>
          <p:nvPr/>
        </p:nvSpPr>
        <p:spPr>
          <a:xfrm>
            <a:off x="6528816"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优先判断自然恢复条件，再安排必要人工措施</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区分适用对象、时间和口径，再作比较与判断。</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R20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86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适应气候：把韧性融入日常治理</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从风险识别到预警响应，再到持续维护</a:t>
            </a:r>
          </a:p>
        </p:txBody>
      </p:sp>
      <p:sp>
        <p:nvSpPr>
          <p:cNvPr id="9" name="Rounded Rectangle 8"/>
          <p:cNvSpPr/>
          <p:nvPr/>
        </p:nvSpPr>
        <p:spPr>
          <a:xfrm>
            <a:off x="822960"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22960" y="2240280"/>
            <a:ext cx="5175504" cy="530352"/>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风险识别</a:t>
            </a:r>
          </a:p>
        </p:txBody>
      </p:sp>
      <p:sp>
        <p:nvSpPr>
          <p:cNvPr id="12" name="TextBox 11"/>
          <p:cNvSpPr txBox="1"/>
          <p:nvPr/>
        </p:nvSpPr>
        <p:spPr>
          <a:xfrm>
            <a:off x="1078992"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评估高温、洪涝与干旱等风险及重点脆弱环节</a:t>
            </a:r>
          </a:p>
        </p:txBody>
      </p:sp>
      <p:sp>
        <p:nvSpPr>
          <p:cNvPr id="13" name="TextBox 12"/>
          <p:cNvSpPr txBox="1"/>
          <p:nvPr/>
        </p:nvSpPr>
        <p:spPr>
          <a:xfrm>
            <a:off x="1078992" y="3968496"/>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把设施维护、预警信息和社区行动衔接成完整链条</a:t>
            </a:r>
          </a:p>
        </p:txBody>
      </p:sp>
      <p:sp>
        <p:nvSpPr>
          <p:cNvPr id="14" name="Rounded Rectangle 13"/>
          <p:cNvSpPr/>
          <p:nvPr/>
        </p:nvSpPr>
        <p:spPr>
          <a:xfrm>
            <a:off x="6272784"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272784" y="2240280"/>
            <a:ext cx="5175504" cy="530352"/>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01384"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预警与响应</a:t>
            </a:r>
          </a:p>
        </p:txBody>
      </p:sp>
      <p:sp>
        <p:nvSpPr>
          <p:cNvPr id="17" name="TextBox 16"/>
          <p:cNvSpPr txBox="1"/>
          <p:nvPr/>
        </p:nvSpPr>
        <p:spPr>
          <a:xfrm>
            <a:off x="6528816"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提升排水、防灾、供水和公共服务保障能力</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区分适用对象、时间和口径，再作比较与判断。</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资料：R04 / R09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87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生态产品：把保护成效转化为持续动力</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价值实现必须守住保护前提与公平边界</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良好生态可通过优质产品、服务和产业形成发展优势</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转化路径需要公共服务、市场需求和经营组织能力</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防止过度开发，把生态保护、群众收益与长期管护相结合</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88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治理能力：让制度运行形成实际合力</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责任清楚、信息相通、程序顺畅、结果可检验</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把规划、监管、执法、监测和评价衔接起来</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跨部门、跨地区协作，减少信息断点与责任空档</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把环境改善、生态功能和实际生活变化纳入效果评价</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89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科技：提高发现和解决问题的能力</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技术工具只有与真实数据和规范管理结合才有效</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监测、遥感与数字化工具帮助识别变化和风险</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模型分析需要边界条件、数据质量和现场核查支持</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同时加强节能减排、污染治理与生态修复技术应用</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90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社会行动：参与要有方法、有反馈</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从一次倡议走向能够长期坚持的公共实践</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提供便利设施、清晰规则和可理解的环境信息</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鼓励社区、学校、企业各按职责开展行动</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及时反馈效果，让参与者知道自己的行动解决了什么</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资料：R09 / R14 / R18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91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区域差异：共同目标，分类施策</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因地制宜，是提高针对性，不是降低要求</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生态功能区、工业地区与密集城市各有任务侧重</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用分区管控明确保护要求和开发建设边界</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统筹共同标准与地区条件，选择可执行、可持续的路径</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资料：R06 / R08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92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读懂指标：先问口径，再看变化</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统计名称、范围和方法不一致，不能直接比较</a:t>
            </a:r>
          </a:p>
        </p:txBody>
      </p:sp>
      <p:sp>
        <p:nvSpPr>
          <p:cNvPr id="9" name="Rounded Rectangle 8"/>
          <p:cNvSpPr/>
          <p:nvPr/>
        </p:nvSpPr>
        <p:spPr>
          <a:xfrm>
            <a:off x="822960"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22960" y="2240280"/>
            <a:ext cx="5175504" cy="530352"/>
          </a:xfrm>
          <a:prstGeom prst="roundRect">
            <a:avLst>
              <a:gd name="adj" fmla="val 8000"/>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51560"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2025年度实绩</a:t>
            </a:r>
          </a:p>
        </p:txBody>
      </p:sp>
      <p:sp>
        <p:nvSpPr>
          <p:cNvPr id="12" name="TextBox 11"/>
          <p:cNvSpPr txBox="1"/>
          <p:nvPr/>
        </p:nvSpPr>
        <p:spPr>
          <a:xfrm>
            <a:off x="1078992"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91.4%指2025年国考断面Ⅰ至Ⅲ类比例</a:t>
            </a:r>
          </a:p>
        </p:txBody>
      </p:sp>
      <p:sp>
        <p:nvSpPr>
          <p:cNvPr id="13" name="TextBox 12"/>
          <p:cNvSpPr txBox="1"/>
          <p:nvPr/>
        </p:nvSpPr>
        <p:spPr>
          <a:xfrm>
            <a:off x="1078992" y="3968496"/>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区分目标与实绩、总量与强度、全国与地方，拒绝随意换算</a:t>
            </a:r>
          </a:p>
        </p:txBody>
      </p:sp>
      <p:sp>
        <p:nvSpPr>
          <p:cNvPr id="14" name="Rounded Rectangle 13"/>
          <p:cNvSpPr/>
          <p:nvPr/>
        </p:nvSpPr>
        <p:spPr>
          <a:xfrm>
            <a:off x="6272784" y="2240280"/>
            <a:ext cx="5175504" cy="277063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6272784" y="2240280"/>
            <a:ext cx="5175504" cy="530352"/>
          </a:xfrm>
          <a:prstGeom prst="roundRect">
            <a:avLst>
              <a:gd name="adj" fmla="val 8000"/>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01384" y="2340864"/>
            <a:ext cx="4718304" cy="347472"/>
          </a:xfrm>
          <a:prstGeom prst="rect">
            <a:avLst/>
          </a:prstGeom>
          <a:noFill/>
          <a:effectLst/>
        </p:spPr>
        <p:txBody>
          <a:bodyPr wrap="square" lIns="0" rIns="0" tIns="0" bIns="0" anchor="t">
            <a:spAutoFit/>
          </a:bodyPr>
          <a:lstStyle/>
          <a:p>
            <a:pPr>
              <a:lnSpc>
                <a:spcPct val="112000"/>
              </a:lnSpc>
              <a:spcBef>
                <a:spcPts val="0"/>
              </a:spcBef>
              <a:spcAft>
                <a:spcPts val="0"/>
              </a:spcAft>
              <a:defRPr sz="2100" b="1">
                <a:solidFill>
                  <a:srgbClr val="FFFFFF"/>
                </a:solidFill>
                <a:latin typeface="Noto Sans CJK SC"/>
              </a:defRPr>
            </a:pPr>
            <a:r>
              <a:rPr sz="2100" b="1">
                <a:solidFill>
                  <a:srgbClr val="FFFFFF"/>
                </a:solidFill>
                <a:latin typeface="Noto Sans CJK SC"/>
                <a:ea typeface="Noto Sans CJK SC"/>
                <a:cs typeface="Noto Sans CJK SC"/>
              </a:rPr>
              <a:t>2030规划目标</a:t>
            </a:r>
          </a:p>
        </p:txBody>
      </p:sp>
      <p:sp>
        <p:nvSpPr>
          <p:cNvPr id="17" name="TextBox 16"/>
          <p:cNvSpPr txBox="1"/>
          <p:nvPr/>
        </p:nvSpPr>
        <p:spPr>
          <a:xfrm>
            <a:off x="6528816" y="3072384"/>
            <a:ext cx="4663440" cy="75895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规划“优良水体比例”名称与口径另需查原文说明</a:t>
            </a:r>
          </a:p>
        </p:txBody>
      </p:sp>
      <p:sp>
        <p:nvSpPr>
          <p:cNvPr id="18" name="Rounded Rectangle 17"/>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区分适用对象、时间和口径，再作比较与判断。</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93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小调查：从身边一个问题开始</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用证据识别问题，用小范围试点验证改进思路</a:t>
            </a:r>
          </a:p>
        </p:txBody>
      </p:sp>
      <p:sp>
        <p:nvSpPr>
          <p:cNvPr id="9" name="Rectangle 8"/>
          <p:cNvSpPr/>
          <p:nvPr/>
        </p:nvSpPr>
        <p:spPr>
          <a:xfrm>
            <a:off x="859536" y="2194560"/>
            <a:ext cx="1901952"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9264" y="2276856"/>
            <a:ext cx="1682496"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观察层次</a:t>
            </a:r>
          </a:p>
        </p:txBody>
      </p:sp>
      <p:sp>
        <p:nvSpPr>
          <p:cNvPr id="11" name="Rectangle 10"/>
          <p:cNvSpPr/>
          <p:nvPr/>
        </p:nvSpPr>
        <p:spPr>
          <a:xfrm>
            <a:off x="2761488" y="2194560"/>
            <a:ext cx="6684264"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871216" y="2276856"/>
            <a:ext cx="6464807"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本页重点</a:t>
            </a:r>
          </a:p>
        </p:txBody>
      </p:sp>
      <p:sp>
        <p:nvSpPr>
          <p:cNvPr id="13" name="Rectangle 12"/>
          <p:cNvSpPr/>
          <p:nvPr/>
        </p:nvSpPr>
        <p:spPr>
          <a:xfrm>
            <a:off x="9445752" y="2194560"/>
            <a:ext cx="1865376" cy="466344"/>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555480" y="2276856"/>
            <a:ext cx="1645920" cy="301752"/>
          </a:xfrm>
          <a:prstGeom prst="rect">
            <a:avLst/>
          </a:prstGeom>
          <a:noFill/>
          <a:effectLst/>
        </p:spPr>
        <p:txBody>
          <a:bodyPr wrap="square" lIns="0" rIns="0" tIns="0" bIns="0" anchor="t">
            <a:spAutoFit/>
          </a:bodyPr>
          <a:lstStyle/>
          <a:p>
            <a:pPr>
              <a:lnSpc>
                <a:spcPct val="112000"/>
              </a:lnSpc>
              <a:spcBef>
                <a:spcPts val="0"/>
              </a:spcBef>
              <a:spcAft>
                <a:spcPts val="0"/>
              </a:spcAft>
              <a:defRPr sz="1700" b="1">
                <a:solidFill>
                  <a:srgbClr val="FFFFFF"/>
                </a:solidFill>
                <a:latin typeface="Noto Sans CJK SC"/>
              </a:defRPr>
            </a:pPr>
            <a:r>
              <a:rPr sz="1700" b="1">
                <a:solidFill>
                  <a:srgbClr val="FFFFFF"/>
                </a:solidFill>
                <a:latin typeface="Noto Sans CJK SC"/>
                <a:ea typeface="Noto Sans CJK SC"/>
                <a:cs typeface="Noto Sans CJK SC"/>
              </a:rPr>
              <a:t>检验方式</a:t>
            </a:r>
          </a:p>
        </p:txBody>
      </p:sp>
      <p:sp>
        <p:nvSpPr>
          <p:cNvPr id="15" name="Rectangle 14"/>
          <p:cNvSpPr/>
          <p:nvPr/>
        </p:nvSpPr>
        <p:spPr>
          <a:xfrm>
            <a:off x="859536" y="2679192"/>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761488" y="2679192"/>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9445752" y="2679192"/>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1024127" y="2843784"/>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目标</a:t>
            </a:r>
          </a:p>
        </p:txBody>
      </p:sp>
      <p:sp>
        <p:nvSpPr>
          <p:cNvPr id="19" name="TextBox 18"/>
          <p:cNvSpPr txBox="1"/>
          <p:nvPr/>
        </p:nvSpPr>
        <p:spPr>
          <a:xfrm>
            <a:off x="2935224" y="2788920"/>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确定对象：食物浪费、用电、一次性用品或垃圾分类</a:t>
            </a:r>
          </a:p>
        </p:txBody>
      </p:sp>
      <p:sp>
        <p:nvSpPr>
          <p:cNvPr id="20" name="TextBox 19"/>
          <p:cNvSpPr txBox="1"/>
          <p:nvPr/>
        </p:nvSpPr>
        <p:spPr>
          <a:xfrm>
            <a:off x="9537192" y="2843784"/>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看对象</a:t>
            </a:r>
          </a:p>
        </p:txBody>
      </p:sp>
      <p:sp>
        <p:nvSpPr>
          <p:cNvPr id="21" name="Rectangle 20"/>
          <p:cNvSpPr/>
          <p:nvPr/>
        </p:nvSpPr>
        <p:spPr>
          <a:xfrm>
            <a:off x="859536" y="3538728"/>
            <a:ext cx="1901952"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2761488" y="3538728"/>
            <a:ext cx="6684264"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9445752" y="3538728"/>
            <a:ext cx="1865376" cy="822960"/>
          </a:xfrm>
          <a:prstGeom prst="rect">
            <a:avLst/>
          </a:prstGeom>
          <a:solidFill>
            <a:srgbClr val="F0F6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24127" y="3703320"/>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工具</a:t>
            </a:r>
          </a:p>
        </p:txBody>
      </p:sp>
      <p:sp>
        <p:nvSpPr>
          <p:cNvPr id="25" name="TextBox 24"/>
          <p:cNvSpPr txBox="1"/>
          <p:nvPr/>
        </p:nvSpPr>
        <p:spPr>
          <a:xfrm>
            <a:off x="2935224" y="3648456"/>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记录时间、地点、数量和条件，保护个人信息</a:t>
            </a:r>
          </a:p>
        </p:txBody>
      </p:sp>
      <p:sp>
        <p:nvSpPr>
          <p:cNvPr id="26" name="TextBox 25"/>
          <p:cNvSpPr txBox="1"/>
          <p:nvPr/>
        </p:nvSpPr>
        <p:spPr>
          <a:xfrm>
            <a:off x="9537192" y="3703320"/>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看机制</a:t>
            </a:r>
          </a:p>
        </p:txBody>
      </p:sp>
      <p:sp>
        <p:nvSpPr>
          <p:cNvPr id="27" name="Rectangle 26"/>
          <p:cNvSpPr/>
          <p:nvPr/>
        </p:nvSpPr>
        <p:spPr>
          <a:xfrm>
            <a:off x="859536" y="4398264"/>
            <a:ext cx="1901952"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2761488" y="4398264"/>
            <a:ext cx="6684264"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9445752" y="4398264"/>
            <a:ext cx="1865376" cy="8229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24127" y="4562856"/>
            <a:ext cx="1572768" cy="365760"/>
          </a:xfrm>
          <a:prstGeom prst="rect">
            <a:avLst/>
          </a:prstGeom>
          <a:noFill/>
          <a:effectLst/>
        </p:spPr>
        <p:txBody>
          <a:bodyPr wrap="square" lIns="0" rIns="0" tIns="0" bIns="0" anchor="t">
            <a:spAutoFit/>
          </a:bodyPr>
          <a:lstStyle/>
          <a:p>
            <a:pPr>
              <a:lnSpc>
                <a:spcPct val="112000"/>
              </a:lnSpc>
              <a:spcBef>
                <a:spcPts val="0"/>
              </a:spcBef>
              <a:spcAft>
                <a:spcPts val="0"/>
              </a:spcAft>
              <a:defRPr sz="1900" b="1">
                <a:solidFill>
                  <a:srgbClr val="236548"/>
                </a:solidFill>
                <a:latin typeface="Noto Sans CJK SC"/>
              </a:defRPr>
            </a:pPr>
            <a:r>
              <a:rPr sz="1900" b="1">
                <a:solidFill>
                  <a:srgbClr val="236548"/>
                </a:solidFill>
                <a:latin typeface="Noto Sans CJK SC"/>
                <a:ea typeface="Noto Sans CJK SC"/>
                <a:cs typeface="Noto Sans CJK SC"/>
              </a:rPr>
              <a:t>效果</a:t>
            </a:r>
          </a:p>
        </p:txBody>
      </p:sp>
      <p:sp>
        <p:nvSpPr>
          <p:cNvPr id="31" name="TextBox 30"/>
          <p:cNvSpPr txBox="1"/>
          <p:nvPr/>
        </p:nvSpPr>
        <p:spPr>
          <a:xfrm>
            <a:off x="2935224" y="4507992"/>
            <a:ext cx="6336792" cy="694944"/>
          </a:xfrm>
          <a:prstGeom prst="rect">
            <a:avLst/>
          </a:prstGeom>
          <a:noFill/>
          <a:effectLst/>
        </p:spPr>
        <p:txBody>
          <a:bodyPr wrap="square" lIns="0" rIns="0" tIns="0" bIns="0" anchor="t">
            <a:spAutoFit/>
          </a:bodyPr>
          <a:lstStyle/>
          <a:p>
            <a:pPr>
              <a:lnSpc>
                <a:spcPct val="112000"/>
              </a:lnSpc>
              <a:spcBef>
                <a:spcPts val="0"/>
              </a:spcBef>
              <a:spcAft>
                <a:spcPts val="0"/>
              </a:spcAft>
              <a:defRPr sz="1950" b="0">
                <a:solidFill>
                  <a:srgbClr val="233E39"/>
                </a:solidFill>
                <a:latin typeface="Noto Sans CJK SC"/>
              </a:defRPr>
            </a:pPr>
            <a:r>
              <a:rPr sz="1950" b="0">
                <a:solidFill>
                  <a:srgbClr val="233E39"/>
                </a:solidFill>
                <a:latin typeface="Noto Sans CJK SC"/>
                <a:ea typeface="Noto Sans CJK SC"/>
                <a:cs typeface="Noto Sans CJK SC"/>
              </a:rPr>
              <a:t>提出措施前先分析原因，试点后再比较同口径效果</a:t>
            </a:r>
          </a:p>
        </p:txBody>
      </p:sp>
      <p:sp>
        <p:nvSpPr>
          <p:cNvPr id="32" name="TextBox 31"/>
          <p:cNvSpPr txBox="1"/>
          <p:nvPr/>
        </p:nvSpPr>
        <p:spPr>
          <a:xfrm>
            <a:off x="9537192" y="4562856"/>
            <a:ext cx="1682496"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1700" b="0">
                <a:solidFill>
                  <a:srgbClr val="63766E"/>
                </a:solidFill>
                <a:latin typeface="Noto Sans CJK SC"/>
              </a:defRPr>
            </a:pPr>
            <a:r>
              <a:rPr sz="1700" b="0">
                <a:solidFill>
                  <a:srgbClr val="63766E"/>
                </a:solidFill>
                <a:latin typeface="Noto Sans CJK SC"/>
                <a:ea typeface="Noto Sans CJK SC"/>
                <a:cs typeface="Noto Sans CJK SC"/>
              </a:rPr>
              <a:t>看持续性</a:t>
            </a:r>
          </a:p>
        </p:txBody>
      </p:sp>
      <p:sp>
        <p:nvSpPr>
          <p:cNvPr id="33" name="Rounded Rectangle 32"/>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从任务出发选择工具，再用事实和数据检验效果。</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94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行动清单：把责任落实到自己的位置</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从可执行、可测量、可持续的一件事做起</a:t>
            </a:r>
          </a:p>
        </p:txBody>
      </p:sp>
      <p:sp>
        <p:nvSpPr>
          <p:cNvPr id="9" name="Oval 8"/>
          <p:cNvSpPr/>
          <p:nvPr/>
        </p:nvSpPr>
        <p:spPr>
          <a:xfrm>
            <a:off x="21793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1793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1</a:t>
            </a:r>
          </a:p>
        </p:txBody>
      </p:sp>
      <p:sp>
        <p:nvSpPr>
          <p:cNvPr id="11" name="Rounded Rectangle 10"/>
          <p:cNvSpPr/>
          <p:nvPr/>
        </p:nvSpPr>
        <p:spPr>
          <a:xfrm>
            <a:off x="8595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33271"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学生改进消费和出行习惯，学习理解环境信息</a:t>
            </a:r>
          </a:p>
        </p:txBody>
      </p:sp>
      <p:cxnSp>
        <p:nvCxnSpPr>
          <p:cNvPr id="13" name="Connector 12"/>
          <p:cNvCxnSpPr/>
          <p:nvPr/>
        </p:nvCxnSpPr>
        <p:spPr>
          <a:xfrm>
            <a:off x="27096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14" name="Chevron 13"/>
          <p:cNvSpPr/>
          <p:nvPr/>
        </p:nvSpPr>
        <p:spPr>
          <a:xfrm>
            <a:off x="4084319"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7607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7607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2</a:t>
            </a:r>
          </a:p>
        </p:txBody>
      </p:sp>
      <p:sp>
        <p:nvSpPr>
          <p:cNvPr id="17" name="Rounded Rectangle 16"/>
          <p:cNvSpPr/>
          <p:nvPr/>
        </p:nvSpPr>
        <p:spPr>
          <a:xfrm>
            <a:off x="44409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6146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管理者完善设施规则，企业履责并加强风险控制</a:t>
            </a:r>
          </a:p>
        </p:txBody>
      </p:sp>
      <p:cxnSp>
        <p:nvCxnSpPr>
          <p:cNvPr id="19" name="Connector 18"/>
          <p:cNvCxnSpPr/>
          <p:nvPr/>
        </p:nvCxnSpPr>
        <p:spPr>
          <a:xfrm>
            <a:off x="6291072" y="2615184"/>
            <a:ext cx="3051048" cy="0"/>
          </a:xfrm>
          <a:prstGeom prst="line">
            <a:avLst/>
          </a:prstGeom>
          <a:ln w="25400">
            <a:solidFill>
              <a:srgbClr val="75BD42"/>
            </a:solidFill>
          </a:ln>
          <a:effectLst/>
        </p:spPr>
        <p:style>
          <a:lnRef idx="2">
            <a:schemeClr val="accent1"/>
          </a:lnRef>
          <a:fillRef idx="0">
            <a:schemeClr val="accent1"/>
          </a:fillRef>
          <a:effectRef idx="0">
            <a:schemeClr val="accent1"/>
          </a:effectRef>
          <a:fontRef idx="minor">
            <a:schemeClr val="tx1"/>
          </a:fontRef>
        </p:style>
      </p:cxnSp>
      <p:sp>
        <p:nvSpPr>
          <p:cNvPr id="20" name="Chevron 19"/>
          <p:cNvSpPr/>
          <p:nvPr/>
        </p:nvSpPr>
        <p:spPr>
          <a:xfrm>
            <a:off x="7665720" y="3776472"/>
            <a:ext cx="228600" cy="274320"/>
          </a:xfrm>
          <a:prstGeom prst="chevron">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9342120" y="2350008"/>
            <a:ext cx="530352" cy="53035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342120" y="2414016"/>
            <a:ext cx="530352" cy="365760"/>
          </a:xfrm>
          <a:prstGeom prst="rect">
            <a:avLst/>
          </a:prstGeom>
          <a:noFill/>
          <a:effectLst/>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CJK SC"/>
              </a:defRPr>
            </a:pPr>
            <a:r>
              <a:rPr sz="2000" b="1">
                <a:solidFill>
                  <a:srgbClr val="FFFFFF"/>
                </a:solidFill>
                <a:latin typeface="Noto Sans CJK SC"/>
                <a:ea typeface="Noto Sans CJK SC"/>
                <a:cs typeface="Noto Sans CJK SC"/>
              </a:rPr>
              <a:t>3</a:t>
            </a:r>
          </a:p>
        </p:txBody>
      </p:sp>
      <p:sp>
        <p:nvSpPr>
          <p:cNvPr id="23" name="Rounded Rectangle 22"/>
          <p:cNvSpPr/>
          <p:nvPr/>
        </p:nvSpPr>
        <p:spPr>
          <a:xfrm>
            <a:off x="8022336" y="3182112"/>
            <a:ext cx="3169920" cy="1755648"/>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196072" y="3438144"/>
            <a:ext cx="2822448" cy="1261872"/>
          </a:xfrm>
          <a:prstGeom prst="rect">
            <a:avLst/>
          </a:prstGeom>
          <a:noFill/>
          <a:effectLst/>
        </p:spPr>
        <p:txBody>
          <a:bodyPr wrap="square" lIns="0" rIns="0" tIns="0" bIns="0" anchor="t">
            <a:spAutoFit/>
          </a:bodyPr>
          <a:lstStyle/>
          <a:p>
            <a:pPr algn="ct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研究者提供技术与证据，各主体协作而非互相替代</a:t>
            </a:r>
          </a:p>
        </p:txBody>
      </p:sp>
      <p:sp>
        <p:nvSpPr>
          <p:cNvPr id="25" name="Rounded Rectangle 2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关注各环节之间的联系：任何一环失效，都可能影响治理结果。</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第三部分 · “十五五”任务</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95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第三部分小结：连接当下与长远</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以绿色转型、系统保护和治理能力共同支撑目标</a:t>
            </a:r>
          </a:p>
        </p:txBody>
      </p:sp>
      <p:sp>
        <p:nvSpPr>
          <p:cNvPr id="9" name="Rectangle 8"/>
          <p:cNvSpPr/>
          <p:nvPr/>
        </p:nvSpPr>
        <p:spPr>
          <a:xfrm>
            <a:off x="923544" y="2276856"/>
            <a:ext cx="100584" cy="621792"/>
          </a:xfrm>
          <a:prstGeom prst="rect">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307592" y="2304288"/>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认清机遇：技术、产业与公众需求形成转型动力</a:t>
            </a:r>
          </a:p>
        </p:txBody>
      </p:sp>
      <p:sp>
        <p:nvSpPr>
          <p:cNvPr id="11" name="Rectangle 10"/>
          <p:cNvSpPr/>
          <p:nvPr/>
        </p:nvSpPr>
        <p:spPr>
          <a:xfrm>
            <a:off x="923544" y="3154680"/>
            <a:ext cx="100584" cy="6217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307592" y="3182112"/>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直面压力：结构调整、复杂污染与气候风险仍需攻坚</a:t>
            </a:r>
          </a:p>
        </p:txBody>
      </p:sp>
      <p:sp>
        <p:nvSpPr>
          <p:cNvPr id="13" name="Rectangle 12"/>
          <p:cNvSpPr/>
          <p:nvPr/>
        </p:nvSpPr>
        <p:spPr>
          <a:xfrm>
            <a:off x="923544" y="4032504"/>
            <a:ext cx="100584" cy="621792"/>
          </a:xfrm>
          <a:prstGeom prst="rect">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307592" y="4059936"/>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落实任务：将正式规划要求转化为长期运行的系统行动</a:t>
            </a:r>
          </a:p>
        </p:txBody>
      </p:sp>
      <p:sp>
        <p:nvSpPr>
          <p:cNvPr id="15" name="Rounded Rectangle 1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把今天的认识转化为有依据、可执行、能持续的行动。</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课堂收束 · 知行合一</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资料：R02 / R09 / 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96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把三个教学要点连成一条主线</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成就提供信心，法治稳定预期，行动创造未来</a:t>
            </a:r>
          </a:p>
        </p:txBody>
      </p:sp>
      <p:sp>
        <p:nvSpPr>
          <p:cNvPr id="9" name="Rectangle 8"/>
          <p:cNvSpPr/>
          <p:nvPr/>
        </p:nvSpPr>
        <p:spPr>
          <a:xfrm>
            <a:off x="923544" y="2276856"/>
            <a:ext cx="100584" cy="621792"/>
          </a:xfrm>
          <a:prstGeom prst="rect">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307592" y="2304288"/>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新时代成就：理解理念变革与治理体系的共同作用</a:t>
            </a:r>
          </a:p>
        </p:txBody>
      </p:sp>
      <p:sp>
        <p:nvSpPr>
          <p:cNvPr id="11" name="Rectangle 10"/>
          <p:cNvSpPr/>
          <p:nvPr/>
        </p:nvSpPr>
        <p:spPr>
          <a:xfrm>
            <a:off x="923544" y="3154680"/>
            <a:ext cx="100584" cy="6217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307592" y="3182112"/>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生态环境法典：认识制度协调、权责清晰与有效实施</a:t>
            </a:r>
          </a:p>
        </p:txBody>
      </p:sp>
      <p:sp>
        <p:nvSpPr>
          <p:cNvPr id="13" name="Rectangle 12"/>
          <p:cNvSpPr/>
          <p:nvPr/>
        </p:nvSpPr>
        <p:spPr>
          <a:xfrm>
            <a:off x="923544" y="4032504"/>
            <a:ext cx="100584" cy="621792"/>
          </a:xfrm>
          <a:prstGeom prst="rect">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307592" y="4059936"/>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“十五五”任务：在新形势下推进转型、保护与能力建设</a:t>
            </a:r>
          </a:p>
        </p:txBody>
      </p:sp>
      <p:sp>
        <p:nvSpPr>
          <p:cNvPr id="15" name="Rounded Rectangle 1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把今天的认识转化为有依据、可执行、能持续的行动。</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课堂收束 · 知行合一</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97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课堂练习：给校园问题提出方案</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围绕证据、主体、实施与评价，形成可执行方案</a:t>
            </a:r>
          </a:p>
        </p:txBody>
      </p:sp>
      <p:sp>
        <p:nvSpPr>
          <p:cNvPr id="9" name="Rounded Rectangle 8"/>
          <p:cNvSpPr/>
          <p:nvPr/>
        </p:nvSpPr>
        <p:spPr>
          <a:xfrm>
            <a:off x="841248" y="2167128"/>
            <a:ext cx="1463040" cy="320040"/>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14400" y="2199132"/>
            <a:ext cx="1316736" cy="256032"/>
          </a:xfrm>
          <a:prstGeom prst="rect">
            <a:avLst/>
          </a:prstGeom>
          <a:noFill/>
          <a:effectLst/>
        </p:spPr>
        <p:txBody>
          <a:bodyPr wrap="square" lIns="0" rIns="0" tIns="0" bIns="0" anchor="t">
            <a:spAutoFit/>
          </a:bodyPr>
          <a:lstStyle/>
          <a:p>
            <a:pPr algn="ctr">
              <a:lnSpc>
                <a:spcPct val="112000"/>
              </a:lnSpc>
              <a:spcBef>
                <a:spcPts val="0"/>
              </a:spcBef>
              <a:spcAft>
                <a:spcPts val="0"/>
              </a:spcAft>
              <a:defRPr sz="1400" b="1">
                <a:solidFill>
                  <a:srgbClr val="236548"/>
                </a:solidFill>
                <a:latin typeface="Noto Sans CJK SC"/>
              </a:defRPr>
            </a:pPr>
            <a:r>
              <a:rPr sz="1400" b="1">
                <a:solidFill>
                  <a:srgbClr val="236548"/>
                </a:solidFill>
                <a:latin typeface="Noto Sans CJK SC"/>
                <a:ea typeface="Noto Sans CJK SC"/>
                <a:cs typeface="Noto Sans CJK SC"/>
              </a:rPr>
              <a:t>小组任务</a:t>
            </a:r>
          </a:p>
        </p:txBody>
      </p:sp>
      <p:sp>
        <p:nvSpPr>
          <p:cNvPr id="11" name="Rounded Rectangle 10"/>
          <p:cNvSpPr/>
          <p:nvPr/>
        </p:nvSpPr>
        <p:spPr>
          <a:xfrm>
            <a:off x="822960" y="2724912"/>
            <a:ext cx="3794760" cy="2368296"/>
          </a:xfrm>
          <a:prstGeom prst="roundRect">
            <a:avLst>
              <a:gd name="adj" fmla="val 8000"/>
            </a:avLst>
          </a:prstGeom>
          <a:solidFill>
            <a:srgbClr val="EBF1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60704" y="2953512"/>
            <a:ext cx="3319272" cy="1737360"/>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527F"/>
                </a:solidFill>
                <a:latin typeface="Noto Sans CJK SC"/>
              </a:defRPr>
            </a:pPr>
            <a:r>
              <a:rPr sz="2400" b="1">
                <a:solidFill>
                  <a:srgbClr val="23527F"/>
                </a:solidFill>
                <a:latin typeface="Noto Sans CJK SC"/>
                <a:ea typeface="Noto Sans CJK SC"/>
                <a:cs typeface="Noto Sans CJK SC"/>
              </a:rPr>
              <a:t>任选校园问题：食物浪费、宿舍用电或垃圾分类</a:t>
            </a:r>
          </a:p>
        </p:txBody>
      </p:sp>
      <p:sp>
        <p:nvSpPr>
          <p:cNvPr id="13" name="Oval 12"/>
          <p:cNvSpPr/>
          <p:nvPr/>
        </p:nvSpPr>
        <p:spPr>
          <a:xfrm>
            <a:off x="5148072" y="2404872"/>
            <a:ext cx="393192" cy="39319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148072" y="2450591"/>
            <a:ext cx="393192"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00" b="1">
                <a:solidFill>
                  <a:srgbClr val="FFFFFF"/>
                </a:solidFill>
                <a:latin typeface="Noto Sans CJK SC"/>
              </a:defRPr>
            </a:pPr>
            <a:r>
              <a:rPr sz="1500" b="1">
                <a:solidFill>
                  <a:srgbClr val="FFFFFF"/>
                </a:solidFill>
                <a:latin typeface="Noto Sans CJK SC"/>
                <a:ea typeface="Noto Sans CJK SC"/>
                <a:cs typeface="Noto Sans CJK SC"/>
              </a:rPr>
              <a:t>1</a:t>
            </a:r>
          </a:p>
        </p:txBody>
      </p:sp>
      <p:sp>
        <p:nvSpPr>
          <p:cNvPr id="15" name="TextBox 14"/>
          <p:cNvSpPr txBox="1"/>
          <p:nvPr/>
        </p:nvSpPr>
        <p:spPr>
          <a:xfrm>
            <a:off x="5742432" y="2386584"/>
            <a:ext cx="5513832" cy="80467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先收集证据，识别参与主体和现有设施条件</a:t>
            </a:r>
          </a:p>
        </p:txBody>
      </p:sp>
      <p:sp>
        <p:nvSpPr>
          <p:cNvPr id="16" name="Oval 15"/>
          <p:cNvSpPr/>
          <p:nvPr/>
        </p:nvSpPr>
        <p:spPr>
          <a:xfrm>
            <a:off x="5148072" y="3355848"/>
            <a:ext cx="393192" cy="39319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148072" y="3401568"/>
            <a:ext cx="393192"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00" b="1">
                <a:solidFill>
                  <a:srgbClr val="FFFFFF"/>
                </a:solidFill>
                <a:latin typeface="Noto Sans CJK SC"/>
              </a:defRPr>
            </a:pPr>
            <a:r>
              <a:rPr sz="1500" b="1">
                <a:solidFill>
                  <a:srgbClr val="FFFFFF"/>
                </a:solidFill>
                <a:latin typeface="Noto Sans CJK SC"/>
                <a:ea typeface="Noto Sans CJK SC"/>
                <a:cs typeface="Noto Sans CJK SC"/>
              </a:rPr>
              <a:t>2</a:t>
            </a:r>
          </a:p>
        </p:txBody>
      </p:sp>
      <p:sp>
        <p:nvSpPr>
          <p:cNvPr id="18" name="TextBox 17"/>
          <p:cNvSpPr txBox="1"/>
          <p:nvPr/>
        </p:nvSpPr>
        <p:spPr>
          <a:xfrm>
            <a:off x="5742432" y="3337560"/>
            <a:ext cx="5513832" cy="80467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五分钟形成试点方案，明确实施与评价办法</a:t>
            </a:r>
          </a:p>
        </p:txBody>
      </p:sp>
      <p:sp>
        <p:nvSpPr>
          <p:cNvPr id="19" name="Oval 18"/>
          <p:cNvSpPr/>
          <p:nvPr/>
        </p:nvSpPr>
        <p:spPr>
          <a:xfrm>
            <a:off x="5148072" y="4306823"/>
            <a:ext cx="393192" cy="393192"/>
          </a:xfrm>
          <a:prstGeom prst="ellipse">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148072" y="4352544"/>
            <a:ext cx="393192"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00" b="1">
                <a:solidFill>
                  <a:srgbClr val="FFFFFF"/>
                </a:solidFill>
                <a:latin typeface="Noto Sans CJK SC"/>
              </a:defRPr>
            </a:pPr>
            <a:r>
              <a:rPr sz="1500" b="1">
                <a:solidFill>
                  <a:srgbClr val="FFFFFF"/>
                </a:solidFill>
                <a:latin typeface="Noto Sans CJK SC"/>
                <a:ea typeface="Noto Sans CJK SC"/>
                <a:cs typeface="Noto Sans CJK SC"/>
              </a:rPr>
              <a:t>3</a:t>
            </a:r>
          </a:p>
        </p:txBody>
      </p:sp>
      <p:sp>
        <p:nvSpPr>
          <p:cNvPr id="21" name="TextBox 20"/>
          <p:cNvSpPr txBox="1"/>
          <p:nvPr/>
        </p:nvSpPr>
        <p:spPr>
          <a:xfrm>
            <a:off x="5742432" y="4288536"/>
            <a:ext cx="5513832" cy="804672"/>
          </a:xfrm>
          <a:prstGeom prst="rect">
            <a:avLst/>
          </a:prstGeom>
          <a:noFill/>
          <a:effectLst/>
        </p:spPr>
        <p:txBody>
          <a:bodyPr wrap="square" lIns="0" rIns="0" tIns="0" bIns="0" anchor="t">
            <a:spAutoFit/>
          </a:bodyPr>
          <a:lstStyle/>
          <a:p>
            <a:pPr>
              <a:lnSpc>
                <a:spcPct val="112000"/>
              </a:lnSpc>
              <a:spcBef>
                <a:spcPts val="0"/>
              </a:spcBef>
              <a:spcAft>
                <a:spcPts val="0"/>
              </a:spcAft>
              <a:defRPr sz="2100" b="0">
                <a:solidFill>
                  <a:srgbClr val="233E39"/>
                </a:solidFill>
                <a:latin typeface="Noto Sans CJK SC"/>
              </a:defRPr>
            </a:pPr>
            <a:r>
              <a:rPr sz="2100" b="0">
                <a:solidFill>
                  <a:srgbClr val="233E39"/>
                </a:solidFill>
                <a:latin typeface="Noto Sans CJK SC"/>
                <a:ea typeface="Noto Sans CJK SC"/>
                <a:cs typeface="Noto Sans CJK SC"/>
              </a:rPr>
              <a:t>指出仍待核实的信息，不把猜测当作事实</a:t>
            </a:r>
          </a:p>
        </p:txBody>
      </p:sp>
      <p:sp>
        <p:nvSpPr>
          <p:cNvPr id="22" name="Rounded Rectangle 21"/>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讨论要求：说明事实与证据，区分主体责任，提出可执行方案。</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课堂收束 · 知行合一</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资料：R07 / R08 / R09 / R14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98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信息核验：这条环境消息可靠吗</a:t>
            </a:r>
          </a:p>
        </p:txBody>
      </p:sp>
      <p:sp>
        <p:nvSpPr>
          <p:cNvPr id="8" name="TextBox 7"/>
          <p:cNvSpPr txBox="1"/>
          <p:nvPr/>
        </p:nvSpPr>
        <p:spPr>
          <a:xfrm>
            <a:off x="859536" y="1901952"/>
            <a:ext cx="5486400" cy="1325880"/>
          </a:xfrm>
          <a:prstGeom prst="rect">
            <a:avLst/>
          </a:prstGeom>
          <a:noFill/>
          <a:effectLst/>
        </p:spPr>
        <p:txBody>
          <a:bodyPr wrap="square" lIns="0" rIns="0" tIns="0" bIns="0" anchor="t">
            <a:spAutoFit/>
          </a:bodyPr>
          <a:lstStyle/>
          <a:p>
            <a:pPr>
              <a:lnSpc>
                <a:spcPct val="112000"/>
              </a:lnSpc>
              <a:spcBef>
                <a:spcPts val="0"/>
              </a:spcBef>
              <a:spcAft>
                <a:spcPts val="0"/>
              </a:spcAft>
              <a:defRPr sz="3100" b="1">
                <a:solidFill>
                  <a:srgbClr val="236548"/>
                </a:solidFill>
                <a:latin typeface="Noto Sans CJK SC"/>
              </a:defRPr>
            </a:pPr>
            <a:r>
              <a:rPr sz="3100" b="1">
                <a:solidFill>
                  <a:srgbClr val="236548"/>
                </a:solidFill>
                <a:latin typeface="Noto Sans CJK SC"/>
                <a:ea typeface="Noto Sans CJK SC"/>
                <a:cs typeface="Noto Sans CJK SC"/>
              </a:rPr>
              <a:t>同一组数字，</a:t>
            </a:r>
          </a:p>
          <a:p>
            <a:pPr>
              <a:lnSpc>
                <a:spcPct val="112000"/>
              </a:lnSpc>
              <a:spcBef>
                <a:spcPts val="0"/>
              </a:spcBef>
              <a:spcAft>
                <a:spcPts val="0"/>
              </a:spcAft>
              <a:defRPr sz="3100" b="1">
                <a:solidFill>
                  <a:srgbClr val="236548"/>
                </a:solidFill>
                <a:latin typeface="Noto Sans CJK SC"/>
              </a:defRPr>
            </a:pPr>
            <a:r>
              <a:rPr sz="3100" b="1">
                <a:solidFill>
                  <a:srgbClr val="236548"/>
                </a:solidFill>
                <a:latin typeface="Noto Sans CJK SC"/>
                <a:ea typeface="Noto Sans CJK SC"/>
                <a:cs typeface="Noto Sans CJK SC"/>
              </a:rPr>
              <a:t>为什么可能被误读？</a:t>
            </a:r>
          </a:p>
        </p:txBody>
      </p:sp>
      <p:sp>
        <p:nvSpPr>
          <p:cNvPr id="9" name="TextBox 8"/>
          <p:cNvSpPr txBox="1"/>
          <p:nvPr/>
        </p:nvSpPr>
        <p:spPr>
          <a:xfrm>
            <a:off x="886968" y="3675887"/>
            <a:ext cx="4983480" cy="411480"/>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63766E"/>
                </a:solidFill>
                <a:latin typeface="Noto Sans CJK SC"/>
              </a:defRPr>
            </a:pPr>
            <a:r>
              <a:rPr sz="1900" b="0">
                <a:solidFill>
                  <a:srgbClr val="63766E"/>
                </a:solidFill>
                <a:latin typeface="Noto Sans CJK SC"/>
                <a:ea typeface="Noto Sans CJK SC"/>
                <a:cs typeface="Noto Sans CJK SC"/>
              </a:rPr>
              <a:t>先给出观察，再说明依据。</a:t>
            </a:r>
          </a:p>
        </p:txBody>
      </p:sp>
      <p:pic>
        <p:nvPicPr>
          <p:cNvPr id="10" name="Picture 9" descr="eco_scenes.png"/>
          <p:cNvPicPr>
            <a:picLocks noChangeAspect="1"/>
          </p:cNvPicPr>
          <p:nvPr/>
        </p:nvPicPr>
        <p:blipFill>
          <a:blip r:embed="rId3"/>
          <a:srcRect l="50000" t="52732" b="2732"/>
          <a:stretch>
            <a:fillRect/>
          </a:stretch>
        </p:blipFill>
        <p:spPr>
          <a:xfrm>
            <a:off x="6931152" y="1783080"/>
            <a:ext cx="4434840" cy="2633472"/>
          </a:xfrm>
          <a:prstGeom prst="rect">
            <a:avLst/>
          </a:prstGeom>
          <a:effectLst/>
        </p:spPr>
      </p:pic>
      <p:sp>
        <p:nvSpPr>
          <p:cNvPr id="11" name="Rectangle 10"/>
          <p:cNvSpPr/>
          <p:nvPr/>
        </p:nvSpPr>
        <p:spPr>
          <a:xfrm>
            <a:off x="6931152" y="4151376"/>
            <a:ext cx="4434840"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022592" y="4178808"/>
            <a:ext cx="4251959"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3" name="Rounded Rectangle 12"/>
          <p:cNvSpPr/>
          <p:nvPr/>
        </p:nvSpPr>
        <p:spPr>
          <a:xfrm>
            <a:off x="896112" y="4736592"/>
            <a:ext cx="3337560" cy="8046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033271" y="4837176"/>
            <a:ext cx="3063240" cy="603504"/>
          </a:xfrm>
          <a:prstGeom prst="rect">
            <a:avLst/>
          </a:prstGeom>
          <a:noFill/>
          <a:effectLst/>
        </p:spPr>
        <p:txBody>
          <a:bodyPr wrap="square" lIns="0" rIns="0" tIns="0" bIns="0" anchor="t">
            <a:spAutoFit/>
          </a:bodyPr>
          <a:lstStyle/>
          <a:p>
            <a:pPr>
              <a:lnSpc>
                <a:spcPct val="112000"/>
              </a:lnSpc>
              <a:spcBef>
                <a:spcPts val="0"/>
              </a:spcBef>
              <a:spcAft>
                <a:spcPts val="0"/>
              </a:spcAft>
              <a:defRPr sz="1650" b="0">
                <a:solidFill>
                  <a:srgbClr val="233E39"/>
                </a:solidFill>
                <a:latin typeface="Noto Sans CJK SC"/>
              </a:defRPr>
            </a:pPr>
            <a:r>
              <a:rPr sz="1650" b="0">
                <a:solidFill>
                  <a:srgbClr val="233E39"/>
                </a:solidFill>
                <a:latin typeface="Noto Sans CJK SC"/>
                <a:ea typeface="Noto Sans CJK SC"/>
                <a:cs typeface="Noto Sans CJK SC"/>
              </a:rPr>
              <a:t>查出处与日期：谁发布，何时统计？</a:t>
            </a:r>
          </a:p>
        </p:txBody>
      </p:sp>
      <p:sp>
        <p:nvSpPr>
          <p:cNvPr id="15" name="Rounded Rectangle 14"/>
          <p:cNvSpPr/>
          <p:nvPr/>
        </p:nvSpPr>
        <p:spPr>
          <a:xfrm>
            <a:off x="4480560" y="4736592"/>
            <a:ext cx="3337560" cy="8046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617720" y="4837176"/>
            <a:ext cx="3063240" cy="603504"/>
          </a:xfrm>
          <a:prstGeom prst="rect">
            <a:avLst/>
          </a:prstGeom>
          <a:noFill/>
          <a:effectLst/>
        </p:spPr>
        <p:txBody>
          <a:bodyPr wrap="square" lIns="0" rIns="0" tIns="0" bIns="0" anchor="t">
            <a:spAutoFit/>
          </a:bodyPr>
          <a:lstStyle/>
          <a:p>
            <a:pPr>
              <a:lnSpc>
                <a:spcPct val="112000"/>
              </a:lnSpc>
              <a:spcBef>
                <a:spcPts val="0"/>
              </a:spcBef>
              <a:spcAft>
                <a:spcPts val="0"/>
              </a:spcAft>
              <a:defRPr sz="1650" b="0">
                <a:solidFill>
                  <a:srgbClr val="233E39"/>
                </a:solidFill>
                <a:latin typeface="Noto Sans CJK SC"/>
              </a:defRPr>
            </a:pPr>
            <a:r>
              <a:rPr sz="1650" b="0">
                <a:solidFill>
                  <a:srgbClr val="233E39"/>
                </a:solidFill>
                <a:latin typeface="Noto Sans CJK SC"/>
                <a:ea typeface="Noto Sans CJK SC"/>
                <a:cs typeface="Noto Sans CJK SC"/>
              </a:rPr>
              <a:t>查现行效力：正式文本、施行与衔接</a:t>
            </a:r>
          </a:p>
        </p:txBody>
      </p:sp>
      <p:sp>
        <p:nvSpPr>
          <p:cNvPr id="17" name="Rounded Rectangle 16"/>
          <p:cNvSpPr/>
          <p:nvPr/>
        </p:nvSpPr>
        <p:spPr>
          <a:xfrm>
            <a:off x="8065008" y="4736592"/>
            <a:ext cx="3337560" cy="804672"/>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02168" y="4837176"/>
            <a:ext cx="3063240" cy="603504"/>
          </a:xfrm>
          <a:prstGeom prst="rect">
            <a:avLst/>
          </a:prstGeom>
          <a:noFill/>
          <a:effectLst/>
        </p:spPr>
        <p:txBody>
          <a:bodyPr wrap="square" lIns="0" rIns="0" tIns="0" bIns="0" anchor="t">
            <a:spAutoFit/>
          </a:bodyPr>
          <a:lstStyle/>
          <a:p>
            <a:pPr>
              <a:lnSpc>
                <a:spcPct val="112000"/>
              </a:lnSpc>
              <a:spcBef>
                <a:spcPts val="0"/>
              </a:spcBef>
              <a:spcAft>
                <a:spcPts val="0"/>
              </a:spcAft>
              <a:defRPr sz="1650" b="0">
                <a:solidFill>
                  <a:srgbClr val="233E39"/>
                </a:solidFill>
                <a:latin typeface="Noto Sans CJK SC"/>
              </a:defRPr>
            </a:pPr>
            <a:r>
              <a:rPr sz="1650" b="0">
                <a:solidFill>
                  <a:srgbClr val="233E39"/>
                </a:solidFill>
                <a:latin typeface="Noto Sans CJK SC"/>
                <a:ea typeface="Noto Sans CJK SC"/>
                <a:cs typeface="Noto Sans CJK SC"/>
              </a:rPr>
              <a:t>查指标口径：目标与实绩、全国与地方</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课堂收束 · 知行合一</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资料：R05 / R09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99 / 100</a:t>
            </a:r>
          </a:p>
        </p:txBody>
      </p:sp>
      <p:sp>
        <p:nvSpPr>
          <p:cNvPr id="6" name="Rectangle 5"/>
          <p:cNvSpPr/>
          <p:nvPr/>
        </p:nvSpPr>
        <p:spPr>
          <a:xfrm>
            <a:off x="594360" y="1005840"/>
            <a:ext cx="64008" cy="3931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22960" y="941832"/>
            <a:ext cx="10789920" cy="566928"/>
          </a:xfrm>
          <a:prstGeom prst="rect">
            <a:avLst/>
          </a:prstGeom>
          <a:noFill/>
          <a:effectLst/>
        </p:spPr>
        <p:txBody>
          <a:bodyPr wrap="square" lIns="0" rIns="0" tIns="0" bIns="0" anchor="t">
            <a:spAutoFit/>
          </a:bodyPr>
          <a:lstStyle/>
          <a:p>
            <a:pPr>
              <a:lnSpc>
                <a:spcPct val="112000"/>
              </a:lnSpc>
              <a:spcBef>
                <a:spcPts val="0"/>
              </a:spcBef>
              <a:spcAft>
                <a:spcPts val="0"/>
              </a:spcAft>
              <a:defRPr sz="3000" b="1">
                <a:solidFill>
                  <a:srgbClr val="233E39"/>
                </a:solidFill>
                <a:latin typeface="Noto Sans CJK SC"/>
              </a:defRPr>
            </a:pPr>
            <a:r>
              <a:rPr sz="3000" b="1">
                <a:solidFill>
                  <a:srgbClr val="233E39"/>
                </a:solidFill>
                <a:latin typeface="Noto Sans CJK SC"/>
                <a:ea typeface="Noto Sans CJK SC"/>
                <a:cs typeface="Noto Sans CJK SC"/>
              </a:rPr>
              <a:t>从“知道”走向“做到”</a:t>
            </a:r>
          </a:p>
        </p:txBody>
      </p:sp>
      <p:sp>
        <p:nvSpPr>
          <p:cNvPr id="8" name="TextBox 7"/>
          <p:cNvSpPr txBox="1"/>
          <p:nvPr/>
        </p:nvSpPr>
        <p:spPr>
          <a:xfrm>
            <a:off x="822960" y="1581912"/>
            <a:ext cx="10698480" cy="484632"/>
          </a:xfrm>
          <a:prstGeom prst="rect">
            <a:avLst/>
          </a:prstGeom>
          <a:noFill/>
          <a:effectLst/>
        </p:spPr>
        <p:txBody>
          <a:bodyPr wrap="square" lIns="0" rIns="0" tIns="0" bIns="0" anchor="t">
            <a:spAutoFit/>
          </a:bodyPr>
          <a:lstStyle/>
          <a:p>
            <a:pPr>
              <a:lnSpc>
                <a:spcPct val="112000"/>
              </a:lnSpc>
              <a:spcBef>
                <a:spcPts val="0"/>
              </a:spcBef>
              <a:spcAft>
                <a:spcPts val="0"/>
              </a:spcAft>
              <a:defRPr sz="1900" b="0">
                <a:solidFill>
                  <a:srgbClr val="236548"/>
                </a:solidFill>
                <a:latin typeface="Noto Sans CJK SC"/>
              </a:defRPr>
            </a:pPr>
            <a:r>
              <a:rPr sz="1900" b="0">
                <a:solidFill>
                  <a:srgbClr val="236548"/>
                </a:solidFill>
                <a:latin typeface="Noto Sans CJK SC"/>
                <a:ea typeface="Noto Sans CJK SC"/>
                <a:cs typeface="Noto Sans CJK SC"/>
              </a:rPr>
              <a:t>把今天的一次学习，变成今后一项持续行动</a:t>
            </a:r>
          </a:p>
        </p:txBody>
      </p:sp>
      <p:sp>
        <p:nvSpPr>
          <p:cNvPr id="9" name="Rectangle 8"/>
          <p:cNvSpPr/>
          <p:nvPr/>
        </p:nvSpPr>
        <p:spPr>
          <a:xfrm>
            <a:off x="923544" y="2276856"/>
            <a:ext cx="100584" cy="621792"/>
          </a:xfrm>
          <a:prstGeom prst="rect">
            <a:avLst/>
          </a:prstGeom>
          <a:solidFill>
            <a:srgbClr val="75BD4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307592" y="2304288"/>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选一件事：减少浪费、绿色出行或参与一次生态调查</a:t>
            </a:r>
          </a:p>
        </p:txBody>
      </p:sp>
      <p:sp>
        <p:nvSpPr>
          <p:cNvPr id="11" name="Rectangle 10"/>
          <p:cNvSpPr/>
          <p:nvPr/>
        </p:nvSpPr>
        <p:spPr>
          <a:xfrm>
            <a:off x="923544" y="3154680"/>
            <a:ext cx="100584" cy="621792"/>
          </a:xfrm>
          <a:prstGeom prst="rect">
            <a:avLst/>
          </a:prstGeom>
          <a:solidFill>
            <a:srgbClr val="2365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307592" y="3182112"/>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订一个周期：持续记录变化，定期回看并调整做法</a:t>
            </a:r>
          </a:p>
        </p:txBody>
      </p:sp>
      <p:sp>
        <p:nvSpPr>
          <p:cNvPr id="13" name="Rectangle 12"/>
          <p:cNvSpPr/>
          <p:nvPr/>
        </p:nvSpPr>
        <p:spPr>
          <a:xfrm>
            <a:off x="923544" y="4032504"/>
            <a:ext cx="100584" cy="621792"/>
          </a:xfrm>
          <a:prstGeom prst="rect">
            <a:avLst/>
          </a:prstGeom>
          <a:solidFill>
            <a:srgbClr val="23527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1307592" y="4059936"/>
            <a:ext cx="9784080" cy="658368"/>
          </a:xfrm>
          <a:prstGeom prst="rect">
            <a:avLst/>
          </a:prstGeom>
          <a:noFill/>
          <a:effectLst/>
        </p:spPr>
        <p:txBody>
          <a:bodyPr wrap="square" lIns="0" rIns="0" tIns="0" bIns="0" anchor="t">
            <a:spAutoFit/>
          </a:bodyPr>
          <a:lstStyle/>
          <a:p>
            <a:pPr>
              <a:lnSpc>
                <a:spcPct val="112000"/>
              </a:lnSpc>
              <a:spcBef>
                <a:spcPts val="0"/>
              </a:spcBef>
              <a:spcAft>
                <a:spcPts val="0"/>
              </a:spcAft>
              <a:defRPr sz="2400" b="1">
                <a:solidFill>
                  <a:srgbClr val="233E39"/>
                </a:solidFill>
                <a:latin typeface="Noto Sans CJK SC"/>
              </a:defRPr>
            </a:pPr>
            <a:r>
              <a:rPr sz="2400" b="1">
                <a:solidFill>
                  <a:srgbClr val="233E39"/>
                </a:solidFill>
                <a:latin typeface="Noto Sans CJK SC"/>
                <a:ea typeface="Noto Sans CJK SC"/>
                <a:cs typeface="Noto Sans CJK SC"/>
              </a:rPr>
              <a:t>联结专业与公共责任，通过研究、建议和职业实践扩大贡献</a:t>
            </a:r>
          </a:p>
        </p:txBody>
      </p:sp>
      <p:sp>
        <p:nvSpPr>
          <p:cNvPr id="15" name="Rounded Rectangle 14"/>
          <p:cNvSpPr/>
          <p:nvPr/>
        </p:nvSpPr>
        <p:spPr>
          <a:xfrm>
            <a:off x="987552" y="5522976"/>
            <a:ext cx="10204704" cy="393192"/>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124712" y="5573268"/>
            <a:ext cx="9930384" cy="274320"/>
          </a:xfrm>
          <a:prstGeom prst="rect">
            <a:avLst/>
          </a:prstGeom>
          <a:noFill/>
          <a:effectLst/>
        </p:spPr>
        <p:txBody>
          <a:bodyPr wrap="square" lIns="0" rIns="0" tIns="0" bIns="0" anchor="t">
            <a:spAutoFit/>
          </a:bodyPr>
          <a:lstStyle/>
          <a:p>
            <a:pPr algn="ctr">
              <a:lnSpc>
                <a:spcPct val="112000"/>
              </a:lnSpc>
              <a:spcBef>
                <a:spcPts val="0"/>
              </a:spcBef>
              <a:spcAft>
                <a:spcPts val="0"/>
              </a:spcAft>
              <a:defRPr sz="1550" b="1">
                <a:solidFill>
                  <a:srgbClr val="236548"/>
                </a:solidFill>
                <a:latin typeface="Noto Sans CJK SC"/>
              </a:defRPr>
            </a:pPr>
            <a:r>
              <a:rPr sz="1550" b="1">
                <a:solidFill>
                  <a:srgbClr val="236548"/>
                </a:solidFill>
                <a:latin typeface="Noto Sans CJK SC"/>
                <a:ea typeface="Noto Sans CJK SC"/>
                <a:cs typeface="Noto Sans CJK SC"/>
              </a:rPr>
              <a:t>把今天的认识转化为有依据、可执行、能持续的行动。</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_render.png"/>
          <p:cNvPicPr>
            <a:picLocks noChangeAspect="1"/>
          </p:cNvPicPr>
          <p:nvPr/>
        </p:nvPicPr>
        <p:blipFill>
          <a:blip r:embed="rId2"/>
          <a:stretch>
            <a:fillRect/>
          </a:stretch>
        </p:blipFill>
        <p:spPr>
          <a:xfrm>
            <a:off x="0" y="0"/>
            <a:ext cx="12192000" cy="6858000"/>
          </a:xfrm>
          <a:prstGeom prst="rect">
            <a:avLst/>
          </a:prstGeom>
          <a:effectLst/>
        </p:spPr>
      </p:pic>
      <p:sp>
        <p:nvSpPr>
          <p:cNvPr id="3" name="TextBox 2"/>
          <p:cNvSpPr txBox="1"/>
          <p:nvPr/>
        </p:nvSpPr>
        <p:spPr>
          <a:xfrm>
            <a:off x="7406640" y="256032"/>
            <a:ext cx="4251960" cy="292608"/>
          </a:xfrm>
          <a:prstGeom prst="rect">
            <a:avLst/>
          </a:prstGeom>
          <a:noFill/>
          <a:effectLst/>
        </p:spPr>
        <p:txBody>
          <a:bodyPr wrap="square" lIns="0" rIns="0" tIns="0" bIns="0" anchor="t">
            <a:spAutoFit/>
          </a:bodyPr>
          <a:lstStyle/>
          <a:p>
            <a:pPr algn="r">
              <a:lnSpc>
                <a:spcPct val="112000"/>
              </a:lnSpc>
              <a:spcBef>
                <a:spcPts val="0"/>
              </a:spcBef>
              <a:spcAft>
                <a:spcPts val="0"/>
              </a:spcAft>
              <a:defRPr sz="1350" b="0">
                <a:solidFill>
                  <a:srgbClr val="FFFFFF"/>
                </a:solidFill>
                <a:latin typeface="Noto Sans CJK SC"/>
              </a:defRPr>
            </a:pPr>
            <a:r>
              <a:rPr sz="1350" b="0">
                <a:solidFill>
                  <a:srgbClr val="FFFFFF"/>
                </a:solidFill>
                <a:latin typeface="Noto Sans CJK SC"/>
                <a:ea typeface="Noto Sans CJK SC"/>
                <a:cs typeface="Noto Sans CJK SC"/>
              </a:rPr>
              <a:t>课堂收束 · 知行合一</a:t>
            </a:r>
          </a:p>
        </p:txBody>
      </p:sp>
      <p:sp>
        <p:nvSpPr>
          <p:cNvPr id="4" name="TextBox 3"/>
          <p:cNvSpPr txBox="1"/>
          <p:nvPr/>
        </p:nvSpPr>
        <p:spPr>
          <a:xfrm>
            <a:off x="594360" y="6455664"/>
            <a:ext cx="9875520" cy="201168"/>
          </a:xfrm>
          <a:prstGeom prst="rect">
            <a:avLst/>
          </a:prstGeom>
          <a:noFill/>
          <a:effectLst/>
        </p:spPr>
        <p:txBody>
          <a:bodyPr wrap="square" lIns="0" rIns="0" tIns="0" bIns="0" anchor="t">
            <a:spAutoFit/>
          </a:bodyPr>
          <a:lstStyle/>
          <a:p>
            <a:pPr>
              <a:lnSpc>
                <a:spcPct val="112000"/>
              </a:lnSpc>
              <a:spcBef>
                <a:spcPts val="0"/>
              </a:spcBef>
              <a:spcAft>
                <a:spcPts val="0"/>
              </a:spcAft>
              <a:defRPr sz="1000" b="0">
                <a:solidFill>
                  <a:srgbClr val="FFFFFF"/>
                </a:solidFill>
                <a:latin typeface="Noto Sans CJK SC"/>
              </a:defRPr>
            </a:pPr>
            <a:r>
              <a:rPr sz="1000" b="0">
                <a:solidFill>
                  <a:srgbClr val="FFFFFF"/>
                </a:solidFill>
                <a:latin typeface="Noto Sans CJK SC"/>
                <a:ea typeface="Noto Sans CJK SC"/>
                <a:cs typeface="Noto Sans CJK SC"/>
              </a:rPr>
              <a:t>资料：R01 / R09 / R14 / R16   ·   详见本页备注及配套资料索引</a:t>
            </a:r>
          </a:p>
        </p:txBody>
      </p:sp>
      <p:sp>
        <p:nvSpPr>
          <p:cNvPr id="5" name="TextBox 4"/>
          <p:cNvSpPr txBox="1"/>
          <p:nvPr/>
        </p:nvSpPr>
        <p:spPr>
          <a:xfrm>
            <a:off x="10881360" y="6409944"/>
            <a:ext cx="694944" cy="274320"/>
          </a:xfrm>
          <a:prstGeom prst="rect">
            <a:avLst/>
          </a:prstGeom>
          <a:noFill/>
          <a:effectLst/>
        </p:spPr>
        <p:txBody>
          <a:bodyPr wrap="square" lIns="0" rIns="0" tIns="0" bIns="0" anchor="t">
            <a:spAutoFit/>
          </a:bodyPr>
          <a:lstStyle/>
          <a:p>
            <a:pPr algn="r">
              <a:lnSpc>
                <a:spcPct val="112000"/>
              </a:lnSpc>
              <a:spcBef>
                <a:spcPts val="0"/>
              </a:spcBef>
              <a:spcAft>
                <a:spcPts val="0"/>
              </a:spcAft>
              <a:defRPr sz="1200" b="0">
                <a:solidFill>
                  <a:srgbClr val="FFFFFF"/>
                </a:solidFill>
                <a:latin typeface="Noto Sans CJK SC"/>
              </a:defRPr>
            </a:pPr>
            <a:r>
              <a:rPr sz="1200" b="0">
                <a:solidFill>
                  <a:srgbClr val="FFFFFF"/>
                </a:solidFill>
                <a:latin typeface="Noto Sans CJK SC"/>
                <a:ea typeface="Noto Sans CJK SC"/>
                <a:cs typeface="Noto Sans CJK SC"/>
              </a:rPr>
              <a:t>100 / 100</a:t>
            </a:r>
          </a:p>
        </p:txBody>
      </p:sp>
      <p:sp>
        <p:nvSpPr>
          <p:cNvPr id="6" name="Rounded Rectangle 5"/>
          <p:cNvSpPr/>
          <p:nvPr/>
        </p:nvSpPr>
        <p:spPr>
          <a:xfrm>
            <a:off x="813816" y="1261872"/>
            <a:ext cx="1847088" cy="320040"/>
          </a:xfrm>
          <a:prstGeom prst="roundRect">
            <a:avLst>
              <a:gd name="adj" fmla="val 8000"/>
            </a:avLst>
          </a:prstGeom>
          <a:solidFill>
            <a:srgbClr val="E2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886968" y="1293875"/>
            <a:ext cx="1700784" cy="256032"/>
          </a:xfrm>
          <a:prstGeom prst="rect">
            <a:avLst/>
          </a:prstGeom>
          <a:noFill/>
          <a:effectLst/>
        </p:spPr>
        <p:txBody>
          <a:bodyPr wrap="square" lIns="0" rIns="0" tIns="0" bIns="0" anchor="t">
            <a:spAutoFit/>
          </a:bodyPr>
          <a:lstStyle/>
          <a:p>
            <a:pPr algn="ctr">
              <a:lnSpc>
                <a:spcPct val="112000"/>
              </a:lnSpc>
              <a:spcBef>
                <a:spcPts val="0"/>
              </a:spcBef>
              <a:spcAft>
                <a:spcPts val="0"/>
              </a:spcAft>
              <a:defRPr sz="1400" b="1">
                <a:solidFill>
                  <a:srgbClr val="236548"/>
                </a:solidFill>
                <a:latin typeface="Noto Sans CJK SC"/>
              </a:defRPr>
            </a:pPr>
            <a:r>
              <a:rPr sz="1400" b="1">
                <a:solidFill>
                  <a:srgbClr val="236548"/>
                </a:solidFill>
                <a:latin typeface="Noto Sans CJK SC"/>
                <a:ea typeface="Noto Sans CJK SC"/>
                <a:cs typeface="Noto Sans CJK SC"/>
              </a:rPr>
              <a:t>课程结语</a:t>
            </a:r>
          </a:p>
        </p:txBody>
      </p:sp>
      <p:sp>
        <p:nvSpPr>
          <p:cNvPr id="8" name="TextBox 7"/>
          <p:cNvSpPr txBox="1"/>
          <p:nvPr/>
        </p:nvSpPr>
        <p:spPr>
          <a:xfrm>
            <a:off x="832104" y="1965960"/>
            <a:ext cx="7434072" cy="1481328"/>
          </a:xfrm>
          <a:prstGeom prst="rect">
            <a:avLst/>
          </a:prstGeom>
          <a:noFill/>
          <a:effectLst/>
        </p:spPr>
        <p:txBody>
          <a:bodyPr wrap="square" lIns="0" rIns="0" tIns="0" bIns="0" anchor="t">
            <a:spAutoFit/>
          </a:bodyPr>
          <a:lstStyle/>
          <a:p>
            <a:pPr>
              <a:lnSpc>
                <a:spcPct val="112000"/>
              </a:lnSpc>
              <a:spcBef>
                <a:spcPts val="0"/>
              </a:spcBef>
              <a:spcAft>
                <a:spcPts val="0"/>
              </a:spcAft>
              <a:defRPr sz="3800" b="1">
                <a:solidFill>
                  <a:srgbClr val="236548"/>
                </a:solidFill>
                <a:latin typeface="Noto Sans CJK SC"/>
              </a:defRPr>
            </a:pPr>
            <a:r>
              <a:rPr sz="3800" b="1">
                <a:solidFill>
                  <a:srgbClr val="236548"/>
                </a:solidFill>
                <a:latin typeface="Noto Sans CJK SC"/>
                <a:ea typeface="Noto Sans CJK SC"/>
                <a:cs typeface="Noto Sans CJK SC"/>
              </a:rPr>
              <a:t>把绿色发展理念</a:t>
            </a:r>
          </a:p>
          <a:p>
            <a:pPr>
              <a:lnSpc>
                <a:spcPct val="112000"/>
              </a:lnSpc>
              <a:spcBef>
                <a:spcPts val="0"/>
              </a:spcBef>
              <a:spcAft>
                <a:spcPts val="0"/>
              </a:spcAft>
              <a:defRPr sz="3800" b="1">
                <a:solidFill>
                  <a:srgbClr val="236548"/>
                </a:solidFill>
                <a:latin typeface="Noto Sans CJK SC"/>
              </a:defRPr>
            </a:pPr>
            <a:r>
              <a:rPr sz="3800" b="1">
                <a:solidFill>
                  <a:srgbClr val="236548"/>
                </a:solidFill>
                <a:latin typeface="Noto Sans CJK SC"/>
                <a:ea typeface="Noto Sans CJK SC"/>
                <a:cs typeface="Noto Sans CJK SC"/>
              </a:rPr>
              <a:t>写进每一次选择</a:t>
            </a:r>
          </a:p>
        </p:txBody>
      </p:sp>
      <p:sp>
        <p:nvSpPr>
          <p:cNvPr id="9" name="TextBox 8"/>
          <p:cNvSpPr txBox="1"/>
          <p:nvPr/>
        </p:nvSpPr>
        <p:spPr>
          <a:xfrm>
            <a:off x="877824" y="3950208"/>
            <a:ext cx="6949440" cy="795528"/>
          </a:xfrm>
          <a:prstGeom prst="rect">
            <a:avLst/>
          </a:prstGeom>
          <a:noFill/>
          <a:effectLst/>
        </p:spPr>
        <p:txBody>
          <a:bodyPr wrap="square" lIns="0" rIns="0" tIns="0" bIns="0" anchor="t">
            <a:spAutoFit/>
          </a:bodyPr>
          <a:lstStyle/>
          <a:p>
            <a:pPr>
              <a:lnSpc>
                <a:spcPct val="112000"/>
              </a:lnSpc>
              <a:spcBef>
                <a:spcPts val="0"/>
              </a:spcBef>
              <a:spcAft>
                <a:spcPts val="0"/>
              </a:spcAft>
              <a:defRPr sz="2300" b="0">
                <a:solidFill>
                  <a:srgbClr val="233E39"/>
                </a:solidFill>
                <a:latin typeface="Noto Sans CJK SC"/>
              </a:defRPr>
            </a:pPr>
            <a:r>
              <a:rPr sz="2300" b="0">
                <a:solidFill>
                  <a:srgbClr val="233E39"/>
                </a:solidFill>
                <a:latin typeface="Noto Sans CJK SC"/>
                <a:ea typeface="Noto Sans CJK SC"/>
                <a:cs typeface="Noto Sans CJK SC"/>
              </a:rPr>
              <a:t>以成就坚定信心，以法治巩固成果，</a:t>
            </a:r>
          </a:p>
          <a:p>
            <a:pPr>
              <a:lnSpc>
                <a:spcPct val="112000"/>
              </a:lnSpc>
              <a:spcBef>
                <a:spcPts val="0"/>
              </a:spcBef>
              <a:spcAft>
                <a:spcPts val="0"/>
              </a:spcAft>
              <a:defRPr sz="2300" b="0">
                <a:solidFill>
                  <a:srgbClr val="233E39"/>
                </a:solidFill>
                <a:latin typeface="Noto Sans CJK SC"/>
              </a:defRPr>
            </a:pPr>
            <a:r>
              <a:rPr sz="2300" b="0">
                <a:solidFill>
                  <a:srgbClr val="233E39"/>
                </a:solidFill>
                <a:latin typeface="Noto Sans CJK SC"/>
                <a:ea typeface="Noto Sans CJK SC"/>
                <a:cs typeface="Noto Sans CJK SC"/>
              </a:rPr>
              <a:t>以行动参与美丽中国建设。</a:t>
            </a:r>
          </a:p>
        </p:txBody>
      </p:sp>
      <p:pic>
        <p:nvPicPr>
          <p:cNvPr id="10" name="Picture 9" descr="eco_scenes.png"/>
          <p:cNvPicPr>
            <a:picLocks noChangeAspect="1"/>
          </p:cNvPicPr>
          <p:nvPr/>
        </p:nvPicPr>
        <p:blipFill>
          <a:blip r:embed="rId3"/>
          <a:srcRect l="11367" r="61367" b="50000"/>
          <a:stretch>
            <a:fillRect/>
          </a:stretch>
        </p:blipFill>
        <p:spPr>
          <a:xfrm>
            <a:off x="8339327" y="1271016"/>
            <a:ext cx="3081528" cy="3767328"/>
          </a:xfrm>
          <a:prstGeom prst="rect">
            <a:avLst/>
          </a:prstGeom>
          <a:effectLst/>
        </p:spPr>
      </p:pic>
      <p:sp>
        <p:nvSpPr>
          <p:cNvPr id="11" name="Rectangle 10"/>
          <p:cNvSpPr/>
          <p:nvPr/>
        </p:nvSpPr>
        <p:spPr>
          <a:xfrm>
            <a:off x="8339327" y="4773168"/>
            <a:ext cx="3081528" cy="265176"/>
          </a:xfrm>
          <a:prstGeom prst="rect">
            <a:avLst/>
          </a:prstGeom>
          <a:solidFill>
            <a:srgbClr val="34465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430767" y="4800600"/>
            <a:ext cx="2898648" cy="201168"/>
          </a:xfrm>
          <a:prstGeom prst="rect">
            <a:avLst/>
          </a:prstGeom>
          <a:noFill/>
          <a:effectLst/>
        </p:spPr>
        <p:txBody>
          <a:bodyPr wrap="square" lIns="0" rIns="0" tIns="0" bIns="0" anchor="t">
            <a:spAutoFit/>
          </a:bodyPr>
          <a:lstStyle/>
          <a:p>
            <a:pPr>
              <a:lnSpc>
                <a:spcPct val="112000"/>
              </a:lnSpc>
              <a:spcBef>
                <a:spcPts val="0"/>
              </a:spcBef>
              <a:spcAft>
                <a:spcPts val="0"/>
              </a:spcAft>
              <a:defRPr sz="1050" b="0">
                <a:solidFill>
                  <a:srgbClr val="FFFFFF"/>
                </a:solidFill>
                <a:latin typeface="Noto Sans CJK SC"/>
              </a:defRPr>
            </a:pPr>
            <a:r>
              <a:rPr sz="1050" b="0">
                <a:solidFill>
                  <a:srgbClr val="FFFFFF"/>
                </a:solidFill>
                <a:latin typeface="Noto Sans CJK SC"/>
                <a:ea typeface="Noto Sans CJK SC"/>
                <a:cs typeface="Noto Sans CJK SC"/>
              </a:rPr>
              <a:t>生态场景示意 · AI生成</a:t>
            </a:r>
          </a:p>
        </p:txBody>
      </p:sp>
      <p:sp>
        <p:nvSpPr>
          <p:cNvPr id="13" name="TextBox 12"/>
          <p:cNvSpPr txBox="1"/>
          <p:nvPr/>
        </p:nvSpPr>
        <p:spPr>
          <a:xfrm>
            <a:off x="1024128" y="5559552"/>
            <a:ext cx="9966960" cy="292608"/>
          </a:xfrm>
          <a:prstGeom prst="rect">
            <a:avLst/>
          </a:prstGeom>
          <a:noFill/>
          <a:effectLst/>
        </p:spPr>
        <p:txBody>
          <a:bodyPr wrap="square" lIns="0" rIns="0" tIns="0" bIns="0" anchor="t">
            <a:spAutoFit/>
          </a:bodyPr>
          <a:lstStyle/>
          <a:p>
            <a:pPr algn="ctr">
              <a:lnSpc>
                <a:spcPct val="112000"/>
              </a:lnSpc>
              <a:spcBef>
                <a:spcPts val="0"/>
              </a:spcBef>
              <a:spcAft>
                <a:spcPts val="0"/>
              </a:spcAft>
              <a:defRPr sz="1600" b="0">
                <a:solidFill>
                  <a:srgbClr val="236548"/>
                </a:solidFill>
                <a:latin typeface="Noto Sans CJK SC"/>
              </a:defRPr>
            </a:pPr>
            <a:r>
              <a:rPr sz="1600" b="0">
                <a:solidFill>
                  <a:srgbClr val="236548"/>
                </a:solidFill>
                <a:latin typeface="Noto Sans CJK SC"/>
                <a:ea typeface="Noto Sans CJK SC"/>
                <a:cs typeface="Noto Sans CJK SC"/>
              </a:rPr>
              <a:t>谢谢大家  ·  参考文献与视频链接见各页备注及配套资料索引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ns0:coreProperties xmlns:dc="http://purl.org/dc/elements/1.1/" xmlns:ns0="http://schemas.openxmlformats.org/package/2006/metadata/core-properties" xmlns:ns2="http://purl.org/dc/terms/" xmlns:xsi="http://www.w3.org/2001/XMLSchema-instance">
  <dc:title>Ecology Lecture - 100 Slides</dc:title>
  <dc:subject>Ecological civilization, environmental law, and green development</dc:subject>
  <dc:creator/>
  <ns0:keywords>生态文明,教学课件,100页,美丽中国</ns0:keywords>
  <dc:description>generated using python-pptx</dc:description>
  <ns0:lastModifiedBy>Steve Canny</ns0:lastModifiedBy>
  <ns0:revision>1</ns0:revision>
  <ns2:created xsi:type="dcterms:W3CDTF">2013-01-27T09:14:16Z</ns2:created>
  <ns2:modified xsi:type="dcterms:W3CDTF">2013-01-27T09:15:58Z</ns2:modified>
  <ns0:category/>
</ns0:coreProperties>
</file>