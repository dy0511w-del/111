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82454557c14f64" /><Relationship Type="http://schemas.openxmlformats.org/officeDocument/2006/relationships/extended-properties" Target="/docProps/app.xml" Id="R0545dc5093c84270" /><Relationship Type="http://schemas.openxmlformats.org/officeDocument/2006/relationships/officeDocument" Target="/ppt/presentation.xml" Id="R28d5caa3f07c4a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0aea4bf01c4868"/>
  </p:sldMasterIdLst>
  <p:notesMasterIdLst>
    <p:notesMasterId xmlns:r="http://schemas.openxmlformats.org/officeDocument/2006/relationships" r:id="R85eefd7eba6f4e8b"/>
  </p:notesMasterIdLst>
  <p:sldIdLst>
    <p:sldId xmlns:r="http://schemas.openxmlformats.org/officeDocument/2006/relationships" id="256" r:id="Rae2b59c870044825"/>
    <p:sldId xmlns:r="http://schemas.openxmlformats.org/officeDocument/2006/relationships" id="257" r:id="R321b18508416480f"/>
    <p:sldId xmlns:r="http://schemas.openxmlformats.org/officeDocument/2006/relationships" id="258" r:id="Rcc1ecf72551f4ae6"/>
    <p:sldId xmlns:r="http://schemas.openxmlformats.org/officeDocument/2006/relationships" id="259" r:id="R726867fc4a3c439d"/>
    <p:sldId xmlns:r="http://schemas.openxmlformats.org/officeDocument/2006/relationships" id="260" r:id="R17d92fcacd344044"/>
    <p:sldId xmlns:r="http://schemas.openxmlformats.org/officeDocument/2006/relationships" id="261" r:id="R0ff0acc5d3304aa2"/>
    <p:sldId xmlns:r="http://schemas.openxmlformats.org/officeDocument/2006/relationships" id="262" r:id="Rfdacf63adf51488b"/>
    <p:sldId xmlns:r="http://schemas.openxmlformats.org/officeDocument/2006/relationships" id="263" r:id="Re7c349f654b94e6b"/>
    <p:sldId xmlns:r="http://schemas.openxmlformats.org/officeDocument/2006/relationships" id="264" r:id="R863f86d813c34987"/>
    <p:sldId xmlns:r="http://schemas.openxmlformats.org/officeDocument/2006/relationships" id="265" r:id="R4d0345bf3cd94d1c"/>
    <p:sldId xmlns:r="http://schemas.openxmlformats.org/officeDocument/2006/relationships" id="266" r:id="R3e867de5d8a24055"/>
    <p:sldId xmlns:r="http://schemas.openxmlformats.org/officeDocument/2006/relationships" id="267" r:id="Re0eaf1bf1ae949e7"/>
    <p:sldId xmlns:r="http://schemas.openxmlformats.org/officeDocument/2006/relationships" id="268" r:id="R5fec7de793884cf2"/>
    <p:sldId xmlns:r="http://schemas.openxmlformats.org/officeDocument/2006/relationships" id="269" r:id="Rf348c491242b4770"/>
    <p:sldId xmlns:r="http://schemas.openxmlformats.org/officeDocument/2006/relationships" id="270" r:id="Rb273cac6676a4018"/>
    <p:sldId xmlns:r="http://schemas.openxmlformats.org/officeDocument/2006/relationships" id="271" r:id="R551135867fce4999"/>
    <p:sldId xmlns:r="http://schemas.openxmlformats.org/officeDocument/2006/relationships" id="272" r:id="R0d9c6f130c704eab"/>
    <p:sldId xmlns:r="http://schemas.openxmlformats.org/officeDocument/2006/relationships" id="273" r:id="Rf75619538c3545ab"/>
    <p:sldId xmlns:r="http://schemas.openxmlformats.org/officeDocument/2006/relationships" id="274" r:id="R79a6ee96c4c249b7"/>
    <p:sldId xmlns:r="http://schemas.openxmlformats.org/officeDocument/2006/relationships" id="275" r:id="Rf3cfaa2ed4944296"/>
    <p:sldId xmlns:r="http://schemas.openxmlformats.org/officeDocument/2006/relationships" id="276" r:id="R22ca404b64d54820"/>
    <p:sldId xmlns:r="http://schemas.openxmlformats.org/officeDocument/2006/relationships" id="277" r:id="R7f6d76f71e6c4faa"/>
    <p:sldId xmlns:r="http://schemas.openxmlformats.org/officeDocument/2006/relationships" id="278" r:id="R3da4152b18b848d2"/>
    <p:sldId xmlns:r="http://schemas.openxmlformats.org/officeDocument/2006/relationships" id="279" r:id="R6586af73c026451a"/>
    <p:sldId xmlns:r="http://schemas.openxmlformats.org/officeDocument/2006/relationships" id="280" r:id="Rfb328179e9cb4791"/>
    <p:sldId xmlns:r="http://schemas.openxmlformats.org/officeDocument/2006/relationships" id="281" r:id="R18fd0089eb63475f"/>
    <p:sldId xmlns:r="http://schemas.openxmlformats.org/officeDocument/2006/relationships" id="282" r:id="R3b8d7a8363634fa2"/>
    <p:sldId xmlns:r="http://schemas.openxmlformats.org/officeDocument/2006/relationships" id="283" r:id="R8b27d52beff64b34"/>
    <p:sldId xmlns:r="http://schemas.openxmlformats.org/officeDocument/2006/relationships" id="284" r:id="R7610712f20b1451c"/>
    <p:sldId xmlns:r="http://schemas.openxmlformats.org/officeDocument/2006/relationships" id="285" r:id="R77c458a148b34fc7"/>
    <p:sldId xmlns:r="http://schemas.openxmlformats.org/officeDocument/2006/relationships" id="286" r:id="R7b68a68286ae4f63"/>
    <p:sldId xmlns:r="http://schemas.openxmlformats.org/officeDocument/2006/relationships" id="287" r:id="Re24fafd6efa14d3c"/>
    <p:sldId xmlns:r="http://schemas.openxmlformats.org/officeDocument/2006/relationships" id="288" r:id="R47848c6b7c6d4e58"/>
    <p:sldId xmlns:r="http://schemas.openxmlformats.org/officeDocument/2006/relationships" id="289" r:id="R7b87070cc44a478b"/>
    <p:sldId xmlns:r="http://schemas.openxmlformats.org/officeDocument/2006/relationships" id="290" r:id="R0fa1704882c84df6"/>
    <p:sldId xmlns:r="http://schemas.openxmlformats.org/officeDocument/2006/relationships" id="291" r:id="R4a91cf1064514808"/>
    <p:sldId xmlns:r="http://schemas.openxmlformats.org/officeDocument/2006/relationships" id="292" r:id="R2d3bc613227d4b0e"/>
    <p:sldId xmlns:r="http://schemas.openxmlformats.org/officeDocument/2006/relationships" id="293" r:id="R42f4492566474fd4"/>
    <p:sldId xmlns:r="http://schemas.openxmlformats.org/officeDocument/2006/relationships" id="294" r:id="R6527c07032ca482f"/>
    <p:sldId xmlns:r="http://schemas.openxmlformats.org/officeDocument/2006/relationships" id="295" r:id="Rddb2e939ebe641bd"/>
    <p:sldId xmlns:r="http://schemas.openxmlformats.org/officeDocument/2006/relationships" id="296" r:id="R01c4cda828094a74"/>
    <p:sldId xmlns:r="http://schemas.openxmlformats.org/officeDocument/2006/relationships" id="297" r:id="Rc9dd877ee26845b2"/>
    <p:sldId xmlns:r="http://schemas.openxmlformats.org/officeDocument/2006/relationships" id="298" r:id="Rbb37390a18354ec8"/>
    <p:sldId xmlns:r="http://schemas.openxmlformats.org/officeDocument/2006/relationships" id="299" r:id="R7457922ab17d4202"/>
    <p:sldId xmlns:r="http://schemas.openxmlformats.org/officeDocument/2006/relationships" id="300" r:id="R679b458f319e4945"/>
    <p:sldId xmlns:r="http://schemas.openxmlformats.org/officeDocument/2006/relationships" id="301" r:id="R599f65ef522e4f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24d28f593b4a02" /><Relationship Type="http://schemas.openxmlformats.org/officeDocument/2006/relationships/slideMaster" Target="/ppt/slideMasters/slideMaster1.xml" Id="R3e0aea4bf01c4868" /><Relationship Type="http://schemas.openxmlformats.org/officeDocument/2006/relationships/notesMaster" Target="/ppt/notesMasters/notesMaster1.xml" Id="R85eefd7eba6f4e8b" /><Relationship Type="http://schemas.openxmlformats.org/officeDocument/2006/relationships/presProps" Target="/ppt/presProps.xml" Id="R7cde1fb1999d4a25" /><Relationship Type="http://schemas.openxmlformats.org/officeDocument/2006/relationships/tableStyles" Target="/ppt/tableStyles.xml" Id="Rf13239b7d9964919" /><Relationship Type="http://schemas.openxmlformats.org/officeDocument/2006/relationships/slide" Target="/ppt/slides/slide1.xml" Id="Rae2b59c870044825" /><Relationship Type="http://schemas.openxmlformats.org/officeDocument/2006/relationships/slide" Target="/ppt/slides/slide2.xml" Id="R321b18508416480f" /><Relationship Type="http://schemas.openxmlformats.org/officeDocument/2006/relationships/slide" Target="/ppt/slides/slide3.xml" Id="Rcc1ecf72551f4ae6" /><Relationship Type="http://schemas.openxmlformats.org/officeDocument/2006/relationships/slide" Target="/ppt/slides/slide4.xml" Id="R726867fc4a3c439d" /><Relationship Type="http://schemas.openxmlformats.org/officeDocument/2006/relationships/slide" Target="/ppt/slides/slide5.xml" Id="R17d92fcacd344044" /><Relationship Type="http://schemas.openxmlformats.org/officeDocument/2006/relationships/slide" Target="/ppt/slides/slide6.xml" Id="R0ff0acc5d3304aa2" /><Relationship Type="http://schemas.openxmlformats.org/officeDocument/2006/relationships/slide" Target="/ppt/slides/slide7.xml" Id="Rfdacf63adf51488b" /><Relationship Type="http://schemas.openxmlformats.org/officeDocument/2006/relationships/slide" Target="/ppt/slides/slide8.xml" Id="Re7c349f654b94e6b" /><Relationship Type="http://schemas.openxmlformats.org/officeDocument/2006/relationships/slide" Target="/ppt/slides/slide9.xml" Id="R863f86d813c34987" /><Relationship Type="http://schemas.openxmlformats.org/officeDocument/2006/relationships/slide" Target="/ppt/slides/slide10.xml" Id="R4d0345bf3cd94d1c" /><Relationship Type="http://schemas.openxmlformats.org/officeDocument/2006/relationships/slide" Target="/ppt/slides/slide11.xml" Id="R3e867de5d8a24055" /><Relationship Type="http://schemas.openxmlformats.org/officeDocument/2006/relationships/slide" Target="/ppt/slides/slide12.xml" Id="Re0eaf1bf1ae949e7" /><Relationship Type="http://schemas.openxmlformats.org/officeDocument/2006/relationships/slide" Target="/ppt/slides/slide13.xml" Id="R5fec7de793884cf2" /><Relationship Type="http://schemas.openxmlformats.org/officeDocument/2006/relationships/slide" Target="/ppt/slides/slide14.xml" Id="Rf348c491242b4770" /><Relationship Type="http://schemas.openxmlformats.org/officeDocument/2006/relationships/slide" Target="/ppt/slides/slide15.xml" Id="Rb273cac6676a4018" /><Relationship Type="http://schemas.openxmlformats.org/officeDocument/2006/relationships/slide" Target="/ppt/slides/slide16.xml" Id="R551135867fce4999" /><Relationship Type="http://schemas.openxmlformats.org/officeDocument/2006/relationships/slide" Target="/ppt/slides/slide17.xml" Id="R0d9c6f130c704eab" /><Relationship Type="http://schemas.openxmlformats.org/officeDocument/2006/relationships/slide" Target="/ppt/slides/slide18.xml" Id="Rf75619538c3545ab" /><Relationship Type="http://schemas.openxmlformats.org/officeDocument/2006/relationships/slide" Target="/ppt/slides/slide19.xml" Id="R79a6ee96c4c249b7" /><Relationship Type="http://schemas.openxmlformats.org/officeDocument/2006/relationships/slide" Target="/ppt/slides/slide20.xml" Id="Rf3cfaa2ed4944296" /><Relationship Type="http://schemas.openxmlformats.org/officeDocument/2006/relationships/slide" Target="/ppt/slides/slide21.xml" Id="R22ca404b64d54820" /><Relationship Type="http://schemas.openxmlformats.org/officeDocument/2006/relationships/slide" Target="/ppt/slides/slide22.xml" Id="R7f6d76f71e6c4faa" /><Relationship Type="http://schemas.openxmlformats.org/officeDocument/2006/relationships/slide" Target="/ppt/slides/slide23.xml" Id="R3da4152b18b848d2" /><Relationship Type="http://schemas.openxmlformats.org/officeDocument/2006/relationships/slide" Target="/ppt/slides/slide24.xml" Id="R6586af73c026451a" /><Relationship Type="http://schemas.openxmlformats.org/officeDocument/2006/relationships/slide" Target="/ppt/slides/slide25.xml" Id="Rfb328179e9cb4791" /><Relationship Type="http://schemas.openxmlformats.org/officeDocument/2006/relationships/slide" Target="/ppt/slides/slide26.xml" Id="R18fd0089eb63475f" /><Relationship Type="http://schemas.openxmlformats.org/officeDocument/2006/relationships/slide" Target="/ppt/slides/slide27.xml" Id="R3b8d7a8363634fa2" /><Relationship Type="http://schemas.openxmlformats.org/officeDocument/2006/relationships/slide" Target="/ppt/slides/slide28.xml" Id="R8b27d52beff64b34" /><Relationship Type="http://schemas.openxmlformats.org/officeDocument/2006/relationships/slide" Target="/ppt/slides/slide29.xml" Id="R7610712f20b1451c" /><Relationship Type="http://schemas.openxmlformats.org/officeDocument/2006/relationships/slide" Target="/ppt/slides/slide30.xml" Id="R77c458a148b34fc7" /><Relationship Type="http://schemas.openxmlformats.org/officeDocument/2006/relationships/slide" Target="/ppt/slides/slide31.xml" Id="R7b68a68286ae4f63" /><Relationship Type="http://schemas.openxmlformats.org/officeDocument/2006/relationships/slide" Target="/ppt/slides/slide32.xml" Id="Re24fafd6efa14d3c" /><Relationship Type="http://schemas.openxmlformats.org/officeDocument/2006/relationships/slide" Target="/ppt/slides/slide33.xml" Id="R47848c6b7c6d4e58" /><Relationship Type="http://schemas.openxmlformats.org/officeDocument/2006/relationships/slide" Target="/ppt/slides/slide34.xml" Id="R7b87070cc44a478b" /><Relationship Type="http://schemas.openxmlformats.org/officeDocument/2006/relationships/slide" Target="/ppt/slides/slide35.xml" Id="R0fa1704882c84df6" /><Relationship Type="http://schemas.openxmlformats.org/officeDocument/2006/relationships/slide" Target="/ppt/slides/slide36.xml" Id="R4a91cf1064514808" /><Relationship Type="http://schemas.openxmlformats.org/officeDocument/2006/relationships/slide" Target="/ppt/slides/slide37.xml" Id="R2d3bc613227d4b0e" /><Relationship Type="http://schemas.openxmlformats.org/officeDocument/2006/relationships/slide" Target="/ppt/slides/slide38.xml" Id="R42f4492566474fd4" /><Relationship Type="http://schemas.openxmlformats.org/officeDocument/2006/relationships/slide" Target="/ppt/slides/slide39.xml" Id="R6527c07032ca482f" /><Relationship Type="http://schemas.openxmlformats.org/officeDocument/2006/relationships/slide" Target="/ppt/slides/slide40.xml" Id="Rddb2e939ebe641bd" /><Relationship Type="http://schemas.openxmlformats.org/officeDocument/2006/relationships/slide" Target="/ppt/slides/slide41.xml" Id="R01c4cda828094a74" /><Relationship Type="http://schemas.openxmlformats.org/officeDocument/2006/relationships/slide" Target="/ppt/slides/slide42.xml" Id="Rc9dd877ee26845b2" /><Relationship Type="http://schemas.openxmlformats.org/officeDocument/2006/relationships/slide" Target="/ppt/slides/slide43.xml" Id="Rbb37390a18354ec8" /><Relationship Type="http://schemas.openxmlformats.org/officeDocument/2006/relationships/slide" Target="/ppt/slides/slide44.xml" Id="R7457922ab17d4202" /><Relationship Type="http://schemas.openxmlformats.org/officeDocument/2006/relationships/slide" Target="/ppt/slides/slide45.xml" Id="R679b458f319e4945" /><Relationship Type="http://schemas.openxmlformats.org/officeDocument/2006/relationships/slide" Target="/ppt/slides/slide46.xml" Id="R599f65ef522e4f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584da4cdf245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2399c60d71419f" /><Relationship Type="http://schemas.openxmlformats.org/officeDocument/2006/relationships/notesMaster" Target="/ppt/notesMasters/notesMaster1.xml" Id="R67072449ad9543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28f58f813a4826" /><Relationship Type="http://schemas.openxmlformats.org/officeDocument/2006/relationships/notesMaster" Target="/ppt/notesMasters/notesMaster1.xml" Id="Rcc6e9da285744a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49d93346b246c0" /><Relationship Type="http://schemas.openxmlformats.org/officeDocument/2006/relationships/notesMaster" Target="/ppt/notesMasters/notesMaster1.xml" Id="R10d4516b57174d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1147df38904770" /><Relationship Type="http://schemas.openxmlformats.org/officeDocument/2006/relationships/notesMaster" Target="/ppt/notesMasters/notesMaster1.xml" Id="R103683c6adab4c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2b5a4a52824f58" /><Relationship Type="http://schemas.openxmlformats.org/officeDocument/2006/relationships/notesMaster" Target="/ppt/notesMasters/notesMaster1.xml" Id="R525625da428e4c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4b22a6e7c548b1" /><Relationship Type="http://schemas.openxmlformats.org/officeDocument/2006/relationships/notesMaster" Target="/ppt/notesMasters/notesMaster1.xml" Id="Ra98487b8788348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11587fe7a347e7" /><Relationship Type="http://schemas.openxmlformats.org/officeDocument/2006/relationships/notesMaster" Target="/ppt/notesMasters/notesMaster1.xml" Id="R4d1635fe075149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53e98d0350475a" /><Relationship Type="http://schemas.openxmlformats.org/officeDocument/2006/relationships/notesMaster" Target="/ppt/notesMasters/notesMaster1.xml" Id="R6478fd0995a04b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877b65a6254c0b" /><Relationship Type="http://schemas.openxmlformats.org/officeDocument/2006/relationships/notesMaster" Target="/ppt/notesMasters/notesMaster1.xml" Id="R6e40a02db11943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65d546c9da4773" /><Relationship Type="http://schemas.openxmlformats.org/officeDocument/2006/relationships/notesMaster" Target="/ppt/notesMasters/notesMaster1.xml" Id="Rc46e04c0d3c744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60d252306f432c" /><Relationship Type="http://schemas.openxmlformats.org/officeDocument/2006/relationships/notesMaster" Target="/ppt/notesMasters/notesMaster1.xml" Id="R627ac4cd2e9041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284600927444be" /><Relationship Type="http://schemas.openxmlformats.org/officeDocument/2006/relationships/notesMaster" Target="/ppt/notesMasters/notesMaster1.xml" Id="Rdb3f0408d9694c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c9522f5eb84027" /><Relationship Type="http://schemas.openxmlformats.org/officeDocument/2006/relationships/notesMaster" Target="/ppt/notesMasters/notesMaster1.xml" Id="Rf7b2482c154e4c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d8901560944c12" /><Relationship Type="http://schemas.openxmlformats.org/officeDocument/2006/relationships/notesMaster" Target="/ppt/notesMasters/notesMaster1.xml" Id="Rdd5a2057f68f43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772af2d4c144e9" /><Relationship Type="http://schemas.openxmlformats.org/officeDocument/2006/relationships/notesMaster" Target="/ppt/notesMasters/notesMaster1.xml" Id="R7c8b541958324a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8b60dc9f234604" /><Relationship Type="http://schemas.openxmlformats.org/officeDocument/2006/relationships/notesMaster" Target="/ppt/notesMasters/notesMaster1.xml" Id="R1e70ce6b3a1345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074cd0ada74300" /><Relationship Type="http://schemas.openxmlformats.org/officeDocument/2006/relationships/notesMaster" Target="/ppt/notesMasters/notesMaster1.xml" Id="Rcabaeff596c94c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8e25b45fe047b5" /><Relationship Type="http://schemas.openxmlformats.org/officeDocument/2006/relationships/notesMaster" Target="/ppt/notesMasters/notesMaster1.xml" Id="Ra3fbc6286bc847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15a61306d84a23" /><Relationship Type="http://schemas.openxmlformats.org/officeDocument/2006/relationships/notesMaster" Target="/ppt/notesMasters/notesMaster1.xml" Id="R492207eade8847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15fee2cbf945e8" /><Relationship Type="http://schemas.openxmlformats.org/officeDocument/2006/relationships/notesMaster" Target="/ppt/notesMasters/notesMaster1.xml" Id="R95cb617c01d94c5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1b371930ac04cff" /><Relationship Type="http://schemas.openxmlformats.org/officeDocument/2006/relationships/notesMaster" Target="/ppt/notesMasters/notesMaster1.xml" Id="Reef269af7cb540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36652d4f8042f8" /><Relationship Type="http://schemas.openxmlformats.org/officeDocument/2006/relationships/notesMaster" Target="/ppt/notesMasters/notesMaster1.xml" Id="Rba363da961f2482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85392af4914e57" /><Relationship Type="http://schemas.openxmlformats.org/officeDocument/2006/relationships/notesMaster" Target="/ppt/notesMasters/notesMaster1.xml" Id="Rfec8efb6662d40e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d2dc3d942844011" /><Relationship Type="http://schemas.openxmlformats.org/officeDocument/2006/relationships/notesMaster" Target="/ppt/notesMasters/notesMaster1.xml" Id="R976eed8be616468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1350f70e858446d" /><Relationship Type="http://schemas.openxmlformats.org/officeDocument/2006/relationships/notesMaster" Target="/ppt/notesMasters/notesMaster1.xml" Id="R3e259ff6010a43a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b4695f2c76484d" /><Relationship Type="http://schemas.openxmlformats.org/officeDocument/2006/relationships/notesMaster" Target="/ppt/notesMasters/notesMaster1.xml" Id="R173f367d56994f8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a4b1257fc474d04" /><Relationship Type="http://schemas.openxmlformats.org/officeDocument/2006/relationships/notesMaster" Target="/ppt/notesMasters/notesMaster1.xml" Id="R47d690f7b05047b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13de4718b5f48c3" /><Relationship Type="http://schemas.openxmlformats.org/officeDocument/2006/relationships/notesMaster" Target="/ppt/notesMasters/notesMaster1.xml" Id="Rf0b7fa45f6ce47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f393eceba774bc3" /><Relationship Type="http://schemas.openxmlformats.org/officeDocument/2006/relationships/notesMaster" Target="/ppt/notesMasters/notesMaster1.xml" Id="Rcc2d8c1cf1844f4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0abc5710017481f" /><Relationship Type="http://schemas.openxmlformats.org/officeDocument/2006/relationships/notesMaster" Target="/ppt/notesMasters/notesMaster1.xml" Id="R77c863ad4529451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3a7e76a4f36433b" /><Relationship Type="http://schemas.openxmlformats.org/officeDocument/2006/relationships/notesMaster" Target="/ppt/notesMasters/notesMaster1.xml" Id="R083434bc683b49c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5486637377949dd" /><Relationship Type="http://schemas.openxmlformats.org/officeDocument/2006/relationships/notesMaster" Target="/ppt/notesMasters/notesMaster1.xml" Id="R7f864b8084c3473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1d4a8908a2b43ae" /><Relationship Type="http://schemas.openxmlformats.org/officeDocument/2006/relationships/notesMaster" Target="/ppt/notesMasters/notesMaster1.xml" Id="R60051dc9944440d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e2beb26e38a40d7" /><Relationship Type="http://schemas.openxmlformats.org/officeDocument/2006/relationships/notesMaster" Target="/ppt/notesMasters/notesMaster1.xml" Id="R89cb79b991bc439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5bebeda1fc74d3f" /><Relationship Type="http://schemas.openxmlformats.org/officeDocument/2006/relationships/notesMaster" Target="/ppt/notesMasters/notesMaster1.xml" Id="R15fd5392b61f415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a59caefd33b4f37" /><Relationship Type="http://schemas.openxmlformats.org/officeDocument/2006/relationships/notesMaster" Target="/ppt/notesMasters/notesMaster1.xml" Id="Rc8c463c34a15458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0cc84a2a48949d6" /><Relationship Type="http://schemas.openxmlformats.org/officeDocument/2006/relationships/notesMaster" Target="/ppt/notesMasters/notesMaster1.xml" Id="R57393e909dd945a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6c90b8efef0436e" /><Relationship Type="http://schemas.openxmlformats.org/officeDocument/2006/relationships/notesMaster" Target="/ppt/notesMasters/notesMaster1.xml" Id="Rf87335190e974c0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062f9f79572475e" /><Relationship Type="http://schemas.openxmlformats.org/officeDocument/2006/relationships/notesMaster" Target="/ppt/notesMasters/notesMaster1.xml" Id="Rc4df17e5e9a747c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355988d87eb4561" /><Relationship Type="http://schemas.openxmlformats.org/officeDocument/2006/relationships/notesMaster" Target="/ppt/notesMasters/notesMaster1.xml" Id="Rdd58d8a8fcf44b3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d705f18acf54f2d" /><Relationship Type="http://schemas.openxmlformats.org/officeDocument/2006/relationships/notesMaster" Target="/ppt/notesMasters/notesMaster1.xml" Id="R6885b9e3c031480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759aff5a39c4dd2" /><Relationship Type="http://schemas.openxmlformats.org/officeDocument/2006/relationships/notesMaster" Target="/ppt/notesMasters/notesMaster1.xml" Id="Re9d7198d01a14ff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1652f1d4add458d" /><Relationship Type="http://schemas.openxmlformats.org/officeDocument/2006/relationships/notesMaster" Target="/ppt/notesMasters/notesMaster1.xml" Id="R444eac8ab9fe40f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a7426e5620f42d1" /><Relationship Type="http://schemas.openxmlformats.org/officeDocument/2006/relationships/notesMaster" Target="/ppt/notesMasters/notesMaster1.xml" Id="Rac2e1a03726c434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7e9f3fe504b46d0" /><Relationship Type="http://schemas.openxmlformats.org/officeDocument/2006/relationships/notesMaster" Target="/ppt/notesMasters/notesMaster1.xml" Id="R6efa62b38dc74c7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615e5c7a620469f" /><Relationship Type="http://schemas.openxmlformats.org/officeDocument/2006/relationships/notesMaster" Target="/ppt/notesMasters/notesMaster1.xml" Id="Re0f22a65435849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部分承接前一部分生态文明建设成就：成就如何通过稳定、明确、可执行的规则得到巩固？本节沿着历史、过程、制度、意义和行动展开。讨论编纂的意义，也讨论施行后怎样落实。以下涉及2026年文本的内容依据实际读取的公开镜像整理，正式授课前仍须与全国人大文本逐项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见下列文献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要求学生背诵全部条文。学习目标是能解释从单行法积累到法典化的原因，能在具体情境中识别源头预防、系统治理和损害担责的要求，并能说明依法保护生态环境与高质量发展的关系。课堂中把法律原文、教师概括和虚构情境分别标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第一条、第四至第十条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先解决概念混淆。近现代历史可以作为背景，但不宜把不同年代的资源保护规定直接称为生态环境法典。课堂主线从我国环境立法的形成与发展展开，再进入法典化：前者不断回应具体治理问题，后者着重提高规范之间的系统性、协调性。这里属于教师归纳，不是对某一文件的直接引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2014年修订《环境保护法》第1—2条；法典镜像第1—3条及五编结构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[S_EPL2014] 《中华人民共和国环境保护法》2014年修订文本</a:t>
            </a:r>
          </a:p>
          <a:p xmlns:a="http://schemas.openxmlformats.org/drawingml/2006/main">
            <a:r>
              <a:t>日期/版本：2014-04-24修订；2015-01-01施行</a:t>
            </a:r>
          </a:p>
          <a:p xmlns:a="http://schemas.openxmlformats.org/drawingml/2006/main">
            <a:r>
              <a:t>来源定位：第1—6、42、58—60、70条；本模块均按历史制度讲授</a:t>
            </a:r>
          </a:p>
          <a:p xmlns:a="http://schemas.openxmlformats.org/drawingml/2006/main">
            <a:r>
              <a:t>实际取得来源：https://raw.githubusercontent.com/LawRefBook/Laws/5057151c9258a98a35dafc06fecad4867ada81de/%E8%A1%8C%E6%94%BF%E6%B3%95/%E7%8E%AF%E5%A2%83%E4%BF%9D%E6%8A%A4%E6%B3%95%282014-04-24%29.md</a:t>
            </a:r>
          </a:p>
          <a:p xmlns:a="http://schemas.openxmlformats.org/drawingml/2006/main">
            <a:r>
              <a:t>证据状态：实际读取非官方镜像；不可标注为授课日现行法，法典衔接待官方复核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[S_CODE2026] 《中华人民共和国生态环境法典》公开镜像</a:t>
            </a:r>
          </a:p>
          <a:p xmlns:a="http://schemas.openxmlformats.org/drawingml/2006/main">
            <a:r>
              <a:t>日期/版本：2026-03-12通过；第1242条载2026-08-15施行</a:t>
            </a:r>
          </a:p>
          <a:p xmlns:a="http://schemas.openxmlformats.org/drawingml/2006/main">
            <a:r>
              <a:t>来源定位：第1—3、21、23、25、32、35、1242条与五编结构</a:t>
            </a:r>
          </a:p>
          <a:p xmlns:a="http://schemas.openxmlformats.org/drawingml/2006/main">
            <a:r>
              <a:t>实际取得来源：https://raw.githubusercontent.com/LawRefBook/Laws/5057151c9258a98a35dafc06fecad4867ada81de/%E7%94%9F%E6%80%81%E7%8E%AF%E5%A2%83%E6%B3%95/%E7%94%9F%E6%80%81%E7%8E%AF%E5%A2%83%E6%B3%95%E5%85%B8%282026-03-12%29.md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证据状态：实际读取非官方镜像，官方公布、施行及条文尚未完成本次在线核验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授1973年时，不把一次会议描述为环境法治全部完成的时点。更适合提出问题：当污染与生产建设、城市生活发生联系，治理为什么需要全国性协调？会议及其形成的试行草案反映了问题意识和制度探索。具体会议资料与文件题名需在官方环境保护史资料中复核，本次代理限制下未完成该项在线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第一次全国环境保护会议；《关于保护和改善环境的若干规定（试行草案）》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[S_HISTORY1973] 第一次全国环境保护会议及《关于保护和改善环境的若干规定（试行草案）》</a:t>
            </a:r>
          </a:p>
          <a:p xmlns:a="http://schemas.openxmlformats.org/drawingml/2006/main">
            <a:r>
              <a:t>日期/版本：1973</a:t>
            </a:r>
          </a:p>
          <a:p xmlns:a="http://schemas.openxmlformats.org/drawingml/2006/main">
            <a:r>
              <a:t>来源定位：生态环境保护事业历史资料，检索完整会议和文件题名</a:t>
            </a:r>
          </a:p>
          <a:p xmlns:a="http://schemas.openxmlformats.org/drawingml/2006/main">
            <a:r>
              <a:t>实际取得来源：</a:t>
            </a:r>
          </a:p>
          <a:p xmlns:a="http://schemas.openxmlformats.org/drawingml/2006/main">
            <a:r>
              <a:t>证据状态：历史事实候选定位，官方资料未读取；需发布前复核</a:t>
            </a:r>
          </a:p>
          <a:p xmlns:a="http://schemas.openxmlformats.org/drawingml/2006/main">
            <a:r>
              <a:t>官方检索入口（不是已核验原文链接）：https://www.mee.gov.cn/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用十年间的两个立法节点说明制度是在实践中发展起来的。这里不展开未经逐条核验的版本差异，也不把试行法律与1989年法律混称为同一次立法。引导学生理解法律形式的意义：相关主体不仅面对倡议，还要依据法律承担职责与义务。这两部法律均按历史版本讲述，不能据此说明授课日的现行法律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1979年《环境保护法（试行）》；1989年《环境保护法》的制定信息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[S_HISTORY1979] 《中华人民共和国环境保护法（试行）》</a:t>
            </a:r>
          </a:p>
          <a:p xmlns:a="http://schemas.openxmlformats.org/drawingml/2006/main">
            <a:r>
              <a:t>日期/版本：1979</a:t>
            </a:r>
          </a:p>
          <a:p xmlns:a="http://schemas.openxmlformats.org/drawingml/2006/main">
            <a:r>
              <a:t>来源定位：制定信息及历史文本</a:t>
            </a:r>
          </a:p>
          <a:p xmlns:a="http://schemas.openxmlformats.org/drawingml/2006/main">
            <a:r>
              <a:t>实际取得来源：</a:t>
            </a:r>
          </a:p>
          <a:p xmlns:a="http://schemas.openxmlformats.org/drawingml/2006/main">
            <a:r>
              <a:t>证据状态：已知历史立法节点，官方资料未读取；需发布前复核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[S_HISTORY1989] 《中华人民共和国环境保护法》1989年制定文本</a:t>
            </a:r>
          </a:p>
          <a:p xmlns:a="http://schemas.openxmlformats.org/drawingml/2006/main">
            <a:r>
              <a:t>日期/版本：1989</a:t>
            </a:r>
          </a:p>
          <a:p xmlns:a="http://schemas.openxmlformats.org/drawingml/2006/main">
            <a:r>
              <a:t>来源定位：制定信息及历史版本</a:t>
            </a:r>
          </a:p>
          <a:p xmlns:a="http://schemas.openxmlformats.org/drawingml/2006/main">
            <a:r>
              <a:t>实际取得来源：</a:t>
            </a:r>
          </a:p>
          <a:p xmlns:a="http://schemas.openxmlformats.org/drawingml/2006/main">
            <a:r>
              <a:t>证据状态：已知历史立法节点，官方资料未读取；需发布前复核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现有宪法文本中的条文定位说明根本法依据，不将教师概括放入引号。可以追问：环境保护为何需要写入宪法？它关系国家职责、社会公共利益与长远发展。进一步说明，宪法原则还需要具体法律制度、行政履职与司法保障来落实。镜像中的现行汇编文本已读取，但1982年原始版本及后续修正仍应对照官方文本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《中华人民共和国宪法》第9条、第26条；历史版本定位：1982年宪法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[S_CONSTITUTION] 《中华人民共和国宪法》汇编文本</a:t>
            </a:r>
          </a:p>
          <a:p xmlns:a="http://schemas.openxmlformats.org/drawingml/2006/main">
            <a:r>
              <a:t>日期/版本：见文件版本</a:t>
            </a:r>
          </a:p>
          <a:p xmlns:a="http://schemas.openxmlformats.org/drawingml/2006/main">
            <a:r>
              <a:t>来源定位：第9、26条；1982年原始版本须另行复核</a:t>
            </a:r>
          </a:p>
          <a:p xmlns:a="http://schemas.openxmlformats.org/drawingml/2006/main">
            <a:r>
              <a:t>实际取得来源：https://raw.githubusercontent.com/LawRefBook/Laws/5057151c9258a98a35dafc06fecad4867ada81de/%E5%AE%AA%E6%B3%95/%E5%AE%AA%E6%B3%95.md</a:t>
            </a:r>
          </a:p>
          <a:p xmlns:a="http://schemas.openxmlformats.org/drawingml/2006/main">
            <a:r>
              <a:t>证据状态：实际读取非官方镜像条文，尚未对照全国人大正式文本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把专门立法简单评价为低效或落后。专门法律有针对性，是法典编纂的重要积累。需要进一步解决的是相互衔接：例如一种污染治理措施可能影响另一环境介质，一条河流涉及上游下游和多个部门。因此，法典化不是否定既有法律，而是在成熟制度基础上提高体系协同。最后一句为教学分析，不是某部法律的原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2014年《环境保护法》第2条；法典镜像第1242条所列10部法律及五编结构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[S_EPL2014] 《中华人民共和国环境保护法》2014年修订文本</a:t>
            </a:r>
          </a:p>
          <a:p xmlns:a="http://schemas.openxmlformats.org/drawingml/2006/main">
            <a:r>
              <a:t>日期/版本：2014-04-24修订；2015-01-01施行</a:t>
            </a:r>
          </a:p>
          <a:p xmlns:a="http://schemas.openxmlformats.org/drawingml/2006/main">
            <a:r>
              <a:t>来源定位：第1—6、42、58—60、70条；本模块均按历史制度讲授</a:t>
            </a:r>
          </a:p>
          <a:p xmlns:a="http://schemas.openxmlformats.org/drawingml/2006/main">
            <a:r>
              <a:t>实际取得来源：https://raw.githubusercontent.com/LawRefBook/Laws/5057151c9258a98a35dafc06fecad4867ada81de/%E8%A1%8C%E6%94%BF%E6%B3%95/%E7%8E%AF%E5%A2%83%E4%BF%9D%E6%8A%A4%E6%B3%95%282014-04-24%29.md</a:t>
            </a:r>
          </a:p>
          <a:p xmlns:a="http://schemas.openxmlformats.org/drawingml/2006/main">
            <a:r>
              <a:t>证据状态：实际读取非官方镜像；不可标注为授课日现行法，法典衔接待官方复核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[S_CODE2026] 《中华人民共和国生态环境法典》公开镜像</a:t>
            </a:r>
          </a:p>
          <a:p xmlns:a="http://schemas.openxmlformats.org/drawingml/2006/main">
            <a:r>
              <a:t>日期/版本：2026-03-12通过；第1242条载2026-08-15施行</a:t>
            </a:r>
          </a:p>
          <a:p xmlns:a="http://schemas.openxmlformats.org/drawingml/2006/main">
            <a:r>
              <a:t>来源定位：第1—3、21、23、25、32、35、1242条与五编结构</a:t>
            </a:r>
          </a:p>
          <a:p xmlns:a="http://schemas.openxmlformats.org/drawingml/2006/main">
            <a:r>
              <a:t>实际取得来源：https://raw.githubusercontent.com/LawRefBook/Laws/5057151c9258a98a35dafc06fecad4867ada81de/%E7%94%9F%E6%80%81%E7%8E%AF%E5%A2%83%E6%B3%95/%E7%94%9F%E6%80%81%E7%8E%AF%E5%A2%83%E6%B3%95%E5%85%B8%282026-03-12%29.md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证据状态：实际读取非官方镜像，官方公布、施行及条文尚未完成本次在线核验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选两项制度，分别回答违法行为如何持续受到约束，以及公共环境利益如何获得司法保护。按日连续处罚不能简化成任何违法都自动每日罚款；社会组织公益诉讼也有法定条件。应明确本页讲的是2014年修订法律的历史制度贡献，不把这些条号直接用作2026年以后案件的现行适用依据。新旧衔接需按法典和相关规定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2014年修订《环境保护法》第58—59条、第70条；法典镜像第1242条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[S_EPL2014] 《中华人民共和国环境保护法》2014年修订文本</a:t>
            </a:r>
          </a:p>
          <a:p xmlns:a="http://schemas.openxmlformats.org/drawingml/2006/main">
            <a:r>
              <a:t>日期/版本：2014-04-24修订；2015-01-01施行</a:t>
            </a:r>
          </a:p>
          <a:p xmlns:a="http://schemas.openxmlformats.org/drawingml/2006/main">
            <a:r>
              <a:t>来源定位：第1—6、42、58—60、70条；本模块均按历史制度讲授</a:t>
            </a:r>
          </a:p>
          <a:p xmlns:a="http://schemas.openxmlformats.org/drawingml/2006/main">
            <a:r>
              <a:t>实际取得来源：https://raw.githubusercontent.com/LawRefBook/Laws/5057151c9258a98a35dafc06fecad4867ada81de/%E8%A1%8C%E6%94%BF%E6%B3%95/%E7%8E%AF%E5%A2%83%E4%BF%9D%E6%8A%A4%E6%B3%95%282014-04-24%29.md</a:t>
            </a:r>
          </a:p>
          <a:p xmlns:a="http://schemas.openxmlformats.org/drawingml/2006/main">
            <a:r>
              <a:t>证据状态：实际读取非官方镜像；不可标注为授课日现行法，法典衔接待官方复核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[S_CODE2026] 《中华人民共和国生态环境法典》公开镜像</a:t>
            </a:r>
          </a:p>
          <a:p xmlns:a="http://schemas.openxmlformats.org/drawingml/2006/main">
            <a:r>
              <a:t>日期/版本：2026-03-12通过；第1242条载2026-08-15施行</a:t>
            </a:r>
          </a:p>
          <a:p xmlns:a="http://schemas.openxmlformats.org/drawingml/2006/main">
            <a:r>
              <a:t>来源定位：第1—3、21、23、25、32、35、1242条与五编结构</a:t>
            </a:r>
          </a:p>
          <a:p xmlns:a="http://schemas.openxmlformats.org/drawingml/2006/main">
            <a:r>
              <a:t>实际取得来源：https://raw.githubusercontent.com/LawRefBook/Laws/5057151c9258a98a35dafc06fecad4867ada81de/%E7%94%9F%E6%80%81%E7%8E%AF%E5%A2%83%E6%B3%95/%E7%94%9F%E6%80%81%E7%8E%AF%E5%A2%83%E6%B3%95%E5%85%B8%282026-03-12%29.md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证据状态：实际读取非官方镜像，官方公布、施行及条文尚未完成本次在线核验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绿色原则时，可以联系节约资源、保护生态环境如何进入日常民事活动。责任部分重点说明，生态环境损害可能涉及修复以及法律规定的有关损失和费用。不能说缴纳罚款就当然免除修复责任，也不能把修复简单等同于支付一笔款项。这里采用已有讲稿中的法条定位，尚未在本次环境读取官方民法典全文，发布前需逐字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《中华人民共和国民法典》第9条、第1234—1235条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[S_CIVIL_CODE] 《中华人民共和国民法典》</a:t>
            </a:r>
          </a:p>
          <a:p xmlns:a="http://schemas.openxmlformats.org/drawingml/2006/main">
            <a:r>
              <a:t>日期/版本：2020-05-28通过；2021-01-01施行</a:t>
            </a:r>
          </a:p>
          <a:p xmlns:a="http://schemas.openxmlformats.org/drawingml/2006/main">
            <a:r>
              <a:t>来源定位：第九条</a:t>
            </a:r>
          </a:p>
          <a:p xmlns:a="http://schemas.openxmlformats.org/drawingml/2006/main">
            <a:r>
              <a:t>实际取得来源：https://github.com/LawRefBook/Laws/blob/5057151c9258a98a35dafc06fecad4867ada81de/%E6%B0%91%E6%B3%95%E5%85%B8/%E6%80%BB%E5%88%99.md</a:t>
            </a:r>
          </a:p>
          <a:p xmlns:a="http://schemas.openxmlformats.org/drawingml/2006/main">
            <a:r>
              <a:t>证据状态：已实际读取公开法律镜像中的绿色原则条文；官方文本待复核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[S_CIVIL_TORT] 《中华人民共和国民法典》侵权责任编（公开镜像）</a:t>
            </a:r>
          </a:p>
          <a:p xmlns:a="http://schemas.openxmlformats.org/drawingml/2006/main">
            <a:r>
              <a:t>日期/版本：2020-05-28通过；2021-01-01施行</a:t>
            </a:r>
          </a:p>
          <a:p xmlns:a="http://schemas.openxmlformats.org/drawingml/2006/main">
            <a:r>
              <a:t>来源定位：第一千二百三十四条、第一千二百三十五条</a:t>
            </a:r>
          </a:p>
          <a:p xmlns:a="http://schemas.openxmlformats.org/drawingml/2006/main">
            <a:r>
              <a:t>实际取得来源：https://github.com/LawRefBook/Laws/blob/5057151c9258a98a35dafc06fecad4867ada81de/%E6%B0%91%E6%B3%95%E5%85%B8/%E4%BE%B5%E6%9D%83%E8%B4%A3%E4%BB%BB%E7%BC%96.md</a:t>
            </a:r>
          </a:p>
          <a:p xmlns:a="http://schemas.openxmlformats.org/drawingml/2006/main">
            <a:r>
              <a:t>证据状态：已实际读取公开法律镜像中的生态环境修复及费用条文；官方文本待复核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具体案件，而是可以核对的真实立法制度案例。长江有干支流、上下游、左右岸，行政边界与自然过程并不重合，所以单个地方各自行动还不够。课堂可用一条河流示意图，说明统筹协调、地方协作和信息共享如何共同发挥作用。最后一句是教师归纳，不意味着《长江保护法》已被法典废止或完全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《中华人民共和国长江保护法》（2020年12月26日通过）第1、4、6、13条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[S_YANGTZE] 《中华人民共和国长江保护法》</a:t>
            </a:r>
          </a:p>
          <a:p xmlns:a="http://schemas.openxmlformats.org/drawingml/2006/main">
            <a:r>
              <a:t>日期/版本：2020-12-26通过</a:t>
            </a:r>
          </a:p>
          <a:p xmlns:a="http://schemas.openxmlformats.org/drawingml/2006/main">
            <a:r>
              <a:t>来源定位：第1、4、6、9—10、13条</a:t>
            </a:r>
          </a:p>
          <a:p xmlns:a="http://schemas.openxmlformats.org/drawingml/2006/main">
            <a:r>
              <a:t>实际取得来源：https://raw.githubusercontent.com/LawRefBook/Laws/5057151c9258a98a35dafc06fecad4867ada81de/%E7%BB%8F%E6%B5%8E%E6%B3%95/%E9%95%BF%E6%B1%9F%E4%BF%9D%E6%8A%A4%E6%B3%95%282020-12-26%29.md</a:t>
            </a:r>
          </a:p>
          <a:p xmlns:a="http://schemas.openxmlformats.org/drawingml/2006/main">
            <a:r>
              <a:t>证据状态：实际读取非官方镜像；所读镜像仅至第79条，完整性不足，不能代替正式完整文本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行法具有专业分工的价值，法典化建立在这些积累之上。教学中不能把过去的法律体系概括为完全无效，也不能把法典化理解为只增加篇幅。应当比较共同原则、部门分工、空间治理与责任机制如何衔接。历史法律在不同时间发挥了作用，具体案件适用还需区分法律事实发生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第二条、第六条、第十七至第二十四条、第一千二百四十二条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编纂过程的分析框架，不能冒充逐次会议纪实。正式定稿时应补入全国人大立法规划、历次审议报告、草案公开征求意见记录及通过公布文件，形成可核验时间轴。已读取镜像注明2026年3月12日通过、同年8月15日施行；这两项和中间节点都要对照官方文本后才作为定稿事实呈现。 本页只示意立法过程，历次审议日期、次数及具体采纳意见仍未核验，不冒称为编纂纪实。 本页只示意立法过程，历次审议日期、次数及具体采纳意见仍未核验，不冒称为编纂纪实。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编纂节点为待核目录；通过与施行信息见镜像首行及第一千二百四十二条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[LL] 《中华人民共和国立法法》（2023年修正，公开镜像）</a:t>
            </a:r>
          </a:p>
          <a:p xmlns:a="http://schemas.openxmlformats.org/drawingml/2006/main">
            <a:r>
              <a:t>日期/版本：2023-03-13</a:t>
            </a:r>
          </a:p>
          <a:p xmlns:a="http://schemas.openxmlformats.org/drawingml/2006/main">
            <a:r>
              <a:t>来源定位：第三十九条、第四十条、第七十条</a:t>
            </a:r>
          </a:p>
          <a:p xmlns:a="http://schemas.openxmlformats.org/drawingml/2006/main">
            <a:r>
              <a:t>实际取得来源：https://github.com/LawRefBook/Laws/blob/5057151c9258a98a35dafc06fecad4867ada81de/%E5%AE%AA%E6%B3%95%E7%9B%B8%E5%85%B3%E6%B3%95/%E7%AB%8B%E6%B3%95%E6%B3%95%282023-03-13%29.md</a:t>
            </a:r>
          </a:p>
          <a:p xmlns:a="http://schemas.openxmlformats.org/drawingml/2006/main">
            <a:r>
              <a:t>证据状态：已读取公开法律镜像；尚未完成官方文本核验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[PLAN] 《第十四届全国人民代表大会常务委员会立法规划》及全国人大常委会有关年度工作报告</a:t>
            </a:r>
          </a:p>
          <a:p xmlns:a="http://schemas.openxmlformats.org/drawingml/2006/main">
            <a:r>
              <a:t>日期/版本：2023年以来的编纂部署，逐项日期待官方核验</a:t>
            </a:r>
          </a:p>
          <a:p xmlns:a="http://schemas.openxmlformats.org/drawingml/2006/main">
            <a:r>
              <a:t>来源定位：生态环境法典项目及编纂工作相关表述</a:t>
            </a:r>
          </a:p>
          <a:p xmlns:a="http://schemas.openxmlformats.org/drawingml/2006/main">
            <a:r>
              <a:t>实际取得来源：</a:t>
            </a:r>
          </a:p>
          <a:p xmlns:a="http://schemas.openxmlformats.org/drawingml/2006/main">
            <a:r>
              <a:t>证据状态：候选查核目录；不可当作已经读取的官方编纂过程实录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抽象的编纂任务转化为四个学生能讨论的问题。污染可能在空气、水、土壤之间转移，也可能跨越行政区。一个项目可能同时涉及空间布局、环境影响和后续排放，不能只看末端处罚。法典提供共同规范和衔接框架，配套法律、标准和行政程序仍然具有具体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第二十一条、第二十四条、第四章至第六章、第四编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立法法规定，列入常委会会议议程的法律案应当听取各方面意见，可以采取座谈会、论证会、听证会等形式。法律草案一般应向社会公布征求意见，征求意见时间一般不少于三十日；法律另规定基层立法联系点制度。本页说明法定参与渠道，不声称此次法典已经采纳某个具体人的意见。具体的编纂调研、审议和采纳意见事例仍须读取全国人大纪实后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《立法法》第三十九条、第四十条、第七十条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[LL] 《中华人民共和国立法法》（2023年修正，公开镜像）</a:t>
            </a:r>
          </a:p>
          <a:p xmlns:a="http://schemas.openxmlformats.org/drawingml/2006/main">
            <a:r>
              <a:t>日期/版本：2023-03-13</a:t>
            </a:r>
          </a:p>
          <a:p xmlns:a="http://schemas.openxmlformats.org/drawingml/2006/main">
            <a:r>
              <a:t>来源定位：第三十九条、第四十条、第七十条</a:t>
            </a:r>
          </a:p>
          <a:p xmlns:a="http://schemas.openxmlformats.org/drawingml/2006/main">
            <a:r>
              <a:t>实际取得来源：https://github.com/LawRefBook/Laws/blob/5057151c9258a98a35dafc06fecad4867ada81de/%E5%AE%AA%E6%B3%95%E7%9B%B8%E5%85%B3%E6%B3%95/%E7%AB%8B%E6%B3%95%E6%B3%95%282023-03-13%29.md</a:t>
            </a:r>
          </a:p>
          <a:p xmlns:a="http://schemas.openxmlformats.org/drawingml/2006/main">
            <a:r>
              <a:t>证据状态：已读取公开法律镜像；尚未完成官方文本核验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实际读取的2026年文本镜像，法典由五编构成。讲解时先让学生理解结构，不用逐章罗列。总则提供共同基础，中间三编对应主要治理领域，责任编回应违反规则后如何处理。五编相互配合，并不意味着其他资源保护、民事或刑事法律自动失效。具体适用需要看法典与其他法律的衔接条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全文目录，第一千二百三十九条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第一条作内容分解，四项均为教学提炼。环境保护既涉及当下的身体健康，也涉及生态安全与长期发展。不要将“保护”与“发展”简单对立，法治要把发展活动纳入可持续、可监督的轨道。可以请学生举出一种同时影响居民健康与长期生态功能的环境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第一条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文的六项原则是“预防为主、系统治理、生态优先、绿色发展、公众参与、损害担责”。版面上按理解关系组织，但不删减原则。原则不是可以绕开程序直接处罚的口号，需要通过规划、评价、标准、监测和责任规则具体实现。让学生挑选一项原则，说明它与一条具体制度有什么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第六条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项是本课程对法典化工作的分析，不作为立法机关逐字表述引用。整合的关键在于规则能否共同使用，协调的关键在于多个主体能否形成完整治理链，创新则必须有现实基础和明确适用边界。第一千二百三十九条提醒我们，法典与其他专门法律共同构成制度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第十七至第二十四条、第四编、第一千二百三十九条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先让学生讨论：如果违法者只承担一次成本，却继续污染，规则能否有效改变行为？再引出按日连续处罚的制度逻辑。必须保留法定前提：违法排污、受到罚款处罚、被责令改正并拒不改正等要素。这里解释历史法律制度，不虚构某企业的处罚金额与案号，也不宣称这些旧法条号适用于授课日的新案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2014年修订《环境保护法》第59条；历史制度分析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[S_EPL2014] 《中华人民共和国环境保护法》2014年修订文本</a:t>
            </a:r>
          </a:p>
          <a:p xmlns:a="http://schemas.openxmlformats.org/drawingml/2006/main">
            <a:r>
              <a:t>日期/版本：2014-04-24修订；2015-01-01施行</a:t>
            </a:r>
          </a:p>
          <a:p xmlns:a="http://schemas.openxmlformats.org/drawingml/2006/main">
            <a:r>
              <a:t>来源定位：第1—6、42、58—60、70条；本模块均按历史制度讲授</a:t>
            </a:r>
          </a:p>
          <a:p xmlns:a="http://schemas.openxmlformats.org/drawingml/2006/main">
            <a:r>
              <a:t>实际取得来源：https://raw.githubusercontent.com/LawRefBook/Laws/5057151c9258a98a35dafc06fecad4867ada81de/%E8%A1%8C%E6%94%BF%E6%B3%95/%E7%8E%AF%E5%A2%83%E4%BF%9D%E6%8A%A4%E6%B3%95%282014-04-24%29.md</a:t>
            </a:r>
          </a:p>
          <a:p xmlns:a="http://schemas.openxmlformats.org/drawingml/2006/main">
            <a:r>
              <a:t>证据状态：实际读取非官方镜像；不可标注为授课日现行法，法典衔接待官方复核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法典第九百七十四条的具体制度作为鲜明例子，而不虚构真实案件。法典把绿色低碳发展与学生熟悉的快递和外卖联系起来。该条主要规定相关行业的义务，也要求有关主管部门加强监督管理。不能把行业责任改写成消费者独自承担的道德要求。可请学生观察一次外卖订单，讨论怎样减少不必要包装，以及回收体系还需要哪些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第九百七十四条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抽象协同落实到可以理解的信息。上游的排放、支流的来水、岸线的利用和下游的水质，可能由不同部门掌握。只有资料孤立存放，难以形成整体判断。法律规定的信息共享，是共同治理的一项基础；它不意味着数据公开程度没有边界，也不意味着共享平台建成后问题会自动解决。应同时讨论数据质量、职责和响应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《中华人民共和国长江保护法》第9、13条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[S_YANGTZE] 《中华人民共和国长江保护法》</a:t>
            </a:r>
          </a:p>
          <a:p xmlns:a="http://schemas.openxmlformats.org/drawingml/2006/main">
            <a:r>
              <a:t>日期/版本：2020-12-26通过</a:t>
            </a:r>
          </a:p>
          <a:p xmlns:a="http://schemas.openxmlformats.org/drawingml/2006/main">
            <a:r>
              <a:t>来源定位：第1、4、6、9—10、13条</a:t>
            </a:r>
          </a:p>
          <a:p xmlns:a="http://schemas.openxmlformats.org/drawingml/2006/main">
            <a:r>
              <a:t>实际取得来源：https://raw.githubusercontent.com/LawRefBook/Laws/5057151c9258a98a35dafc06fecad4867ada81de/%E7%BB%8F%E6%B5%8E%E6%B3%95/%E9%95%BF%E6%B1%9F%E4%BF%9D%E6%8A%A4%E6%B3%95%282020-12-26%29.md</a:t>
            </a:r>
          </a:p>
          <a:p xmlns:a="http://schemas.openxmlformats.org/drawingml/2006/main">
            <a:r>
              <a:t>证据状态：实际读取非官方镜像；所读镜像仅至第79条，完整性不足，不能代替正式完整文本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虚构教学情境，不是对某个真实流域试点的纪实。根据第一百一十一条，生态保护补偿包括财政纵向补偿、地区间横向补偿、市场机制补偿等机制。让学生思考：如果上游承担保护成本、下游获得生态收益，怎样形成持续保护的激励？不能将制度概括为所有保护行为都有固定补贴，也不能虚构补偿金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第一百一十一条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公共河流受污染为引子：损害可能影响很多人，也可能主要表现为生态功能受损，谁能够启动司法保护？本页讲2014年修订法律中社会组织公益诉讼的历史制度，不把它与检察公益诉讼的主体和程序混同。若课堂需要说明授课日如何起诉，应另行核对法典、诉讼法及相关司法解释，而不能直接拿历史条文作操作指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2014年修订《环境保护法》第58条；法典镜像第32条仅作制度衔接线索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[S_EPL2014] 《中华人民共和国环境保护法》2014年修订文本</a:t>
            </a:r>
          </a:p>
          <a:p xmlns:a="http://schemas.openxmlformats.org/drawingml/2006/main">
            <a:r>
              <a:t>日期/版本：2014-04-24修订；2015-01-01施行</a:t>
            </a:r>
          </a:p>
          <a:p xmlns:a="http://schemas.openxmlformats.org/drawingml/2006/main">
            <a:r>
              <a:t>来源定位：第1—6、42、58—60、70条；本模块均按历史制度讲授</a:t>
            </a:r>
          </a:p>
          <a:p xmlns:a="http://schemas.openxmlformats.org/drawingml/2006/main">
            <a:r>
              <a:t>实际取得来源：https://raw.githubusercontent.com/LawRefBook/Laws/5057151c9258a98a35dafc06fecad4867ada81de/%E8%A1%8C%E6%94%BF%E6%B3%95/%E7%8E%AF%E5%A2%83%E4%BF%9D%E6%8A%A4%E6%B3%95%282014-04-24%29.md</a:t>
            </a:r>
          </a:p>
          <a:p xmlns:a="http://schemas.openxmlformats.org/drawingml/2006/main">
            <a:r>
              <a:t>证据状态：实际读取非官方镜像；不可标注为授课日现行法，法典衔接待官方复核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[S_CODE2026] 《中华人民共和国生态环境法典》公开镜像</a:t>
            </a:r>
          </a:p>
          <a:p xmlns:a="http://schemas.openxmlformats.org/drawingml/2006/main">
            <a:r>
              <a:t>日期/版本：2026-03-12通过；第1242条载2026-08-15施行</a:t>
            </a:r>
          </a:p>
          <a:p xmlns:a="http://schemas.openxmlformats.org/drawingml/2006/main">
            <a:r>
              <a:t>来源定位：第1—3、21、23、25、32、35、1242条与五编结构</a:t>
            </a:r>
          </a:p>
          <a:p xmlns:a="http://schemas.openxmlformats.org/drawingml/2006/main">
            <a:r>
              <a:t>实际取得来源：https://raw.githubusercontent.com/LawRefBook/Laws/5057151c9258a98a35dafc06fecad4867ada81de/%E7%94%9F%E6%80%81%E7%8E%AF%E5%A2%83%E6%B3%95/%E7%94%9F%E6%80%81%E7%8E%AF%E5%A2%83%E6%B3%95%E5%85%B8%282026-03-12%29.md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证据状态：实际读取非官方镜像，官方公布、施行及条文尚未完成本次在线核验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生态环境责任理解为交钱了事，也不要反过来说所有受损生态系统都可以完全恢复。本页通过虚构湿地情境，让学生把修复目标、技术方案、效果评估和法律责任连起来。有关主体、因果关系、修复可行性以及费用范围，均须依据事实与法律判断。最终回扣法典意义：使保护目标、行为规则和责任承担形成更清晰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《民法典》第1234—1235条；法典镜像第32、35条作为衔接线索；事实为虚构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[S_CIVIL_TORT] 《中华人民共和国民法典》侵权责任编（公开镜像）</a:t>
            </a:r>
          </a:p>
          <a:p xmlns:a="http://schemas.openxmlformats.org/drawingml/2006/main">
            <a:r>
              <a:t>日期/版本：2020-05-28通过；2021-01-01施行</a:t>
            </a:r>
          </a:p>
          <a:p xmlns:a="http://schemas.openxmlformats.org/drawingml/2006/main">
            <a:r>
              <a:t>来源定位：第一千二百三十四条、第一千二百三十五条</a:t>
            </a:r>
          </a:p>
          <a:p xmlns:a="http://schemas.openxmlformats.org/drawingml/2006/main">
            <a:r>
              <a:t>实际取得来源：https://github.com/LawRefBook/Laws/blob/5057151c9258a98a35dafc06fecad4867ada81de/%E6%B0%91%E6%B3%95%E5%85%B8/%E4%BE%B5%E6%9D%83%E8%B4%A3%E4%BB%BB%E7%BC%96.md</a:t>
            </a:r>
          </a:p>
          <a:p xmlns:a="http://schemas.openxmlformats.org/drawingml/2006/main">
            <a:r>
              <a:t>证据状态：已实际读取公开法律镜像中的生态环境修复及费用条文；官方文本待复核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[S_CODE2026] 《中华人民共和国生态环境法典》公开镜像</a:t>
            </a:r>
          </a:p>
          <a:p xmlns:a="http://schemas.openxmlformats.org/drawingml/2006/main">
            <a:r>
              <a:t>日期/版本：2026-03-12通过；第1242条载2026-08-15施行</a:t>
            </a:r>
          </a:p>
          <a:p xmlns:a="http://schemas.openxmlformats.org/drawingml/2006/main">
            <a:r>
              <a:t>来源定位：第1—3、21、23、25、32、35、1242条与五编结构</a:t>
            </a:r>
          </a:p>
          <a:p xmlns:a="http://schemas.openxmlformats.org/drawingml/2006/main">
            <a:r>
              <a:t>实际取得来源：https://raw.githubusercontent.com/LawRefBook/Laws/5057151c9258a98a35dafc06fecad4867ada81de/%E7%94%9F%E6%80%81%E7%8E%AF%E5%A2%83%E6%B3%95/%E7%94%9F%E6%80%81%E7%8E%AF%E5%A2%83%E6%B3%95%E5%85%B8%282026-03-12%29.md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证据状态：实际读取非官方镜像，官方公布、施行及条文尚未完成本次在线核验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头预防并不等于只做一份报告。空间规划回答项目放在哪里，影响评价回答可能产生什么影响、采取什么措施，后续监测与监管检验措施是否真正落实。本页强调制度之间的关系，不推导“通过评价就可以超标排放”之类错误结论。例子可用学校附近拟建物流园，讨论交通噪声、空气和周边水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第五十九至第六十条、第八十二条及第五章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条河流从上游流向下游，生态影响不会停在行政边界。法典的联合保护协调机制为共同治理提供制度基础。统一并非不考虑地方差异，而是在共同目标下形成协调的规划、标准和信息。用“上游排放、下游取水”的教学情境，分析单个地方独立行动为什么难以解决整个流域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第十八条、第二十至第二十三条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学生注意力从某一种可见的绿化工程引向生态系统功能。例如河岸植被、湿地水文和生物栖息地存在联系，局部景观改善不一定等于系统恢复。本页最后一句是教学概括，强调修复评价应当服务于法定目标和科学方案，不能替代具体标准，也不能否定必要工程的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第二条、第三十五条、第四十二条、第五十九至第六十条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法典第一千零三十二条规定碳排放总量和强度控制制度。总量与强度回答不同问题：强度下降不必然意味着总量下降，因为经济活动规模也会变化。本页只解释概念及制度意义，不提供未经核验的国家目标数值，也不将所有企业的义务一概而论。可以让学生口头比较“单位产品排放下降、产品产量上升”时总排放可能出现的不同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第一千零三十二条及第四编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缴纳罚款不等于取得持续排污的权利，也不当然免除民事责任。生态环境问题可能同时引出不同法律关系，但每种责任都要满足相应条件，遵守法定程序。法典没有规定的民事责任，还要注意与民法典衔接。用一个造成河岸受损的虚构事件，让学生分别提出停止行为、调查取证、赔偿和修复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第五编、第一千零七十条、第一千零七十一条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众参与不是让个人代替行政机关执法，也不等于未经核查就给他人定罪。信息真实、证据可靠和程序规范同样重要。公益诉讼具有法定主体与条件，不能说任何公民都能以同一身份提起环境民事公益诉讼。讨论校园附近夜间异味时，鼓励学生记录时间地点，通过规范渠道反映，而不是凭感觉断言违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第一编第九章“信息公开与公众参与”、第三十二条、第一百三十八条至第一百四十六条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必须在正式定稿前用官方文本复核。不要把2014年环境保护法直接作为2026年授课时的现行法，也不能把法典施行前的全部案件笼统改称适用法典。施行时间、法律事实发生时间和裁判时间是不同概念。涉及时间效力司法解释时要核对正式文件，不凭镜像或新闻标题简化为“新法一律追溯适用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文本开头、第一千二百三十九条、第一千二百四十二条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大意义要通过制度说明，避免只重复宏观口号。法典把目标、主体、程序和责任联系起来，使保护生态环境不只依赖一次行动或个别人的自觉。稳定规则还能够为长期投入、持续监测和责任追究提供依据。这里“稳定”不表示制度永不完善，而是强调依法实施和可预期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第四条、第六至第十条、第一编与第五编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法典中的理念与具体制度联系起来，属于教学分析。不要把本页概括全部放进引号后署名为领导讲话。第四条体现基本理念，第八条涉及发展与保护关系，第三十五条对应一体化修复。让学生将一句理念与一项制度配对，检验其是否真正理解，而不是只会复述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第四条、第八条、第三十五条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体系协调不是宣称所有冲突和执行难题已经一次解决。法典提供制度基础，解释、配套规范和执行能力仍然重要。可以把一条河流的规划、排放、生态修复和损害赔偿写成四个问题，观察共同规则如何让这些问题彼此关联。本页对体系价值的判断，依据五编结构和有关衔接条款作教学归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第十七至第二十四条、第一千零七十条、第一千二百三十九条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环境问题往往通过具体生活体验被感知，例如饮水、夜间安宁和居住环境。法律既要回应这些诉求，也要遵守证据和程序要求。不要从法典中的权利保护目标直接推导出任何争议必然获得赔偿。保护的实际效果，需要规则、执法、司法和公众依法参与共同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第一条、第一编第九章、第二编及第五编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态安全不只是单个污染物是否超标。水资源承载能力、重要栖息地和生态系统稳定性都与长期发展相关。法典的风险协调、重要空间保护与系统治理要求，为国家生态安全提供法治支撑。这里不引入未经来源核对的生态安全排名或经济损失数字，重点解释制度如何面对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第二十二条、第四十一至第四十四条、第五十九至第六十条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绿色转型需要技术、投资和制度共同发挥作用。法律能够明确底线和责任，为长期经营提供预期，但不能保证任何绿色项目立即盈利。本页不作经济收益预测，也不将所有减污措施等同于降碳措施。通过比较不同生产方案，讨论应怎样同时考虑资源使用、污染物排放与全生命周期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第五条、第九条、第三十七条、第四编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同参与不是把法定政府责任转移给公众，也不是要求企业代替行政机关行使职权。不同主体职责不同，但需要信息和行动上的配合。请学生分别提出一项政府应做、企业应做和自己可以做的事，避免把“从我做起”简化成只做个人节约而忽视制度治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第七至第十二条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十四条提供了国内法层面的合作方向。讲解时要区分法典条文、具体国际条约和国际承诺，不能仅凭法典就推断我国承担任何未核验的新义务。可以请学生思考气候变化与生物多样性问题为什么需要国际合作，同时说明国内的法律执行和能力建设是合作的重要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第十四条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法典施行的效果取决于日常工作能否落实。职责必须清楚，监测数据必须可靠，执法要依法依程序，整改要追踪实际结果。不能把法治化简单理解为增加罚款金额，也不能用运动式检查替代持续治理。教师可用一件反复投诉的异味问题，追问从受理、调查、处理到反馈各环节需要什么证据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第十八条、第二十三至第三十条、第七十八条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把公益诉讼与生态环境损害赔偿混为同一程序，也不将行政、民事和刑事责任相互替代。修复需要目标、方案、实施和效果评估，不能只在纸面上约定。历史案件也不能因为后来制定法典而重新贴上“法典首案”的标签，只有经过来源核验的真实案例才可如此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第三十一至第三十三条、第三十五条及第五编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虚构教学情境，不对应真实学校或企业。给学生两分钟讨论，列出证据清单与反映路径。第一百四十三至第一百四十六条涉及公众参与、社会监督、举报及举报人保护等。仅凭异味不能直接认定某家企业违法，依法查明排放、污染与责任需要专业调查。依法举报和监督既要鼓励公众参与，也要尊重证据、程序和个人权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第一百四十三条至第一百四十六条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用一句话解释法典编纂施行的重大意义，并至少举出一项具体制度作为依据。评价不只看是否说出宏观表述，还要看能否把目标、责任和程序联系起来。过渡到下一部分时，只提出需要讨论的形势和任务，不在这里添加尚未核验的“十五五”正式指标或规划条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第一条、第六条、第七至第十条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频尚未选定成片，未取得已核验的下载直链。官方播放页面与媒体接口在本次环境被代理403阻断。因此本页只列课堂选片主题，不把检索入口标作下载地址，也不杜撰片名、发布日期、片长或播放范围。网络权限生效后需补齐选片记录并测试下载、离线播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见下列文献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[VID] 视频素材核验记录</a:t>
            </a:r>
          </a:p>
          <a:p xmlns:a="http://schemas.openxmlformats.org/drawingml/2006/main">
            <a:r>
              <a:t>日期/版本：本次制作期间</a:t>
            </a:r>
          </a:p>
          <a:p xmlns:a="http://schemas.openxmlformats.org/drawingml/2006/main">
            <a:r>
              <a:t>来源定位：央视法典解读、生态环境执法及修复类视频，尚未选定成片</a:t>
            </a:r>
          </a:p>
          <a:p xmlns:a="http://schemas.openxmlformats.org/drawingml/2006/main">
            <a:r>
              <a:t>实际取得来源：</a:t>
            </a:r>
          </a:p>
          <a:p xmlns:a="http://schemas.openxmlformats.org/drawingml/2006/main">
            <a:r>
              <a:t>证据状态：官方视频页与媒体接口均被代理403阻断；无已核验片名、时长或下载直链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后任务检验能否将宏观意义与具体制度相联系。评价重点包括：问题是否具体，条文是否对应，引用是否准确，是否说明了制度发挥作用的条件。不要将条文目的等同于实际效果已经全部实现。涉及案例时注明真实来源，教学情境不得冒充新闻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第二十一条、第一百一十一条、第九百七十四条、第一千零七十五条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教学稿实际读取了LawRefBook/Laws公开法律镜像，固定提交5057151c9258a98a35dafc06fecad4867ada81de。全国人大等官方站点与视频接口受网络策略403阻断，相关最新状态与条文须在正式授课前对照官方文本。原始PPT超过下载上限，本次已依据用户提供的23页PDF重建视觉；不能声称保留原PPT母版或动画。完整参考文献、镜像链接和核验状态见随附内容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【本页对应位置】</a:t>
            </a:r>
          </a:p>
          <a:p xmlns:a="http://schemas.openxmlformats.org/drawingml/2006/main">
            <a:r>
              <a:t>见下列文献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【出处与证据】</a:t>
            </a:r>
          </a:p>
          <a:p xmlns:a="http://schemas.openxmlformats.org/drawingml/2006/main">
            <a:r>
              <a:t>[EC] 《中华人民共和国生态环境法典》（2026年3月12日文本，公开镜像）</a:t>
            </a:r>
          </a:p>
          <a:p xmlns:a="http://schemas.openxmlformats.org/drawingml/2006/main">
            <a:r>
              <a:t>日期/版本：镜像注明2026-03-12通过、2026-08-15施行</a:t>
            </a:r>
          </a:p>
          <a:p xmlns:a="http://schemas.openxmlformats.org/drawingml/2006/main">
            <a:r>
              <a:t>来源定位：按各页所列条号；第一千二百四十二条为施行及废止条款</a:t>
            </a:r>
          </a:p>
          <a:p xmlns:a="http://schemas.openxmlformats.org/drawingml/2006/main">
            <a:r>
              <a:t>实际取得来源：https://github.com/LawRefBook/Laws/blob/5057151c9258a98a35dafc06fecad4867ada81de/%E7%94%9F%E6%80%81%E7%8E%AF%E5%A2%83%E6%B3%95/%E7%94%9F%E6%80%81%E7%8E%AF%E5%A2%83%E6%B3%95%E5%85%B8%282026-03-12%29.md</a:t>
            </a:r>
          </a:p>
          <a:p xmlns:a="http://schemas.openxmlformats.org/drawingml/2006/main">
            <a:r>
              <a:t>证据状态：实际读取公开法律镜像；尚未与全国人大官方文本核对，不作为已完成官方核验的成稿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[S_CONSTITUTION] 《中华人民共和国宪法》汇编文本</a:t>
            </a:r>
          </a:p>
          <a:p xmlns:a="http://schemas.openxmlformats.org/drawingml/2006/main">
            <a:r>
              <a:t>日期/版本：见文件版本</a:t>
            </a:r>
          </a:p>
          <a:p xmlns:a="http://schemas.openxmlformats.org/drawingml/2006/main">
            <a:r>
              <a:t>来源定位：第9、26条；1982年原始版本须另行复核</a:t>
            </a:r>
          </a:p>
          <a:p xmlns:a="http://schemas.openxmlformats.org/drawingml/2006/main">
            <a:r>
              <a:t>实际取得来源：https://raw.githubusercontent.com/LawRefBook/Laws/5057151c9258a98a35dafc06fecad4867ada81de/%E5%AE%AA%E6%B3%95/%E5%AE%AA%E6%B3%95.md</a:t>
            </a:r>
          </a:p>
          <a:p xmlns:a="http://schemas.openxmlformats.org/drawingml/2006/main">
            <a:r>
              <a:t>证据状态：实际读取非官方镜像条文，尚未对照全国人大正式文本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[S_EPL2014] 《中华人民共和国环境保护法》2014年修订文本</a:t>
            </a:r>
          </a:p>
          <a:p xmlns:a="http://schemas.openxmlformats.org/drawingml/2006/main">
            <a:r>
              <a:t>日期/版本：2014-04-24修订；2015-01-01施行</a:t>
            </a:r>
          </a:p>
          <a:p xmlns:a="http://schemas.openxmlformats.org/drawingml/2006/main">
            <a:r>
              <a:t>来源定位：第1—6、42、58—60、70条；本模块均按历史制度讲授</a:t>
            </a:r>
          </a:p>
          <a:p xmlns:a="http://schemas.openxmlformats.org/drawingml/2006/main">
            <a:r>
              <a:t>实际取得来源：https://raw.githubusercontent.com/LawRefBook/Laws/5057151c9258a98a35dafc06fecad4867ada81de/%E8%A1%8C%E6%94%BF%E6%B3%95/%E7%8E%AF%E5%A2%83%E4%BF%9D%E6%8A%A4%E6%B3%95%282014-04-24%29.md</a:t>
            </a:r>
          </a:p>
          <a:p xmlns:a="http://schemas.openxmlformats.org/drawingml/2006/main">
            <a:r>
              <a:t>证据状态：实际读取非官方镜像；不可标注为授课日现行法，法典衔接待官方复核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[S_CIVIL_CODE] 《中华人民共和国民法典》</a:t>
            </a:r>
          </a:p>
          <a:p xmlns:a="http://schemas.openxmlformats.org/drawingml/2006/main">
            <a:r>
              <a:t>日期/版本：2020-05-28通过；2021-01-01施行</a:t>
            </a:r>
          </a:p>
          <a:p xmlns:a="http://schemas.openxmlformats.org/drawingml/2006/main">
            <a:r>
              <a:t>来源定位：第九条</a:t>
            </a:r>
          </a:p>
          <a:p xmlns:a="http://schemas.openxmlformats.org/drawingml/2006/main">
            <a:r>
              <a:t>实际取得来源：https://github.com/LawRefBook/Laws/blob/5057151c9258a98a35dafc06fecad4867ada81de/%E6%B0%91%E6%B3%95%E5%85%B8/%E6%80%BB%E5%88%99.md</a:t>
            </a:r>
          </a:p>
          <a:p xmlns:a="http://schemas.openxmlformats.org/drawingml/2006/main">
            <a:r>
              <a:t>证据状态：已实际读取公开法律镜像中的绿色原则条文；官方文本待复核</a:t>
            </a:r>
          </a:p>
          <a:p xmlns:a="http://schemas.openxmlformats.org/drawingml/2006/main">
            <a:r>
              <a:t>官方检索入口（不是已核验原文链接）：https://www.npc.gov.cn/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[LL] 《中华人民共和国立法法》（2023年修正，公开镜像）</a:t>
            </a:r>
          </a:p>
          <a:p xmlns:a="http://schemas.openxmlformats.org/drawingml/2006/main">
            <a:r>
              <a:t>日期/版本：2023-03-13</a:t>
            </a:r>
          </a:p>
          <a:p xmlns:a="http://schemas.openxmlformats.org/drawingml/2006/main">
            <a:r>
              <a:t>来源定位：第三十九条、第四十条、第七十条</a:t>
            </a:r>
          </a:p>
          <a:p xmlns:a="http://schemas.openxmlformats.org/drawingml/2006/main">
            <a:r>
              <a:t>实际取得来源：https://github.com/LawRefBook/Laws/blob/5057151c9258a98a35dafc06fecad4867ada81de/%E5%AE%AA%E6%B3%95%E7%9B%B8%E5%85%B3%E6%B3%95/%E7%AB%8B%E6%B3%95%E6%B3%95%282023-03-13%29.md</a:t>
            </a:r>
          </a:p>
          <a:p xmlns:a="http://schemas.openxmlformats.org/drawingml/2006/main">
            <a:r>
              <a:t>证据状态：已读取公开法律镜像；尚未完成官方文本核验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[S_CIVIL_TORT] 《中华人民共和国民法典》侵权责任编（公开镜像）</a:t>
            </a:r>
          </a:p>
          <a:p xmlns:a="http://schemas.openxmlformats.org/drawingml/2006/main">
            <a:r>
              <a:t>日期/版本：2020-05-28通过；2021-01-01施行</a:t>
            </a:r>
          </a:p>
          <a:p xmlns:a="http://schemas.openxmlformats.org/drawingml/2006/main">
            <a:r>
              <a:t>来源定位：第一千二百三十四条、第一千二百三十五条</a:t>
            </a:r>
          </a:p>
          <a:p xmlns:a="http://schemas.openxmlformats.org/drawingml/2006/main">
            <a:r>
              <a:t>实际取得来源：https://github.com/LawRefBook/Laws/blob/5057151c9258a98a35dafc06fecad4867ada81de/%E6%B0%91%E6%B3%95%E5%85%B8/%E4%BE%B5%E6%9D%83%E8%B4%A3%E4%BB%BB%E7%BC%96.md</a:t>
            </a:r>
          </a:p>
          <a:p xmlns:a="http://schemas.openxmlformats.org/drawingml/2006/main">
            <a:r>
              <a:t>证据状态：已实际读取公开法律镜像中的生态环境修复及费用条文；官方文本待复核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【素材来源】</a:t>
            </a:r>
          </a:p>
          <a:p xmlns:a="http://schemas.openxmlformats.org/drawingml/2006/main">
            <a:r>
              <a:t>版式与装饰素材来自用户提供的PPT参考PDF，本次仅用于其教学课件。正文为可编辑文本；PDF参考未提供可复用PPT母版。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50c8ab5d145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40ee9afb94e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bb21a35ca40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d374dc6804a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740e2f76849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6b3e251c242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E5E486-ADCC-4746-B64F-CE0F595099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544767-C5C0-42E0-ADE9-07F7625B8E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8B3CDB-5AE2-4EDD-9B9E-18F240E8CB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E486A9-BB8B-47EB-BCD2-E8C48A11AB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8274A8-8992-44AF-8FA2-80314DFA10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AADE58-AB98-4323-8DB1-6E3ED4A0B6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1EA8E4-6696-4874-9C86-6CB1C49664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489AD5-5F86-45B0-B5E5-1828E67799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201743-3A82-403A-B1A7-1355D9A1BA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4B1E6B-E84C-46AF-9EFA-BDB334398D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285f78b4554ed3" /><Relationship Type="http://schemas.openxmlformats.org/officeDocument/2006/relationships/slideLayout" Target="/ppt/slideLayouts/slideLayout1.xml" Id="R3e3735104d44496c" /><Relationship Type="http://schemas.openxmlformats.org/officeDocument/2006/relationships/slideLayout" Target="/ppt/slideLayouts/slideLayout2.xml" Id="R67e34eeae10e4916" /><Relationship Type="http://schemas.openxmlformats.org/officeDocument/2006/relationships/slideLayout" Target="/ppt/slideLayouts/slideLayout3.xml" Id="R59c03ec21a0c4633" /><Relationship Type="http://schemas.openxmlformats.org/officeDocument/2006/relationships/slideLayout" Target="/ppt/slideLayouts/slideLayout4.xml" Id="Rb759fb3cba0b430d" /><Relationship Type="http://schemas.openxmlformats.org/officeDocument/2006/relationships/slideLayout" Target="/ppt/slideLayouts/slideLayout5.xml" Id="R41fae49d90f74f5f" /><Relationship Type="http://schemas.openxmlformats.org/officeDocument/2006/relationships/slideLayout" Target="/ppt/slideLayouts/slideLayout6.xml" Id="R9ae46101ea0d4d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735104d44496c"/>
    <p:sldLayoutId xmlns:r="http://schemas.openxmlformats.org/officeDocument/2006/relationships" id="2147483650" r:id="R67e34eeae10e4916"/>
    <p:sldLayoutId xmlns:r="http://schemas.openxmlformats.org/officeDocument/2006/relationships" id="2147483651" r:id="R59c03ec21a0c4633"/>
    <p:sldLayoutId xmlns:r="http://schemas.openxmlformats.org/officeDocument/2006/relationships" id="2147483652" r:id="Rb759fb3cba0b430d"/>
    <p:sldLayoutId xmlns:r="http://schemas.openxmlformats.org/officeDocument/2006/relationships" id="2147483653" r:id="R41fae49d90f74f5f"/>
    <p:sldLayoutId xmlns:r="http://schemas.openxmlformats.org/officeDocument/2006/relationships" id="2147483654" r:id="R9ae46101ea0d4d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d493f803946b3" /><Relationship Type="http://schemas.openxmlformats.org/officeDocument/2006/relationships/image" Target="/ppt/media/image.png" Id="R5c2f492151024afc" /><Relationship Type="http://schemas.openxmlformats.org/officeDocument/2006/relationships/notesSlide" Target="/ppt/notesSlides/notesSlide1.xml" Id="Rfd1c8de0c64e42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2f1f28bdd4452" /><Relationship Type="http://schemas.openxmlformats.org/officeDocument/2006/relationships/image" Target="/ppt/media/image2.png" Id="Rf23b716071124219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85b7cb21f94c44fb" /><Relationship Type="http://schemas.openxmlformats.org/officeDocument/2006/relationships/notesSlide" Target="/ppt/notesSlides/notesSlide2.xml" Id="Rf656ba10056f41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61e0c00f048e2" /><Relationship Type="http://schemas.openxmlformats.org/officeDocument/2006/relationships/image" Target="/ppt/media/image3.png" Id="R1f7ffc7efd3f4f75" /><Relationship Type="http://schemas.openxmlformats.org/officeDocument/2006/relationships/hyperlink" Target="https://raw.githubusercontent.com/LawRefBook/Laws/5057151c9258a98a35dafc06fecad4867ada81de/%E8%A1%8C%E6%94%BF%E6%B3%95/%E7%8E%AF%E5%A2%83%E4%BF%9D%E6%8A%A4%E6%B3%95%282014-04-24%29.md" TargetMode="External" Id="Rf65e0aa44df545e5" /><Relationship Type="http://schemas.openxmlformats.org/officeDocument/2006/relationships/notesSlide" Target="/ppt/notesSlides/notesSlide3.xml" Id="Rc2bb9d5bb9ed4f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e54657cb74f37" /><Relationship Type="http://schemas.openxmlformats.org/officeDocument/2006/relationships/image" Target="/ppt/media/image4.png" Id="R8ebe7d80b01148d7" /><Relationship Type="http://schemas.openxmlformats.org/officeDocument/2006/relationships/notesSlide" Target="/ppt/notesSlides/notesSlide4.xml" Id="R38011d5190c34c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d5f1a257f42c6" /><Relationship Type="http://schemas.openxmlformats.org/officeDocument/2006/relationships/image" Target="/ppt/media/image5.png" Id="R468922a6c6a24d57" /><Relationship Type="http://schemas.openxmlformats.org/officeDocument/2006/relationships/notesSlide" Target="/ppt/notesSlides/notesSlide5.xml" Id="R530fb800058b4d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87dda357f947c9" /><Relationship Type="http://schemas.openxmlformats.org/officeDocument/2006/relationships/image" Target="/ppt/media/image6.png" Id="R4e73730b006543e8" /><Relationship Type="http://schemas.openxmlformats.org/officeDocument/2006/relationships/hyperlink" Target="https://raw.githubusercontent.com/LawRefBook/Laws/5057151c9258a98a35dafc06fecad4867ada81de/%E5%AE%AA%E6%B3%95/%E5%AE%AA%E6%B3%95.md" TargetMode="External" Id="R0a85d73e9fb84792" /><Relationship Type="http://schemas.openxmlformats.org/officeDocument/2006/relationships/notesSlide" Target="/ppt/notesSlides/notesSlide6.xml" Id="Rf39911a5ec2d45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e709983644178" /><Relationship Type="http://schemas.openxmlformats.org/officeDocument/2006/relationships/image" Target="/ppt/media/image7.png" Id="Rabb7a19a206b4f52" /><Relationship Type="http://schemas.openxmlformats.org/officeDocument/2006/relationships/hyperlink" Target="https://raw.githubusercontent.com/LawRefBook/Laws/5057151c9258a98a35dafc06fecad4867ada81de/%E8%A1%8C%E6%94%BF%E6%B3%95/%E7%8E%AF%E5%A2%83%E4%BF%9D%E6%8A%A4%E6%B3%95%282014-04-24%29.md" TargetMode="External" Id="Rf900e6f60a1e49e1" /><Relationship Type="http://schemas.openxmlformats.org/officeDocument/2006/relationships/notesSlide" Target="/ppt/notesSlides/notesSlide7.xml" Id="R00d18fb3ee3a4b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97d9e320043e5" /><Relationship Type="http://schemas.openxmlformats.org/officeDocument/2006/relationships/image" Target="/ppt/media/image8.png" Id="R818e71e3bf614477" /><Relationship Type="http://schemas.openxmlformats.org/officeDocument/2006/relationships/hyperlink" Target="https://raw.githubusercontent.com/LawRefBook/Laws/5057151c9258a98a35dafc06fecad4867ada81de/%E8%A1%8C%E6%94%BF%E6%B3%95/%E7%8E%AF%E5%A2%83%E4%BF%9D%E6%8A%A4%E6%B3%95%282014-04-24%29.md" TargetMode="External" Id="R56116bd8dbcf4389" /><Relationship Type="http://schemas.openxmlformats.org/officeDocument/2006/relationships/notesSlide" Target="/ppt/notesSlides/notesSlide8.xml" Id="R64c19d35402a43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cc9f2b369451c" /><Relationship Type="http://schemas.openxmlformats.org/officeDocument/2006/relationships/image" Target="/ppt/media/image9.png" Id="R5c30cdc3de964ff3" /><Relationship Type="http://schemas.openxmlformats.org/officeDocument/2006/relationships/hyperlink" Target="https://github.com/LawRefBook/Laws/blob/5057151c9258a98a35dafc06fecad4867ada81de/%E6%B0%91%E6%B3%95%E5%85%B8/%E6%80%BB%E5%88%99.md" TargetMode="External" Id="R00ab94996002442d" /><Relationship Type="http://schemas.openxmlformats.org/officeDocument/2006/relationships/notesSlide" Target="/ppt/notesSlides/notesSlide9.xml" Id="Ra7999f4de5264b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77ec3dbf24763" /><Relationship Type="http://schemas.openxmlformats.org/officeDocument/2006/relationships/image" Target="/ppt/media/image10.png" Id="Ree0366f0ab5242f5" /><Relationship Type="http://schemas.openxmlformats.org/officeDocument/2006/relationships/hyperlink" Target="https://raw.githubusercontent.com/LawRefBook/Laws/5057151c9258a98a35dafc06fecad4867ada81de/%E7%BB%8F%E6%B5%8E%E6%B3%95/%E9%95%BF%E6%B1%9F%E4%BF%9D%E6%8A%A4%E6%B3%95%282020-12-26%29.md" TargetMode="External" Id="R8a004d7dbf6b4424" /><Relationship Type="http://schemas.openxmlformats.org/officeDocument/2006/relationships/notesSlide" Target="/ppt/notesSlides/notesSlide10.xml" Id="R54625b2441234b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d5c224de74f4b" /><Relationship Type="http://schemas.openxmlformats.org/officeDocument/2006/relationships/image" Target="/ppt/media/image11.png" Id="Re51aa33bb0ae493f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40e6769e9b1e4d98" /><Relationship Type="http://schemas.openxmlformats.org/officeDocument/2006/relationships/notesSlide" Target="/ppt/notesSlides/notesSlide11.xml" Id="R9bd7bd24c1d340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8f73d6f2d4d85" /><Relationship Type="http://schemas.openxmlformats.org/officeDocument/2006/relationships/image" Target="/ppt/media/image12.png" Id="R4964cebba88941fd" /><Relationship Type="http://schemas.openxmlformats.org/officeDocument/2006/relationships/hyperlink" Target="https://github.com/LawRefBook/Laws/blob/5057151c9258a98a35dafc06fecad4867ada81de/%E5%AE%AA%E6%B3%95%E7%9B%B8%E5%85%B3%E6%B3%95/%E7%AB%8B%E6%B3%95%E6%B3%95%282023-03-13%29.md" TargetMode="External" Id="R0fa181561f3a42f9" /><Relationship Type="http://schemas.openxmlformats.org/officeDocument/2006/relationships/notesSlide" Target="/ppt/notesSlides/notesSlide12.xml" Id="Rf14c20a43d7440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8bf6922b34597" /><Relationship Type="http://schemas.openxmlformats.org/officeDocument/2006/relationships/image" Target="/ppt/media/image13.png" Id="Rf12267294299425a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06ee45cfca4c4e85" /><Relationship Type="http://schemas.openxmlformats.org/officeDocument/2006/relationships/notesSlide" Target="/ppt/notesSlides/notesSlide13.xml" Id="R176064f8f5e549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054e4f6b7408b" /><Relationship Type="http://schemas.openxmlformats.org/officeDocument/2006/relationships/image" Target="/ppt/media/image14.png" Id="R0859b471a77b4cfa" /><Relationship Type="http://schemas.openxmlformats.org/officeDocument/2006/relationships/hyperlink" Target="https://github.com/LawRefBook/Laws/blob/5057151c9258a98a35dafc06fecad4867ada81de/%E5%AE%AA%E6%B3%95%E7%9B%B8%E5%85%B3%E6%B3%95/%E7%AB%8B%E6%B3%95%E6%B3%95%282023-03-13%29.md" TargetMode="External" Id="R96977b67cdf34d6f" /><Relationship Type="http://schemas.openxmlformats.org/officeDocument/2006/relationships/notesSlide" Target="/ppt/notesSlides/notesSlide14.xml" Id="R3de05c60f24b46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63a8bbfed459e" /><Relationship Type="http://schemas.openxmlformats.org/officeDocument/2006/relationships/image" Target="/ppt/media/image15.png" Id="R67150fa724d54e78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58fac37dfa324545" /><Relationship Type="http://schemas.openxmlformats.org/officeDocument/2006/relationships/notesSlide" Target="/ppt/notesSlides/notesSlide15.xml" Id="R181c2ea9df974f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029ad16574f17" /><Relationship Type="http://schemas.openxmlformats.org/officeDocument/2006/relationships/image" Target="/ppt/media/image16.png" Id="Rf4cca4b8ce004ea1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e88ce432e6644460" /><Relationship Type="http://schemas.openxmlformats.org/officeDocument/2006/relationships/notesSlide" Target="/ppt/notesSlides/notesSlide16.xml" Id="Rd0ef19dc65db42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5621e83a14ac2" /><Relationship Type="http://schemas.openxmlformats.org/officeDocument/2006/relationships/image" Target="/ppt/media/image17.png" Id="R2092cd902dc14214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b07b8ffd68fb4d3c" /><Relationship Type="http://schemas.openxmlformats.org/officeDocument/2006/relationships/notesSlide" Target="/ppt/notesSlides/notesSlide17.xml" Id="Ra2686a7b6de143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e1d5d354eb44f0" /><Relationship Type="http://schemas.openxmlformats.org/officeDocument/2006/relationships/image" Target="/ppt/media/image18.png" Id="R531f03c50f0a4525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e98b05c9faed4e41" /><Relationship Type="http://schemas.openxmlformats.org/officeDocument/2006/relationships/notesSlide" Target="/ppt/notesSlides/notesSlide18.xml" Id="R158de2fde85244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ada2d6f434eea" /><Relationship Type="http://schemas.openxmlformats.org/officeDocument/2006/relationships/image" Target="/ppt/media/image19.png" Id="R1d4c3bddf7c34673" /><Relationship Type="http://schemas.openxmlformats.org/officeDocument/2006/relationships/hyperlink" Target="https://raw.githubusercontent.com/LawRefBook/Laws/5057151c9258a98a35dafc06fecad4867ada81de/%E8%A1%8C%E6%94%BF%E6%B3%95/%E7%8E%AF%E5%A2%83%E4%BF%9D%E6%8A%A4%E6%B3%95%282014-04-24%29.md" TargetMode="External" Id="R3a4bce8c97794324" /><Relationship Type="http://schemas.openxmlformats.org/officeDocument/2006/relationships/notesSlide" Target="/ppt/notesSlides/notesSlide19.xml" Id="Ra2d2433bb5584c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4e1e0372f462b" /><Relationship Type="http://schemas.openxmlformats.org/officeDocument/2006/relationships/image" Target="/ppt/media/image20.png" Id="R8ee45bb685d7429e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396b782ec65947f7" /><Relationship Type="http://schemas.openxmlformats.org/officeDocument/2006/relationships/notesSlide" Target="/ppt/notesSlides/notesSlide20.xml" Id="Rdaaf3d399ca943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81c4e7e604e12" /><Relationship Type="http://schemas.openxmlformats.org/officeDocument/2006/relationships/image" Target="/ppt/media/image21.png" Id="R0b9d969f27dc4c89" /><Relationship Type="http://schemas.openxmlformats.org/officeDocument/2006/relationships/hyperlink" Target="https://raw.githubusercontent.com/LawRefBook/Laws/5057151c9258a98a35dafc06fecad4867ada81de/%E7%BB%8F%E6%B5%8E%E6%B3%95/%E9%95%BF%E6%B1%9F%E4%BF%9D%E6%8A%A4%E6%B3%95%282020-12-26%29.md" TargetMode="External" Id="R0374ff6937774f44" /><Relationship Type="http://schemas.openxmlformats.org/officeDocument/2006/relationships/notesSlide" Target="/ppt/notesSlides/notesSlide21.xml" Id="R8268bc54260a45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5efb8e7ea4625" /><Relationship Type="http://schemas.openxmlformats.org/officeDocument/2006/relationships/image" Target="/ppt/media/image22.png" Id="R5355d1eb4d0e40de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93b85b968e05485d" /><Relationship Type="http://schemas.openxmlformats.org/officeDocument/2006/relationships/notesSlide" Target="/ppt/notesSlides/notesSlide22.xml" Id="R9e4d3a031abe40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9ef49fca14991" /><Relationship Type="http://schemas.openxmlformats.org/officeDocument/2006/relationships/image" Target="/ppt/media/image23.png" Id="R673e35d585184962" /><Relationship Type="http://schemas.openxmlformats.org/officeDocument/2006/relationships/hyperlink" Target="https://raw.githubusercontent.com/LawRefBook/Laws/5057151c9258a98a35dafc06fecad4867ada81de/%E8%A1%8C%E6%94%BF%E6%B3%95/%E7%8E%AF%E5%A2%83%E4%BF%9D%E6%8A%A4%E6%B3%95%282014-04-24%29.md" TargetMode="External" Id="R4cc58a31a7e14964" /><Relationship Type="http://schemas.openxmlformats.org/officeDocument/2006/relationships/notesSlide" Target="/ppt/notesSlides/notesSlide23.xml" Id="R286e3994bb82475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fcccef91044b37" /><Relationship Type="http://schemas.openxmlformats.org/officeDocument/2006/relationships/image" Target="/ppt/media/image24.png" Id="Ra13b4b980bc149da" /><Relationship Type="http://schemas.openxmlformats.org/officeDocument/2006/relationships/hyperlink" Target="https://github.com/LawRefBook/Laws/blob/5057151c9258a98a35dafc06fecad4867ada81de/%E6%B0%91%E6%B3%95%E5%85%B8/%E4%BE%B5%E6%9D%83%E8%B4%A3%E4%BB%BB%E7%BC%96.md" TargetMode="External" Id="R63a9f1731cd1440f" /><Relationship Type="http://schemas.openxmlformats.org/officeDocument/2006/relationships/notesSlide" Target="/ppt/notesSlides/notesSlide24.xml" Id="R1065f47b161e43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a47e7b0714e38" /><Relationship Type="http://schemas.openxmlformats.org/officeDocument/2006/relationships/image" Target="/ppt/media/image25.png" Id="R3066efa31c98409f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30ae719f0a114332" /><Relationship Type="http://schemas.openxmlformats.org/officeDocument/2006/relationships/notesSlide" Target="/ppt/notesSlides/notesSlide25.xml" Id="R9a1fad5b7d4145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046dd5a80b40ef" /><Relationship Type="http://schemas.openxmlformats.org/officeDocument/2006/relationships/image" Target="/ppt/media/image26.png" Id="Rc7be097a984f45e9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294c9634c97d463b" /><Relationship Type="http://schemas.openxmlformats.org/officeDocument/2006/relationships/notesSlide" Target="/ppt/notesSlides/notesSlide26.xml" Id="R80ee8b64ec04464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495facab2400f" /><Relationship Type="http://schemas.openxmlformats.org/officeDocument/2006/relationships/image" Target="/ppt/media/image27.png" Id="R2a285cd049a94f61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f474ab48a415437c" /><Relationship Type="http://schemas.openxmlformats.org/officeDocument/2006/relationships/notesSlide" Target="/ppt/notesSlides/notesSlide27.xml" Id="R7d390641534346d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ab0184ce74cd5" /><Relationship Type="http://schemas.openxmlformats.org/officeDocument/2006/relationships/image" Target="/ppt/media/image28.png" Id="R1080c0edded9475e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fed9f96542f04abd" /><Relationship Type="http://schemas.openxmlformats.org/officeDocument/2006/relationships/notesSlide" Target="/ppt/notesSlides/notesSlide28.xml" Id="R6843514606bb4b9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da0ec39574c85" /><Relationship Type="http://schemas.openxmlformats.org/officeDocument/2006/relationships/image" Target="/ppt/media/image29.png" Id="R3c8f7020b3a94341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76b49e0285b246e1" /><Relationship Type="http://schemas.openxmlformats.org/officeDocument/2006/relationships/notesSlide" Target="/ppt/notesSlides/notesSlide29.xml" Id="R16c8ed67d15a4e6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46979c5d7d47c0" /><Relationship Type="http://schemas.openxmlformats.org/officeDocument/2006/relationships/image" Target="/ppt/media/image30.png" Id="R4b26aebf14614931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5598d01204cd4f68" /><Relationship Type="http://schemas.openxmlformats.org/officeDocument/2006/relationships/notesSlide" Target="/ppt/notesSlides/notesSlide30.xml" Id="R5a46bd951ed74b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75937d14c4cba" /><Relationship Type="http://schemas.openxmlformats.org/officeDocument/2006/relationships/image" Target="/ppt/media/image31.png" Id="R2f20110d97654ddc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6adae03712af40b9" /><Relationship Type="http://schemas.openxmlformats.org/officeDocument/2006/relationships/notesSlide" Target="/ppt/notesSlides/notesSlide31.xml" Id="Rabd47e8cb1a749a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11a2f3c0c40b9" /><Relationship Type="http://schemas.openxmlformats.org/officeDocument/2006/relationships/image" Target="/ppt/media/image32.png" Id="R3c9b58a7d56e43ab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c6b3e6c2e4ab4846" /><Relationship Type="http://schemas.openxmlformats.org/officeDocument/2006/relationships/notesSlide" Target="/ppt/notesSlides/notesSlide32.xml" Id="R14e14e3634c4453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ccd9b6ab74a08" /><Relationship Type="http://schemas.openxmlformats.org/officeDocument/2006/relationships/image" Target="/ppt/media/image33.png" Id="R17e7b97f80c14cee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15fec4026b7f4442" /><Relationship Type="http://schemas.openxmlformats.org/officeDocument/2006/relationships/notesSlide" Target="/ppt/notesSlides/notesSlide33.xml" Id="R30ed35c169784a4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145f5272c54fb7" /><Relationship Type="http://schemas.openxmlformats.org/officeDocument/2006/relationships/image" Target="/ppt/media/image34.png" Id="R34a7fc8b712746a7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674379541e064dc7" /><Relationship Type="http://schemas.openxmlformats.org/officeDocument/2006/relationships/notesSlide" Target="/ppt/notesSlides/notesSlide34.xml" Id="Rc5908cc5e427485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e21bd6fee4a34" /><Relationship Type="http://schemas.openxmlformats.org/officeDocument/2006/relationships/image" Target="/ppt/media/image35.png" Id="R02fcfc8744ce43e7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d04cb87b534a4f9e" /><Relationship Type="http://schemas.openxmlformats.org/officeDocument/2006/relationships/notesSlide" Target="/ppt/notesSlides/notesSlide35.xml" Id="Ra9708a874b48411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298f65cb64528" /><Relationship Type="http://schemas.openxmlformats.org/officeDocument/2006/relationships/image" Target="/ppt/media/image36.png" Id="R0c96d1465b8f4cff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8a215949918e4fcb" /><Relationship Type="http://schemas.openxmlformats.org/officeDocument/2006/relationships/notesSlide" Target="/ppt/notesSlides/notesSlide36.xml" Id="Rc001300375084fa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b12669fe54f8e" /><Relationship Type="http://schemas.openxmlformats.org/officeDocument/2006/relationships/image" Target="/ppt/media/image37.png" Id="Rb55c27a103e3405c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524029d871154640" /><Relationship Type="http://schemas.openxmlformats.org/officeDocument/2006/relationships/notesSlide" Target="/ppt/notesSlides/notesSlide37.xml" Id="R6947286b9b65459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21c5441dc147a4" /><Relationship Type="http://schemas.openxmlformats.org/officeDocument/2006/relationships/image" Target="/ppt/media/image38.png" Id="Rf7907d0aa2224544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155f87741e9f4d36" /><Relationship Type="http://schemas.openxmlformats.org/officeDocument/2006/relationships/notesSlide" Target="/ppt/notesSlides/notesSlide38.xml" Id="Rb84ca73392fd4e6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1bd28eb1c646e7" /><Relationship Type="http://schemas.openxmlformats.org/officeDocument/2006/relationships/image" Target="/ppt/media/image39.png" Id="Rc854fdd29bb94a56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05d191ba84274554" /><Relationship Type="http://schemas.openxmlformats.org/officeDocument/2006/relationships/notesSlide" Target="/ppt/notesSlides/notesSlide39.xml" Id="Rb8aa5037682247d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78a2140474411" /><Relationship Type="http://schemas.openxmlformats.org/officeDocument/2006/relationships/image" Target="/ppt/media/image40.png" Id="Rf3a0594cb6bd410e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ae3d273b0c4f4946" /><Relationship Type="http://schemas.openxmlformats.org/officeDocument/2006/relationships/notesSlide" Target="/ppt/notesSlides/notesSlide40.xml" Id="Ra0e27e0bafe7481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340f69a72a4388" /><Relationship Type="http://schemas.openxmlformats.org/officeDocument/2006/relationships/image" Target="/ppt/media/image41.png" Id="Rdfcf2631a0484780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be64574b1b374dd2" /><Relationship Type="http://schemas.openxmlformats.org/officeDocument/2006/relationships/notesSlide" Target="/ppt/notesSlides/notesSlide41.xml" Id="R7c4404f9bc534d3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3698e1d3e4ef1" /><Relationship Type="http://schemas.openxmlformats.org/officeDocument/2006/relationships/image" Target="/ppt/media/image42.png" Id="Ra20777c0ef6346a6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91b422354cf147e8" /><Relationship Type="http://schemas.openxmlformats.org/officeDocument/2006/relationships/notesSlide" Target="/ppt/notesSlides/notesSlide42.xml" Id="R5b2b4f73f6f9481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f2ee59d8f4d35" /><Relationship Type="http://schemas.openxmlformats.org/officeDocument/2006/relationships/image" Target="/ppt/media/image43.png" Id="R1ccd464a660b4584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971462cd3d274146" /><Relationship Type="http://schemas.openxmlformats.org/officeDocument/2006/relationships/notesSlide" Target="/ppt/notesSlides/notesSlide43.xml" Id="Rf66363b5bff44c8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1248db4694faf" /><Relationship Type="http://schemas.openxmlformats.org/officeDocument/2006/relationships/image" Target="/ppt/media/image44.png" Id="Rf23669c8adcb448a" /><Relationship Type="http://schemas.openxmlformats.org/officeDocument/2006/relationships/notesSlide" Target="/ppt/notesSlides/notesSlide44.xml" Id="R831c5fc30012484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754e7eb80444e8" /><Relationship Type="http://schemas.openxmlformats.org/officeDocument/2006/relationships/image" Target="/ppt/media/image45.png" Id="R7dcf30d9ef4744e3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4e9f8353782f42f1" /><Relationship Type="http://schemas.openxmlformats.org/officeDocument/2006/relationships/notesSlide" Target="/ppt/notesSlides/notesSlide45.xml" Id="R3f59d579f2b3418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422a5184e4e94" /><Relationship Type="http://schemas.openxmlformats.org/officeDocument/2006/relationships/image" Target="/ppt/media/image46.png" Id="R7379158ee3cc4ef4" /><Relationship Type="http://schemas.openxmlformats.org/officeDocument/2006/relationships/hyperlink" Target="https://github.com/LawRefBook/Laws/blob/5057151c9258a98a35dafc06fecad4867ada81de/%E7%94%9F%E6%80%81%E7%8E%AF%E5%A2%83%E6%B3%95/%E7%94%9F%E6%80%81%E7%8E%AF%E5%A2%83%E6%B3%95%E5%85%B8%282026-03-12%29.md" TargetMode="External" Id="R048814616e4d4f0c" /><Relationship Type="http://schemas.openxmlformats.org/officeDocument/2006/relationships/notesSlide" Target="/ppt/notesSlides/notesSlide46.xml" Id="Rcf9054c23ad748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DE7E7-EC93-4AC4-9179-9A179DC9B5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f492151024af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rt-number">
            <a:extLst xmlns:a="http://schemas.openxmlformats.org/drawingml/2006/main">
              <a:ext uri="{FF2B5EF4-FFF2-40B4-BE49-F238E27FC236}">
                <a16:creationId xmlns:a16="http://schemas.microsoft.com/office/drawing/2014/main" id="{6718A5F8-BD4B-4ACD-A873-7E5FAAC1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61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ctr">
              <a:defRPr sz="61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61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第二部分</a:t>
            </a:r>
          </a:p>
        </p:txBody>
      </p:sp>
      <p:sp>
        <p:nvSpPr>
          <p:cNvPr id="3" name="chapter-title">
            <a:extLst xmlns:a="http://schemas.openxmlformats.org/drawingml/2006/main">
              <a:ext uri="{FF2B5EF4-FFF2-40B4-BE49-F238E27FC236}">
                <a16:creationId xmlns:a16="http://schemas.microsoft.com/office/drawing/2014/main" id="{FF1E714F-DCE6-412E-9E42-E1F71EA1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0425"/>
            <a:ext cx="1024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充分认识编纂施行生态环境法典的重大意义</a:t>
            </a:r>
          </a:p>
        </p:txBody>
      </p:sp>
      <p:sp>
        <p:nvSpPr>
          <p:cNvPr id="4" name="edition-note">
            <a:extLst xmlns:a="http://schemas.openxmlformats.org/drawingml/2006/main">
              <a:ext uri="{FF2B5EF4-FFF2-40B4-BE49-F238E27FC236}">
                <a16:creationId xmlns:a16="http://schemas.microsoft.com/office/drawing/2014/main" id="{98266C0F-0CB6-4090-A69C-1C8310A5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9602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教学稿 · 46页</a:t>
            </a:r>
          </a:p>
        </p:txBody>
      </p:sp>
    </p:spTree>
    <p:extLst>
      <p:ext uri="{BB962C8B-B14F-4D97-AF65-F5344CB8AC3E}">
        <p14:creationId xmlns:p14="http://schemas.microsoft.com/office/powerpoint/2010/main" val="1928183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B6ED1-714F-4A63-9763-1EBAA85A0C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b71607112421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DEB2E7CD-A676-4DA0-B10B-62D1BB69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EA227BFC-E6E0-41A0-8B66-A4BFC2F7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683C0A67-2574-445C-8052-12C01699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学习任务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4D9F3132-B0F6-4907-AE6F-AEC84BAE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016DB756-6CC8-47DE-AB64-D900D113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围绕五个问题理解生态环境法典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E43CBCFE-31A6-4FE6-89D0-28482C3E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从知识掌握到情境判断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C6C0A0D-A5EC-4F1B-B437-CE8A4B57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85b7cb21f94c44fb"/>
              </a:rPr>
              <a:t>出处：《生态环境法典》 第一条、第四至第十条（据公开镜像，待官方复核）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C756EA-9396-4BFE-A1FE-4039C0C2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1BA587B4-2B9D-486D-B3BD-4BC57389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7D93C1B7-2301-4636-AD4D-58C6D116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为什么生态环境保护需要走向法典化？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8C38A002-4FB3-4A32-9C51-D30C290C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F2B97BE4-1BA7-4C4A-AC18-EF484E2D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813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已有法律怎样形成共同规则和清晰分工？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93C2BA32-9998-4B5B-A81F-B95AC265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DB557921-E625-479C-81E3-9A630EA9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052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典型环境问题暴露了哪些治理难点？</a:t>
            </a:r>
          </a:p>
        </p:txBody>
      </p:sp>
      <p:sp>
        <p:nvSpPr>
          <p:cNvPr id="16" name="item-index-3">
            <a:extLst xmlns:a="http://schemas.openxmlformats.org/drawingml/2006/main">
              <a:ext uri="{FF2B5EF4-FFF2-40B4-BE49-F238E27FC236}">
                <a16:creationId xmlns:a16="http://schemas.microsoft.com/office/drawing/2014/main" id="{88E8A977-8978-4982-B337-DBEA88CA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④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B22D5B27-5FF1-4183-9E03-24C7734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291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法典为人民、发展和生态安全提供什么保障？</a:t>
            </a:r>
          </a:p>
        </p:txBody>
      </p:sp>
      <p:sp>
        <p:nvSpPr>
          <p:cNvPr id="18" name="item-index-4">
            <a:extLst xmlns:a="http://schemas.openxmlformats.org/drawingml/2006/main">
              <a:ext uri="{FF2B5EF4-FFF2-40B4-BE49-F238E27FC236}">
                <a16:creationId xmlns:a16="http://schemas.microsoft.com/office/drawing/2014/main" id="{B3E104F8-CD28-4B99-99BB-262D5E98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⑤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EBCBE0EE-D43D-43D8-AED3-73D60250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3530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政府、企业与公众如何让规则落地？</a:t>
            </a:r>
          </a:p>
        </p:txBody>
      </p:sp>
    </p:spTree>
    <p:extLst>
      <p:ext uri="{BB962C8B-B14F-4D97-AF65-F5344CB8AC3E}">
        <p14:creationId xmlns:p14="http://schemas.microsoft.com/office/powerpoint/2010/main" val="1126568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8A5C8-E62F-4280-B762-8BC0BA77B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ffc7efd3f4f7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DC75EF6F-385F-4DC2-8A5B-AAE7130E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884063C2-081C-456E-B02F-7F4CBB1C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24E294F2-A1D2-4ADC-802C-32781D0D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一、我国生态环境法治的历史演进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FE8C26B9-871B-401A-ACA9-C69431FD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44BF6D3E-B9CB-4E18-8FCE-E008D9D4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资源保护、环境立法与法典编纂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D816EF70-8713-4976-97B4-A007652D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1.1 先分清三个概念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4764197-42EC-414A-95D1-FDC349E3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f65e0aa44df545e5"/>
              </a:rPr>
              <a:t>概括依据：历史《环境保护法》第1—2条、《生态环境法典》第1—3条（公开镜像）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C5AA8A-9A98-46A8-92C9-EC2FCC5F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86043F5A-BC96-48F3-AA7F-50EFC916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F67498E0-AEDE-463E-9865-4EC0FC22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近现代早期的资源保护规定，不能直接等同于今天的综合性生态环境法典。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B8E53D19-39E3-4876-91F1-3A8F93F5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CFFE8AEE-62D3-4C5F-A806-85D938DE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环境立法：围绕污染防治、生态保护等领域形成具体法律制度。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32D2E154-F736-4FDE-BA40-C58EFD1D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A997B0EB-AD3E-4F2A-9F79-EEA4187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法典编纂：在既有立法基础上，统筹共同规则、制度接口与法律责任。</a:t>
            </a:r>
          </a:p>
        </p:txBody>
      </p:sp>
    </p:spTree>
    <p:extLst>
      <p:ext uri="{BB962C8B-B14F-4D97-AF65-F5344CB8AC3E}">
        <p14:creationId xmlns:p14="http://schemas.microsoft.com/office/powerpoint/2010/main" val="2016026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5553A-5FAA-41CA-9D6E-E53B10FA81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e7d80b01148d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9F6DF822-6D5E-4E2F-819A-9B5D6A4B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8DC89DF2-6005-46EE-A5AF-C5BC5148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6C63231A-FA2D-48E8-ADDB-177963D7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一、我国生态环境法治的历史演进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31B3D387-4BEA-411C-BA02-EAB9AA2F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6A722458-933E-409A-867C-9401B8E8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环境问题进入全国性治理议程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8C773A44-BF38-49A6-9F3D-5AE081CB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1.2 1973年的重要起点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5A96100-3C47-489F-BE09-3C9AC101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rPr>
              <a:t>出处：第一次全国环境保护会议及《关于保护和改善环境的若干规定（试行草…；定位及版本见备注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FADF3E-A5B5-4541-A5A6-13D543B8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382CC123-F403-42EE-9711-71781750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DA8DD06B-745F-45BA-A57E-09857AF6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1973年召开第一次全国环境保护会议，是理解我国环境保护事业起步的重要节点。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16F24C5D-C163-49EC-816F-67AC5835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912FCD6E-DAA4-4348-8A68-5C16D906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会议形成《关于保护和改善环境的若干规定（试行草案）》。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88CDF400-19DD-4982-B74D-DEC71C57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2DD219C4-4DF4-46AF-9853-5844B6A0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教学关注：环境问题由个别现象进入全国性政策讨论，为后续制度建设积累经验。</a:t>
            </a:r>
          </a:p>
        </p:txBody>
      </p:sp>
    </p:spTree>
    <p:extLst>
      <p:ext uri="{BB962C8B-B14F-4D97-AF65-F5344CB8AC3E}">
        <p14:creationId xmlns:p14="http://schemas.microsoft.com/office/powerpoint/2010/main" val="8119122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85C13-154E-44B2-B862-D30775F6CD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922a6c6a24d5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7D98BF73-E367-4EF3-B32A-B08D8151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86112684-3E43-4953-818A-9B3A99DD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3977D24-0847-48E4-849E-6DB9BEE6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一、我国生态环境法治的历史演进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BEA3B826-E375-44F3-9CDA-81B7A3A4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2F5D2B2-BDC5-405F-928A-EABCCF91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从试行法律走向稳定法律框架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184A395F-5DD7-4BC6-840B-6A329FC7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1.3 1979—1989年的法律化探索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8F961B0-6B27-437F-96BF-54510638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rPr>
              <a:t>出处：《中华人民共和国环境保护法（试行）》；定位及版本见备注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A688D9-53A3-402A-A690-9E9C7B82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F6450EA2-49DA-4BF7-8E22-9463B85C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70DA4F65-CFC6-4331-AD51-777C76F7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1979年通过《中华人民共和国环境保护法（试行）》，以法律形式回应环境保护需要。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B3AF52DF-8E3A-46BE-B3BA-96C20F67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3B2968A2-A6E8-4006-BD1A-E7F69BD2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1989年通过《中华人民共和国环境保护法》，相关制度在探索中进一步发展。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E9023B04-FCF8-4E1D-B325-F4D844C6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FDB12798-D687-4E68-8574-5E8112CF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这段历程表明：环境保护逐步由政策倡导转向具有法定责任的治理。</a:t>
            </a:r>
          </a:p>
        </p:txBody>
      </p:sp>
    </p:spTree>
    <p:extLst>
      <p:ext uri="{BB962C8B-B14F-4D97-AF65-F5344CB8AC3E}">
        <p14:creationId xmlns:p14="http://schemas.microsoft.com/office/powerpoint/2010/main" val="13748508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41045-BF89-4892-9AC8-B7FDD288FB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3730b006543e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0A640CE9-9906-4178-979F-28A43346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432E5E58-D1BF-4AA8-856F-726B8CA7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A7C753E2-D182-4387-BE67-D74AC9CA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一、我国生态环境法治的历史演进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A1D8D1BE-888C-461E-B2F6-5B6C4F80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BBADE9A3-AB92-40EA-BEBB-BA01231C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宪法为环境保护提供根本依据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71413785-5E93-4D3C-8CDA-97D032D5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2.1 环境保护的宪法基础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A18C117-2B5F-4273-A796-F11698B1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a85d73e9fb84792"/>
              </a:rPr>
              <a:t>出处：《中华人民共和国宪法》汇编文本；定位及版本见备注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5715BE0-F3D1-4120-9F93-7B6F8A48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0F02FADA-91F0-457B-9C0D-EE0D8DA1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E134EF12-4C1D-48C7-B432-1E044B81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1982年宪法确立的环境保护规定，为后续环境立法提供重要宪法基础。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EBD79D91-AD54-4ED8-8108-60A62AC4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5C720D1B-D73E-4CA2-99FA-22184CEF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第二十六条涉及保护和改善生活环境、生态环境以及防治污染和其他公害。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62B790B5-EBA3-467B-BD1C-445BDD93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067D450D-27C5-4C99-A97E-6F359C81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第九条涉及自然资源合理利用及珍贵动植物保护，体现资源与环境保护的联系。</a:t>
            </a:r>
          </a:p>
        </p:txBody>
      </p:sp>
    </p:spTree>
    <p:extLst>
      <p:ext uri="{BB962C8B-B14F-4D97-AF65-F5344CB8AC3E}">
        <p14:creationId xmlns:p14="http://schemas.microsoft.com/office/powerpoint/2010/main" val="26769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1CA76-6BC7-4D10-8557-C5C525F4A1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7a19a206b4f5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C852CBED-6101-4738-8D24-2B4E6D92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8D1535CA-62B1-4A28-B90F-4AA7E75A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CCABED0-09A5-4334-ACB0-611451FB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一、我国生态环境法治的历史演进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98A07CF3-5EEC-40A6-9FBD-90A5907C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9FD99C2D-DE83-4224-B328-D15D3A32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专门立法解决具体问题，也提出协同要求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68F60636-1391-4384-8752-2C6B2012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2.2 分领域立法的积累与协调需求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E9698B3-9844-4A5E-A25D-F657E895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f900e6f60a1e49e1"/>
              </a:rPr>
              <a:t>概括依据：历史《环境保护法》第2条、法典第1242条及五编结构（公开镜像）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37D27E-45B1-4582-8FD8-ED9834CB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2D998E83-01CF-4633-9519-18D62633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8647273C-3B2E-4D3E-9FF4-B06CECD0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污染防治：围绕大气、水、土壤、固体废物等形成专门法律制度。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2C8A4921-9204-4B09-AD6C-6DA4E86F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636BCCCE-D7AE-4AC2-8642-EB1C3F5C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生态保护：自然资源、野生动植物和重要生态空间保护不断进入法治轨道。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AC702F80-7C1A-4A52-9111-D083B119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110BD6C5-6D3F-43F4-A93A-08FDE3AF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问题随之出现：污染跨介质转移、生态系统相互联系，需要更顺畅的制度衔接。</a:t>
            </a:r>
          </a:p>
        </p:txBody>
      </p:sp>
    </p:spTree>
    <p:extLst>
      <p:ext uri="{BB962C8B-B14F-4D97-AF65-F5344CB8AC3E}">
        <p14:creationId xmlns:p14="http://schemas.microsoft.com/office/powerpoint/2010/main" val="5538237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F59E9-8FDC-457F-9AD0-BCA4C28CBE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e71e3bf61447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85DE2C01-4781-438E-BF2D-AC9E896B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D9629E32-1ACB-48E2-BB4A-F1D66719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40E8BCE3-B3D9-451F-9581-C63CC4B1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一、我国生态环境法治的历史演进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6FA92DAB-C534-4325-8BA9-E49A0DFC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789D8122-931B-4DCD-9270-668D5CCE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法律实施需要可操作的责任机制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9733A3F1-54B7-4C47-9387-85050B4B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2.3 2014年修法的制度强化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D76AA86-C726-4080-A02E-76BBB303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6116bd8dbcf4389"/>
              </a:rPr>
              <a:t>历史制度出处：2014年修订《环境保护法》第五十八条、第五十九条；法典衔接见备注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602E0B-AA46-44FC-9A58-CAEBE16C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CE187685-75F7-4031-8912-EDC93641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AFA0B509-109A-4DFE-A613-17A0540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2014年修订、2015年施行的《环境保护法》，对多项环境治理制度作出规定。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C297E88A-189E-4368-8599-7538F63B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9466E616-AFA5-4858-984A-B498A8A0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第五十九条设置按日连续处罚机制，针对符合条件、被责令改正仍拒不改正的行为。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23CE2BE6-8276-4FCA-9DE6-2528F9CD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5A22D4AB-4768-42D3-9F40-1557CA13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第五十八条规定符合条件的社会组织可以提起环境公益诉讼。此页按历史版本讲授。</a:t>
            </a:r>
          </a:p>
        </p:txBody>
      </p:sp>
    </p:spTree>
    <p:extLst>
      <p:ext uri="{BB962C8B-B14F-4D97-AF65-F5344CB8AC3E}">
        <p14:creationId xmlns:p14="http://schemas.microsoft.com/office/powerpoint/2010/main" val="1069232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511D3-C5D6-4C05-90D5-85C63518B9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0cdc3de964ff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B825A4CC-E60C-4EF9-98C5-DAF77F8C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A7E7F407-4859-4EB2-874D-B331A8F3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AF6854BF-7043-4C7C-A806-DD91EB64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一、我国生态环境法治的历史演进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5C8ED6BE-BBCA-4F3B-BC71-5902456E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DB18D68-8BF8-40FF-B038-96A8031F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生态环境保护进入民事活动规则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46B6C826-BB86-46AE-906F-DD009AA7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3.1 民法典的绿色表达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2D62708-DC3D-424C-B282-D587C709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0ab94996002442d"/>
              </a:rPr>
              <a:t>出处：《中华人民共和国民法典》；定位及版本见备注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260BF3-C768-4127-9960-E0BC6168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C73CF4AA-87AE-43AF-9E0C-DA9FAD67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73ECB824-7688-4BB6-8737-6EA04AF2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2020年通过、2021年施行的《民法典》，在第九条规定绿色原则。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D6F822EA-5BE4-43B1-89C1-F191488B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F1630C58-26F8-48A2-9D96-353CEC0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第一千二百三十四条涉及生态环境修复；第一千二百三十五条涉及有关损失和费用。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B63A4A7B-46D3-47CA-A861-AD9A7430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FBD71352-EC30-4442-804F-EEF8F85A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教学理解：生态环境保护既需要公共监管，也需要民事责任与救济规则发挥作用。</a:t>
            </a:r>
          </a:p>
        </p:txBody>
      </p:sp>
    </p:spTree>
    <p:extLst>
      <p:ext uri="{BB962C8B-B14F-4D97-AF65-F5344CB8AC3E}">
        <p14:creationId xmlns:p14="http://schemas.microsoft.com/office/powerpoint/2010/main" val="3124142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41C9C-44A1-4692-8322-689FE3C772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366f0ab5242f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FBDB8600-D7C4-4755-9070-0588110D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7D80B85A-5ACB-4F9C-A25E-D707BBB0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4BA5534-C4B1-448E-9A03-D415396D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一、我国生态环境法治的历史演进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2364C388-E3D1-48D6-8315-1537FCFC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07F3B643-C50A-4C36-B6C2-7D555D2A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长江保护法体现跨区域统筹思路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71102729-C43E-4AB3-B56F-C594F76B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3.2 流域视角的制度探索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AB9C4BF-E379-4370-9C1D-0B6B9325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8a004d7dbf6b4424"/>
              </a:rPr>
              <a:t>出处：《中华人民共和国长江保护法》；定位及版本见备注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831F20-3D88-4DEE-AD94-D3281ACF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7337F0BF-9C7A-4758-85C9-98405D0D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72A0BA63-EF63-43C6-914E-ED0666A6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2020年制定的《长江保护法》，从流域整体出发安排生态环境保护和修复。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7BB71921-C649-4C94-9E24-DC54C84C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817C5952-E06E-4BE6-8617-03390C7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第四条规定长江流域协调机制；第六条涉及相关地方的协作机制。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908C3C00-25FC-4DE7-9F1D-2692FC6D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CEB9A362-29AC-46F4-91E7-25FFBDE0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这类制度经验有助于理解法典化的治理需求：让部门分工与生态系统整体性更好衔接。</a:t>
            </a:r>
          </a:p>
        </p:txBody>
      </p:sp>
    </p:spTree>
    <p:extLst>
      <p:ext uri="{BB962C8B-B14F-4D97-AF65-F5344CB8AC3E}">
        <p14:creationId xmlns:p14="http://schemas.microsoft.com/office/powerpoint/2010/main" val="942364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6E58D-95C1-4373-9BD7-1DEA5A2077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aa33bb0ae493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54D5AB49-DE64-477E-AE6B-0FBB5B50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6B583BB0-2C64-48EA-A09D-7B038E1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1D8CE4E-75DB-4202-B74D-32DAED5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一、历史演进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833C8AAA-B21C-45BE-A855-F4CC92A5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E128C4F5-79A5-4146-A1F4-F63E15FE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从分领域立法走向系统治理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5F9C39ED-E2B4-4A34-A4AF-3FA02C3C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（三）法典化的条件逐步成熟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D710FB4-9DB7-4535-9B2E-CE5C5EFC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40e6769e9b1e4d98"/>
              </a:rPr>
              <a:t>出处：《生态环境法典》 第二条、第六条、第十七至第二十四条、第一千二百四十二条（据公开镜像，待官方复核）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8CE5CB-7143-42D9-A10C-DAE33546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FB1B79D3-264B-4F60-8F00-CD2FE6A4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583E00A5-492D-44CC-96F5-C75095B3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已有制度基础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7235AE72-2675-44F6-B71D-93829D8A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历史积累：污染防治、资源保护等领域形成法律制度。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748A5D04-BEA4-48B5-93A7-C3BCEB9A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实践发展：跨区域污染、生态修复与绿色转型提出综合治理要求。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DADDF1D9-B083-44F2-A8F3-186A4233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173A77A4-D4F9-4E6E-A16A-2E062C6B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法典化的要求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81B2BEE1-D69E-421B-A5D6-39263BE2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法典任务：提炼共同规则，衔接专门制度，减少适用中的不协调。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5C2A86F9-BF12-4CBC-8396-E2B86C59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观察重点：从“解决一种污染”拓展到“维护生态系统整体功能”。</a:t>
            </a:r>
          </a:p>
        </p:txBody>
      </p:sp>
    </p:spTree>
    <p:extLst>
      <p:ext uri="{BB962C8B-B14F-4D97-AF65-F5344CB8AC3E}">
        <p14:creationId xmlns:p14="http://schemas.microsoft.com/office/powerpoint/2010/main" val="434962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FEFB1-D39A-4B0C-839C-3CB8165F9D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4cebba88941f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6E6DE3C8-1433-4EC6-9CEC-F3204C3B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547AC7B5-8B02-49AA-87A1-2691DE5F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AD88543B-34F0-453E-B9B5-A9EE8862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二、编纂逻辑与法典结构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76C8530E-6EB8-4226-918C-FB55F4FC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64A5ADF8-E749-407A-87D8-F9EF0FF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编纂是一项持续推进的立法工程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2756971A-688A-4E22-9AB9-E6811A07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（一）从立法部署到施行准备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B0B6EA7-6317-4E6C-A7D6-B7AA2A79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fa181561f3a42f9"/>
              </a:rPr>
              <a:t>过程框架据《立法法》第39—40条；通过与施行日期据法典镜像，待官方复核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9736E0-CD6A-4876-AF63-373BF82A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AF89D-F22A-4F68-8D9F-D4E6D932C47C}"/>
              </a:ext>
            </a:extLst>
          </p:cNvPr>
          <p:cNvGraphicFramePr/>
          <p:nvPr/>
        </p:nvGraphicFramePr>
        <p:xfrm>
          <a:off xmlns:a="http://schemas.openxmlformats.org/drawingml/2006/main" x="552450" y="2533650"/>
          <a:ext xmlns:a="http://schemas.openxmlformats.org/drawingml/2006/main" cx="110490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8382000"/>
              </a:tblGrid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T w="7620">
                      <a:solidFill>
                        <a:srgbClr val="A5C9A5"/>
                      </a:solidFill>
                      <a:prstDash val="solid"/>
                    </a:lnT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328628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主要任务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T w="7620">
                      <a:solidFill>
                        <a:srgbClr val="A5C9A5"/>
                      </a:solidFill>
                      <a:prstDash val="solid"/>
                    </a:lnT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328628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立法部署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明确编纂目标和工作安排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调研与审议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梳理实践问题，研究体例和制度衔接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征求意见与修改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依照法定程序听取意见、完善规则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通过与施行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2026.03.12通过、2026.08.15施行（镜像载）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1131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4BFAE-6555-48A1-8103-722FB6148B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267294299425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277B5B4F-2660-4935-AECE-C4AD391B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448AC57C-DDF4-4D3B-A3A1-A26886F9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BB2EB3E-7473-4FD9-A95D-3251A326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二、编纂逻辑与法典结构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340A94AE-348E-4336-96E6-F4A80498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963E9BEA-11A6-4D56-B792-F73A9DC9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编纂要解决哪些具体问题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26EE7D9D-C67B-4B7F-B1C5-3E7A14B7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（一）把治理难题转化为立法问题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8B6DC68-B28B-4770-896F-518E3CE4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6ee45cfca4c4e85"/>
              </a:rPr>
              <a:t>出处：《生态环境法典》 第二十一条、第二十四条、第四章至第六章、第四编（据公开镜像，待官方复核）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EE87B6-9A8C-4A57-A8A7-80183976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2670CF24-0ABE-47AD-A67C-DB3B56D6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32ED3BD9-CF11-44A7-AF2F-25E3C1C4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共同规则与协同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3034F318-5168-4827-A498-130F7808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共同规则：不同领域如何使用一致的原则和基础制度？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802A80D1-9A9A-4C60-BAB5-EEED763A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协同治理：一条河流穿过多个行政区域时，如何共同保护？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341A0425-D16C-4BA8-9170-BDC4B54F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C1501236-B927-4002-A56B-D105BBE8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衔接与发展变化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699B695E-97DD-46A4-A9B5-DDF2B6D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制度衔接：规划、评价、监测、执法和责任如何相互配合？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FA36B37E-93DE-4323-8AFB-D71FB4DF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发展变化：绿色低碳要求怎样进入法治框架？</a:t>
            </a:r>
          </a:p>
        </p:txBody>
      </p:sp>
    </p:spTree>
    <p:extLst>
      <p:ext uri="{BB962C8B-B14F-4D97-AF65-F5344CB8AC3E}">
        <p14:creationId xmlns:p14="http://schemas.microsoft.com/office/powerpoint/2010/main" val="8310434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E0D97-DE99-4800-83A5-BE02ADAB5B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9b471a77b4cf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99B6249E-3EA9-4EFC-BAD8-E7C2C085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59E96F1F-4706-4047-98A8-6040FB34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25434F5D-FEB4-4D2E-8252-79B35465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二、编纂逻辑与法典结构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495558E7-D255-4D32-8E9D-7346E1AE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0F21EF8D-50D1-49B8-85C1-0D384B49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立法听取意见，回应不同主体的实际需求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CE6DC93C-F511-4CF5-89D2-924E5452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（二）科学立法、民主立法、依法立法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5D7CA91-D117-4CB1-8B71-E5A45178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96977b67cdf34d6f"/>
              </a:rPr>
              <a:t>出处：《中华人民共和国立法法》（2023年修正，公开镜像）；定位及版本见备注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4D5768-2170-49BD-9429-65C0E46B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15173325-0C6A-4564-88F4-465D8BC4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020FEB37-235D-427B-A0A6-4EB3E315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居民关注健康、生活安宁和信息获取。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4A09041B-D859-44BB-9239-2CF54163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820A0F3C-1FD5-45FA-BBDF-564F17BA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813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企业关注清晰的义务、标准和可预期的合规成本。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28B3CF40-DB63-4887-AFB1-B10825C5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891A76A0-F184-431F-A0DF-4E87BDEA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052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基层部门关注职责边界、证据规则和协同执法。</a:t>
            </a:r>
          </a:p>
        </p:txBody>
      </p:sp>
      <p:sp>
        <p:nvSpPr>
          <p:cNvPr id="16" name="item-index-3">
            <a:extLst xmlns:a="http://schemas.openxmlformats.org/drawingml/2006/main">
              <a:ext uri="{FF2B5EF4-FFF2-40B4-BE49-F238E27FC236}">
                <a16:creationId xmlns:a16="http://schemas.microsoft.com/office/drawing/2014/main" id="{7FE63E56-FB3F-4043-81E6-5D4187D1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④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38519E7-3868-41A0-8A34-1E8B9C06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291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专业人员关注制度可行性与生态系统规律。</a:t>
            </a:r>
          </a:p>
        </p:txBody>
      </p:sp>
      <p:sp>
        <p:nvSpPr>
          <p:cNvPr id="18" name="item-index-4">
            <a:extLst xmlns:a="http://schemas.openxmlformats.org/drawingml/2006/main">
              <a:ext uri="{FF2B5EF4-FFF2-40B4-BE49-F238E27FC236}">
                <a16:creationId xmlns:a16="http://schemas.microsoft.com/office/drawing/2014/main" id="{EE2564AF-830C-4346-AEBC-D161B075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⑤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B70E9795-D148-4E5E-9949-9B4E4B75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3530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不同意见进入法定程序，经论证形成法律规则。</a:t>
            </a:r>
          </a:p>
        </p:txBody>
      </p:sp>
    </p:spTree>
    <p:extLst>
      <p:ext uri="{BB962C8B-B14F-4D97-AF65-F5344CB8AC3E}">
        <p14:creationId xmlns:p14="http://schemas.microsoft.com/office/powerpoint/2010/main" val="9333498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96321-AD5D-4D9F-8671-7AE05CA54A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50fa724d54e7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DC65BA74-EC43-4087-BCE0-3AD5EDFF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17D7DE94-7FBA-45F9-A194-1FF9D3F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2A323E94-3FAC-4A1B-8C60-1B8AC835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二、编纂逻辑与法典结构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1072D12E-BC6B-455D-9811-6DF37093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6D748AD-5108-4D06-86A5-0308FDE2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五编结构把生态环境保护联系起来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0C16B1C2-222A-4A56-9E41-5212841A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（二）共同规则与专门规则相衔接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FE929EA-B2BE-4764-A47D-BD4DF9BA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8fac37dfa324545"/>
              </a:rPr>
              <a:t>出处：《生态环境法典》 全文目录，第一千二百三十九条（据公开镜像，待官方复核）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027D80-D0EE-47A9-9FFB-A4CDCFF0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CAA9E-86F3-48AA-B909-7811DACC9C1E}"/>
              </a:ext>
            </a:extLst>
          </p:cNvPr>
          <p:cNvGraphicFramePr/>
          <p:nvPr/>
        </p:nvGraphicFramePr>
        <p:xfrm>
          <a:off xmlns:a="http://schemas.openxmlformats.org/drawingml/2006/main" x="552450" y="2533650"/>
          <a:ext xmlns:a="http://schemas.openxmlformats.org/drawingml/2006/main" cx="110490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81500"/>
                <a:gridCol w="6667500"/>
              </a:tblGrid>
              <a:tr h="542925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编次与名称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T w="7620">
                      <a:solidFill>
                        <a:srgbClr val="A5C9A5"/>
                      </a:solidFill>
                      <a:prstDash val="solid"/>
                    </a:lnT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328628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主要内容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T w="7620">
                      <a:solidFill>
                        <a:srgbClr val="A5C9A5"/>
                      </a:solidFill>
                      <a:prstDash val="solid"/>
                    </a:lnT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328628"/>
                    </a:solidFill>
                  </a:tcPr>
                </a:tc>
              </a:tr>
              <a:tr h="542925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第一编 总则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共同原则与基础制度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第二编 污染防治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各类污染防治制度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</a:tr>
              <a:tr h="542925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第三编 生态保护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生态系统及其功能保护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第四编 绿色低碳发展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循环经济、能源与气候等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</a:tr>
              <a:tr h="542925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第五编 法律责任和附则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责任承担及法律衔接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6234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B6956-DEB4-41D7-9468-F3230BA67E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ca4b8ce004ea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02FE68B1-447C-41AE-AE58-C8574DFF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DBBA8C4B-BA0F-4933-9D9B-7667BBEE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A7DBF53F-A6A3-4841-99E1-C8F53CE8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二、编纂逻辑与法典结构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3284D674-1E14-4BF9-A2E8-660FD110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C9BA0D77-2588-4CF0-B35C-313C924D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立法目的连接公众健康、生态安全与永续发展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098A6AFD-8804-4A43-A0E3-B7756FC4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（三）从第一条读懂法典的价值方向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0D452AB-FF90-4098-9535-70CE8BDE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e88ce432e6644460"/>
              </a:rPr>
              <a:t>出处：《生态环境法典》 第一条（据公开镜像，待官方复核）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16498F-ACF1-44E4-996E-29690946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10" name="short-quote">
            <a:extLst xmlns:a="http://schemas.openxmlformats.org/drawingml/2006/main">
              <a:ext uri="{FF2B5EF4-FFF2-40B4-BE49-F238E27FC236}">
                <a16:creationId xmlns:a16="http://schemas.microsoft.com/office/drawing/2014/main" id="{FF74C26A-C42C-435B-BA22-42B18443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0591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“实现中华民族永续发展”</a:t>
            </a:r>
          </a:p>
        </p:txBody>
      </p:sp>
      <p:sp>
        <p:nvSpPr>
          <p:cNvPr id="11" name="quote-citation">
            <a:extLst xmlns:a="http://schemas.openxmlformats.org/drawingml/2006/main">
              <a:ext uri="{FF2B5EF4-FFF2-40B4-BE49-F238E27FC236}">
                <a16:creationId xmlns:a16="http://schemas.microsoft.com/office/drawing/2014/main" id="{D09C8D5E-8C83-4720-8BAF-7F698B34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80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——《中华人民共和国生态环境法典》第一条</a:t>
            </a:r>
          </a:p>
        </p:txBody>
      </p:sp>
      <p:sp>
        <p:nvSpPr>
          <p:cNvPr id="12" name="quote-explanation-0">
            <a:extLst xmlns:a="http://schemas.openxmlformats.org/drawingml/2006/main">
              <a:ext uri="{FF2B5EF4-FFF2-40B4-BE49-F238E27FC236}">
                <a16:creationId xmlns:a16="http://schemas.microsoft.com/office/drawing/2014/main" id="{921F20A5-6818-4748-8C92-4F2B7693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040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保护生态环境，防治污染和其他公害。</a:t>
            </a:r>
          </a:p>
        </p:txBody>
      </p:sp>
      <p:sp>
        <p:nvSpPr>
          <p:cNvPr id="13" name="quote-explanation-1">
            <a:extLst xmlns:a="http://schemas.openxmlformats.org/drawingml/2006/main">
              <a:ext uri="{FF2B5EF4-FFF2-40B4-BE49-F238E27FC236}">
                <a16:creationId xmlns:a16="http://schemas.microsoft.com/office/drawing/2014/main" id="{94E7B566-0208-408C-8F88-EEEDDB63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1040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保障公众健康和生态环境权益，维护生态安全。</a:t>
            </a:r>
          </a:p>
        </p:txBody>
      </p:sp>
      <p:sp>
        <p:nvSpPr>
          <p:cNvPr id="14" name="quote-explanation-2">
            <a:extLst xmlns:a="http://schemas.openxmlformats.org/drawingml/2006/main">
              <a:ext uri="{FF2B5EF4-FFF2-40B4-BE49-F238E27FC236}">
                <a16:creationId xmlns:a16="http://schemas.microsoft.com/office/drawing/2014/main" id="{A8DBB959-D1C1-4ED5-9B65-9B7950B9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72075"/>
            <a:ext cx="1040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推动绿色低碳发展，建设生态文明。</a:t>
            </a:r>
          </a:p>
        </p:txBody>
      </p:sp>
      <p:sp>
        <p:nvSpPr>
          <p:cNvPr id="15" name="quote-explanation-3">
            <a:extLst xmlns:a="http://schemas.openxmlformats.org/drawingml/2006/main">
              <a:ext uri="{FF2B5EF4-FFF2-40B4-BE49-F238E27FC236}">
                <a16:creationId xmlns:a16="http://schemas.microsoft.com/office/drawing/2014/main" id="{41B06C3E-2B64-4217-9F36-A18E698C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91175"/>
            <a:ext cx="1040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全面推进美丽中国建设，促进人与自然和谐共生。</a:t>
            </a:r>
          </a:p>
        </p:txBody>
      </p:sp>
    </p:spTree>
    <p:extLst>
      <p:ext uri="{BB962C8B-B14F-4D97-AF65-F5344CB8AC3E}">
        <p14:creationId xmlns:p14="http://schemas.microsoft.com/office/powerpoint/2010/main" val="9969020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12B86-058D-4E6F-87A7-6E2F73144D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2cd902dc1421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55E1DD8B-31D8-46E7-90F3-3AC1830F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AC4BBB79-B555-440A-94B3-EA2E0639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39B848D-21CA-4623-B61D-16D496B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二、编纂逻辑与法典结构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0559EEC4-B307-47C7-9F04-0F56ED13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BC062DF7-BAD2-4770-8DDC-2B5503E4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六项原则贯穿生态环境治理全过程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DA47B6D4-1D7A-4218-8818-D7C0FA3B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（三）理解原则如何指导具体制度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E052B3A-DEAF-45EA-9073-4706760E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b07b8ffd68fb4d3c"/>
              </a:rPr>
              <a:t>出处：《生态环境法典》 第六条（据公开镜像，待官方复核）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F137F17-02ED-4E36-82B7-A212635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71D2FC86-2863-4C61-BE27-0E3854C1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ABF5DCFC-642D-4CEE-A8EE-8388F847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预防为主：把风险识别和防控向前移动。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13CC295E-0817-414E-9411-DB6785C3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858CC4DB-8294-4B0E-9B84-C3EA366D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766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系统治理、生态优先：考虑整体联系和生态功能。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D669F8A0-8CF1-40CE-AC71-A2799D22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DD3B7327-D775-495A-941D-10119CA6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绿色发展：推动生产生活方式转变。</a:t>
            </a:r>
          </a:p>
        </p:txBody>
      </p:sp>
      <p:sp>
        <p:nvSpPr>
          <p:cNvPr id="16" name="item-index-3">
            <a:extLst xmlns:a="http://schemas.openxmlformats.org/drawingml/2006/main">
              <a:ext uri="{FF2B5EF4-FFF2-40B4-BE49-F238E27FC236}">
                <a16:creationId xmlns:a16="http://schemas.microsoft.com/office/drawing/2014/main" id="{3D2561A5-5CE6-4EDC-BD37-4279C552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④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7EDC3E4-19C4-4236-94CA-BD526BB9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149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公众参与、损害担责：明确参与渠道与责任要求。</a:t>
            </a:r>
          </a:p>
        </p:txBody>
      </p:sp>
    </p:spTree>
    <p:extLst>
      <p:ext uri="{BB962C8B-B14F-4D97-AF65-F5344CB8AC3E}">
        <p14:creationId xmlns:p14="http://schemas.microsoft.com/office/powerpoint/2010/main" val="11059591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8C7D3-A6DE-40B2-9699-C7C7779F0E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f03c50f0a452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4D22216A-68D5-4BD0-B259-2C4843D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B620A185-81F2-484C-9F9F-3D628970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41A1B81-A7A6-44C2-BB7B-BAC70EB7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二、编纂逻辑与法典结构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A2CAD588-F0BF-4A30-B5D2-8E43A5D6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8E5958C-4F40-4DE5-B867-8E094DED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法典化把分散制度组织成可适用的规则体系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3C226974-70FB-495C-A9EF-D8D1145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（三）整合、协调与适度创新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B0B58D8-45C0-4F7D-A6FA-670B5E10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e98b05c9faed4e41"/>
              </a:rPr>
              <a:t>出处：《生态环境法典》 第十七至第二十四条、第四编、第一千二百三十九条（据公开镜像，待官方复核）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B2B7357-F81D-47F0-9002-1A9F75AA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5A7DDBC6-ACD7-4AFF-AADF-18BCEFAE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222C94E9-63E0-4EA3-9EA2-45993FA7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整合与协调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CA7B46A1-CF44-42FD-9906-E9BD1C91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整合：提炼污染防治、生态保护等领域的共同制度。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A8DAED11-099A-466F-AAC6-0442A0AF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协调：处理职责、标准、程序和责任之间的关联。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DE894BAB-3E34-4076-BAA9-6E03C213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5A49C5FC-201F-4E19-A86A-656C7FFA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创新与衔接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235F9465-43E5-4298-AD41-83AFF22C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创新：回应绿色低碳发展的治理需求。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E172664E-8FA5-4FA4-B9F6-A5F204BF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保留空间：其他法律的具体或进一步规定仍有适用位置。</a:t>
            </a:r>
          </a:p>
        </p:txBody>
      </p:sp>
    </p:spTree>
    <p:extLst>
      <p:ext uri="{BB962C8B-B14F-4D97-AF65-F5344CB8AC3E}">
        <p14:creationId xmlns:p14="http://schemas.microsoft.com/office/powerpoint/2010/main" val="21176099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E6C18-7FF9-4606-8E04-686C39DCF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c3bddf7c3467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E8320D8C-6394-49A2-B1C7-A4A77479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0CB895D6-2B8B-4B64-BB2C-65A29941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820D142-857E-485D-9CCB-EF1B7E18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DBA89DCD-8F98-4EC3-8FEA-05867611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C6B773A-6763-410E-BDC7-9403BC52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让持续违法面对持续约束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F41FDF81-6DF0-4954-94C5-AB4BA880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1.1 历史制度案例：按日连续处罚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9AC96B5-4ADA-4C9D-A951-38C95607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3a4bce8c97794324"/>
              </a:rPr>
              <a:t>历史制度出处：2014年修订《环境保护法》第五十九条（公开镜像；按历史版本讲授）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9B5A2A-5056-43F8-BC79-30A70097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45953D5A-8461-4084-A3B1-1EF424D2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1C847DE1-4E68-4D94-9167-FB705506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制度背景：单次罚款后仍持续违法，可能削弱法律约束效果。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F57BDE8D-C43E-4564-80FC-586734AF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4DD9A019-7EB2-4311-9214-57559141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2014年《环境保护法》第五十九条，针对法定条件下拒不改正的违法排污规定按日连续处罚。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C1B7C7F3-3221-454D-8F79-B2457740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FCD3677F-AF6B-4F8F-8935-362D5CEE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课堂重点：持续违法受到持续约束；执法须有事实依据、法定条件与合法程序。</a:t>
            </a:r>
          </a:p>
        </p:txBody>
      </p:sp>
    </p:spTree>
    <p:extLst>
      <p:ext uri="{BB962C8B-B14F-4D97-AF65-F5344CB8AC3E}">
        <p14:creationId xmlns:p14="http://schemas.microsoft.com/office/powerpoint/2010/main" val="20355303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555B8-70DB-4889-82F8-E89AD1FEC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45bb685d7429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B234C613-0667-42CA-A3A6-6A13819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CF313AA3-13CA-470B-A654-2C4AA460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58B3210-7F1E-4415-8AAE-8E718CBF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D680EF0E-A56E-41B3-8DCC-FC5DC3D1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339046C5-AAC6-4B3A-A1CB-A762D01C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一份外卖包装，连接绿色生活与行业责任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3B4A1555-9679-40CB-BC7D-045A86FD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（二）从生活切口理解绿色低碳制度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6AF43C0-661F-48BA-B086-D40CDCC2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396b782ec65947f7"/>
              </a:rPr>
              <a:t>出处：《生态环境法典》 第九百七十四条（据公开镜像，待官方复核）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6C9A5A-D5C5-4027-9118-48B39A60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45B48C38-B8C8-4E8B-B98D-9EE6828E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67818790-D895-4D5E-9790-26652067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规则规定什么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D40C2069-A867-4D7A-A422-80F39654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快递、外卖等行业应减少包装物使用。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CE8B2ED5-7D64-4C0A-840E-BD0AA740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优先采用可重复使用、易回收利用的包装物。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A7C9827A-3FBB-40C4-9C22-F79B8912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BA852EEB-8609-471B-AC69-C77326B5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课堂观察什么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A35C118B-AC3B-4BCD-A09B-428CC867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减量涉及产品设计、经营方式、回收体系和消费选择。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BB442321-496F-4952-B3B6-BB7F0748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行业责任、主管部门监管与公众参与各有作用。</a:t>
            </a:r>
          </a:p>
        </p:txBody>
      </p:sp>
    </p:spTree>
    <p:extLst>
      <p:ext uri="{BB962C8B-B14F-4D97-AF65-F5344CB8AC3E}">
        <p14:creationId xmlns:p14="http://schemas.microsoft.com/office/powerpoint/2010/main" val="18692965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6A8D1-1516-4B5E-ACB5-284E5B91BF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d969f27dc4c8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E86E440C-EF6D-44AA-B2D7-B266EA13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23067000-657E-4DE9-9472-C3D6FB6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2D860C1-42A7-49FD-B5B6-C15B32F7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D89D1200-8A9B-4B1D-A728-B1DB9E80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0FC00189-B0E2-4594-BAFA-73598610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同一条江，需要看得见的共同信息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72E859EC-D5D3-42DC-9B90-501CF510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2.1 真实制度案例：流域信息共享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05925B4-1528-4DCB-934C-77BDFB52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374ff6937774f44"/>
              </a:rPr>
              <a:t>出处：《中华人民共和国长江保护法》；定位及版本见备注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3B8456-257E-45BA-8C38-41707DB0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8CC8D1C1-88B0-4419-8E5C-251DF87E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8C382CBE-7F0C-4444-A8FD-913C3A5D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《长江保护法》第十三条，规定建立健全长江流域信息共享系统。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40FF5FD9-1DA8-49CD-B6F5-B48B93D0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46A099A5-92A8-4205-8F24-5F0FDD5C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相关部门与地方政府依法共享生态环境、自然资源以及管理执法等信息。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B2EB0772-5A70-4B61-BC28-2D537259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E273701F-8B6E-4A0B-812A-09BF8708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课堂理解：共同信息有助于衔接上游下游、发现风险和明确责任，但仍需相应的行动机制。</a:t>
            </a:r>
          </a:p>
        </p:txBody>
      </p:sp>
    </p:spTree>
    <p:extLst>
      <p:ext uri="{BB962C8B-B14F-4D97-AF65-F5344CB8AC3E}">
        <p14:creationId xmlns:p14="http://schemas.microsoft.com/office/powerpoint/2010/main" val="19221232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3CA02-CC51-43AA-9760-73B198FDCC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5d1eb4d0e40d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2B7470A0-4FB3-4AAA-BF7C-2A18A8A8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1D8D843E-4459-4D2B-8C8C-EFE4E981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8F09D24-6CCA-4D33-8B3A-1555E658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46299415-932D-4439-BC2A-5DFDE359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805B7334-E5B1-4605-84F2-AD456439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上游保护、下游受益，怎样形成共同激励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EEB91270-2B83-4C0B-AE7E-9D5E8842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（二）生态保护补偿协调保护与发展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71962AF-B94B-480F-833C-236662B5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93b85b968e05485d"/>
              </a:rPr>
              <a:t>出处：《生态环境法典》 第一百一十一条（据公开镜像，待官方复核）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866BC3-3C79-459A-B312-3761E34A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010A7AD6-CD97-46C7-A6CD-4AB0DD14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EA861F12-3D9E-4673-9FD2-F719E692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共同面对的问题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F6C8AC81-4E5F-48FF-8EDA-88E33310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教学情境：上游保护水源，下游共享清洁水环境。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DF59481E-DF7D-4F20-94DA-029ED7D1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生态保护带来的收益可能跨越行政边界。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4D5DCAFE-B730-417D-A6EE-0ED5CF1D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9765F6FE-14ED-49D0-B385-4F071F9F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可以讨论的制度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6DD6598F-E36C-4816-9504-D12976F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财政纵向、地区间横向和市场机制等补偿方式各有作用。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D3EBDB10-6BD9-4609-BD86-0A0F3011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具体补偿对象、条件和标准，依有关规定或约定确定。</a:t>
            </a:r>
          </a:p>
        </p:txBody>
      </p:sp>
    </p:spTree>
    <p:extLst>
      <p:ext uri="{BB962C8B-B14F-4D97-AF65-F5344CB8AC3E}">
        <p14:creationId xmlns:p14="http://schemas.microsoft.com/office/powerpoint/2010/main" val="3064978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E18FA-F4E1-476C-B6CC-15840C234B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e35d58518496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FBEDBDC1-113B-4066-8663-FFA98B74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F9AF524A-6EDE-4FC6-81E6-76234065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FD8BDE7-9CAF-437B-9184-F6125A1C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DF292D91-21CF-42F2-9E5D-D06F355D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5E0A5B52-6A26-4605-B67B-177D7725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环境公共利益，也需要法定救济渠道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846068FA-4626-40F5-8568-FF5132DB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3.1 历史制度案例：社会组织公益诉讼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9D6415-F2CF-44AB-852B-68AA4F9E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4cc58a31a7e14964"/>
              </a:rPr>
              <a:t>历史制度出处：2014年修订《环境保护法》第五十八条（公开镜像；法典关联见备注）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3A677F-58DF-4911-BDDF-F395797B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26DFD5FA-EF72-46EC-8291-6EC51169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3B9703E0-030A-450D-8E15-240A1EA0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2014年《环境保护法》第五十八条，为符合法定条件的社会组织提起环境公益诉讼作出规定。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7320A62E-A0B0-482F-AC34-77596A72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60511B0F-6FC1-45EA-A2E9-0332A19E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法定条件涉及登记层级、持续开展环保公益活动年限及无违法记录等要求。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14BD5968-6D68-42D9-B9DE-262FB92F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5A4CD4DF-DCB1-4E19-804F-F20796FF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教学重点：公共环境利益可通过法定程序获得保护，并非任何主体均可无条件起诉。</a:t>
            </a:r>
          </a:p>
        </p:txBody>
      </p:sp>
    </p:spTree>
    <p:extLst>
      <p:ext uri="{BB962C8B-B14F-4D97-AF65-F5344CB8AC3E}">
        <p14:creationId xmlns:p14="http://schemas.microsoft.com/office/powerpoint/2010/main" val="4549340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C18F0-C6D1-48AF-9860-09E145D85E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b4b980bc149d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683DCD21-B433-42B6-AA2A-28BAFE8B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A65E6169-2EB6-4423-8303-A3E19A5F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D79B7B3-4F78-4D39-A71D-FD352DDA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11AD1C50-2F71-4C5D-ABC1-B7A1E827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9B8FE577-607D-4AB9-B6EE-F7310B42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把责任落实到生态功能的恢复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E750DF29-D3CC-48D0-82C8-A331879F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3.2 教学情境：赔了钱，生态就恢复了吗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0E7F785-6019-445E-A9C3-D004BA74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63a9f1731cd1440f"/>
              </a:rPr>
              <a:t>出处：《民法典》第一千二百三十四条、第一千二百三十五条（据公开镜像，待官方复核）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59BF4DC-CA1C-4827-B155-57AC2325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B7358A9D-5720-474D-871D-0DA07A18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C4484F26-1E16-4419-A4EB-01F29DC7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情境：一片湿地受损，责任主体提出支付款项后结束处理。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29DA6AC5-98F6-44EA-B5A8-4E0D9B1E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A12D2AF6-51C9-4124-926E-814EEA51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528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进一步追问：能否修复？由谁组织？效果如何评估？修复期间的有关损失如何依法处理？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73F478DC-7D15-4ABB-90AC-1CC5E383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27E4821E-54AD-4345-848A-00E5CC8F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《民法典》第一千二百三十四条、第一千二百三十五条提供相关责任制度定位；金额和义务须依法具体判断。</a:t>
            </a:r>
          </a:p>
        </p:txBody>
      </p:sp>
    </p:spTree>
    <p:extLst>
      <p:ext uri="{BB962C8B-B14F-4D97-AF65-F5344CB8AC3E}">
        <p14:creationId xmlns:p14="http://schemas.microsoft.com/office/powerpoint/2010/main" val="18968432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82B51-889B-407A-8E8E-B93C675A3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6efa31c98409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59844982-2D87-4EA8-8E57-DF2F0450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F4B12481-FE5F-4473-9D12-D66E03B0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3E15117-12EF-4AB9-A7AD-1044A011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D4F57903-076F-4635-89FA-93D6E600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A5F1B237-02DE-4964-A437-C40F887C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源头预防让环境风险更早进入决策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8EF7475B-7149-4ED2-AFFC-07B5CBD0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（一）规划与生态环境影响评价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47CB42F-24A0-48D6-96E7-AEF333ED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30ae719f0a114332"/>
              </a:rPr>
              <a:t>出处：《生态环境法典》 第五十九至第六十条、第八十二条及第五章（据公开镜像，待官方复核）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EB1202-45CE-40CA-A912-80DD6124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25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91C2CF89-1ECD-457B-B975-AF530602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D33B707C-527C-47FD-BA5F-4CEBD163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源头预防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D071D5B9-E39C-4A6F-B80F-8904C9FE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空间布局：不同区域承担不同功能，避免盲目开发。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F2F7EB60-5787-4C57-A122-A7C11EDC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规划和项目评价：分析、预测与评估可能造成的生态环境影响。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0A4CBFD1-5702-42AD-8DA4-9D62B71E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E7475FD1-29BB-473C-8FF6-B2FC80E3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持续监督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3B563102-4D0B-416D-BC4C-E5722B2E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决策前提出预防或减轻影响的措施。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88CDA8EF-C079-4AAE-B0CF-3B6565F3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建设和运行中持续跟踪，不能把审批视作保护工作的终点。</a:t>
            </a:r>
          </a:p>
        </p:txBody>
      </p:sp>
    </p:spTree>
    <p:extLst>
      <p:ext uri="{BB962C8B-B14F-4D97-AF65-F5344CB8AC3E}">
        <p14:creationId xmlns:p14="http://schemas.microsoft.com/office/powerpoint/2010/main" val="7709362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75846-671A-47B5-90B9-65B86046D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e097a984f45e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A8937106-DEDD-4A8B-9E76-966CCAB0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C31F5823-D720-49A9-9947-A870C7E2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B142A63-DF01-49A6-9AD6-50513BAB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50EC60B1-1981-4971-BAF8-FDD3A40C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B8E0B6C0-FFDE-4B8B-A01E-C131792C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跨区域协同回应污染流动与生态联系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F705BD19-73D7-4DF2-B936-E54A1AC4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（一）从行政边界转向共同保护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69F45E-540B-4DD8-97F7-1693F755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294c9634c97d463b"/>
              </a:rPr>
              <a:t>出处：《生态环境法典》 第十八条、第二十至第二十三条（据公开镜像，待官方复核）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A1941C-A6BB-4A0A-8BD3-59A7D359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26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2C5EE82E-9E27-4A34-B061-95E09DDB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3BEDB4A9-A092-46EF-B5FE-F5E843A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共同保护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ECE6BE07-2076-4CE2-A8D0-8C09FAAC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重点区域、流域、海域建立联合保护协调机制。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F125D978-35B5-482D-9B8D-52B08700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统一规划、统一标准、统一监测、统一保护措施。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1A4F3C49-B15A-492E-9A7A-6451BD69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F1095099-A6CD-40C6-9B57-3AD04BC6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协同履职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99478000-A8E4-44EE-8738-03E33F7B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部门之间通过职责清单和信息共享协同履职。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63BDA968-9B6D-4A31-BA40-E76E3646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协同需要明确责任，不能相互推诿或重复代替履职。</a:t>
            </a:r>
          </a:p>
        </p:txBody>
      </p:sp>
    </p:spTree>
    <p:extLst>
      <p:ext uri="{BB962C8B-B14F-4D97-AF65-F5344CB8AC3E}">
        <p14:creationId xmlns:p14="http://schemas.microsoft.com/office/powerpoint/2010/main" val="14556288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64C7E-F86C-4D1F-90BE-9DDBE1FE87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85cd049a94f6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31CD7DEB-1B66-4EF3-81A1-8953E6CF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02C694A3-A9C5-470B-81F3-0F9DA59B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FFAF773-0A1C-4CE1-895F-1C53178E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F17973EF-93D0-4DD2-BF45-1FF8214F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4F8F3188-8B94-4AA1-A923-801D4429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生态保护重视系统功能与修复效果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89DE6BC8-2DD3-4A74-8EF4-45A69F77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（二）山水林田湖草沙一体化保护和修复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3DCC967-8C37-4E38-B32B-B105B69A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f474ab48a415437c"/>
              </a:rPr>
              <a:t>出处：《生态环境法典》 第二条、第三十五条、第四十二条、第五十九至第六十条（据公开镜像，待官方复核）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1D23D1-4243-4C3E-8DC1-46161F06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27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54537B89-7B9E-4378-9776-1F043C50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7C84EB53-24C5-4126-985C-B4DF12E5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保护对象与空间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A955D81B-A653-4A45-98CD-28CEEB7C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保护对象既包括自然要素，也包括相互联系和作用。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9EEEE877-6805-46B1-990F-62C0D673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生态保护红线对重要、敏感和脆弱区域实行严格保护。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0E29329F-B8CF-46C7-8CB0-CEF9C71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F9384F2B-0DD9-4CC2-8002-D281E9FC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修复方式与效果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1C787938-AEEE-430E-8BC1-FA767B17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修复坚持自然恢复为主，结合必要的人工修复。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38CDC9E1-281F-4BF6-B118-AF6CE405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评价修复要看生态功能，不能只数种了多少树。</a:t>
            </a:r>
          </a:p>
        </p:txBody>
      </p:sp>
    </p:spTree>
    <p:extLst>
      <p:ext uri="{BB962C8B-B14F-4D97-AF65-F5344CB8AC3E}">
        <p14:creationId xmlns:p14="http://schemas.microsoft.com/office/powerpoint/2010/main" val="14794156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BEA33-E039-4F74-9960-203E7E03C4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0c0edded9475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264D10D0-AEA4-49E4-BF91-B9219C5A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259B19B8-3905-4458-A691-1ABE465A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92A029C-C628-4A35-82B8-B9F65EC8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286EB830-628A-447D-9ECF-6D3B5FC1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7D8392F1-4545-49AD-9FDA-BA2C021F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碳排放总量与强度控制服务绿色低碳转型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7496E72A-D830-4C38-A623-EA0661B3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（二）理解总量、强度及其协同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C922C4B-3DA5-4877-9F8E-76A9A40E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fed9f96542f04abd"/>
              </a:rPr>
              <a:t>出处：《生态环境法典》 第一千零三十二条及第四编（据公开镜像，待官方复核）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EAF7BC-BBC9-431A-B575-7E2DF761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3C6B6BE2-C650-4C7F-8153-D2FB1D4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03F629A5-1BBF-419F-8728-C3E534E8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总量：观察一定范围内碳排放的总体规模。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F0D6E36B-1BB5-47DF-96A4-0976719E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AEFF8F70-1E14-48A9-9F0C-0C80AD16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766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强度：观察单位产出对应的碳排放。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138A6D60-F6DC-4DEE-AA59-D78FE641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6827272A-D7C7-4C9A-93EA-96F358F1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碳排放双控与发展规划、产业结构和能源转型相联系。</a:t>
            </a:r>
          </a:p>
        </p:txBody>
      </p:sp>
      <p:sp>
        <p:nvSpPr>
          <p:cNvPr id="16" name="item-index-3">
            <a:extLst xmlns:a="http://schemas.openxmlformats.org/drawingml/2006/main">
              <a:ext uri="{FF2B5EF4-FFF2-40B4-BE49-F238E27FC236}">
                <a16:creationId xmlns:a16="http://schemas.microsoft.com/office/drawing/2014/main" id="{34FDF2A4-6690-4158-9C73-F564CAF2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④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AA16F3EC-5F41-497D-9807-F33DAFE6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149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具体指标、对象和实施安排，应查阅正式配套文件。</a:t>
            </a:r>
          </a:p>
        </p:txBody>
      </p:sp>
    </p:spTree>
    <p:extLst>
      <p:ext uri="{BB962C8B-B14F-4D97-AF65-F5344CB8AC3E}">
        <p14:creationId xmlns:p14="http://schemas.microsoft.com/office/powerpoint/2010/main" val="5173819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182F1-98C4-407E-B1D9-B779E0F48B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f7020b3a9434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19791D44-12B8-4A58-9FC5-608C2659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F1FFF2F9-83F7-4E74-BF9E-71F972A9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35CDC04C-10AF-4611-8982-99B5C310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BB034F3C-68F2-4A43-82BF-B2234251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39B3F307-9C47-4E33-AAC3-D9E3B322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法律责任连接制止违法、弥补损害与修复生态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4AB08A05-E4E5-45B5-ADF0-DB0D8A13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（三）损害担责具有多种实现方式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78E65E5-58FD-45ED-8C3F-3D0FA19E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76b49e0285b246e1"/>
              </a:rPr>
              <a:t>出处：《生态环境法典》 第五编、第一千零七十条、第一千零七十一条（据公开镜像，待官方复核）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673A02-2215-45B5-8296-AFC5A782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29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18299-04CC-4B6A-AE50-6EE66DAFC409}"/>
              </a:ext>
            </a:extLst>
          </p:cNvPr>
          <p:cNvGraphicFramePr/>
          <p:nvPr/>
        </p:nvGraphicFramePr>
        <p:xfrm>
          <a:off xmlns:a="http://schemas.openxmlformats.org/drawingml/2006/main" x="552450" y="2533650"/>
          <a:ext xmlns:a="http://schemas.openxmlformats.org/drawingml/2006/main" cx="110490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8572500"/>
              </a:tblGrid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责任类型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T w="7620">
                      <a:solidFill>
                        <a:srgbClr val="A5C9A5"/>
                      </a:solidFill>
                      <a:prstDash val="solid"/>
                    </a:lnT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328628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主要作用与边界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T w="7620">
                      <a:solidFill>
                        <a:srgbClr val="A5C9A5"/>
                      </a:solidFill>
                      <a:prstDash val="solid"/>
                    </a:lnT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328628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2025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行政责任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2025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主管机关依法监督、处理违法行为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2025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民事责任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2025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依法赔偿、修复等，适用须满足相应条件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2025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刑事责任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2025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构成犯罪的，依法追究刑事责任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2025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责任衔接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2025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处罚、赔偿与修复各有作用，不能简单替代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4297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E50E2-02E6-4AF2-90BA-AA6A95F392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6aebf1461493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9F72130D-9EDA-4D9C-9099-9A05CD04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020C195B-5C18-498E-AC40-10E4771D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CA8331C-E83D-44C9-9C67-AECF20AA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51AAC572-0236-453F-9727-85AE7B18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A0E6AD74-E69D-49BC-ABE8-614762AE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公众参与使保护要求与社会监督相联系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EF48545D-6901-4AC1-9C4F-94DE1481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（三）知情、参与和监督的制度渠道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DC88F7E-568E-448D-9317-D8AC78CB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598d01204cd4f68"/>
              </a:rPr>
              <a:t>出处：《生态环境法典》 第一编第九章“信息公开与公众参与”、第三十二条、第一百三十八条至第一百四十六条（据公开镜像，待官方复核）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CEA01E-16FB-4EFA-942A-CEBEDE51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30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27265BCD-546A-499A-9D22-216AFA51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16636D9D-B8AE-4CE7-BFA9-93262182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依法公开和披露生态环境信息。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A3C79294-22A7-4644-8D91-090AB5B7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F341B438-98E7-4F9E-886B-C36007B4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766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依法参与有关生态环境事项。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1C568D52-EAE4-48B6-8814-833CA311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9EC43D0A-EA2A-4ADD-9B19-A36689C4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发现污染环境、破坏生态行为，可以依法举报。</a:t>
            </a:r>
          </a:p>
        </p:txBody>
      </p:sp>
      <p:sp>
        <p:nvSpPr>
          <p:cNvPr id="16" name="item-index-3">
            <a:extLst xmlns:a="http://schemas.openxmlformats.org/drawingml/2006/main">
              <a:ext uri="{FF2B5EF4-FFF2-40B4-BE49-F238E27FC236}">
                <a16:creationId xmlns:a16="http://schemas.microsoft.com/office/drawing/2014/main" id="{001D5498-48EE-49BB-A45E-22ECC943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④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3BB43E99-A553-4AB9-AF4C-4016EC54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149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符合条件的主体可以依法提起公益诉讼。</a:t>
            </a:r>
          </a:p>
        </p:txBody>
      </p:sp>
    </p:spTree>
    <p:extLst>
      <p:ext uri="{BB962C8B-B14F-4D97-AF65-F5344CB8AC3E}">
        <p14:creationId xmlns:p14="http://schemas.microsoft.com/office/powerpoint/2010/main" val="17368060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B6E0C-586A-4937-A51F-D2C3BC8A6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0110d97654dd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ECDC6760-08AC-485B-929E-D2F5DA7B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4713405F-0829-4ED7-904A-47F044FD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61031530-D8E2-447C-B6C8-D615CFE0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三、从具体问题理解制度安排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FE432F7D-0A4F-41C9-90FA-F31365EE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5A60CC83-CAA0-4F4A-A5F0-8F9FBCF9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法律衔接要区分旧法、新法与发生时间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462CDFF3-F222-4CA3-89EC-93FD1A8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（四）施行并不意味着历史事实自动改变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F3FB6AB-08C2-4AEB-979A-0100B09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6adae03712af40b9"/>
              </a:rPr>
              <a:t>出处：《生态环境法典》 文本开头、第一千二百三十九条、第一千二百四十二条（据公开镜像，待官方复核）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4EA547-9D5A-44B2-B35B-CDBCF020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31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D54476F3-FB92-4B95-8400-EFB6531F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4574CA48-0680-449D-9359-7D568436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镜像所载：2026年3月12日通过，2026年8月15日起施行。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778A12B9-3BA3-4071-B62B-580917BA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4C010E5F-5F5F-4C7C-BC37-BFD7F851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766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第一千二百四十二条列明同时废止的十部法律。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3D7010CD-10B4-45F6-A3B6-228247C8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4A9F447F-226D-4D06-A7ED-3168880C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历史案例仍须标明当时法律和案件发生时间。</a:t>
            </a:r>
          </a:p>
        </p:txBody>
      </p:sp>
      <p:sp>
        <p:nvSpPr>
          <p:cNvPr id="16" name="item-index-3">
            <a:extLst xmlns:a="http://schemas.openxmlformats.org/drawingml/2006/main">
              <a:ext uri="{FF2B5EF4-FFF2-40B4-BE49-F238E27FC236}">
                <a16:creationId xmlns:a16="http://schemas.microsoft.com/office/drawing/2014/main" id="{E6D1949F-BC9C-434C-891B-116EDD6A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④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7D30A548-37AF-48F4-AD32-404A4DA1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149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新旧法、民法典及其他专门法律的具体适用，须依正式规定判断。</a:t>
            </a:r>
          </a:p>
        </p:txBody>
      </p:sp>
    </p:spTree>
    <p:extLst>
      <p:ext uri="{BB962C8B-B14F-4D97-AF65-F5344CB8AC3E}">
        <p14:creationId xmlns:p14="http://schemas.microsoft.com/office/powerpoint/2010/main" val="5639226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F70BC-FF09-4632-8200-B9A48E8900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b58a7d56e43a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03FC1F4D-EE02-4B7C-9160-0C34A6C1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78B0274F-9FC9-4467-A60E-B26AA08B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38108D6-BAF3-410D-9BF3-4A5E78EF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四、编纂施行法典的重大意义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F1BF1FDA-4BC1-41A4-A3FB-B3ACAE52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C33606F0-E371-4BD2-84E5-CB54A21B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把生态文明建设要求转化为稳定的法律制度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CF2C0D6D-08DC-4699-9DF4-9B47C09C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（一）为人与自然和谐共生提供法治保障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6BA09F1-10CE-4F66-84CD-60DD1A1C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c6b3e6c2e4ab4846"/>
              </a:rPr>
              <a:t>出处：《生态环境法典》 第四条、第六至第十条、第一编与第五编（据公开镜像，待官方复核）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2FE285-49DD-4CA9-B891-CC83FEB0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A1E55A7E-6A05-4769-9AA3-73A4195D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FF00DC9B-3973-4C91-98CE-0CA73EC5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基本方向与责任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4AC2AB53-075B-48A2-929E-06B76273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明确生态环境保护方向与共同原则。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729FDAFD-C654-4BBE-B091-938F532D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把保护要求落实到政府、企业与公众的责任。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24E22226-765B-4CCF-9564-CCD5A01D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BE970D13-A47B-424D-8E88-AF697615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实施与长期治理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B84596F4-8C2E-476C-98F1-F5B8E800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通过规划、监管、参与和责任制度持续执行。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B2AD0C0A-17CA-4916-901F-03D71CB7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以法治巩固实践成果，支持长期治理。</a:t>
            </a:r>
          </a:p>
        </p:txBody>
      </p:sp>
    </p:spTree>
    <p:extLst>
      <p:ext uri="{BB962C8B-B14F-4D97-AF65-F5344CB8AC3E}">
        <p14:creationId xmlns:p14="http://schemas.microsoft.com/office/powerpoint/2010/main" val="20658771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7501E-5221-4EE5-B1F5-B8270342E0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7b97f80c14ce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46D90F6A-5686-45B5-9C39-966ABCD8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37E0E119-CEFB-4D1C-928C-E30069D7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2CDA66D0-0E43-4980-B15F-71F20CB4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四、编纂施行法典的重大意义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E30A8F8F-0A34-4BAB-A673-8A26EAD6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CDFDF4DC-7AFA-4FB5-83B1-C449F47B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以法治表达生态文明建设的实践认识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13EF8792-7D51-488C-A7B4-B5C7322F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（一）从治理经验形成共同规范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EA5D678-18AA-4DC8-889B-2E2A8765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15fec4026b7f4442"/>
              </a:rPr>
              <a:t>出处：《生态环境法典》 第四条、第八条、第三十五条（据公开镜像，待官方复核）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8D4267-BE7A-4AE5-9112-742F0C0F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33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471E0FF8-A2E6-4E1F-B4DC-170BF98A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7315CD26-AD6D-451F-90AC-E4E67CCD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尊重自然、顺应自然、保护自然。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FF152635-9421-46E7-A664-2CA89B32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AAE7CEFF-9450-4F14-AFDB-730442D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766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正确处理高质量发展和高水平保护的关系。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91E96B6E-D6FE-4984-8EA0-B0903131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704EFBF3-A878-4A6D-BFD3-E62DF229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系统治理要求进入规划、协同和修复制度。</a:t>
            </a:r>
          </a:p>
        </p:txBody>
      </p:sp>
      <p:sp>
        <p:nvSpPr>
          <p:cNvPr id="16" name="item-index-3">
            <a:extLst xmlns:a="http://schemas.openxmlformats.org/drawingml/2006/main">
              <a:ext uri="{FF2B5EF4-FFF2-40B4-BE49-F238E27FC236}">
                <a16:creationId xmlns:a16="http://schemas.microsoft.com/office/drawing/2014/main" id="{49F88EC0-D0B5-46CB-85C8-BCC8F5FE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④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DDED2498-EF39-4CE8-A42D-AB764021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149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理论与实践通过可执行规则相互连接。</a:t>
            </a:r>
          </a:p>
        </p:txBody>
      </p:sp>
    </p:spTree>
    <p:extLst>
      <p:ext uri="{BB962C8B-B14F-4D97-AF65-F5344CB8AC3E}">
        <p14:creationId xmlns:p14="http://schemas.microsoft.com/office/powerpoint/2010/main" val="163553906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3B2F2-1EB2-4966-875A-549CA485DC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7fc8b712746a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BAAB2B21-5AA7-4C37-A311-627E876F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7A7A8B54-8A4B-4F9E-87DB-8656AC61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60A0F14-1A24-4B70-8C6D-636280F4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四、编纂施行法典的重大意义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F427FFC0-4020-4215-A2F6-ED3908BD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A514C4B5-A50D-4548-81D9-19311AA3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提高生态环境法律体系的协调性与可适用性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A6F80D4C-50B9-46E9-A264-6CCD14E7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（二）共同规则减少制度衔接的困难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49C4984-38C8-494B-B2D3-5F648D43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674379541e064dc7"/>
              </a:rPr>
              <a:t>出处：《生态环境法典》 第十七至第二十四条、第一千零七十条、第一千二百三十九条（据公开镜像，待官方复核）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60B222-C41B-47E4-B7C7-24069E67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34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BF199071-6474-4909-BF0E-D4B58519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E66B215A-9246-433C-907F-D1B23293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共同规则与分工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EA8DE4C0-6D7A-47C9-9B88-EBD0C2EC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统一共同原则，提供基本制度基础。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0970F116-19F1-47AF-931D-E45D81C9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明确监督管理分工和跨区域协调机制。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98337853-AA6E-476F-B42B-1223E3AF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477437E4-0E25-4A72-958A-2B51478C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衔接与协同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A7C7F5D4-7275-4896-9FF5-50EB3908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把污染防治、生态保护与绿色低碳发展联系起来。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F9A2B33B-F0B2-485F-BD96-7866A8B9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衔接民事责任与其他专门法律，保留具体规定的适用空间。</a:t>
            </a:r>
          </a:p>
        </p:txBody>
      </p:sp>
    </p:spTree>
    <p:extLst>
      <p:ext uri="{BB962C8B-B14F-4D97-AF65-F5344CB8AC3E}">
        <p14:creationId xmlns:p14="http://schemas.microsoft.com/office/powerpoint/2010/main" val="3029237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40E08-C7AE-4937-A19F-D423CA128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cfc8744ce43e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1B2D3C96-B3FC-4CAC-95C8-CDBBFA4E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960D5108-45C6-406A-9C5B-2F2A3C68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C4468918-C93A-4873-8855-C703B91D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四、编纂施行法典的重大意义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DA02094F-12F3-407B-82A2-8B35B22F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77C136C8-A037-4935-8C51-3897609B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更有力地回应人民对良好生态环境的需要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8EB01BC0-393B-4FD6-BEED-AC11CE89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（二）保护健康与生态环境权益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644AA73-2020-4C0C-B23E-7C73C089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d04cb87b534a4f9e"/>
              </a:rPr>
              <a:t>出处：《生态环境法典》 第一条、第一编第九章、第二编及第五编（据公开镜像，待官方复核）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01383C-98BA-4DEA-82F3-7FD3BA4B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35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7A764D99-75EF-4604-9EC8-E99AC43D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7F4B61AC-C55D-4963-92DD-814C7CBE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健康与生活环境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F8ADE939-5B53-4A0B-B232-D5157A93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立法目的明确保护健康与环境权益。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A936D8BE-942D-466A-87F3-F2CB29EC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回应空气、水、噪声等日常生活问题。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6513499C-D918-49C4-9F4A-1CD89869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25D3AB1D-F3BB-4C06-8631-CD8ECD0C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参与与权益保障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C13A7F96-40DB-4CEF-9BEC-35054CDC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信息与参与制度提供表达和监督的渠道。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6BAF9621-24E7-4FC2-B47D-A45245EB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责任制度支撑权利保护和损害救济。</a:t>
            </a:r>
          </a:p>
        </p:txBody>
      </p:sp>
    </p:spTree>
    <p:extLst>
      <p:ext uri="{BB962C8B-B14F-4D97-AF65-F5344CB8AC3E}">
        <p14:creationId xmlns:p14="http://schemas.microsoft.com/office/powerpoint/2010/main" val="3147514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45DDD-2B0C-4389-AA40-6C657C0C0C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6d1465b8f4cf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4EC42ECC-95CC-4995-8EE1-C3ED7A59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796BE03D-90DC-4907-B7CB-9738C4DF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C7E8F13-6725-49D0-BCD3-0195B630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四、编纂施行法典的重大意义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4269E6DB-3ED9-4A31-A640-9BB71F94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87FC437-2453-4150-82DD-F083F338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以系统保护维护生态安全与发展根基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40451329-7B7E-4C3B-BBD8-7FCA594A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（三）把重要生态功能纳入长期保护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EB4552C-058C-40B9-AC0E-E9555466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8a215949918e4fcb"/>
              </a:rPr>
              <a:t>出处：《生态环境法典》 第二十二条、第四十一至第四十四条、第五十九至第六十条（据公开镜像，待官方复核）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6D3940-F91C-46D0-B712-03F04812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36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186F84CC-DE6E-4503-A109-5FF08E60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2BE9B7C0-2884-4BD2-ABFE-469C3541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风险与重要空间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4AE68330-4E85-4624-B467-212C922D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识别生态安全风险，强化监测预警和应急能力。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310D504D-7FFB-4DB7-84CC-38F2123E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保护重要生态系统、生物多样性和关键空间。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A735BC50-E57D-40DC-ACF4-F23466EF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6448B91D-8897-4FA5-84A0-8FC084AE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整体功能与未来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78F8AF33-ED32-4D62-8B31-AE17C82A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统筹水资源、水环境、水生态治理。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FB073B36-5913-44F9-8DD2-60A3F6F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把眼前利益与长期承载能力共同纳入决策。</a:t>
            </a:r>
          </a:p>
        </p:txBody>
      </p:sp>
    </p:spTree>
    <p:extLst>
      <p:ext uri="{BB962C8B-B14F-4D97-AF65-F5344CB8AC3E}">
        <p14:creationId xmlns:p14="http://schemas.microsoft.com/office/powerpoint/2010/main" val="208308018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98A11-55E4-404F-A1F1-27C764C57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c27a103e3405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43D798DA-8D65-4DC3-9841-BB37BF4A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6E33D1B4-35F7-4BEF-8BC0-F7F07309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DEDDADC-739D-464C-8D2C-9220F09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四、编纂施行法典的重大意义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26ACD36B-9108-41A6-99CA-2AD1DC64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7A2B839E-5AC2-4002-9FE0-70FDF5D4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以清晰规则支持高质量发展和绿色转型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6E0578AD-F231-432A-BD88-166974A9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（三）将发展活动纳入可持续轨道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977AAFA-D061-48ED-AD62-37CE3FBC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24029d871154640"/>
              </a:rPr>
              <a:t>出处：《生态环境法典》 第五条、第九条、第三十七条、第四编（据公开镜像，待官方复核）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54F75A-A681-4739-AB15-DA93828E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37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F83759B8-2D72-4E10-A949-32785A66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DF6A2B7D-955D-44FD-935B-7CC36A10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企业规则与转型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2DA64988-9F2F-4E75-B90F-9435267F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明确企业环境义务，形成可预期的行为要求。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C3BC2F5C-F283-4E09-A440-022AF9AC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推动节约资源、工艺改进和循环利用。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B098F509-6C73-450D-A8E4-AE445BDF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C5602777-631F-4DCB-A243-F6E8DA07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成本与长期发展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9648B41D-046E-4E19-8B13-56B405C2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避免把污染成本转嫁给公众和未来。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EF977969-4E15-49B3-991D-4961B899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依法保护与依法发展相互支持，具体措施需结合行业和地区条件。</a:t>
            </a:r>
          </a:p>
        </p:txBody>
      </p:sp>
    </p:spTree>
    <p:extLst>
      <p:ext uri="{BB962C8B-B14F-4D97-AF65-F5344CB8AC3E}">
        <p14:creationId xmlns:p14="http://schemas.microsoft.com/office/powerpoint/2010/main" val="42439985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07ECE-6FC0-4946-AE94-DC12EB7F9F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07d0aa222454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365CE213-F8EA-42E2-812E-DBB25F31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36B7B079-AEC4-40FC-BF29-5CE827A3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8FD6C70-8230-4EF4-BB04-5B06D332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四、编纂施行法典的重大意义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1D8A52E2-0ACD-449E-A304-79A456C6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7C607559-C953-4440-A964-1F864791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形成政府、企业与公众共同参与的治理格局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2B75AB5A-2673-41BF-99EB-E93DED49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（四）共同参与建立在明确责任之上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081C560-3155-4AAA-8D78-9B0CA3CA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155f87741e9f4d36"/>
              </a:rPr>
              <a:t>出处：《生态环境法典》 第七至第十二条（据公开镜像，待官方复核）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63D567-8E99-4D91-8F9B-5EE807F6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38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3C0CE-DBC6-4D2D-BC1F-5FEDAC779906}"/>
              </a:ext>
            </a:extLst>
          </p:cNvPr>
          <p:cNvGraphicFramePr/>
          <p:nvPr/>
        </p:nvGraphicFramePr>
        <p:xfrm>
          <a:off xmlns:a="http://schemas.openxmlformats.org/drawingml/2006/main" x="552450" y="2533650"/>
          <a:ext xmlns:a="http://schemas.openxmlformats.org/drawingml/2006/main" cx="110490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7620000"/>
              </a:tblGrid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主体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T w="7620">
                      <a:solidFill>
                        <a:srgbClr val="A5C9A5"/>
                      </a:solidFill>
                      <a:prstDash val="solid"/>
                    </a:lnT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328628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基本责任与作用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T w="7620">
                      <a:solidFill>
                        <a:srgbClr val="A5C9A5"/>
                      </a:solidFill>
                      <a:prstDash val="solid"/>
                    </a:lnT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328628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政府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依法履职，对区域生态环境保护和质量负责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企业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防治污染、保护生态，依法承担相应责任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公众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践行绿色生活，依法参与和监督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学校、社会组织与媒体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A5C9A5"/>
                      </a:solidFill>
                      <a:prstDash val="solid"/>
                    </a:lnL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 wrap="square" lIns="95250" tIns="95250" rIns="95250" bIns="95250"/>
                    <a:lstStyle/>
                    <a:p>
                      <a:r>
                        <a:rPr sz="1950" b="0">
                          <a:solidFill>
                            <a:srgbClr val="26312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依法开展教育、宣传和监督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A5C9A5"/>
                      </a:solidFill>
                      <a:prstDash val="solid"/>
                    </a:lnR>
                    <a:lnB w="7620">
                      <a:solidFill>
                        <a:srgbClr val="A5C9A5"/>
                      </a:solidFill>
                      <a:prstDash val="solid"/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24365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0B657-5301-49A8-93A5-534C865C7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4fdd29bb94a5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E21A8044-11D1-4415-8C15-C4B069FE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F6290795-7CFF-4637-993F-6A497345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D16855B-8C7A-4B05-BEB7-106270BB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四、编纂施行法典的重大意义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E8E961F7-9152-4578-970A-193F8EF6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577F1CCF-1BF6-406D-9D91-87150F87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为参与全球环境治理提供国内法治支撑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E44D3B1A-3E7F-4F02-BC1C-22F9E158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（四）国内治理与国际合作相互联系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04ED4E4-DDAD-49AA-BB4B-C427A038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5d191ba84274554"/>
              </a:rPr>
              <a:t>出处：《生态环境法典》 第十四条（据公开镜像，待官方复核）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D64693-F92F-4AEB-A7E8-5B07BAF8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FC2C213B-EA53-49D0-8945-4ACC8B7E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039DD14E-D8F5-4BC4-B28F-AB390AB6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国际合作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7495A4F7-56B8-472C-B521-AE5EC5C3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加强生态环境领域国际交流与合作。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EC1DDD9C-D899-4495-8F6E-CB76701D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履行我国缔结或参加的国际条约义务。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649CEBA1-D62F-432E-9882-1207E928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CCB29966-93D4-4FEF-BA44-3A485288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国内法治支撑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B1D6F191-D0B0-4093-8835-9D2B17F0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参与生态环境国际规则研究与制定。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16409534-6C69-4730-9611-31FD3887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以国内治理实践支持全球环境治理合作。</a:t>
            </a:r>
          </a:p>
        </p:txBody>
      </p:sp>
    </p:spTree>
    <p:extLst>
      <p:ext uri="{BB962C8B-B14F-4D97-AF65-F5344CB8AC3E}">
        <p14:creationId xmlns:p14="http://schemas.microsoft.com/office/powerpoint/2010/main" val="2085803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EE677-7A49-4CC3-B20F-1D9E505820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0594cb6bd410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57EDEA8A-F802-4045-AC1D-425694CE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936BD63F-8678-4596-B4D8-0FEE9CE7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9C97F96-44A7-437A-B0E1-4C19FD7A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五、把制度要求落实为治理行动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0A7B1637-417C-41CA-9A84-67037DD1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5881F812-6FD0-432C-8EE6-8C07D83D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依法行政把纸面规则落实为日常治理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2FD879B9-2E3D-474F-98C2-84DC6B15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（一）责任、能力与程序同时到位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3F51E4A-A10F-4ED3-877E-FDF52608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ae3d273b0c4f4946"/>
              </a:rPr>
              <a:t>出处：《生态环境法典》 第十八条、第二十三至第三十条、第七十八条（据公开镜像，待官方复核）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5DC48F-7A9B-4336-AECC-8327C1AD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40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2ED8BECB-28A2-424F-9C39-FAD87460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E9F63621-AF74-47C5-A48C-978CED51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依法履职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3785F237-A27B-4824-A90F-C7A276FE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明确职责清单与部门协同机制。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2807BE40-64D1-4EDA-B7BC-A829906B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落实规划、监测、信息共享和依法执法。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35315EC0-894F-4F64-AC93-566B72E6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35A8DC54-7F8F-46B9-A25C-0B16206A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程序与能力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4B3D2873-5EC6-4F1D-88B2-1B5E3B9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依法开展督察整改，跟踪问题解决。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3FEFCB54-42E3-4834-B65E-3F087C9A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尊重证据和程序，提升专业化治理能力。</a:t>
            </a:r>
          </a:p>
        </p:txBody>
      </p:sp>
    </p:spTree>
    <p:extLst>
      <p:ext uri="{BB962C8B-B14F-4D97-AF65-F5344CB8AC3E}">
        <p14:creationId xmlns:p14="http://schemas.microsoft.com/office/powerpoint/2010/main" val="120864078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B57A8-2558-4A80-9F07-C2D645A87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f2631a048478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052EEB7C-3706-4C17-9052-A99AE405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248374B3-BC62-4173-B214-A9EBE478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36902D6-3289-45F5-AB6A-D6D1C813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五、把制度要求落实为治理行动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DF77506E-2C5D-46BB-81CE-9202059D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4A579DD7-03F2-4FF5-A278-AEF9A0AD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司法保障与生态修复共同维护公共利益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5C24EFDD-A617-42E6-9969-BE23809B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（一）依法追责，也关注受损生态的恢复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403C981-823B-47D6-8E8D-71425057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be64574b1b374dd2"/>
              </a:rPr>
              <a:t>出处：《生态环境法典》 第三十一至第三十三条、第三十五条及第五编（据公开镜像，待官方复核）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EFCEE2-C5D5-4FA5-A0FC-157C504F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41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7BD2BCB6-0DD5-47A4-A34B-1D82F248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E0DA5C57-2F1A-4882-A835-F3A9F768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司法保障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19FFE5D4-9E26-4F6E-BBBA-A5CA65D6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加强专业化审判、检察监督和案件衔接。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F506AB5C-DBD0-47C6-A4DB-6DA368CB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依法完善生态环境损害赔偿与公益诉讼。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0202F175-25DA-42E2-A633-79F4946C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8A3245EF-C5F8-472A-91E6-93F18051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修复与公共利益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6CA411A3-412E-4A1D-B1BB-3E9F7B3A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修复方案与效果评估应尊重科学和程序。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ECE292DD-114B-4420-85A5-2ED7189E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具体案件先查清事实，再判断主体、责任与适用法律。</a:t>
            </a:r>
          </a:p>
        </p:txBody>
      </p:sp>
    </p:spTree>
    <p:extLst>
      <p:ext uri="{BB962C8B-B14F-4D97-AF65-F5344CB8AC3E}">
        <p14:creationId xmlns:p14="http://schemas.microsoft.com/office/powerpoint/2010/main" val="9232040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769A0-97C6-41BC-A204-9B95E2D1C7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777c0ef6346a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782E7A35-C4FA-4480-B287-B568F584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821701FD-122D-4224-A5AB-5E0F8DC6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E2304419-CD65-46B0-B562-F9F964CA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五、把制度要求落实为治理行动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398E8257-C803-4C88-AF21-48A978F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E16CED16-4C60-432A-B649-5132FED2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课堂讨论：校园周边异味，如何依法参与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02757B9A-7816-4C56-8F77-3B7C7A61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（二）用证据和规范渠道反映环境问题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7A9E4FD-1D21-4679-826F-9CBDEA89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91b422354cf147e8"/>
              </a:rPr>
              <a:t>出处：《生态环境法典》 第一百四十三条至第一百四十六条（据公开镜像，待官方复核）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95706D-F688-4ADC-921B-E99935E4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42</a:t>
            </a:r>
          </a:p>
        </p:txBody>
      </p:sp>
      <p:sp>
        <p:nvSpPr>
          <p:cNvPr id="10" name="template-panel-0">
            <a:extLst xmlns:a="http://schemas.openxmlformats.org/drawingml/2006/main">
              <a:ext uri="{FF2B5EF4-FFF2-40B4-BE49-F238E27FC236}">
                <a16:creationId xmlns:a16="http://schemas.microsoft.com/office/drawing/2014/main" id="{01E40B50-DF07-4FE8-B258-98AD1306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D5E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70355D62-DCC6-4B3C-BC6D-BB7F1536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发生了什么</a:t>
            </a:r>
          </a:p>
        </p:txBody>
      </p:sp>
      <p:sp>
        <p:nvSpPr>
          <p:cNvPr id="12" name="panel-body-0-0">
            <a:extLst xmlns:a="http://schemas.openxmlformats.org/drawingml/2006/main">
              <a:ext uri="{FF2B5EF4-FFF2-40B4-BE49-F238E27FC236}">
                <a16:creationId xmlns:a16="http://schemas.microsoft.com/office/drawing/2014/main" id="{89AC12AA-A68E-4144-BBA6-5D06DDC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教学情境：同学多次闻到夜间异味，怀疑与附近生产活动有关。</a:t>
            </a:r>
          </a:p>
        </p:txBody>
      </p:sp>
      <p:sp>
        <p:nvSpPr>
          <p:cNvPr id="13" name="panel-body-0-1">
            <a:extLst xmlns:a="http://schemas.openxmlformats.org/drawingml/2006/main">
              <a:ext uri="{FF2B5EF4-FFF2-40B4-BE49-F238E27FC236}">
                <a16:creationId xmlns:a16="http://schemas.microsoft.com/office/drawing/2014/main" id="{1D9B3100-1859-4604-A069-D25D454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记录什么：发生时间、地点、频次及可客观观察的情况。</a:t>
            </a:r>
          </a:p>
        </p:txBody>
      </p:sp>
      <p:sp>
        <p:nvSpPr>
          <p:cNvPr id="14" name="template-panel-1">
            <a:extLst xmlns:a="http://schemas.openxmlformats.org/drawingml/2006/main">
              <a:ext uri="{FF2B5EF4-FFF2-40B4-BE49-F238E27FC236}">
                <a16:creationId xmlns:a16="http://schemas.microsoft.com/office/drawing/2014/main" id="{012F1B5D-4F18-4DE8-BD2A-3AA856FA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24125"/>
            <a:ext cx="5286375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328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C79BDC97-A521-4312-BDBF-1AEF89C7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95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怎样依法反映</a:t>
            </a:r>
          </a:p>
        </p:txBody>
      </p:sp>
      <p:sp>
        <p:nvSpPr>
          <p:cNvPr id="16" name="panel-body-1-0">
            <a:extLst xmlns:a="http://schemas.openxmlformats.org/drawingml/2006/main">
              <a:ext uri="{FF2B5EF4-FFF2-40B4-BE49-F238E27FC236}">
                <a16:creationId xmlns:a16="http://schemas.microsoft.com/office/drawing/2014/main" id="{AB67768B-3B08-4B78-89C7-CB379DD0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怎样反映：通过依法公布的渠道举报，配合主管部门调查。</a:t>
            </a:r>
          </a:p>
        </p:txBody>
      </p:sp>
      <p:sp>
        <p:nvSpPr>
          <p:cNvPr id="17" name="panel-body-1-1">
            <a:extLst xmlns:a="http://schemas.openxmlformats.org/drawingml/2006/main">
              <a:ext uri="{FF2B5EF4-FFF2-40B4-BE49-F238E27FC236}">
                <a16:creationId xmlns:a16="http://schemas.microsoft.com/office/drawing/2014/main" id="{29C9C73B-A6C6-439A-9114-FD2F236F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81500"/>
            <a:ext cx="4819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注意边界：不凭猜测给企业定罪，不侵犯他人隐私或妨碍执法。</a:t>
            </a:r>
          </a:p>
        </p:txBody>
      </p:sp>
    </p:spTree>
    <p:extLst>
      <p:ext uri="{BB962C8B-B14F-4D97-AF65-F5344CB8AC3E}">
        <p14:creationId xmlns:p14="http://schemas.microsoft.com/office/powerpoint/2010/main" val="82760719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08B8C-440A-4975-9AAC-E168C23E2B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d464a660b458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4EA29E91-6444-4A69-A3C0-3615AE09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C31D5FA3-0E42-4023-AE4F-7A9D1EF3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1539E57-5BB7-4875-A4B0-98B82453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五、把制度要求落实为治理行动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4C5E87EB-C201-4163-A4D7-BB6DF28F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9B4768D-1996-4B6F-AF31-7D2CE146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把法典的制度优势转化为生态治理实效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8F14CDF3-7F6B-457C-A83F-89CBD489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（二）本部分回顾与下一部分衔接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0769EC1-B10F-4928-844C-FE5DA68D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971462cd3d274146"/>
              </a:rPr>
              <a:t>出处：《生态环境法典》 第一条、第六条、第七至第十条（据公开镜像，待官方复核）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1F64E7-C11C-470D-89FD-E201F884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43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436FDA2E-3D71-4316-8692-07866280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6B3E8030-270C-4C2F-BFBE-45D68C76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历史回答：生态环境法治怎样持续积累和发展。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F22BB09B-25BE-4D4B-AED6-FFF48036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CCA12D86-5FBE-4474-9894-21DC8BBC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813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编纂回答：共同规则怎样连接不同领域。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5F60C03F-733D-4E41-AE81-7FDA3EE4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5E2D618-D676-41EC-B0EF-CB56AFDF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052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意义回答：法治如何保障人民福祉、生态安全与高质量发展。</a:t>
            </a:r>
          </a:p>
        </p:txBody>
      </p:sp>
      <p:sp>
        <p:nvSpPr>
          <p:cNvPr id="16" name="item-index-3">
            <a:extLst xmlns:a="http://schemas.openxmlformats.org/drawingml/2006/main">
              <a:ext uri="{FF2B5EF4-FFF2-40B4-BE49-F238E27FC236}">
                <a16:creationId xmlns:a16="http://schemas.microsoft.com/office/drawing/2014/main" id="{E4B06C28-7487-4BAE-B4E0-4B879DA6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④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69DBE552-70B3-4362-898B-C786F6AD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291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行动回答：各主体怎样依法履责、参与和监督。</a:t>
            </a:r>
          </a:p>
        </p:txBody>
      </p:sp>
      <p:sp>
        <p:nvSpPr>
          <p:cNvPr id="18" name="item-index-4">
            <a:extLst xmlns:a="http://schemas.openxmlformats.org/drawingml/2006/main">
              <a:ext uri="{FF2B5EF4-FFF2-40B4-BE49-F238E27FC236}">
                <a16:creationId xmlns:a16="http://schemas.microsoft.com/office/drawing/2014/main" id="{6E5CCF36-25ED-4DA6-94B2-BD971C72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⑤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0F520FC5-CEA9-4B9E-931E-18E9923D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3530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转入第三部分：“十五五”时期，美丽中国建设如何落实这些要求？</a:t>
            </a:r>
          </a:p>
        </p:txBody>
      </p:sp>
    </p:spTree>
    <p:extLst>
      <p:ext uri="{BB962C8B-B14F-4D97-AF65-F5344CB8AC3E}">
        <p14:creationId xmlns:p14="http://schemas.microsoft.com/office/powerpoint/2010/main" val="818305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3BDC3-6FCF-4D79-9603-0642F5CA4A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669c8adcb448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ACD34258-0668-443B-BEEA-6902AF5D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743BCCC6-A05B-4626-B528-0208261F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A5A85E85-4948-4606-893A-10FFA444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教学辅助与学习资源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BA202713-2E15-433E-849B-9E7CF95F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366F8754-6570-4209-B278-536AECB2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视频学习与课堂讨论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3064A854-7CE2-4A46-98F7-D6EB68C5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观看制度解读与治理实践，带着问题学习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99D875D-5EE3-42BA-AEF5-3E51B7D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rPr>
              <a:t>视频资料尚未核验，下载直链待补；本页为选片主题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0DD5EE-C191-43DE-BFE6-36C5E62C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44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6672C9A7-C114-4E04-8D1E-15E3C804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73069545-97EF-490E-A4A9-2F0A314D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主题A：生态环境法典的制度结构与编纂意义。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796C3C26-E58C-4976-AF19-C96C929B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38D7470E-A1A1-4C72-B360-D782F558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766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主题B：环境执法、公益保护或生态修复实践。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DA151861-32CA-452F-8113-5D526F0F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F3EF96BC-65C6-4E9A-A622-12F847F9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观看问题：哪些主体承担责任？证据怎样取得？修复怎样检验？</a:t>
            </a:r>
          </a:p>
        </p:txBody>
      </p:sp>
      <p:sp>
        <p:nvSpPr>
          <p:cNvPr id="16" name="item-index-3">
            <a:extLst xmlns:a="http://schemas.openxmlformats.org/drawingml/2006/main">
              <a:ext uri="{FF2B5EF4-FFF2-40B4-BE49-F238E27FC236}">
                <a16:creationId xmlns:a16="http://schemas.microsoft.com/office/drawing/2014/main" id="{12A25B82-48CF-44E5-87C3-1198B2F1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④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C543F3A6-5C69-4E0D-8EE6-80F4A5CB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149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建议每段选播90—150秒，无法播放时使用情境讨论。</a:t>
            </a:r>
          </a:p>
        </p:txBody>
      </p:sp>
    </p:spTree>
    <p:extLst>
      <p:ext uri="{BB962C8B-B14F-4D97-AF65-F5344CB8AC3E}">
        <p14:creationId xmlns:p14="http://schemas.microsoft.com/office/powerpoint/2010/main" val="74836050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6EB95-A318-40D6-92A4-F0A5739D56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f30d9ef4744e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4DCA61EF-8385-4F4B-AD20-743D3367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6343C4B2-6C20-46D8-B93A-E8AD122D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CBD714B9-6F20-4046-A0DD-74A52F3A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教学辅助与学习资源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754DF3D6-2255-4A61-AEC6-31CF5436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A4FC1FD1-0BB0-40F2-BE6D-27B7723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课后练习：用一项制度解释法典的重大意义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18F3F8F3-8B73-443E-B581-03D5BE8F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让观点有依据，让分析回到具体问题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4AA451F-8563-49D3-81C8-4E44CC6B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4e9f8353782f42f1"/>
              </a:rPr>
              <a:t>出处：《生态环境法典》 第二十一条、第一百一十一条、第九百七十四条、第一千零七十五条（据公开镜像，待官方复核）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8D747D-3E30-4F64-BF5E-824D6A9A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45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3EE6FB47-8D5E-46BF-AA02-CB46ACC4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7E777826-0BB1-4D14-ADD6-D0252490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选择一项制度：跨区域协同、生态补偿、绿色包装或公益保护。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F1F99B79-8F56-4B94-9153-01B2129F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69D5DC24-9EAA-43CA-8F40-E2413A0A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766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说明它回应的生态环境问题，区分事实与个人判断。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97600C71-BD34-469D-9837-886D1D22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1A532CCE-8B16-4337-9C59-5E8647E6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引用对应法律条文，标明文件名称、版本和条号。</a:t>
            </a:r>
          </a:p>
        </p:txBody>
      </p:sp>
      <p:sp>
        <p:nvSpPr>
          <p:cNvPr id="16" name="item-index-3">
            <a:extLst xmlns:a="http://schemas.openxmlformats.org/drawingml/2006/main">
              <a:ext uri="{FF2B5EF4-FFF2-40B4-BE49-F238E27FC236}">
                <a16:creationId xmlns:a16="http://schemas.microsoft.com/office/drawing/2014/main" id="{2008C3E6-2583-4865-807D-599308B2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④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812776F4-17D1-47BA-8321-54C361E5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149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联系人民福祉、生态安全或高质量发展，写出150字分析。</a:t>
            </a:r>
          </a:p>
        </p:txBody>
      </p:sp>
    </p:spTree>
    <p:extLst>
      <p:ext uri="{BB962C8B-B14F-4D97-AF65-F5344CB8AC3E}">
        <p14:creationId xmlns:p14="http://schemas.microsoft.com/office/powerpoint/2010/main" val="210781609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E73D0-A40D-490F-BA70-9F0811ECA0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9158ee3cc4ef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mplate-title-shadow">
            <a:extLst xmlns:a="http://schemas.openxmlformats.org/drawingml/2006/main">
              <a:ext uri="{FF2B5EF4-FFF2-40B4-BE49-F238E27FC236}">
                <a16:creationId xmlns:a16="http://schemas.microsoft.com/office/drawing/2014/main" id="{C200AFC1-0050-4C8C-BD2C-C5424A42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57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mplate-title-marker">
            <a:extLst xmlns:a="http://schemas.openxmlformats.org/drawingml/2006/main">
              <a:ext uri="{FF2B5EF4-FFF2-40B4-BE49-F238E27FC236}">
                <a16:creationId xmlns:a16="http://schemas.microsoft.com/office/drawing/2014/main" id="{3315688D-F483-4A6E-979D-14C56206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A3CEF17E-1674-46AB-9868-2DBFA7C6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教学辅助与学习资源</a:t>
            </a:r>
          </a:p>
        </p:txBody>
      </p:sp>
      <p:sp>
        <p:nvSpPr>
          <p:cNvPr id="5" name="template-header-rule">
            <a:extLst xmlns:a="http://schemas.openxmlformats.org/drawingml/2006/main">
              <a:ext uri="{FF2B5EF4-FFF2-40B4-BE49-F238E27FC236}">
                <a16:creationId xmlns:a16="http://schemas.microsoft.com/office/drawing/2014/main" id="{A612CD13-6A93-4E8A-89DC-05126C6A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9ADA0734-06C8-4E27-90B5-BB867972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430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1">
                <a:solidFill>
                  <a:srgbClr val="006600"/>
                </a:solidFill>
                <a:latin typeface="Noto Serif CJK SC"/>
                <a:ea typeface="Noto Serif CJK SC"/>
                <a:cs typeface="Noto Serif CJK SC"/>
              </a:rPr>
              <a:t>参考文献与延伸阅读</a:t>
            </a:r>
          </a:p>
        </p:txBody>
      </p:sp>
      <p:sp>
        <p:nvSpPr>
          <p:cNvPr id="7" name="subheading">
            <a:extLst xmlns:a="http://schemas.openxmlformats.org/drawingml/2006/main">
              <a:ext uri="{FF2B5EF4-FFF2-40B4-BE49-F238E27FC236}">
                <a16:creationId xmlns:a16="http://schemas.microsoft.com/office/drawing/2014/main" id="{8D6DDEF4-70D5-4FF9-AC09-E4761F0D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52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正文页脚提供简短出处，备注保留完整定位</a:t>
            </a:r>
          </a:p>
        </p:txBody>
      </p:sp>
      <p:sp>
        <p:nvSpPr>
          <p:cNvPr id="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737FB1A-0115-4DDF-91DD-F3052589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81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6253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48814616e4d4f0c"/>
              </a:rPr>
              <a:t>参考目录详见备注；本稿条文据公开镜像，尚未完成官方文本复核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CF376F-9AC2-4225-8E6D-4E169C6D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9684B"/>
                </a:solidFill>
                <a:latin typeface="Noto Sans CJK SC"/>
                <a:ea typeface="Noto Sans CJK SC"/>
                <a:cs typeface="Noto Sans CJK SC"/>
              </a:rPr>
              <a:t>46</a:t>
            </a:r>
          </a:p>
        </p:txBody>
      </p:sp>
      <p:sp>
        <p:nvSpPr>
          <p:cNvPr id="10" name="item-index-0">
            <a:extLst xmlns:a="http://schemas.openxmlformats.org/drawingml/2006/main">
              <a:ext uri="{FF2B5EF4-FFF2-40B4-BE49-F238E27FC236}">
                <a16:creationId xmlns:a16="http://schemas.microsoft.com/office/drawing/2014/main" id="{67E5A500-6186-4468-BE45-2D5A41A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①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F09850EC-B872-4CCB-8114-11765E48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《中华人民共和国生态环境法典》：第一条、第六条、五编结构及有关制度。</a:t>
            </a:r>
          </a:p>
        </p:txBody>
      </p:sp>
      <p:sp>
        <p:nvSpPr>
          <p:cNvPr id="12" name="item-index-1">
            <a:extLst xmlns:a="http://schemas.openxmlformats.org/drawingml/2006/main">
              <a:ext uri="{FF2B5EF4-FFF2-40B4-BE49-F238E27FC236}">
                <a16:creationId xmlns:a16="http://schemas.microsoft.com/office/drawing/2014/main" id="{22555E8D-7D34-4A26-A73E-8FFE3411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②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6D12A3A1-FBA8-4018-9647-828B57DE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813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《中华人民共和国宪法》：第九条、第二十六条。</a:t>
            </a:r>
          </a:p>
        </p:txBody>
      </p:sp>
      <p:sp>
        <p:nvSpPr>
          <p:cNvPr id="14" name="item-index-2">
            <a:extLst xmlns:a="http://schemas.openxmlformats.org/drawingml/2006/main">
              <a:ext uri="{FF2B5EF4-FFF2-40B4-BE49-F238E27FC236}">
                <a16:creationId xmlns:a16="http://schemas.microsoft.com/office/drawing/2014/main" id="{6FD2260C-ED66-4787-9310-F0548440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③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58612775-8BB6-4644-AAB3-62953CF2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052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2014年修订《环境保护法》：按历史版本理解制度发展。</a:t>
            </a:r>
          </a:p>
        </p:txBody>
      </p:sp>
      <p:sp>
        <p:nvSpPr>
          <p:cNvPr id="16" name="item-index-3">
            <a:extLst xmlns:a="http://schemas.openxmlformats.org/drawingml/2006/main">
              <a:ext uri="{FF2B5EF4-FFF2-40B4-BE49-F238E27FC236}">
                <a16:creationId xmlns:a16="http://schemas.microsoft.com/office/drawing/2014/main" id="{3F786E8A-63F7-46F1-83B3-F2DC820D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④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BD955E7D-CACE-4048-97AB-FC4B4F7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291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《中华人民共和国民法典》：第九条及生态环境修复责任。</a:t>
            </a:r>
          </a:p>
        </p:txBody>
      </p:sp>
      <p:sp>
        <p:nvSpPr>
          <p:cNvPr id="18" name="item-index-4">
            <a:extLst xmlns:a="http://schemas.openxmlformats.org/drawingml/2006/main">
              <a:ext uri="{FF2B5EF4-FFF2-40B4-BE49-F238E27FC236}">
                <a16:creationId xmlns:a16="http://schemas.microsoft.com/office/drawing/2014/main" id="{F2DF3CAE-F725-4289-98C9-EBF38077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409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6600"/>
                </a:solidFill>
                <a:latin typeface="Noto Sans CJK SC"/>
                <a:ea typeface="Noto Sans CJK SC"/>
                <a:cs typeface="Noto Sans CJK SC"/>
              </a:rPr>
              <a:t>⑤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8BCAEAE-553B-4D96-909C-E071836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3530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26312B"/>
                </a:solidFill>
                <a:latin typeface="Noto Serif CJK SC"/>
                <a:ea typeface="Noto Serif CJK SC"/>
                <a:cs typeface="Noto Serif CJK SC"/>
              </a:rPr>
              <a:t>《中华人民共和国立法法》：立法听取意见与草案征求意见程序。</a:t>
            </a:r>
          </a:p>
        </p:txBody>
      </p:sp>
    </p:spTree>
    <p:extLst>
      <p:ext uri="{BB962C8B-B14F-4D97-AF65-F5344CB8AC3E}">
        <p14:creationId xmlns:p14="http://schemas.microsoft.com/office/powerpoint/2010/main" val="2013047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2026-10-21T16:28:08.7420000Z</dcterms:created>
  <dcterms:modified xsi:type="dcterms:W3CDTF">2026-10-21T16:28:08.7420000Z</dcterms:modified>
</coreProperties>
</file>