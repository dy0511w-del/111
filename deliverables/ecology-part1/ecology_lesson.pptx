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e6d1eede884774" /><Relationship Type="http://schemas.openxmlformats.org/officeDocument/2006/relationships/extended-properties" Target="/docProps/app.xml" Id="R46d82932fc7544b8" /><Relationship Type="http://schemas.openxmlformats.org/officeDocument/2006/relationships/officeDocument" Target="/ppt/presentation.xml" Id="Re46dbdd34f6a4b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0ba79b2e1d4159"/>
  </p:sldMasterIdLst>
  <p:notesMasterIdLst>
    <p:notesMasterId xmlns:r="http://schemas.openxmlformats.org/officeDocument/2006/relationships" r:id="Rdda2358c3dd24304"/>
  </p:notesMasterIdLst>
  <p:sldIdLst>
    <p:sldId xmlns:r="http://schemas.openxmlformats.org/officeDocument/2006/relationships" id="256" r:id="Rcef9c331378a43bf"/>
    <p:sldId xmlns:r="http://schemas.openxmlformats.org/officeDocument/2006/relationships" id="257" r:id="R248eee9aed6e41ab"/>
    <p:sldId xmlns:r="http://schemas.openxmlformats.org/officeDocument/2006/relationships" id="258" r:id="R2055991a801448b7"/>
    <p:sldId xmlns:r="http://schemas.openxmlformats.org/officeDocument/2006/relationships" id="259" r:id="R7889f7db588a47ef"/>
    <p:sldId xmlns:r="http://schemas.openxmlformats.org/officeDocument/2006/relationships" id="260" r:id="Rbd5938301a164f0d"/>
    <p:sldId xmlns:r="http://schemas.openxmlformats.org/officeDocument/2006/relationships" id="261" r:id="Rc5835895ef224ba7"/>
    <p:sldId xmlns:r="http://schemas.openxmlformats.org/officeDocument/2006/relationships" id="262" r:id="Rc525c9bc12ca4b8b"/>
    <p:sldId xmlns:r="http://schemas.openxmlformats.org/officeDocument/2006/relationships" id="263" r:id="Rc88f74425dd14975"/>
    <p:sldId xmlns:r="http://schemas.openxmlformats.org/officeDocument/2006/relationships" id="264" r:id="Rfeeaf3c7f5a64e20"/>
    <p:sldId xmlns:r="http://schemas.openxmlformats.org/officeDocument/2006/relationships" id="265" r:id="Ref8f56725a4442eb"/>
    <p:sldId xmlns:r="http://schemas.openxmlformats.org/officeDocument/2006/relationships" id="266" r:id="Rb13002b7932446b4"/>
    <p:sldId xmlns:r="http://schemas.openxmlformats.org/officeDocument/2006/relationships" id="267" r:id="Raf43743938ec471c"/>
    <p:sldId xmlns:r="http://schemas.openxmlformats.org/officeDocument/2006/relationships" id="268" r:id="R507f6f8b300f4a21"/>
    <p:sldId xmlns:r="http://schemas.openxmlformats.org/officeDocument/2006/relationships" id="269" r:id="R920b8d6941714cbc"/>
    <p:sldId xmlns:r="http://schemas.openxmlformats.org/officeDocument/2006/relationships" id="270" r:id="R4dbc80e04b264e05"/>
    <p:sldId xmlns:r="http://schemas.openxmlformats.org/officeDocument/2006/relationships" id="271" r:id="R4d3e212f782b45dd"/>
    <p:sldId xmlns:r="http://schemas.openxmlformats.org/officeDocument/2006/relationships" id="272" r:id="Rdaf59c575bb04d4a"/>
    <p:sldId xmlns:r="http://schemas.openxmlformats.org/officeDocument/2006/relationships" id="273" r:id="Rb2c944859f204f45"/>
    <p:sldId xmlns:r="http://schemas.openxmlformats.org/officeDocument/2006/relationships" id="274" r:id="R50aebfbaa28b4c8c"/>
    <p:sldId xmlns:r="http://schemas.openxmlformats.org/officeDocument/2006/relationships" id="275" r:id="R297e3e0af42d4b24"/>
    <p:sldId xmlns:r="http://schemas.openxmlformats.org/officeDocument/2006/relationships" id="276" r:id="R015e9f1a9df8430b"/>
    <p:sldId xmlns:r="http://schemas.openxmlformats.org/officeDocument/2006/relationships" id="277" r:id="R7cdd25133b2e48a8"/>
    <p:sldId xmlns:r="http://schemas.openxmlformats.org/officeDocument/2006/relationships" id="278" r:id="R54ae1ed1c5b24c07"/>
    <p:sldId xmlns:r="http://schemas.openxmlformats.org/officeDocument/2006/relationships" id="279" r:id="R3f066753347845f7"/>
    <p:sldId xmlns:r="http://schemas.openxmlformats.org/officeDocument/2006/relationships" id="280" r:id="R4bff7e93406a4901"/>
    <p:sldId xmlns:r="http://schemas.openxmlformats.org/officeDocument/2006/relationships" id="281" r:id="R483fbecbe1934f55"/>
    <p:sldId xmlns:r="http://schemas.openxmlformats.org/officeDocument/2006/relationships" id="282" r:id="Ra5dc6df4f3ca49b9"/>
    <p:sldId xmlns:r="http://schemas.openxmlformats.org/officeDocument/2006/relationships" id="283" r:id="Ra268a2bfb23f4489"/>
    <p:sldId xmlns:r="http://schemas.openxmlformats.org/officeDocument/2006/relationships" id="284" r:id="Reac37b7209ce4c56"/>
    <p:sldId xmlns:r="http://schemas.openxmlformats.org/officeDocument/2006/relationships" id="285" r:id="Rf798cb90d83e4598"/>
    <p:sldId xmlns:r="http://schemas.openxmlformats.org/officeDocument/2006/relationships" id="286" r:id="R672d0cbec70644e6"/>
    <p:sldId xmlns:r="http://schemas.openxmlformats.org/officeDocument/2006/relationships" id="287" r:id="R41ff06f3708242c4"/>
    <p:sldId xmlns:r="http://schemas.openxmlformats.org/officeDocument/2006/relationships" id="288" r:id="R9c561e9085754a46"/>
    <p:sldId xmlns:r="http://schemas.openxmlformats.org/officeDocument/2006/relationships" id="289" r:id="R1adfc6cf50784334"/>
    <p:sldId xmlns:r="http://schemas.openxmlformats.org/officeDocument/2006/relationships" id="290" r:id="R329b81fb5c7e4ebe"/>
    <p:sldId xmlns:r="http://schemas.openxmlformats.org/officeDocument/2006/relationships" id="291" r:id="R07520ef2312d473f"/>
    <p:sldId xmlns:r="http://schemas.openxmlformats.org/officeDocument/2006/relationships" id="292" r:id="R28ff7f5f4fb040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90dc4f94744e40" /><Relationship Type="http://schemas.openxmlformats.org/officeDocument/2006/relationships/slideMaster" Target="/ppt/slideMasters/slideMaster1.xml" Id="R1c0ba79b2e1d4159" /><Relationship Type="http://schemas.openxmlformats.org/officeDocument/2006/relationships/notesMaster" Target="/ppt/notesMasters/notesMaster1.xml" Id="Rdda2358c3dd24304" /><Relationship Type="http://schemas.openxmlformats.org/officeDocument/2006/relationships/presProps" Target="/ppt/presProps.xml" Id="R2013267426c44667" /><Relationship Type="http://schemas.openxmlformats.org/officeDocument/2006/relationships/tableStyles" Target="/ppt/tableStyles.xml" Id="R212b8025dca44945" /><Relationship Type="http://schemas.openxmlformats.org/officeDocument/2006/relationships/slide" Target="/ppt/slides/slide1.xml" Id="Rcef9c331378a43bf" /><Relationship Type="http://schemas.openxmlformats.org/officeDocument/2006/relationships/slide" Target="/ppt/slides/slide2.xml" Id="R248eee9aed6e41ab" /><Relationship Type="http://schemas.openxmlformats.org/officeDocument/2006/relationships/slide" Target="/ppt/slides/slide3.xml" Id="R2055991a801448b7" /><Relationship Type="http://schemas.openxmlformats.org/officeDocument/2006/relationships/slide" Target="/ppt/slides/slide4.xml" Id="R7889f7db588a47ef" /><Relationship Type="http://schemas.openxmlformats.org/officeDocument/2006/relationships/slide" Target="/ppt/slides/slide5.xml" Id="Rbd5938301a164f0d" /><Relationship Type="http://schemas.openxmlformats.org/officeDocument/2006/relationships/slide" Target="/ppt/slides/slide6.xml" Id="Rc5835895ef224ba7" /><Relationship Type="http://schemas.openxmlformats.org/officeDocument/2006/relationships/slide" Target="/ppt/slides/slide7.xml" Id="Rc525c9bc12ca4b8b" /><Relationship Type="http://schemas.openxmlformats.org/officeDocument/2006/relationships/slide" Target="/ppt/slides/slide8.xml" Id="Rc88f74425dd14975" /><Relationship Type="http://schemas.openxmlformats.org/officeDocument/2006/relationships/slide" Target="/ppt/slides/slide9.xml" Id="Rfeeaf3c7f5a64e20" /><Relationship Type="http://schemas.openxmlformats.org/officeDocument/2006/relationships/slide" Target="/ppt/slides/slide10.xml" Id="Ref8f56725a4442eb" /><Relationship Type="http://schemas.openxmlformats.org/officeDocument/2006/relationships/slide" Target="/ppt/slides/slide11.xml" Id="Rb13002b7932446b4" /><Relationship Type="http://schemas.openxmlformats.org/officeDocument/2006/relationships/slide" Target="/ppt/slides/slide12.xml" Id="Raf43743938ec471c" /><Relationship Type="http://schemas.openxmlformats.org/officeDocument/2006/relationships/slide" Target="/ppt/slides/slide13.xml" Id="R507f6f8b300f4a21" /><Relationship Type="http://schemas.openxmlformats.org/officeDocument/2006/relationships/slide" Target="/ppt/slides/slide14.xml" Id="R920b8d6941714cbc" /><Relationship Type="http://schemas.openxmlformats.org/officeDocument/2006/relationships/slide" Target="/ppt/slides/slide15.xml" Id="R4dbc80e04b264e05" /><Relationship Type="http://schemas.openxmlformats.org/officeDocument/2006/relationships/slide" Target="/ppt/slides/slide16.xml" Id="R4d3e212f782b45dd" /><Relationship Type="http://schemas.openxmlformats.org/officeDocument/2006/relationships/slide" Target="/ppt/slides/slide17.xml" Id="Rdaf59c575bb04d4a" /><Relationship Type="http://schemas.openxmlformats.org/officeDocument/2006/relationships/slide" Target="/ppt/slides/slide18.xml" Id="Rb2c944859f204f45" /><Relationship Type="http://schemas.openxmlformats.org/officeDocument/2006/relationships/slide" Target="/ppt/slides/slide19.xml" Id="R50aebfbaa28b4c8c" /><Relationship Type="http://schemas.openxmlformats.org/officeDocument/2006/relationships/slide" Target="/ppt/slides/slide20.xml" Id="R297e3e0af42d4b24" /><Relationship Type="http://schemas.openxmlformats.org/officeDocument/2006/relationships/slide" Target="/ppt/slides/slide21.xml" Id="R015e9f1a9df8430b" /><Relationship Type="http://schemas.openxmlformats.org/officeDocument/2006/relationships/slide" Target="/ppt/slides/slide22.xml" Id="R7cdd25133b2e48a8" /><Relationship Type="http://schemas.openxmlformats.org/officeDocument/2006/relationships/slide" Target="/ppt/slides/slide23.xml" Id="R54ae1ed1c5b24c07" /><Relationship Type="http://schemas.openxmlformats.org/officeDocument/2006/relationships/slide" Target="/ppt/slides/slide24.xml" Id="R3f066753347845f7" /><Relationship Type="http://schemas.openxmlformats.org/officeDocument/2006/relationships/slide" Target="/ppt/slides/slide25.xml" Id="R4bff7e93406a4901" /><Relationship Type="http://schemas.openxmlformats.org/officeDocument/2006/relationships/slide" Target="/ppt/slides/slide26.xml" Id="R483fbecbe1934f55" /><Relationship Type="http://schemas.openxmlformats.org/officeDocument/2006/relationships/slide" Target="/ppt/slides/slide27.xml" Id="Ra5dc6df4f3ca49b9" /><Relationship Type="http://schemas.openxmlformats.org/officeDocument/2006/relationships/slide" Target="/ppt/slides/slide28.xml" Id="Ra268a2bfb23f4489" /><Relationship Type="http://schemas.openxmlformats.org/officeDocument/2006/relationships/slide" Target="/ppt/slides/slide29.xml" Id="Reac37b7209ce4c56" /><Relationship Type="http://schemas.openxmlformats.org/officeDocument/2006/relationships/slide" Target="/ppt/slides/slide30.xml" Id="Rf798cb90d83e4598" /><Relationship Type="http://schemas.openxmlformats.org/officeDocument/2006/relationships/slide" Target="/ppt/slides/slide31.xml" Id="R672d0cbec70644e6" /><Relationship Type="http://schemas.openxmlformats.org/officeDocument/2006/relationships/slide" Target="/ppt/slides/slide32.xml" Id="R41ff06f3708242c4" /><Relationship Type="http://schemas.openxmlformats.org/officeDocument/2006/relationships/slide" Target="/ppt/slides/slide33.xml" Id="R9c561e9085754a46" /><Relationship Type="http://schemas.openxmlformats.org/officeDocument/2006/relationships/slide" Target="/ppt/slides/slide34.xml" Id="R1adfc6cf50784334" /><Relationship Type="http://schemas.openxmlformats.org/officeDocument/2006/relationships/slide" Target="/ppt/slides/slide35.xml" Id="R329b81fb5c7e4ebe" /><Relationship Type="http://schemas.openxmlformats.org/officeDocument/2006/relationships/slide" Target="/ppt/slides/slide36.xml" Id="R07520ef2312d473f" /><Relationship Type="http://schemas.openxmlformats.org/officeDocument/2006/relationships/slide" Target="/ppt/slides/slide37.xml" Id="R28ff7f5f4fb040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355353228f43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310a7d98b44813" /><Relationship Type="http://schemas.openxmlformats.org/officeDocument/2006/relationships/notesMaster" Target="/ppt/notesMasters/notesMaster1.xml" Id="Rdd186b24babe4b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9169fa4b7d4a09" /><Relationship Type="http://schemas.openxmlformats.org/officeDocument/2006/relationships/notesMaster" Target="/ppt/notesMasters/notesMaster1.xml" Id="R65625163b03d4a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e8a8934b7b4137" /><Relationship Type="http://schemas.openxmlformats.org/officeDocument/2006/relationships/notesMaster" Target="/ppt/notesMasters/notesMaster1.xml" Id="R7dc8e93878e347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b45e8f06584baf" /><Relationship Type="http://schemas.openxmlformats.org/officeDocument/2006/relationships/notesMaster" Target="/ppt/notesMasters/notesMaster1.xml" Id="R3af123ed97204a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2d85a226b34987" /><Relationship Type="http://schemas.openxmlformats.org/officeDocument/2006/relationships/notesMaster" Target="/ppt/notesMasters/notesMaster1.xml" Id="Rc7e9165278f2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3a958ab0941d5" /><Relationship Type="http://schemas.openxmlformats.org/officeDocument/2006/relationships/notesMaster" Target="/ppt/notesMasters/notesMaster1.xml" Id="Rcfdf118489684d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a62ad8803140b5" /><Relationship Type="http://schemas.openxmlformats.org/officeDocument/2006/relationships/notesMaster" Target="/ppt/notesMasters/notesMaster1.xml" Id="Raf087df2f9cf48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62f3028f544627" /><Relationship Type="http://schemas.openxmlformats.org/officeDocument/2006/relationships/notesMaster" Target="/ppt/notesMasters/notesMaster1.xml" Id="R2f7b552d9e834c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e0b4ab52284464" /><Relationship Type="http://schemas.openxmlformats.org/officeDocument/2006/relationships/notesMaster" Target="/ppt/notesMasters/notesMaster1.xml" Id="Ra15acfa1ad4d4f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9f2f9671e44b71" /><Relationship Type="http://schemas.openxmlformats.org/officeDocument/2006/relationships/notesMaster" Target="/ppt/notesMasters/notesMaster1.xml" Id="R01543588e9c743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233c0834734229" /><Relationship Type="http://schemas.openxmlformats.org/officeDocument/2006/relationships/notesMaster" Target="/ppt/notesMasters/notesMaster1.xml" Id="R39a7998456af42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4d7bad6e72415e" /><Relationship Type="http://schemas.openxmlformats.org/officeDocument/2006/relationships/notesMaster" Target="/ppt/notesMasters/notesMaster1.xml" Id="R3259cf3d4e9c47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a76c668f134cf5" /><Relationship Type="http://schemas.openxmlformats.org/officeDocument/2006/relationships/notesMaster" Target="/ppt/notesMasters/notesMaster1.xml" Id="R9958bb6d89b145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ec6114da024aa6" /><Relationship Type="http://schemas.openxmlformats.org/officeDocument/2006/relationships/notesMaster" Target="/ppt/notesMasters/notesMaster1.xml" Id="Rb7b576fc2ecd4d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bf09b810774609" /><Relationship Type="http://schemas.openxmlformats.org/officeDocument/2006/relationships/notesMaster" Target="/ppt/notesMasters/notesMaster1.xml" Id="R901fcec22f4746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5bce719bee4c8e" /><Relationship Type="http://schemas.openxmlformats.org/officeDocument/2006/relationships/notesMaster" Target="/ppt/notesMasters/notesMaster1.xml" Id="Ra022b81270e14a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ce110805914bb7" /><Relationship Type="http://schemas.openxmlformats.org/officeDocument/2006/relationships/notesMaster" Target="/ppt/notesMasters/notesMaster1.xml" Id="R2d55386279384a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82cb759d084a67" /><Relationship Type="http://schemas.openxmlformats.org/officeDocument/2006/relationships/notesMaster" Target="/ppt/notesMasters/notesMaster1.xml" Id="R2692308b50684c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ef9d24df924ed3" /><Relationship Type="http://schemas.openxmlformats.org/officeDocument/2006/relationships/notesMaster" Target="/ppt/notesMasters/notesMaster1.xml" Id="Ra480c97d1ecc4b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3c13d583494420" /><Relationship Type="http://schemas.openxmlformats.org/officeDocument/2006/relationships/notesMaster" Target="/ppt/notesMasters/notesMaster1.xml" Id="Rd7e48ca7ca37492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69e2121c23492d" /><Relationship Type="http://schemas.openxmlformats.org/officeDocument/2006/relationships/notesMaster" Target="/ppt/notesMasters/notesMaster1.xml" Id="Rd5da873fb2cb4f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61f300d54344ad" /><Relationship Type="http://schemas.openxmlformats.org/officeDocument/2006/relationships/notesMaster" Target="/ppt/notesMasters/notesMaster1.xml" Id="R10f6877dd7eb4b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541316cda74ec3" /><Relationship Type="http://schemas.openxmlformats.org/officeDocument/2006/relationships/notesMaster" Target="/ppt/notesMasters/notesMaster1.xml" Id="R1b4125a6dd274d3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768ed11c8b4438" /><Relationship Type="http://schemas.openxmlformats.org/officeDocument/2006/relationships/notesMaster" Target="/ppt/notesMasters/notesMaster1.xml" Id="R342dcdb6853847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9906c4ae28406d" /><Relationship Type="http://schemas.openxmlformats.org/officeDocument/2006/relationships/notesMaster" Target="/ppt/notesMasters/notesMaster1.xml" Id="Rbd138dc9045446f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bc5a3d374f84831" /><Relationship Type="http://schemas.openxmlformats.org/officeDocument/2006/relationships/notesMaster" Target="/ppt/notesMasters/notesMaster1.xml" Id="R8a969d8a8c8540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3eb7bc95224aa8" /><Relationship Type="http://schemas.openxmlformats.org/officeDocument/2006/relationships/notesMaster" Target="/ppt/notesMasters/notesMaster1.xml" Id="R1e8b970ae55a4bf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f08a013ed840f3" /><Relationship Type="http://schemas.openxmlformats.org/officeDocument/2006/relationships/notesMaster" Target="/ppt/notesMasters/notesMaster1.xml" Id="R10c3e1311a2840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c6658015694254" /><Relationship Type="http://schemas.openxmlformats.org/officeDocument/2006/relationships/notesMaster" Target="/ppt/notesMasters/notesMaster1.xml" Id="R01c29ada5cb545a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2df51776f24cd8" /><Relationship Type="http://schemas.openxmlformats.org/officeDocument/2006/relationships/notesMaster" Target="/ppt/notesMasters/notesMaster1.xml" Id="Rdbdac7160726435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857d6ea20bf4e40" /><Relationship Type="http://schemas.openxmlformats.org/officeDocument/2006/relationships/notesMaster" Target="/ppt/notesMasters/notesMaster1.xml" Id="R904438d6b6ee43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f9e52ff71c34878" /><Relationship Type="http://schemas.openxmlformats.org/officeDocument/2006/relationships/notesMaster" Target="/ppt/notesMasters/notesMaster1.xml" Id="R25f962225c08496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76b73fc90a842fd" /><Relationship Type="http://schemas.openxmlformats.org/officeDocument/2006/relationships/notesMaster" Target="/ppt/notesMasters/notesMaster1.xml" Id="R3f8cd3ee67564c7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abae2f0ed24690" /><Relationship Type="http://schemas.openxmlformats.org/officeDocument/2006/relationships/notesMaster" Target="/ppt/notesMasters/notesMaster1.xml" Id="R4d0613abe1a741a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5599d6b4e524a46" /><Relationship Type="http://schemas.openxmlformats.org/officeDocument/2006/relationships/notesMaster" Target="/ppt/notesMasters/notesMaster1.xml" Id="Rca597ad2aa924db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3e46c34f0214d68" /><Relationship Type="http://schemas.openxmlformats.org/officeDocument/2006/relationships/notesMaster" Target="/ppt/notesMasters/notesMaster1.xml" Id="Rdd211912f3f94e4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bf9c02a7aa44c7d" /><Relationship Type="http://schemas.openxmlformats.org/officeDocument/2006/relationships/notesMaster" Target="/ppt/notesMasters/notesMaster1.xml" Id="R44023bfb0a9844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同学们，今天我们一起讨论一个与国家发展、民族未来和每个人日常生活都密切相关的主题：全面推进人与自然和谐共生，实现中华民族永续发展。这里的“永续”，意味着今天的发展要为未来留下空间，今天获得的成果要经得起时间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堂课围绕三个问题展开：新时代生态文明建设取得了哪些成就？为什么要充分认识编纂施行生态环境法典的重大意义？面向“十五五”，美丽中国建设还有哪些任务需要我们共同完成？希望大家带着身边的观察进入课堂，也带着可以落实的行动走出课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课程主题依据党的二十大报告等；本次为第一阶段教学稿。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请大家回想一下，今天从起床到走进教室，在哪些时候与生态环境发生了联系？打开水龙头、呼吸室外空气、购买早餐、乘车出行、给手机充电，每一个环节都连接着水、土地、能源和生态系统。生态文明建设就在这些看得见、用得着的生活细节之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环境改善能让人直接感受到幸福，环境问题也可能通过健康、生活成本和公共安全影响每个人。理解生态文明，首先要理解这种联系：生态环境质量是一种基础性公共产品，保护它，需要政府、企业和公众一起承担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依据党的二十大报告等；生活情境为教师举例。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第一个问题是“怎么看成就”。我们既要看到蓝天碧水、绿色产业和生态保护取得的进展，也要理解这些进展背后的理念变化、制度建设与长期投入。第二个问题是“为什么靠法治”。生态环境保护涉及许多主体，只有形成稳定、明确、可执行的规则，治理才能持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个问题是“下一步怎么干”。“十五五”指2026年至2030年。我们将依据已有权威部署分析这一时期面临的形势和任务，并学会区分正式规划目标、既有政策目标与课堂分析判断。学习的结果，应当是能够解释问题，也能够提出有依据的行动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[R04] 中共中央、国务院：《关于加快经济社会发展全面绿色转型的意见》，文件日期2024年7月31日，2024年8月11日公开发布。定位：产业、能源、交通、城乡建设、消费与支撑保障。官方检索入口：中国政府网。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三个问题与学习目标为教学设计；后两部分另行制作。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今天的三个部分是一条相互联系的逻辑链。建设成就说明，人与自然和谐共生能够在实践中不断推进；法治建设回答，如何把有效做法转化为稳定的制度安排；未来任务则说明，面对新情况，已有经验和制度还需要继续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讲成就，要讲清楚成就是怎样取得的；讲法典，要讲清楚规则如何进入治理过程；讲“十五五”，要把发展目标与实施条件联系起来。这样，我们才能从一幅风景照片进一步看到公共政策，从一个典型案例进一步理解国家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依据相关报告与政策形成的教学逻辑，属教师归纳。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党的二十大报告指出：“人与自然是生命共同体。”理解这句话，可以从最基本的事实出发：人的生产生活需要空气、水、土壤和稳定的生态系统，经济活动始终发生在自然条件之中。生态系统的承载能力，构成发展的重要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人与自然看作生命共同体，意味着分析发展问题时，需要把生态影响一起考虑。建一座工厂，要考虑资源消耗和污染治理；发展一座城市，要考虑水安全、绿地与热环境。尊重自然规律，才能让发展成果稳定积累，让代际之间形成更加负责任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习近平：党的二十大报告，2022年10月16日，第三部分；其余为讲解。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党的二十大报告把人与自然和谐共生作为中国式现代化的重要特征。我国人口规模巨大，地区之间发展条件差异明显，资源环境约束具有长期性。现代化推进到哪里，资源节约、环境保护和生态治理的要求就需要落实到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意味着，现代化水平需要从多个维度衡量：既看产业和收入，也看生活环境、资源利用效率和生态安全。我们希望获得的发展，是让人民生活更加富裕、生态环境更加优美、社会运行更加安全的发展。绿色要求因此进入现代化建设的全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党的二十大报告，第三、十部分；三项解释为教师归纳。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2023年全国生态环境保护大会强调，推进生态文明建设需要处理好五个重大关系，包括高质量发展和高水平保护、重点攻坚和协同治理、自然恢复和人工修复、外部约束和内生动力、“双碳”承诺和自主行动。这为我们分析复杂问题提供了重要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治理一条河流，要抓住突出污染问题，也要看到上下游、左右岸和产业活动的联系；修复一片生态空间，要判断自然恢复的条件，也要合理安排人工措施。把这些关系处理好，治理才能更有针对性，发展与保护才能形成相互促进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据新华社2023年7月18日大会公开报道；左侧短语为教学提炼。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评价生态文明建设，可以从环境质量、生态系统、发展方式和治理能力四个方面观察。环境质量回答空气和水是否改善；生态系统回答自然空间能否持续发挥功能；发展方式回答增长对资源环境的依赖是否发生变化；治理能力回答制度能否及时发现并解决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要把空间和时间考虑进去。一个地方的改善，应当避免通过转移污染让其他地方承担成本；一项治理措施，也要考察长期效果。接下来我们就沿着这四个维度，理解新时代生态文明建设取得的巨大成就，同时保持实事求是的分析态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四维观察框架为教师归纳，不作为文件原文引用。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党的二十大报告总结新时代十年的变化时指出：“生态环境保护发生历史性、转折性、全局性变化。”理解这三个词，需要既看环境面貌，也看工作格局。生态环境保护在国家发展中的位置更加突出，治理要求更加严格，社会参与更加广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变化并非某一项工程单独完成，而是理念、责任、制度、投入和技术共同作用的结果。我们可以把成就理解为一个综合过程：生态文明理念进入发展决策，治理责任逐步压实，突出环境问题持续整治，经济社会发展的绿色转型不断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习近平：党的二十大报告，2022年10月16日，第一部分。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“绿水青山就是金山银山”的理念，提醒我们重新认识生态环境与经济发展的关系。良好的生态环境能够改善生活条件，也能够通过优质农产品、生态旅游、绿色产业等途径形成发展优势。破坏生态所造成的损失，同样应当进入发展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过，生态价值的实现需要具体条件。一个村庄拥有良好山水，还需要交通、公共服务、经营能力和稳定的保护规则，才能形成可持续的产业。学习这一理念，应当把保护的前提、转化的条件和利益分配的公平性一起理解，避免把生态优势简单等同于即时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依据“两山”理念与美丽中国建设部署；转化条件为教师分析。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生态文明建设取得成就，一个重要原因是责任体系不断健全。生态环境保护逐步纳入各级各部门的履职要求，规划、监管、督察、考核等制度相互衔接。对具体问题而言，需要能够找到责任主体，也需要能够追踪整改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，一条河流出现污染，要查清污染来源、属地责任和相关部门职责；整改以后，还需要通过监测和公开信息观察成效。责任越清晰，治理越容易形成持续推进的机制。这也说明，生态文明建设既需要理念引领，又需要能够落实到岗位和程序的制度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责任体系依据相关部署；治理流程为教学示例。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播放配套原创教学微动画 eco_value.mp4。影片为虚构情境与机制示意，非余村实景、非第三方新闻报道。先观察生态保护、公共服务、绿色产业、共享收益之间的关系，再讨论余村等现实案例为什么不能简单照搬。动画约36秒、无配音，可由教师结合图示讲解；随后讨论1分钟：有了好山水，是否就一定有好收入？保护规则、经营能力、服务配套与公平分配，各起什么作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本页为原创教学机制动画，非余村实景纪录。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空气质量改善是许多人感受最直接的变化。治理过程涉及工业排放、燃煤使用、机动车、扬尘以及区域污染传输等多个方面。空气治理能够取得进展，依靠的是能源、产业、交通和监管措施的持续配合。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观察蓝天保卫战，既可以看优良天数，也要看细颗粒物等污染物浓度，还要注意臭氧等问题。不同指标回答的问题各有侧重。我们在肯定改善成效的同时，需要理解复合型污染治理的长期性，避免因为某一天天气晴朗就认为任务已经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[R05] 生态环境部：《2023中国生态环境状况公报》，2024年发布。定位：“大气环境”“水生态环境”。本稿使用2023年度历史值：PM2.5平均浓度30微克/立方米、空气质量优良天数比例85.5%、全国地表水国考断面（点位）Ⅰ—Ⅲ类比例89.4%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[R11] 国务院：《关于印发〈空气质量持续改善行动计划〉的通知》，国发〔2023〕24号，2023年11月30日。定位：结构调整、污染协同治理、科学监管。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依据二十大报告、公报及《空气质量持续改善行动计划》；框架为教师归纳。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这里采用《2023中国生态环境状况公报》的年度口径作为统计示例。2023年，全国地级及以上城市细颗粒物，也就是PM2.5，平均浓度为30微克每立方米；空气质量优良天数比例为85.5%。请注意，这些是2023年的数据，不代表授课时的最新年度水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的意义在于帮助我们从个人感受走向整体认识。全国平均值不能替代对每个城市的判断，年度平均值也不能解释每一次污染过程。制作PPT时，应保留年份、指标名称、单位和来源；如果更新数据，需要将相应年份和口径一并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[R05] 生态环境部：《2023中国生态环境状况公报》，2024年发布。定位：“大气环境”“水生态环境”。本稿使用2023年度历史值：PM2.5平均浓度30微克/立方米、空气质量优良天数比例85.5%、全国地表水国考断面（点位）Ⅰ—Ⅲ类比例89.4%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生态环境部《2023中国生态环境状况公报》“大气环境”；非最新年度数据。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水环境治理关系饮水安全、城市生活、农业生产和流域生态。新时代水治理的一个鲜明方向，是把具体污染源治理与流域整体保护联系起来。工业废水、生活污水、农业面源污染和河湖生态之间，需要形成相互衔接的治理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城市河流为例，清理水面垃圾只能处理部分问题，污水管网、排口管理、生态流量和岸线保护都会影响长期水质。我们评价一条河治理得好不好，应当观察污染是否减少、生态功能是否恢复、治理设施能否稳定运行，以及群众能否持续获得改善后的公共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[R05] 生态环境部：《2023中国生态环境状况公报》，2024年发布。定位：“大气环境”“水生态环境”。本稿使用2023年度历史值：PM2.5平均浓度30微克/立方米、空气质量优良天数比例85.5%、全国地表水国考断面（点位）Ⅰ—Ⅲ类比例89.4%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依据相关部署与年度公报；城市河流治理情境为教师举例。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《2023中国生态环境状况公报》显示，2023年全国地表水国考断面（点位）中，水质优良，也就是Ⅰ至Ⅲ类，的比例为89.4%。这里的统计对象是监测断面（点位），不能改写成全国89.4%的河流都完全达到某种状态，更不能直接等同于饮用水合格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例子提醒我们，数据表达的准确性也是生态文明教育的重要内容。水体类别、监测对象、评价方法和用途之间存在区别。只有把概念说清楚，才能正确理解治理成果，也才能对尚需改善的区域、水体和时段作出更有依据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[R05] 生态环境部：《2023中国生态环境状况公报》，2024年发布。定位：“大气环境”“水生态环境”。本稿使用2023年度历史值：PM2.5平均浓度30微克/立方米、空气质量优良天数比例85.5%、全国地表水国考断面（点位）Ⅰ—Ⅲ类比例89.4%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生态环境部《2023中国生态环境状况公报》“水生态环境”；指标解读为教师讲解。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与蓝天、河流相比，土壤污染往往不容易被直接观察，却与农产品质量、土地利用和人体健康密切相关。土壤环境保护需要把污染源预防、风险识别、分类管理和必要修复连接起来，重点守住安全利用的底线。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是一块土地，未来用于住宅、学校、工业设施还是其他用途，所需要考虑的暴露情景和风险管理要求会有不同。因此，土壤治理需要调查评估和专业判断。理解净土保卫战，应当认识到环境治理有长期性，也要避免仅凭土地表面是否整洁来判断环境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依据污染防治相关部署；用途比较与流程为教学示例。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生态环境治理持续推进，一个重要变化是更加重视源头预防。污染形成以后再治理，往往需要承担更高成本；在项目布局、工艺选择、资源使用和产品设计阶段减少环境压力，能够为后续治理创造更好的条件。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一家企业选择更加清洁的生产工艺，既可能减少污染物产生，也可能提高原料利用效率。一个地区在规划阶段避开重要生态空间，可以降低后续开发与保护之间的冲突。源头预防的价值，就在于把环境要求提前进入发展决策，使保护更加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[R04] 中共中央、国务院：《关于加快经济社会发展全面绿色转型的意见》，文件日期2024年7月31日，2024年8月11日公开发布。定位：产业、能源、交通、城乡建设、消费与支撑保障。官方检索入口：中国政府网。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[R10] 中共中央办公厅、国务院办公厅：《关于加强生态环境分区管控的意见》，2024年3月17日公开发布。定位：源头预防、空间差异、分区管控与治理协同。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依据全面绿色转型与生态环境分区管控部署；三阶段框架为教师归纳。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生态系统由相互联系的水、土壤、植被、动物和其他要素共同构成。新时代生态保护更加重视系统性，强调统筹山水林田湖草沙一体化保护和系统治理。这种思路能够帮助我们理解，修复一片区域时，需要考虑各要素之间的作用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，流域上游植被变化可能影响下游泥沙和水质，湿地变化可能影响生物栖息和蓄洪能力。系统治理要求跨越单个工程的边界，把自然过程、空间格局和人类活动一起纳入分析，从而提高生态保护修复的整体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教师归纳与机制示例；依据党的二十大报告第十部分。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重要生态空间承担着水源涵养、水土保持、生物多样性维护等功能。划定并严守生态保护红线，是维护国家生态安全的重要制度安排。理解红线，要把握其保护对象和功能要求，也要认识到严格保护需要与用途管制、监测监管相衔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实际工作中，地图上的边界需要转化为项目决策、土地使用和日常管理中的约束。与此同时，红线之外的生态空间同样需要依法保护。红线制度帮助我们守住重要底线，日常治理则需要覆盖更广泛的区域和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[R10] 中共中央办公厅、国务院办公厅：《关于加强生态环境分区管控的意见》，2024年3月17日公开发布。定位：源头预防、空间差异、分区管控与治理协同。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教师归纳；红线外仍须依法保护，不以示意边界替代法定范围。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以国家公园为主体的自然保护地体系建设，为重要自然生态系统的保护提供了制度支撑。课堂上可以以三江源、大熊猫、东北虎豹、海南热带雨林、武夷山等首批国家公园为观察对象，理解不同区域各自承担的生态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公园建设还涉及科研监测、社区参与、公众教育和合理利用等问题。保护好自然生态，需要把空间保护、物种保护和当地居民的生产生活联系起来研究。评价保护成效时，应更多关注生态系统是否保持健康、关键栖息地是否得到有效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[R16] 习近平在《生物多样性公约》第十五次缔约方大会领导人峰会上的主旨讲话，2021年10月12日。定位：首批国家公园设立宣布。五个名称为2021年历史名单，不能当作授课时全部名单。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首批国家公园（2021）历史名单；不是授课时全部国家公园名单。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生物多样性包括遗传、物种和生态系统等层次。它与粮食生产、药物资源、授粉、水循环以及生态系统稳定性都有联系。保护生物多样性，就是维护人类赖以生存的生命网络，也是在为未来保留更多应对变化的可能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众容易关注珍稀动物的新闻，治理工作还需要关注栖息地完整性、生态廊道、外来入侵物种以及普通物种的生存条件。一个珍稀物种出现，可以提供重要观察线索；要评价整体保护效果，还需要更系统的监测与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[R15] 生态环境部：《中国生物多样性保护战略与行动计划（2023—2030年）》，2024年发布。定位：生物多样性保护、栖息地、监测和社会参与。具体概念解释另标教师讲解。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层次解释与成效判断为教师讲解，不将单次观察等同于系统证据。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长江、黄河等重要流域的生态保护，关系经济社会发展和国家生态安全。流域内部上下游联系紧密，水资源利用、产业布局、岸线管理和污染防治相互影响，需要建立跨地区、跨部门的协调机制。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流域视角看，一个地区作出保护投入，生态效益可能在更大范围显现。因此，治理既需要明确各自责任，也需要推进协作与合理的利益协调。流域保护的经验告诉我们，共享生态环境的地区，需要共同制定规则、共同解决问题、共同维护治理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流域协同机制为教师归纳；图示不代表具体流域工程或实测数据。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新时代生态文明建设的成就，也体现在经济社会发展的绿色转型之中。节能降耗、清洁能源、绿色制造、循环利用和绿色服务等不断发展，使环境保护与产业升级之间形成更多联系。生态文明建设逐步深入生产和生活的各个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理解绿色转型，可以沿着一件产品的生命周期观察：原料从哪里来，制造消耗多少能源，运输怎样安排，使用阶段是否节能，报废后能否回收。把这些环节联系起来，有助于认识绿色转型对技术、管理和商业模式提出的新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[R04] 中共中央、国务院：《关于加快经济社会发展全面绿色转型的意见》，文件日期2024年7月31日，2024年8月11日公开发布。定位：产业、能源、交通、城乡建设、消费与支撑保障。官方检索入口：中国政府网。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生命周期观察为教学分析框架；不作具体产品环境绩效认证。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能源关系经济运行，也关系污染排放和碳排放。推进能源绿色低碳转型，需要发展清洁能源、提高能源利用效率，并改善能源系统的调节能力。风电、光伏等发展带来了重要机遇，同时对电网、储能和运行管理提出新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评价能源转型要综合考虑清洁程度、供给稳定性、使用成本和系统安全。技术进步为转型提供了条件，基础设施和制度安排则决定这些技术能否更有效地发挥作用。我们应当从整个能源系统出发，理解绿色发展与安全保障之间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[R04] 中共中央、国务院：《关于加快经济社会发展全面绿色转型的意见》，文件日期2024年7月31日，2024年8月11日公开发布。定位：产业、能源、交通、城乡建设、消费与支撑保障。官方检索入口：中国政府网。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[R06] 国务院：《关于印发2030年前碳达峰行动方案的通知》，国发〔2021〕23号，2021年10月24日。定位：能源、重点领域行动及统筹推进要求。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教师归纳；未引用未经核实的最新装机、发电量或占比。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新能源汽车、节能设备、资源循环利用等产业的发展，为观察绿色转型提供了窗口。它们既体现技术和市场的变化，也带动基础设施、供应链和服务体系调整。绿色产业的成长，使生态文明建设与就业、创新和产业竞争力更加紧密地联系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，我们需要用全链条视角分析环境影响。比如，新能源汽车使用阶段的变化，还应结合电力来源、电池生产和回收利用来评价。把一个环节的进步放进完整系统中考察，能够使我们对绿色产业形成更加全面、更加科学的认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[R04] 中共中央、国务院：《关于加快经济社会发展全面绿色转型的意见》，文件日期2024年7月31日，2024年8月11日公开发布。定位：产业、能源、交通、城乡建设、消费与支撑保障。官方检索入口：中国政府网。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[R06] 国务院：《关于印发2030年前碳达峰行动方案的通知》，国发〔2021〕23号，2021年10月24日。定位：能源、重点领域行动及统筹推进要求。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新能源汽车为教师举例；未给出特定车型的生命周期测算结论。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绿色生活方式不断进入公众日常。节约用水用电、减少食物浪费、绿色出行、合理分类投放垃圾等，都是普通人可以参与的实践。个人行动产生效果，还需要与便利的设施、清晰的规则和可靠的后端处理相配合。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垃圾分类为例，居民愿意分类，社区需要提供适宜设施，收运处理环节也需要保持衔接。以绿色出行为例，安全步行条件和便捷公共交通能够降低参与门槛。社会行动与公共服务共同推进，绿色生活才能更加稳定地融入日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[R04] 中共中央、国务院：《关于加快经济社会发展全面绿色转型的意见》，文件日期2024年7月31日，2024年8月11日公开发布。定位：产业、能源、交通、城乡建设、消费与支撑保障。官方检索入口：中国政府网。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生活情境为教师举例，不作个人行为减排量估算。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播放配套原创教学微动画 river_governance.mp4。动画说明污染源排查、管网与排口整治、生态修复、监测维护之间的联系，是教学机制示意，不是某条真实河流的治理纪录。动画约36秒、无配音。看后请学生说出至少两个支撑持续改善的治理环节，并解释为什么清理水面垃圾不能替代岸上治理和长期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[R05] 生态环境部：《2023中国生态环境状况公报》，2024年发布。定位：“大气环境”“水生态环境”。本稿使用2023年度历史值：PM2.5平均浓度30微克/立方米、空气质量优良天数比例85.5%、全国地表水国考断面（点位）Ⅰ—Ⅲ类比例89.4%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本页为原创教学机制动画，非实际河流治理纪录。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气候变化、生物多样性丧失和污染传播具有跨国影响，需要各国共同应对。我国参与全球环境治理，推进气候与生物多样性领域的国际合作，为建设清洁美丽世界作出努力。这也是新时代生态文明建设的重要方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讨论国际合作，需要理解共同挑战与各国条件之间的关系。不同国家的发展阶段、资源禀赋和历史责任存在差异，合作需要坚持公平、体现共同但有区别的责任，并促进技术与能力建设。对学生而言，理解这些原则有助于更全面地阅读国际环境新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依据党的二十大报告第十部分；后段原则解释为教师讲解。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前面我们看到的变化，来自多个方面的共同作用。方向上，生态文明建设融入国家发展布局；制度上，保护责任和法治保障不断加强；实践中，污染治理、生态保护和绿色转型持续推进；社会层面，公众参与和绿色意识逐步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因素相互联系。理念为制度提供方向，制度为实践明确要求，技术和投入为治理提供条件，社会参与使措施更容易落实。理解成就的形成机制，能够帮助我们判断哪些经验具有长期价值，也能够帮助我们认识后续任务需要哪些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治理合力框架为教师归纳，不作为文件原话引用。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生态环境建设与民生密切相连。群众关心的，既包括城市空气和饮水，也包括噪声、异味、垃圾、社区绿地和乡村人居环境。治理工作越深入，越需要关注这些具体而真实的生活需求，推动解决群众身边的突出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人民立场出发，还要关注不同群体的环境处境。儿童、老年人、户外劳动者等群体，对环境风险可能具有不同感受和应对能力。提高公共服务水平、完善信息公开和回应机制，有助于让生态环境改善更公平地惠及人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民生情境及群体差异为教师分析，不构成具体健康风险结论。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生态环境治理离不开监测数据、科学研究和专业判断。污染来自哪里、治理是否有效、风险是否发生变化，都需要证据支撑。随着监测和技术能力发展，治理能够更加及时地发现问题，也能够更加细致地识别问题成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过，技术应用仍然需要质量控制、规范程序和专业解释。一个监测点的数据，能说明什么、不能说明什么，都应当结合条件分析。坚持科学治理，就是把真实数据、适宜方法和具体情境联系起来，让决策能够接受检验，让治理资源用在更需要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证据链及监测解释为教师归纳；强调统计范围与质量控制。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理解新时代生态文明建设取得举世瞩目的巨大成就，要看到我国治理实践的规模、复杂程度和综合影响。在人口和经济活动规模巨大的条件下，持续改善环境质量、推进生态保护、促进绿色转型，体现了长期投入与系统治理的重要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表达应当让判断与证据相互对应。讲环境改善，就配合年度公报和具体案例；讲制度进步，就说明责任、规则和实施机制；讲全球贡献，就联系实际合作领域。这样，成就教育才能建立在可以理解、能够查证的事实与机制之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[R05] 生态环境部：《2023中国生态环境状况公报》，2024年发布。定位：“大气环境”“水生态环境”。本稿使用2023年度历史值：PM2.5平均浓度30微克/立方米、空气质量优良天数比例85.5%、全国地表水国考断面（点位）Ⅰ—Ⅲ类比例89.4%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证据组织框架为教学建议；历史数据不替代最新年度核验。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环境质量改善，并不意味着生态环境问题已经全部解决。一些地方的产业和能源结构调整仍有压力，部分生态系统仍需修复，一些群众身边的环境问题还需要持续治理。变化中的经济社会活动，也可能带来新的治理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事求是地分析这些问题，有助于更准确地理解成绩和任务。已经取得的进展，为继续治理提供了基础；尚未解决的问题，则提示我们需要更加重视精准、科学、依法治污。对于生态文明建设，信心与责任感应当同时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[R11] 国务院：《关于印发〈空气质量持续改善行动计划〉的通知》，国发〔2023〕24号，2023年11月30日。定位：结构调整、污染协同治理、科学监管。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依据既有权威部署作教学概括，不代替授课时最新形势评估。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请大家思考：如果一个地方投入大量资金，把河岸全部硬化，再种上景观植物，是否就能说明生态修复做得好？判断之前，我们需要追问：当地原本的问题是什么？措施是否适合自然条件？水质、生境和防洪功能产生了什么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问题强调的是治理效果。投入、工程数量和景观变化都可以成为观察线索，最终还需要看生态功能、环境质量和群众受益。把目标、措施与结果对应起来，能够帮助我们避免形式化判断，也能够使保护修复更加尊重自然规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教师设计情境；同桌讨论1分钟，教师归纳30秒。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第一部分可以概括为四个方面：生态文明理念更加深入，生态环境质量持续改善，保护治理体系不断健全，绿色发展实践不断拓展。这些方面共同构成我们理解新时代生态文明建设成就的基本框架。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大家尝试用一个身边案例对应这四个方面。例如，家乡河流的变化，既可能体现治理工程，也可能体现规则完善和公众参与。能够从案例看到机制，我们对“成就”的理解就会更加具体；能够从机制想到下一步，学习也就具备了实践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[R02] 新华社：《习近平在全国生态环境保护大会上强调 全面推进美丽中国建设 加快推进人与自然和谐共生的现代化》，2023年7月18日公开报道。会议于7月17—18日举行；定位：五个重大关系、生态文明建设部署。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[R03] 中共中央、国务院：《关于全面推进美丽中国建设的意见》，文件日期2023年12月27日，2024年1月11日公开发布。定位：总体要求、阶段目标、生态环境治理、全民行动。官方检索入口：中国政府网。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四方面框架为教师归纳；不是文件中的固定四条表述。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【教学讲解】</a:t>
            </a:r>
          </a:p>
          <a:p xmlns:a="http://schemas.openxmlformats.org/drawingml/2006/main">
            <a:r>
              <a:t>一个自然的问题随之出现：已经取得的治理成效，怎样才能稳定保持并继续提升？环境治理涉及长期投入，也涉及不同主体之间的利益协调。如果只依靠阶段性行动，难以充分回应持续变化的现实需求。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进一步讨论法治。法律能够明确权利义务、规范行政行为、约束污染活动，并为纠纷解决提供依据。接下来进入第二部分：充分认识编纂施行生态环境法典的重大意义，理解法典化对于生态环境治理的重要价值，以及规则有效实施所需要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【引用与定位】</a:t>
            </a:r>
          </a:p>
          <a:p xmlns:a="http://schemas.openxmlformats.org/drawingml/2006/main">
            <a:r>
              <a:t>[R01] 习近平：《高举中国特色社会主义伟大旗帜 为全面建设社会主义现代化国家而团结奋斗——在中国共产党第二十次全国代表大会上的报告》，2022年10月16日。定位：第一部分、第三部分、第十部分。官方检索入口：中国政府网、新华网。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[R07] 《中华人民共和国宪法》，2018年修正文本；定位：第九条、第二十六条。仅作既有法治原则背景；授课前需核对最新有效文本。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[R08] 《中华人民共和国环境保护法》，2014年4月24日修订、2015年1月1日起施行的版本。定位：基本原则、主体责任、政府责任、信息公开和公众参与。与法典的授课日效力衔接不在本批次结论范围。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【使用边界】</a:t>
            </a:r>
          </a:p>
          <a:p xmlns:a="http://schemas.openxmlformats.org/drawingml/2006/main">
            <a:r>
              <a:t>转场为教师设计；不据此断言法典最新通过、公布或施行状态。</a:t>
            </a:r>
          </a:p>
          <a:p xmlns:a="http://schemas.openxmlformats.org/drawingml/2006/main">
            <a:r>
              <a:t>资料依据现有讲稿和文献目录；本次官方站点联网核对受网络代理403阻断，未作最新年度核验。数据页均明确为2023年历史值。概念图、流程图为教学归纳，不是实测数据。配图为原创教学示意，非真实地点或纪实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【图片与版式】</a:t>
            </a:r>
          </a:p>
          <a:p xmlns:a="http://schemas.openxmlformats.org/drawingml/2006/main">
            <a:r>
              <a:t>原创教学示意图由image_gen生成；图标与图解为本课原创。版式依据用户提供的PDF参考稿重建，正文与图表可编辑，未复用参考稿中的校徽或第三方照片。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098325a7e45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cc29b352545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e26e7ec9344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d5499a3ea44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967df504f44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8550785ae4c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8DEB3C-32ED-4869-8ED2-58BE6D7F9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CDFC6D-A19C-4436-9B6A-534A47BFB4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ADCBB8-38A2-4D5D-8790-B624302F9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32580A-0C3C-4216-B978-23977F566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1B7E72-906D-49BB-A875-13304CB218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373153-425E-431D-9C15-42A654B105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DA9110-1961-4A6F-9766-46D0C4D81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91228C-3F1B-4BBB-BDE6-DF3D548AFB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EF46B7-DFC8-4532-AC2D-EECF84E09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3469AD-F0F6-4DB0-AA16-AAF7E72CF8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03f65bbef4a6b" /><Relationship Type="http://schemas.openxmlformats.org/officeDocument/2006/relationships/slideLayout" Target="/ppt/slideLayouts/slideLayout1.xml" Id="Rf409d2427ff64c8a" /><Relationship Type="http://schemas.openxmlformats.org/officeDocument/2006/relationships/slideLayout" Target="/ppt/slideLayouts/slideLayout2.xml" Id="R6d0d5aedad6f4a1d" /><Relationship Type="http://schemas.openxmlformats.org/officeDocument/2006/relationships/slideLayout" Target="/ppt/slideLayouts/slideLayout3.xml" Id="R970584d56adb4711" /><Relationship Type="http://schemas.openxmlformats.org/officeDocument/2006/relationships/slideLayout" Target="/ppt/slideLayouts/slideLayout4.xml" Id="R72bcd11aed67456b" /><Relationship Type="http://schemas.openxmlformats.org/officeDocument/2006/relationships/slideLayout" Target="/ppt/slideLayouts/slideLayout5.xml" Id="R04c388196a1d461b" /><Relationship Type="http://schemas.openxmlformats.org/officeDocument/2006/relationships/slideLayout" Target="/ppt/slideLayouts/slideLayout6.xml" Id="R7dace3976dbc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9d2427ff64c8a"/>
    <p:sldLayoutId xmlns:r="http://schemas.openxmlformats.org/officeDocument/2006/relationships" id="2147483650" r:id="R6d0d5aedad6f4a1d"/>
    <p:sldLayoutId xmlns:r="http://schemas.openxmlformats.org/officeDocument/2006/relationships" id="2147483651" r:id="R970584d56adb4711"/>
    <p:sldLayoutId xmlns:r="http://schemas.openxmlformats.org/officeDocument/2006/relationships" id="2147483652" r:id="R72bcd11aed67456b"/>
    <p:sldLayoutId xmlns:r="http://schemas.openxmlformats.org/officeDocument/2006/relationships" id="2147483653" r:id="R04c388196a1d461b"/>
    <p:sldLayoutId xmlns:r="http://schemas.openxmlformats.org/officeDocument/2006/relationships" id="2147483654" r:id="R7dace3976dbc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f9faa727d495d" /><Relationship Type="http://schemas.openxmlformats.org/officeDocument/2006/relationships/image" Target="/ppt/media/image.png" Id="Re18acbf39be44d78" /><Relationship Type="http://schemas.openxmlformats.org/officeDocument/2006/relationships/notesSlide" Target="/ppt/notesSlides/notesSlide1.xml" Id="Rd0a378ed35a745f5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261f0c2e9484e45" /><Relationship Type="http://schemas.openxmlformats.org/officeDocument/2006/relationships/image" Target="/ppt/media/image15.png" Id="R46fc25ecab4846e5" /><Relationship Type="http://schemas.openxmlformats.org/officeDocument/2006/relationships/image" Target="/ppt/media/image10.png" Id="R10ec093ce6c94d71" /><Relationship Type="http://schemas.openxmlformats.org/officeDocument/2006/relationships/image" Target="/ppt/media/image.svg" Id="R522826f4871d4e6d" /><Relationship Type="http://schemas.openxmlformats.org/officeDocument/2006/relationships/notesSlide" Target="/ppt/notesSlides/notesSlide2.xml" Id="R2d50a389af4f42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f29f47a0644d3" /><Relationship Type="http://schemas.openxmlformats.org/officeDocument/2006/relationships/notesSlide" Target="/ppt/notesSlides/notesSlide3.xml" Id="R4ccf6f707b9e49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4667593bc4fff" /><Relationship Type="http://schemas.openxmlformats.org/officeDocument/2006/relationships/notesSlide" Target="/ppt/notesSlides/notesSlide4.xml" Id="Rc4afeafbb240497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cabdb5aa1a14067" /><Relationship Type="http://schemas.openxmlformats.org/officeDocument/2006/relationships/image" Target="/ppt/media/image10.png" Id="Ra29ff6101fba487a" /><Relationship Type="http://schemas.openxmlformats.org/officeDocument/2006/relationships/image" Target="/ppt/media/image2.svg" Id="Race73a60a5b34055" /><Relationship Type="http://schemas.openxmlformats.org/officeDocument/2006/relationships/image" Target="/ppt/media/image10.png" Id="R32149f264c984ecf" /><Relationship Type="http://schemas.openxmlformats.org/officeDocument/2006/relationships/image" Target="/ppt/media/image3.svg" Id="Rb93019d712594468" /><Relationship Type="http://schemas.openxmlformats.org/officeDocument/2006/relationships/image" Target="/ppt/media/image10.png" Id="R2667dbfc329545b7" /><Relationship Type="http://schemas.openxmlformats.org/officeDocument/2006/relationships/image" Target="/ppt/media/image4.svg" Id="Rdcd6d394fdea40ff" /><Relationship Type="http://schemas.openxmlformats.org/officeDocument/2006/relationships/notesSlide" Target="/ppt/notesSlides/notesSlide5.xml" Id="R76c7d40f25114abe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1f2838f6ae84405" /><Relationship Type="http://schemas.openxmlformats.org/officeDocument/2006/relationships/image" Target="/ppt/media/image10.png" Id="R10d4a3d6926746dc" /><Relationship Type="http://schemas.openxmlformats.org/officeDocument/2006/relationships/image" Target="/ppt/media/image4.svg" Id="R4fdf396828dc46cd" /><Relationship Type="http://schemas.openxmlformats.org/officeDocument/2006/relationships/image" Target="/ppt/media/image10.png" Id="R457a655982bb4cc8" /><Relationship Type="http://schemas.openxmlformats.org/officeDocument/2006/relationships/image" Target="/ppt/media/image2.svg" Id="Rb3ca2edf6e684917" /><Relationship Type="http://schemas.openxmlformats.org/officeDocument/2006/relationships/image" Target="/ppt/media/image10.png" Id="Rb5a31996d6144c08" /><Relationship Type="http://schemas.openxmlformats.org/officeDocument/2006/relationships/image" Target="/ppt/media/image3.svg" Id="R4e8325624eb34379" /><Relationship Type="http://schemas.openxmlformats.org/officeDocument/2006/relationships/notesSlide" Target="/ppt/notesSlides/notesSlide6.xml" Id="Rfc5516d36ae741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e16aa10e64d9e" /><Relationship Type="http://schemas.openxmlformats.org/officeDocument/2006/relationships/notesSlide" Target="/ppt/notesSlides/notesSlide7.xml" Id="R4fbef3be0bb6469b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bdb0e96bc17496f" /><Relationship Type="http://schemas.openxmlformats.org/officeDocument/2006/relationships/image" Target="/ppt/media/image10.png" Id="R9e9df4013f334301" /><Relationship Type="http://schemas.openxmlformats.org/officeDocument/2006/relationships/image" Target="/ppt/media/image8.svg" Id="R333a302d1b834c06" /><Relationship Type="http://schemas.openxmlformats.org/officeDocument/2006/relationships/image" Target="/ppt/media/image10.png" Id="R4e2cf523063948fa" /><Relationship Type="http://schemas.openxmlformats.org/officeDocument/2006/relationships/image" Target="/ppt/media/image18.svg" Id="Rb2cd1b23ad0d4e80" /><Relationship Type="http://schemas.openxmlformats.org/officeDocument/2006/relationships/image" Target="/ppt/media/image10.png" Id="Rda6e116026764a66" /><Relationship Type="http://schemas.openxmlformats.org/officeDocument/2006/relationships/image" Target="/ppt/media/image10.svg" Id="Rc0ea9f4fcf9f44bc" /><Relationship Type="http://schemas.openxmlformats.org/officeDocument/2006/relationships/image" Target="/ppt/media/image10.png" Id="Rb23a58cb85944655" /><Relationship Type="http://schemas.openxmlformats.org/officeDocument/2006/relationships/image" Target="/ppt/media/image11.svg" Id="R19aaf99846274fd2" /><Relationship Type="http://schemas.openxmlformats.org/officeDocument/2006/relationships/notesSlide" Target="/ppt/notesSlides/notesSlide8.xml" Id="R65a4b511fdce4c6b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bb3ccba550742c5" /><Relationship Type="http://schemas.openxmlformats.org/officeDocument/2006/relationships/image" Target="/ppt/media/image.png" Id="Reee7220d6939413f" /><Relationship Type="http://schemas.openxmlformats.org/officeDocument/2006/relationships/notesSlide" Target="/ppt/notesSlides/notesSlide9.xml" Id="Rd7317b41bdfb4371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4e36280c4ce4dd6" /><Relationship Type="http://schemas.openxmlformats.org/officeDocument/2006/relationships/image" Target="/ppt/media/image15.png" Id="Rd06f808bb0aa4869" /><Relationship Type="http://schemas.openxmlformats.org/officeDocument/2006/relationships/image" Target="/ppt/media/image10.png" Id="Rbdc82fc689664315" /><Relationship Type="http://schemas.openxmlformats.org/officeDocument/2006/relationships/image" Target="/ppt/media/image.svg" Id="R0557315a53e04108" /><Relationship Type="http://schemas.openxmlformats.org/officeDocument/2006/relationships/notesSlide" Target="/ppt/notesSlides/notesSlide10.xml" Id="R5915bf1cb04d45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a0671d116401b" /><Relationship Type="http://schemas.openxmlformats.org/officeDocument/2006/relationships/notesSlide" Target="/ppt/notesSlides/notesSlide11.xml" Id="R31eefdc671c74232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b8e4c020a6a4a36" /><Relationship Type="http://schemas.openxmlformats.org/officeDocument/2006/relationships/image" Target="/ppt/media/image15.png" Id="Re15afc8af72340a9" /><Relationship Type="http://schemas.openxmlformats.org/officeDocument/2006/relationships/hyperlink" Target="media/eco_value.mp4" TargetMode="External" Id="Re3483b31254d45cf" /><Relationship Type="http://schemas.openxmlformats.org/officeDocument/2006/relationships/notesSlide" Target="/ppt/notesSlides/notesSlide12.xml" Id="R54eeacf6aebe4056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3be1b1c549245d8" /><Relationship Type="http://schemas.openxmlformats.org/officeDocument/2006/relationships/image" Target="/ppt/media/image15.png" Id="R0b7b8677678c4a15" /><Relationship Type="http://schemas.openxmlformats.org/officeDocument/2006/relationships/image" Target="/ppt/media/image10.png" Id="R752be9894e4f4f98" /><Relationship Type="http://schemas.openxmlformats.org/officeDocument/2006/relationships/image" Target="/ppt/media/image.svg" Id="Ra004e53aff22441f" /><Relationship Type="http://schemas.openxmlformats.org/officeDocument/2006/relationships/notesSlide" Target="/ppt/notesSlides/notesSlide13.xml" Id="R786482090b5b45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97bef0ca24592" /><Relationship Type="http://schemas.openxmlformats.org/officeDocument/2006/relationships/chart" Target="/ppt/slides/charts/chart1.xml" Id="R28cecdacdab44d8d" /><Relationship Type="http://schemas.openxmlformats.org/officeDocument/2006/relationships/notesSlide" Target="/ppt/notesSlides/notesSlide14.xml" Id="R8b53a3d51fd146dd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27a4a5797e64765" /><Relationship Type="http://schemas.openxmlformats.org/officeDocument/2006/relationships/image" Target="/ppt/media/image15.png" Id="R5ed1071bbd5d4bc5" /><Relationship Type="http://schemas.openxmlformats.org/officeDocument/2006/relationships/image" Target="/ppt/media/image10.png" Id="R957151dbd19e4600" /><Relationship Type="http://schemas.openxmlformats.org/officeDocument/2006/relationships/image" Target="/ppt/media/image.svg" Id="Rb4f6331e5fed4562" /><Relationship Type="http://schemas.openxmlformats.org/officeDocument/2006/relationships/notesSlide" Target="/ppt/notesSlides/notesSlide15.xml" Id="Rf74eca95de4348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402bc01724d31" /><Relationship Type="http://schemas.openxmlformats.org/officeDocument/2006/relationships/chart" Target="/ppt/slides/charts/chart2.xml" Id="Rf6b463150b3b474f" /><Relationship Type="http://schemas.openxmlformats.org/officeDocument/2006/relationships/notesSlide" Target="/ppt/notesSlides/notesSlide16.xml" Id="R92cfcc6e6944460f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c02854cca224dd3" /><Relationship Type="http://schemas.openxmlformats.org/officeDocument/2006/relationships/image" Target="/ppt/media/image10.png" Id="Rf7d3ed331d0b4895" /><Relationship Type="http://schemas.openxmlformats.org/officeDocument/2006/relationships/image" Target="/ppt/media/image.svg" Id="Ra83fb7ed594e4233" /><Relationship Type="http://schemas.openxmlformats.org/officeDocument/2006/relationships/notesSlide" Target="/ppt/notesSlides/notesSlide17.xml" Id="Re41e341861d44984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5a6e48b99447b9" /><Relationship Type="http://schemas.openxmlformats.org/officeDocument/2006/relationships/image" Target="/ppt/media/image10.png" Id="R7de2dbb66f364fe3" /><Relationship Type="http://schemas.openxmlformats.org/officeDocument/2006/relationships/image" Target="/ppt/media/image.svg" Id="R329396ff4b824707" /><Relationship Type="http://schemas.openxmlformats.org/officeDocument/2006/relationships/notesSlide" Target="/ppt/notesSlides/notesSlide18.xml" Id="R6f1953d753bc4a02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2340205783a44e4" /><Relationship Type="http://schemas.openxmlformats.org/officeDocument/2006/relationships/image" Target="/ppt/media/image15.png" Id="Rdadd8c6c09514a0f" /><Relationship Type="http://schemas.openxmlformats.org/officeDocument/2006/relationships/notesSlide" Target="/ppt/notesSlides/notesSlide19.xml" Id="R5c198d74a85f44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1503fc01e4fb5" /><Relationship Type="http://schemas.openxmlformats.org/officeDocument/2006/relationships/notesSlide" Target="/ppt/notesSlides/notesSlide20.xml" Id="Rc3bce07680474e0d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560379abbad4bab" /><Relationship Type="http://schemas.openxmlformats.org/officeDocument/2006/relationships/image" Target="/ppt/media/image10.png" Id="Rdd991f4af56c4bbc" /><Relationship Type="http://schemas.openxmlformats.org/officeDocument/2006/relationships/image" Target="/ppt/media/image17.svg" Id="R1f02ab1856d24993" /><Relationship Type="http://schemas.openxmlformats.org/officeDocument/2006/relationships/image" Target="/ppt/media/image10.png" Id="R60a9a4bb78884ff2" /><Relationship Type="http://schemas.openxmlformats.org/officeDocument/2006/relationships/image" Target="/ppt/media/image18.svg" Id="R859d59f5c2504b9e" /><Relationship Type="http://schemas.openxmlformats.org/officeDocument/2006/relationships/image" Target="/ppt/media/image10.png" Id="R232d0aa62afc486b" /><Relationship Type="http://schemas.openxmlformats.org/officeDocument/2006/relationships/image" Target="/ppt/media/image19.svg" Id="R9ad71779782a4703" /><Relationship Type="http://schemas.openxmlformats.org/officeDocument/2006/relationships/image" Target="/ppt/media/image10.png" Id="R5b26958e665e4878" /><Relationship Type="http://schemas.openxmlformats.org/officeDocument/2006/relationships/image" Target="/ppt/media/image2.svg" Id="R190a7f8361c04d1b" /><Relationship Type="http://schemas.openxmlformats.org/officeDocument/2006/relationships/image" Target="/ppt/media/image10.png" Id="R1a4e4e5bace540fe" /><Relationship Type="http://schemas.openxmlformats.org/officeDocument/2006/relationships/image" Target="/ppt/media/image19.svg" Id="Ra4aa8824b9b54527" /><Relationship Type="http://schemas.openxmlformats.org/officeDocument/2006/relationships/notesSlide" Target="/ppt/notesSlides/notesSlide21.xml" Id="Rba7561f3ed56445e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7159b472f9549e6" /><Relationship Type="http://schemas.openxmlformats.org/officeDocument/2006/relationships/image" Target="/ppt/media/image10.png" Id="R62a6540882944324" /><Relationship Type="http://schemas.openxmlformats.org/officeDocument/2006/relationships/image" Target="/ppt/media/image22.svg" Id="R6fe568fc19834acd" /><Relationship Type="http://schemas.openxmlformats.org/officeDocument/2006/relationships/image" Target="/ppt/media/image10.png" Id="R70b9bbeffc094aaa" /><Relationship Type="http://schemas.openxmlformats.org/officeDocument/2006/relationships/image" Target="/ppt/media/image23.svg" Id="Re926f757f22648dd" /><Relationship Type="http://schemas.openxmlformats.org/officeDocument/2006/relationships/image" Target="/ppt/media/image10.png" Id="R671c85753899423d" /><Relationship Type="http://schemas.openxmlformats.org/officeDocument/2006/relationships/image" Target="/ppt/media/image19.svg" Id="R752ead53bdc24055" /><Relationship Type="http://schemas.openxmlformats.org/officeDocument/2006/relationships/notesSlide" Target="/ppt/notesSlides/notesSlide22.xml" Id="R455d47a339bf45bf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ea65326f8544098" /><Relationship Type="http://schemas.openxmlformats.org/officeDocument/2006/relationships/image" Target="/ppt/media/image10.png" Id="R9f51d945a67c4851" /><Relationship Type="http://schemas.openxmlformats.org/officeDocument/2006/relationships/image" Target="/ppt/media/image.svg" Id="Ra09fe9ebe8a24458" /><Relationship Type="http://schemas.openxmlformats.org/officeDocument/2006/relationships/notesSlide" Target="/ppt/notesSlides/notesSlide23.xml" Id="Rbac4760d7bb548d2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3dbfa6282ca48ec" /><Relationship Type="http://schemas.openxmlformats.org/officeDocument/2006/relationships/image" Target="/ppt/media/image10.png" Id="R49dc8a241ff54393" /><Relationship Type="http://schemas.openxmlformats.org/officeDocument/2006/relationships/image" Target="/ppt/media/image26.svg" Id="Rc200807298064c67" /><Relationship Type="http://schemas.openxmlformats.org/officeDocument/2006/relationships/image" Target="/ppt/media/image10.png" Id="Rfd41c888b4d2414c" /><Relationship Type="http://schemas.openxmlformats.org/officeDocument/2006/relationships/image" Target="/ppt/media/image27.svg" Id="Rf892360db3d44118" /><Relationship Type="http://schemas.openxmlformats.org/officeDocument/2006/relationships/image" Target="/ppt/media/image10.png" Id="Refddc18dda4748c9" /><Relationship Type="http://schemas.openxmlformats.org/officeDocument/2006/relationships/image" Target="/ppt/media/image28.svg" Id="Rd314fbed9eb04467" /><Relationship Type="http://schemas.openxmlformats.org/officeDocument/2006/relationships/image" Target="/ppt/media/image10.png" Id="Rb2d63424a33244a6" /><Relationship Type="http://schemas.openxmlformats.org/officeDocument/2006/relationships/image" Target="/ppt/media/image10.svg" Id="R020579664f4c4eb2" /><Relationship Type="http://schemas.openxmlformats.org/officeDocument/2006/relationships/image" Target="/ppt/media/image10.png" Id="R1c63b571c8e04f69" /><Relationship Type="http://schemas.openxmlformats.org/officeDocument/2006/relationships/image" Target="/ppt/media/image30.svg" Id="R7391230cdc9d4675" /><Relationship Type="http://schemas.openxmlformats.org/officeDocument/2006/relationships/notesSlide" Target="/ppt/notesSlides/notesSlide24.xml" Id="R4b5d87a1a4a544fa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688824ab48249f6" /><Relationship Type="http://schemas.openxmlformats.org/officeDocument/2006/relationships/image" Target="/ppt/media/image15.png" Id="R458a6f004eaf48e9" /><Relationship Type="http://schemas.openxmlformats.org/officeDocument/2006/relationships/image" Target="/ppt/media/image10.png" Id="R5e46d0ceebd145e3" /><Relationship Type="http://schemas.openxmlformats.org/officeDocument/2006/relationships/image" Target="/ppt/media/image.svg" Id="Re4aa9dca04894127" /><Relationship Type="http://schemas.openxmlformats.org/officeDocument/2006/relationships/notesSlide" Target="/ppt/notesSlides/notesSlide25.xml" Id="R05796090274b4f4e" 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32a8cf811fb4083" /><Relationship Type="http://schemas.openxmlformats.org/officeDocument/2006/relationships/image" Target="/ppt/media/image10.png" Id="R1735b23575834e66" /><Relationship Type="http://schemas.openxmlformats.org/officeDocument/2006/relationships/image" Target="/ppt/media/image26.svg" Id="R8b9faa6ea5b74263" /><Relationship Type="http://schemas.openxmlformats.org/officeDocument/2006/relationships/image" Target="/ppt/media/image10.png" Id="Ree11256149834dfa" /><Relationship Type="http://schemas.openxmlformats.org/officeDocument/2006/relationships/image" Target="/ppt/media/image27.svg" Id="R0694cfd609f747da" /><Relationship Type="http://schemas.openxmlformats.org/officeDocument/2006/relationships/image" Target="/ppt/media/image10.png" Id="R5db5f131249748a5" /><Relationship Type="http://schemas.openxmlformats.org/officeDocument/2006/relationships/image" Target="/ppt/media/image10.svg" Id="R3976efad10e446f7" /><Relationship Type="http://schemas.openxmlformats.org/officeDocument/2006/relationships/image" Target="/ppt/media/image10.png" Id="Rfb366b87483240a1" /><Relationship Type="http://schemas.openxmlformats.org/officeDocument/2006/relationships/image" Target="/ppt/media/image35.svg" Id="R01c757030b334acf" /><Relationship Type="http://schemas.openxmlformats.org/officeDocument/2006/relationships/image" Target="/ppt/media/image10.png" Id="R6cd800d86c1f4407" /><Relationship Type="http://schemas.openxmlformats.org/officeDocument/2006/relationships/image" Target="/ppt/media/image30.svg" Id="R2f181c8c9001433c" /><Relationship Type="http://schemas.openxmlformats.org/officeDocument/2006/relationships/notesSlide" Target="/ppt/notesSlides/notesSlide26.xml" Id="Rcb490bc011804e10" 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daf5cd6795b4495" /><Relationship Type="http://schemas.openxmlformats.org/officeDocument/2006/relationships/image" Target="/ppt/media/image10.png" Id="R6ef3a2ab1cf94bb5" /><Relationship Type="http://schemas.openxmlformats.org/officeDocument/2006/relationships/image" Target="/ppt/media/image37.svg" Id="Rc31f058deb48441c" /><Relationship Type="http://schemas.openxmlformats.org/officeDocument/2006/relationships/image" Target="/ppt/media/image10.png" Id="Re6a081e308ea4728" /><Relationship Type="http://schemas.openxmlformats.org/officeDocument/2006/relationships/image" Target="/ppt/media/image28.svg" Id="Re63a15ba1c6e46ce" /><Relationship Type="http://schemas.openxmlformats.org/officeDocument/2006/relationships/image" Target="/ppt/media/image10.png" Id="Rca775584b5354338" /><Relationship Type="http://schemas.openxmlformats.org/officeDocument/2006/relationships/image" Target="/ppt/media/image39.svg" Id="R832049bd1a1c41c2" /><Relationship Type="http://schemas.openxmlformats.org/officeDocument/2006/relationships/notesSlide" Target="/ppt/notesSlides/notesSlide27.xml" Id="R6530e98366034d12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1170afc9f1f42bf" /><Relationship Type="http://schemas.openxmlformats.org/officeDocument/2006/relationships/image" Target="/ppt/media/image15.png" Id="Rede80f0cea4b4b59" /><Relationship Type="http://schemas.openxmlformats.org/officeDocument/2006/relationships/hyperlink" Target="media/river_governance.mp4" TargetMode="External" Id="R8fb8e47a8d6d48dc" /><Relationship Type="http://schemas.openxmlformats.org/officeDocument/2006/relationships/notesSlide" Target="/ppt/notesSlides/notesSlide28.xml" Id="Rbdb837adc7cd40d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530f97ddf470f" /><Relationship Type="http://schemas.openxmlformats.org/officeDocument/2006/relationships/notesSlide" Target="/ppt/notesSlides/notesSlide29.xml" Id="Reaa32acdc5234d13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1dc97c47ed5456c" /><Relationship Type="http://schemas.openxmlformats.org/officeDocument/2006/relationships/image" Target="/ppt/media/image10.png" Id="R408f4fb60a284364" /><Relationship Type="http://schemas.openxmlformats.org/officeDocument/2006/relationships/image" Target="/ppt/media/image.svg" Id="R380b4b52f28b490a" /><Relationship Type="http://schemas.openxmlformats.org/officeDocument/2006/relationships/notesSlide" Target="/ppt/notesSlides/notesSlide30.xml" Id="R6e2159a09a914314" 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bc3a2bd7f1e4b58" /><Relationship Type="http://schemas.openxmlformats.org/officeDocument/2006/relationships/image" Target="/ppt/media/image10.png" Id="R5420ee9fd03441ff" /><Relationship Type="http://schemas.openxmlformats.org/officeDocument/2006/relationships/image" Target="/ppt/media/image4.svg" Id="Rb5abae6f12f94445" /><Relationship Type="http://schemas.openxmlformats.org/officeDocument/2006/relationships/image" Target="/ppt/media/image10.png" Id="Rb81f3aab290b4968" /><Relationship Type="http://schemas.openxmlformats.org/officeDocument/2006/relationships/image" Target="/ppt/media/image42.svg" Id="Rf2956945d8c24630" /><Relationship Type="http://schemas.openxmlformats.org/officeDocument/2006/relationships/image" Target="/ppt/media/image10.png" Id="Reec20d74b1dd4547" /><Relationship Type="http://schemas.openxmlformats.org/officeDocument/2006/relationships/image" Target="/ppt/media/image3.svg" Id="R04ffa498386e4667" /><Relationship Type="http://schemas.openxmlformats.org/officeDocument/2006/relationships/image" Target="/ppt/media/image10.png" Id="R51fe143d4e2f4bd5" /><Relationship Type="http://schemas.openxmlformats.org/officeDocument/2006/relationships/image" Target="/ppt/media/image.svg" Id="R35c6c184200340e8" /><Relationship Type="http://schemas.openxmlformats.org/officeDocument/2006/relationships/notesSlide" Target="/ppt/notesSlides/notesSlide31.xml" Id="R0c521401be414acc" 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181c0e42d444e2f" /><Relationship Type="http://schemas.openxmlformats.org/officeDocument/2006/relationships/image" Target="/ppt/media/image10.png" Id="Rb5ec3eb0e1834155" /><Relationship Type="http://schemas.openxmlformats.org/officeDocument/2006/relationships/image" Target="/ppt/media/image.svg" Id="R02fd38e0b0c345b8" /><Relationship Type="http://schemas.openxmlformats.org/officeDocument/2006/relationships/notesSlide" Target="/ppt/notesSlides/notesSlide32.xml" Id="R97ffb67475174523" 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8ca2350744d40ca" /><Relationship Type="http://schemas.openxmlformats.org/officeDocument/2006/relationships/image" Target="/ppt/media/image10.png" Id="R1318ffb93dd44133" /><Relationship Type="http://schemas.openxmlformats.org/officeDocument/2006/relationships/image" Target="/ppt/media/image4.svg" Id="R4bfea546cd65476e" /><Relationship Type="http://schemas.openxmlformats.org/officeDocument/2006/relationships/image" Target="/ppt/media/image10.png" Id="Rc8bdb33a090b4c5e" /><Relationship Type="http://schemas.openxmlformats.org/officeDocument/2006/relationships/image" Target="/ppt/media/image2.svg" Id="R296be5ea5f5b401b" /><Relationship Type="http://schemas.openxmlformats.org/officeDocument/2006/relationships/image" Target="/ppt/media/image10.png" Id="Rf1e84f16c9fe45d8" /><Relationship Type="http://schemas.openxmlformats.org/officeDocument/2006/relationships/image" Target="/ppt/media/image3.svg" Id="R8f4ae12fddb94685" /><Relationship Type="http://schemas.openxmlformats.org/officeDocument/2006/relationships/notesSlide" Target="/ppt/notesSlides/notesSlide33.xml" Id="Rb395210955be495f" 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adb209451134c30" /><Relationship Type="http://schemas.openxmlformats.org/officeDocument/2006/relationships/image" Target="/ppt/media/image10.png" Id="Rdeedc2d0c5bd46b4" /><Relationship Type="http://schemas.openxmlformats.org/officeDocument/2006/relationships/image" Target="/ppt/media/image49.svg" Id="Rd8daae9afe084161" /><Relationship Type="http://schemas.openxmlformats.org/officeDocument/2006/relationships/image" Target="/ppt/media/image10.png" Id="Ra3235a802325450b" /><Relationship Type="http://schemas.openxmlformats.org/officeDocument/2006/relationships/image" Target="/ppt/media/image3.svg" Id="R06f411e2604d425b" /><Relationship Type="http://schemas.openxmlformats.org/officeDocument/2006/relationships/notesSlide" Target="/ppt/notesSlides/notesSlide34.xml" Id="R07750e6b49854356" 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246edbccf744c84" /><Relationship Type="http://schemas.openxmlformats.org/officeDocument/2006/relationships/image" Target="/ppt/media/image10.png" Id="R460e5698addb41cf" /><Relationship Type="http://schemas.openxmlformats.org/officeDocument/2006/relationships/image" Target="/ppt/media/image.svg" Id="R75adcde1fbe7436b" /><Relationship Type="http://schemas.openxmlformats.org/officeDocument/2006/relationships/notesSlide" Target="/ppt/notesSlides/notesSlide35.xml" Id="Rbcf7e9db4bb9485e" 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569c2b558e34061" /><Relationship Type="http://schemas.openxmlformats.org/officeDocument/2006/relationships/image" Target="/ppt/media/image10.png" Id="R297af641824443ce" /><Relationship Type="http://schemas.openxmlformats.org/officeDocument/2006/relationships/image" Target="/ppt/media/image2.svg" Id="R82abd6a8ac8b4ad7" /><Relationship Type="http://schemas.openxmlformats.org/officeDocument/2006/relationships/image" Target="/ppt/media/image10.png" Id="R1d9f80655bbc4ab5" /><Relationship Type="http://schemas.openxmlformats.org/officeDocument/2006/relationships/image" Target="/ppt/media/image37.svg" Id="R89985001d70645ad" /><Relationship Type="http://schemas.openxmlformats.org/officeDocument/2006/relationships/image" Target="/ppt/media/image10.png" Id="R1b3f06bd4afd4bef" /><Relationship Type="http://schemas.openxmlformats.org/officeDocument/2006/relationships/image" Target="/ppt/media/image3.svg" Id="R474c7653946d47ee" /><Relationship Type="http://schemas.openxmlformats.org/officeDocument/2006/relationships/image" Target="/ppt/media/image10.png" Id="Rdac56e328d7e4d7a" /><Relationship Type="http://schemas.openxmlformats.org/officeDocument/2006/relationships/image" Target="/ppt/media/image10.svg" Id="R25e9f687c93449e4" /><Relationship Type="http://schemas.openxmlformats.org/officeDocument/2006/relationships/notesSlide" Target="/ppt/notesSlides/notesSlide36.xml" Id="Rfbbdbb721b5f4cab" 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90e46280c774e68" /><Relationship Type="http://schemas.openxmlformats.org/officeDocument/2006/relationships/image" Target="/ppt/media/image10.png" Id="R770a4602385c4cce" /><Relationship Type="http://schemas.openxmlformats.org/officeDocument/2006/relationships/image" Target="/ppt/media/image56.svg" Id="R1fe03dc492574ae7" /><Relationship Type="http://schemas.openxmlformats.org/officeDocument/2006/relationships/notesSlide" Target="/ppt/notesSlides/notesSlide37.xml" Id="R72e3594f597e48d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空气质量优良天数比例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400" b="1">
              <a:solidFill>
                <a:srgbClr val="242424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doughnutChart>
        <c:ser>
          <c:idx val="0"/>
          <c:order val="0"/>
          <c:tx>
            <c:v>2023年优良天数比例</c:v>
          </c:tx>
          <c:dPt>
            <c:idx val="0"/>
            <c:spPr>
              <a:solidFill xmlns:a="http://schemas.openxmlformats.org/drawingml/2006/main">
                <a:srgbClr val="B5161B"/>
              </a:solidFill>
            </c:spPr>
          </c:dPt>
          <c:dPt>
            <c:idx val="1"/>
            <c:spPr>
              <a:solidFill xmlns:a="http://schemas.openxmlformats.org/drawingml/2006/main">
                <a:srgbClr val="EBEBE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优良天数</c:v>
                </c:pt>
                <c:pt idx="1">
                  <c:v>其余天数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85.5</c:v>
                </c:pt>
                <c:pt idx="1">
                  <c:v>14.5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5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水质优良比例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400" b="1">
              <a:solidFill>
                <a:srgbClr val="242424"/>
              </a:solidFill>
              <a:latin typeface="Noto Sans CJK SC"/>
              <a:ea typeface="Noto Sans CJK SC"/>
              <a:cs typeface="Noto Sans CJK SC"/>
            </a:defRPr>
          </a:pPr>
        </a:p>
      </c:txPr>
    </c:title>
    <c:plotArea>
      <c:doughnutChart>
        <c:ser>
          <c:idx val="0"/>
          <c:order val="0"/>
          <c:tx>
            <c:v>2023年水质优良断面比例</c:v>
          </c:tx>
          <c:dPt>
            <c:idx val="0"/>
            <c:spPr>
              <a:solidFill xmlns:a="http://schemas.openxmlformats.org/drawingml/2006/main">
                <a:srgbClr val="386B56"/>
              </a:solidFill>
            </c:spPr>
          </c:dPt>
          <c:dPt>
            <c:idx val="1"/>
            <c:spPr>
              <a:solidFill xmlns:a="http://schemas.openxmlformats.org/drawingml/2006/main">
                <a:srgbClr val="EBEBE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Ⅰ—Ⅲ类断面（点位）</c:v>
                </c:pt>
                <c:pt idx="1">
                  <c:v>其余断面（点位）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89.4</c:v>
                </c:pt>
                <c:pt idx="1">
                  <c:v>10.6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5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409D0-4BAB-437C-B5D8-F4C836D7C9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acbf39be44d78"/>
          <a:srcRect xmlns:a="http://schemas.openxmlformats.org/drawingml/2006/main" l="21078" t="0" r="21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0"/>
            <a:ext cx="7048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urface-1">
            <a:extLst xmlns:a="http://schemas.openxmlformats.org/drawingml/2006/main">
              <a:ext uri="{FF2B5EF4-FFF2-40B4-BE49-F238E27FC236}">
                <a16:creationId xmlns:a16="http://schemas.microsoft.com/office/drawing/2014/main" id="{A9028C42-A484-4DD7-9069-2BDA910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0"/>
            <a:ext cx="10287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8000">
                <a:srgbClr val="FFFFFF">
                  <a:alpha val="98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surface-2">
            <a:extLst xmlns:a="http://schemas.openxmlformats.org/drawingml/2006/main">
              <a:ext uri="{FF2B5EF4-FFF2-40B4-BE49-F238E27FC236}">
                <a16:creationId xmlns:a16="http://schemas.microsoft.com/office/drawing/2014/main" id="{6174E1ED-02A8-4F30-87D2-B92C3920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9D14F89C-8475-49BD-ACEA-C5CA5F99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5144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5161B"/>
            </a:solidFill>
            <a:prstDash val="solid"/>
          </a:ln>
        </p:spPr>
      </p:sp>
      <p:sp>
        <p:nvSpPr>
          <p:cNvPr id="5" name="red-accent-4">
            <a:extLst xmlns:a="http://schemas.openxmlformats.org/drawingml/2006/main">
              <a:ext uri="{FF2B5EF4-FFF2-40B4-BE49-F238E27FC236}">
                <a16:creationId xmlns:a16="http://schemas.microsoft.com/office/drawing/2014/main" id="{E7683476-9A02-495E-8A6D-D00731BD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d-accent-5">
            <a:extLst xmlns:a="http://schemas.openxmlformats.org/drawingml/2006/main">
              <a:ext uri="{FF2B5EF4-FFF2-40B4-BE49-F238E27FC236}">
                <a16:creationId xmlns:a16="http://schemas.microsoft.com/office/drawing/2014/main" id="{5F5D833A-FD63-4121-81C5-24A46F3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d-accent-6">
            <a:extLst xmlns:a="http://schemas.openxmlformats.org/drawingml/2006/main">
              <a:ext uri="{FF2B5EF4-FFF2-40B4-BE49-F238E27FC236}">
                <a16:creationId xmlns:a16="http://schemas.microsoft.com/office/drawing/2014/main" id="{F8DDD89E-8554-452D-BB81-65B86313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d-accent-7">
            <a:extLst xmlns:a="http://schemas.openxmlformats.org/drawingml/2006/main">
              <a:ext uri="{FF2B5EF4-FFF2-40B4-BE49-F238E27FC236}">
                <a16:creationId xmlns:a16="http://schemas.microsoft.com/office/drawing/2014/main" id="{62B2FA9D-3509-4A56-B64C-B8FBB63B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d-accent-8">
            <a:extLst xmlns:a="http://schemas.openxmlformats.org/drawingml/2006/main">
              <a:ext uri="{FF2B5EF4-FFF2-40B4-BE49-F238E27FC236}">
                <a16:creationId xmlns:a16="http://schemas.microsoft.com/office/drawing/2014/main" id="{C11C8B6A-BCB5-485D-85A4-4BC37178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61E9C82-57FD-47E1-A8FD-D8A94517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01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形势与政策 · 专题教学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2DA35CD-E75F-4E4C-A05C-830A35E6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43100"/>
            <a:ext cx="1019175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全面推进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人与自然和谐共生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实现中华民族永续发展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55C9856-E65E-4159-A339-6510961B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课程导入与第一部分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3261A5C-FFCE-4A40-958B-B42A823D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673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从生活变化看建设成就，从治理实践看制度力量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A52302D-F3DE-4500-994B-C442F502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原创教学示意图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E54651E-7327-4419-ACB3-FAEC7912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依据：党的二十大报告（2022）等；完整文献见备注</a:t>
            </a:r>
          </a:p>
        </p:txBody>
      </p:sp>
    </p:spTree>
    <p:extLst>
      <p:ext uri="{BB962C8B-B14F-4D97-AF65-F5344CB8AC3E}">
        <p14:creationId xmlns:p14="http://schemas.microsoft.com/office/powerpoint/2010/main" val="922046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-15">
            <a:extLst xmlns:a="http://schemas.openxmlformats.org/drawingml/2006/main">
              <a:ext uri="{FF2B5EF4-FFF2-40B4-BE49-F238E27FC236}">
                <a16:creationId xmlns:a16="http://schemas.microsoft.com/office/drawing/2014/main" id="{9EE0647D-E0CE-4711-93FF-FE0C693A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16">
            <a:extLst xmlns:a="http://schemas.openxmlformats.org/drawingml/2006/main">
              <a:ext uri="{FF2B5EF4-FFF2-40B4-BE49-F238E27FC236}">
                <a16:creationId xmlns:a16="http://schemas.microsoft.com/office/drawing/2014/main" id="{F4004A38-0860-4F3E-84ED-014B95F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17">
            <a:extLst xmlns:a="http://schemas.openxmlformats.org/drawingml/2006/main">
              <a:ext uri="{FF2B5EF4-FFF2-40B4-BE49-F238E27FC236}">
                <a16:creationId xmlns:a16="http://schemas.microsoft.com/office/drawing/2014/main" id="{51FCD27C-000A-41D3-9891-B36470D5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8">
            <a:extLst xmlns:a="http://schemas.openxmlformats.org/drawingml/2006/main">
              <a:ext uri="{FF2B5EF4-FFF2-40B4-BE49-F238E27FC236}">
                <a16:creationId xmlns:a16="http://schemas.microsoft.com/office/drawing/2014/main" id="{33202E08-84A6-4B5B-86F1-2064C274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从一口空气、一杯清水说起</a:t>
            </a:r>
          </a:p>
        </p:txBody>
      </p:sp>
      <p:sp>
        <p:nvSpPr>
          <p:cNvPr id="5" name="rule-19">
            <a:extLst xmlns:a="http://schemas.openxmlformats.org/drawingml/2006/main">
              <a:ext uri="{FF2B5EF4-FFF2-40B4-BE49-F238E27FC236}">
                <a16:creationId xmlns:a16="http://schemas.microsoft.com/office/drawing/2014/main" id="{46CFB75F-2E76-4360-8477-0C23ABE1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20">
            <a:extLst xmlns:a="http://schemas.openxmlformats.org/drawingml/2006/main">
              <a:ext uri="{FF2B5EF4-FFF2-40B4-BE49-F238E27FC236}">
                <a16:creationId xmlns:a16="http://schemas.microsoft.com/office/drawing/2014/main" id="{A7318EFC-F31A-4D49-A17F-D54E95E8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出处：党的二十大报告（2022）；《美丽中国建设意见》（2023）。完整文献及讲解见备注</a:t>
            </a:r>
          </a:p>
        </p:txBody>
      </p:sp>
      <p:sp>
        <p:nvSpPr>
          <p:cNvPr id="7" name="text-21">
            <a:extLst xmlns:a="http://schemas.openxmlformats.org/drawingml/2006/main">
              <a:ext uri="{FF2B5EF4-FFF2-40B4-BE49-F238E27FC236}">
                <a16:creationId xmlns:a16="http://schemas.microsoft.com/office/drawing/2014/main" id="{338AB5D2-C30A-421B-97DE-927D2F98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surface-22">
            <a:extLst xmlns:a="http://schemas.openxmlformats.org/drawingml/2006/main">
              <a:ext uri="{FF2B5EF4-FFF2-40B4-BE49-F238E27FC236}">
                <a16:creationId xmlns:a16="http://schemas.microsoft.com/office/drawing/2014/main" id="{59EE7DA9-A167-442E-B150-D5E89589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5276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23">
            <a:extLst xmlns:a="http://schemas.openxmlformats.org/drawingml/2006/main">
              <a:ext uri="{FF2B5EF4-FFF2-40B4-BE49-F238E27FC236}">
                <a16:creationId xmlns:a16="http://schemas.microsoft.com/office/drawing/2014/main" id="{EB1411CB-B42A-460E-9D94-F18BEA10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62075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核心观察</a:t>
            </a:r>
          </a:p>
        </p:txBody>
      </p:sp>
      <p:sp>
        <p:nvSpPr>
          <p:cNvPr id="10" name="red-accent-24">
            <a:extLst xmlns:a="http://schemas.openxmlformats.org/drawingml/2006/main">
              <a:ext uri="{FF2B5EF4-FFF2-40B4-BE49-F238E27FC236}">
                <a16:creationId xmlns:a16="http://schemas.microsoft.com/office/drawing/2014/main" id="{E253AD1A-D019-44EA-8B6C-0059AAD1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d-accent-25">
            <a:extLst xmlns:a="http://schemas.openxmlformats.org/drawingml/2006/main">
              <a:ext uri="{FF2B5EF4-FFF2-40B4-BE49-F238E27FC236}">
                <a16:creationId xmlns:a16="http://schemas.microsoft.com/office/drawing/2014/main" id="{9E2204CB-9F28-4695-8183-C8FBB701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d-accent-26">
            <a:extLst xmlns:a="http://schemas.openxmlformats.org/drawingml/2006/main">
              <a:ext uri="{FF2B5EF4-FFF2-40B4-BE49-F238E27FC236}">
                <a16:creationId xmlns:a16="http://schemas.microsoft.com/office/drawing/2014/main" id="{9F7B99CD-1A5E-46D9-B70C-68A7A3A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d-accent-27">
            <a:extLst xmlns:a="http://schemas.openxmlformats.org/drawingml/2006/main">
              <a:ext uri="{FF2B5EF4-FFF2-40B4-BE49-F238E27FC236}">
                <a16:creationId xmlns:a16="http://schemas.microsoft.com/office/drawing/2014/main" id="{60630F75-3FF4-496B-AD4A-F65D287B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d-accent-28">
            <a:extLst xmlns:a="http://schemas.openxmlformats.org/drawingml/2006/main">
              <a:ext uri="{FF2B5EF4-FFF2-40B4-BE49-F238E27FC236}">
                <a16:creationId xmlns:a16="http://schemas.microsoft.com/office/drawing/2014/main" id="{2F3AA057-9BD9-4897-A8F5-2E4167EA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9">
            <a:extLst xmlns:a="http://schemas.openxmlformats.org/drawingml/2006/main">
              <a:ext uri="{FF2B5EF4-FFF2-40B4-BE49-F238E27FC236}">
                <a16:creationId xmlns:a16="http://schemas.microsoft.com/office/drawing/2014/main" id="{8588DC90-8091-4986-A27D-8285A07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6" name="text-30">
            <a:extLst xmlns:a="http://schemas.openxmlformats.org/drawingml/2006/main">
              <a:ext uri="{FF2B5EF4-FFF2-40B4-BE49-F238E27FC236}">
                <a16:creationId xmlns:a16="http://schemas.microsoft.com/office/drawing/2014/main" id="{6184663A-01D4-41B8-881F-02862799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977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呼吸与饮水</a:t>
            </a:r>
          </a:p>
        </p:txBody>
      </p:sp>
      <p:sp>
        <p:nvSpPr>
          <p:cNvPr id="17" name="text-31">
            <a:extLst xmlns:a="http://schemas.openxmlformats.org/drawingml/2006/main">
              <a:ext uri="{FF2B5EF4-FFF2-40B4-BE49-F238E27FC236}">
                <a16:creationId xmlns:a16="http://schemas.microsoft.com/office/drawing/2014/main" id="{90531B10-D517-43F6-827E-3C8990DC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003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空气与水质，关系健康生活</a:t>
            </a:r>
          </a:p>
        </p:txBody>
      </p:sp>
      <p:sp>
        <p:nvSpPr>
          <p:cNvPr id="18" name="text-32">
            <a:extLst xmlns:a="http://schemas.openxmlformats.org/drawingml/2006/main">
              <a:ext uri="{FF2B5EF4-FFF2-40B4-BE49-F238E27FC236}">
                <a16:creationId xmlns:a16="http://schemas.microsoft.com/office/drawing/2014/main" id="{B6B7FCBF-AA7F-479C-8391-7DA7A9C5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9" name="text-33">
            <a:extLst xmlns:a="http://schemas.openxmlformats.org/drawingml/2006/main">
              <a:ext uri="{FF2B5EF4-FFF2-40B4-BE49-F238E27FC236}">
                <a16:creationId xmlns:a16="http://schemas.microsoft.com/office/drawing/2014/main" id="{27C75688-1B3B-4D4B-BAAB-A9710BEA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出行与用能</a:t>
            </a:r>
          </a:p>
        </p:txBody>
      </p:sp>
      <p:sp>
        <p:nvSpPr>
          <p:cNvPr id="20" name="text-34">
            <a:extLst xmlns:a="http://schemas.openxmlformats.org/drawingml/2006/main">
              <a:ext uri="{FF2B5EF4-FFF2-40B4-BE49-F238E27FC236}">
                <a16:creationId xmlns:a16="http://schemas.microsoft.com/office/drawing/2014/main" id="{320DD144-EDD9-41EA-B95C-488E8B6F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75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出行与用电，连接资源消耗</a:t>
            </a:r>
          </a:p>
        </p:txBody>
      </p:sp>
      <p:sp>
        <p:nvSpPr>
          <p:cNvPr id="21" name="text-35">
            <a:extLst xmlns:a="http://schemas.openxmlformats.org/drawingml/2006/main">
              <a:ext uri="{FF2B5EF4-FFF2-40B4-BE49-F238E27FC236}">
                <a16:creationId xmlns:a16="http://schemas.microsoft.com/office/drawing/2014/main" id="{0DD2F417-F166-4384-9A96-5D2FB2F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text-36">
            <a:extLst xmlns:a="http://schemas.openxmlformats.org/drawingml/2006/main">
              <a:ext uri="{FF2B5EF4-FFF2-40B4-BE49-F238E27FC236}">
                <a16:creationId xmlns:a16="http://schemas.microsoft.com/office/drawing/2014/main" id="{BC055642-7850-4A1F-A1B8-C1A9BB4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243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生产与消费</a:t>
            </a:r>
          </a:p>
        </p:txBody>
      </p:sp>
      <p:sp>
        <p:nvSpPr>
          <p:cNvPr id="23" name="text-37">
            <a:extLst xmlns:a="http://schemas.openxmlformats.org/drawingml/2006/main">
              <a:ext uri="{FF2B5EF4-FFF2-40B4-BE49-F238E27FC236}">
                <a16:creationId xmlns:a16="http://schemas.microsoft.com/office/drawing/2014/main" id="{3271597A-C5D9-48F0-8175-11ADF73C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生产消费，都有生态足迹</a:t>
            </a:r>
          </a:p>
        </p:txBody>
      </p:sp>
      <p:sp>
        <p:nvSpPr>
          <p:cNvPr id="24" name="surface-38">
            <a:extLst xmlns:a="http://schemas.openxmlformats.org/drawingml/2006/main">
              <a:ext uri="{FF2B5EF4-FFF2-40B4-BE49-F238E27FC236}">
                <a16:creationId xmlns:a16="http://schemas.microsoft.com/office/drawing/2014/main" id="{0B3A998E-DC36-4B0A-94E8-058BDA20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00150"/>
            <a:ext cx="56864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AC1EC-FE14-4587-B69B-3BD78DEA6D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c25ecab4846e5"/>
          <a:srcRect xmlns:a="http://schemas.openxmlformats.org/drawingml/2006/main" l="66667" t="0" r="0" b="50000"/>
          <a:stretch xmlns:a="http://schemas.openxmlformats.org/drawingml/2006/main"/>
        </p:blipFill>
        <p:spPr>
          <a:xfrm xmlns:a="http://schemas.openxmlformats.org/drawingml/2006/main">
            <a:off x="6067425" y="1219200"/>
            <a:ext cx="5648325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surface-39">
            <a:extLst xmlns:a="http://schemas.openxmlformats.org/drawingml/2006/main">
              <a:ext uri="{FF2B5EF4-FFF2-40B4-BE49-F238E27FC236}">
                <a16:creationId xmlns:a16="http://schemas.microsoft.com/office/drawing/2014/main" id="{4E967266-2B8A-4BD1-9ACE-2E492564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52850"/>
            <a:ext cx="1143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40">
            <a:extLst xmlns:a="http://schemas.openxmlformats.org/drawingml/2006/main">
              <a:ext uri="{FF2B5EF4-FFF2-40B4-BE49-F238E27FC236}">
                <a16:creationId xmlns:a16="http://schemas.microsoft.com/office/drawing/2014/main" id="{6D953105-1071-4D32-9F3A-29832EB6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814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教学示意图</a:t>
            </a:r>
          </a:p>
        </p:txBody>
      </p:sp>
      <p:sp>
        <p:nvSpPr>
          <p:cNvPr id="28" name="surface-41">
            <a:extLst xmlns:a="http://schemas.openxmlformats.org/drawingml/2006/main">
              <a:ext uri="{FF2B5EF4-FFF2-40B4-BE49-F238E27FC236}">
                <a16:creationId xmlns:a16="http://schemas.microsoft.com/office/drawing/2014/main" id="{D565F5A9-76F7-480D-89CF-9F3E1DF7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56483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42">
            <a:extLst xmlns:a="http://schemas.openxmlformats.org/drawingml/2006/main">
              <a:ext uri="{FF2B5EF4-FFF2-40B4-BE49-F238E27FC236}">
                <a16:creationId xmlns:a16="http://schemas.microsoft.com/office/drawing/2014/main" id="{5C146925-2E98-4D96-B37F-427893A9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05300"/>
            <a:ext cx="5229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生态环境质量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是人人共享的公共产品</a:t>
            </a:r>
          </a:p>
        </p:txBody>
      </p:sp>
      <p:sp>
        <p:nvSpPr>
          <p:cNvPr id="30" name="surface-43">
            <a:extLst xmlns:a="http://schemas.openxmlformats.org/drawingml/2006/main">
              <a:ext uri="{FF2B5EF4-FFF2-40B4-BE49-F238E27FC236}">
                <a16:creationId xmlns:a16="http://schemas.microsoft.com/office/drawing/2014/main" id="{FBC3214E-A053-4A9D-BBA2-0DB6A6CA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circle-44">
            <a:extLst xmlns:a="http://schemas.openxmlformats.org/drawingml/2006/main">
              <a:ext uri="{FF2B5EF4-FFF2-40B4-BE49-F238E27FC236}">
                <a16:creationId xmlns:a16="http://schemas.microsoft.com/office/drawing/2014/main" id="{5948FC33-B163-4385-AE58-8B4E613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24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9D9D7-6F68-4224-ADF9-1EFA39E5B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c093ce6c94d71">
            <a:extLst>
              <a:ext uri="{96DAC541-7B7A-43D3-8B79-37D633B846F1}">
                <asvg:svgBlip xmlns:asvg="http://schemas.microsoft.com/office/drawing/2016/SVG/main" r:embed="R522826f4871d4e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10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3" name="text-45">
            <a:extLst xmlns:a="http://schemas.openxmlformats.org/drawingml/2006/main">
              <a:ext uri="{FF2B5EF4-FFF2-40B4-BE49-F238E27FC236}">
                <a16:creationId xmlns:a16="http://schemas.microsoft.com/office/drawing/2014/main" id="{C1A4D84A-FEDF-4D47-9574-26C1DCC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4" name="text-46">
            <a:extLst xmlns:a="http://schemas.openxmlformats.org/drawingml/2006/main">
              <a:ext uri="{FF2B5EF4-FFF2-40B4-BE49-F238E27FC236}">
                <a16:creationId xmlns:a16="http://schemas.microsoft.com/office/drawing/2014/main" id="{476CD595-0487-4728-9AA2-3A4EDF37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你家乡近年最明显的一项环境变化是什么？</a:t>
            </a:r>
          </a:p>
        </p:txBody>
      </p:sp>
    </p:spTree>
    <p:extLst>
      <p:ext uri="{BB962C8B-B14F-4D97-AF65-F5344CB8AC3E}">
        <p14:creationId xmlns:p14="http://schemas.microsoft.com/office/powerpoint/2010/main" val="1254117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urface-47">
            <a:extLst xmlns:a="http://schemas.openxmlformats.org/drawingml/2006/main">
              <a:ext uri="{FF2B5EF4-FFF2-40B4-BE49-F238E27FC236}">
                <a16:creationId xmlns:a16="http://schemas.microsoft.com/office/drawing/2014/main" id="{42093571-FBC7-4548-B668-3F8D32B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48">
            <a:extLst xmlns:a="http://schemas.openxmlformats.org/drawingml/2006/main">
              <a:ext uri="{FF2B5EF4-FFF2-40B4-BE49-F238E27FC236}">
                <a16:creationId xmlns:a16="http://schemas.microsoft.com/office/drawing/2014/main" id="{D5AAB8B0-2C08-4A5D-A009-1DD4FDBA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49">
            <a:extLst xmlns:a="http://schemas.openxmlformats.org/drawingml/2006/main">
              <a:ext uri="{FF2B5EF4-FFF2-40B4-BE49-F238E27FC236}">
                <a16:creationId xmlns:a16="http://schemas.microsoft.com/office/drawing/2014/main" id="{605CEB79-DEE2-41F2-B781-C68CF4C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0">
            <a:extLst xmlns:a="http://schemas.openxmlformats.org/drawingml/2006/main">
              <a:ext uri="{FF2B5EF4-FFF2-40B4-BE49-F238E27FC236}">
                <a16:creationId xmlns:a16="http://schemas.microsoft.com/office/drawing/2014/main" id="{260FD719-1248-4FC0-9E9A-E46B859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这堂课需要回答三个问题</a:t>
            </a:r>
          </a:p>
        </p:txBody>
      </p:sp>
      <p:sp>
        <p:nvSpPr>
          <p:cNvPr id="5" name="rule-51">
            <a:extLst xmlns:a="http://schemas.openxmlformats.org/drawingml/2006/main">
              <a:ext uri="{FF2B5EF4-FFF2-40B4-BE49-F238E27FC236}">
                <a16:creationId xmlns:a16="http://schemas.microsoft.com/office/drawing/2014/main" id="{47A9AF4A-E242-4F9A-8D68-7DE2CDE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52">
            <a:extLst xmlns:a="http://schemas.openxmlformats.org/drawingml/2006/main">
              <a:ext uri="{FF2B5EF4-FFF2-40B4-BE49-F238E27FC236}">
                <a16:creationId xmlns:a16="http://schemas.microsoft.com/office/drawing/2014/main" id="{9966FEA7-0FCE-4116-9CE5-591C546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出处：党的二十大报告（2022）；《美丽中国建设意见》（2023）；《全面绿色转型意见》（2024）。完整文献及讲解见备注</a:t>
            </a:r>
          </a:p>
        </p:txBody>
      </p:sp>
      <p:sp>
        <p:nvSpPr>
          <p:cNvPr id="7" name="text-53">
            <a:extLst xmlns:a="http://schemas.openxmlformats.org/drawingml/2006/main">
              <a:ext uri="{FF2B5EF4-FFF2-40B4-BE49-F238E27FC236}">
                <a16:creationId xmlns:a16="http://schemas.microsoft.com/office/drawing/2014/main" id="{0AC62CEB-170C-4B8B-A374-1F69CC30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8" name="surface-54">
            <a:extLst xmlns:a="http://schemas.openxmlformats.org/drawingml/2006/main">
              <a:ext uri="{FF2B5EF4-FFF2-40B4-BE49-F238E27FC236}">
                <a16:creationId xmlns:a16="http://schemas.microsoft.com/office/drawing/2014/main" id="{A6DCA2C2-9767-4584-BD7F-293FA87D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14450"/>
            <a:ext cx="11239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55">
            <a:extLst xmlns:a="http://schemas.openxmlformats.org/drawingml/2006/main">
              <a:ext uri="{FF2B5EF4-FFF2-40B4-BE49-F238E27FC236}">
                <a16:creationId xmlns:a16="http://schemas.microsoft.com/office/drawing/2014/main" id="{E3B40125-907F-4ED4-BF32-C997EFA8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14450"/>
            <a:ext cx="971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6">
            <a:extLst xmlns:a="http://schemas.openxmlformats.org/drawingml/2006/main">
              <a:ext uri="{FF2B5EF4-FFF2-40B4-BE49-F238E27FC236}">
                <a16:creationId xmlns:a16="http://schemas.microsoft.com/office/drawing/2014/main" id="{B3D97269-7390-4E1C-8411-BCDE6B7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-57">
            <a:extLst xmlns:a="http://schemas.openxmlformats.org/drawingml/2006/main">
              <a:ext uri="{FF2B5EF4-FFF2-40B4-BE49-F238E27FC236}">
                <a16:creationId xmlns:a16="http://schemas.microsoft.com/office/drawing/2014/main" id="{6B5CDAB5-14E0-45C2-BD69-AFFB6EC8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524000"/>
            <a:ext cx="9525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新时代生态文明建设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7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取得举世瞩目的巨大成就</a:t>
            </a:r>
          </a:p>
        </p:txBody>
      </p:sp>
      <p:sp>
        <p:nvSpPr>
          <p:cNvPr id="12" name="surface-58">
            <a:extLst xmlns:a="http://schemas.openxmlformats.org/drawingml/2006/main">
              <a:ext uri="{FF2B5EF4-FFF2-40B4-BE49-F238E27FC236}">
                <a16:creationId xmlns:a16="http://schemas.microsoft.com/office/drawing/2014/main" id="{1DDE40CC-2639-4F67-9721-FA5961FF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47975"/>
            <a:ext cx="11239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urface-59">
            <a:extLst xmlns:a="http://schemas.openxmlformats.org/drawingml/2006/main">
              <a:ext uri="{FF2B5EF4-FFF2-40B4-BE49-F238E27FC236}">
                <a16:creationId xmlns:a16="http://schemas.microsoft.com/office/drawing/2014/main" id="{9DFC5788-9458-45B7-AEAF-A4B21AA4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47975"/>
            <a:ext cx="971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0">
            <a:extLst xmlns:a="http://schemas.openxmlformats.org/drawingml/2006/main">
              <a:ext uri="{FF2B5EF4-FFF2-40B4-BE49-F238E27FC236}">
                <a16:creationId xmlns:a16="http://schemas.microsoft.com/office/drawing/2014/main" id="{36839AEF-3943-4E75-9200-D411E00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5" name="text-61">
            <a:extLst xmlns:a="http://schemas.openxmlformats.org/drawingml/2006/main">
              <a:ext uri="{FF2B5EF4-FFF2-40B4-BE49-F238E27FC236}">
                <a16:creationId xmlns:a16="http://schemas.microsoft.com/office/drawing/2014/main" id="{E467B07B-E9F9-40DC-9DBA-43940766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57525"/>
            <a:ext cx="9525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充分认识编纂施行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生态环境法典的重大意义</a:t>
            </a:r>
          </a:p>
        </p:txBody>
      </p:sp>
      <p:sp>
        <p:nvSpPr>
          <p:cNvPr id="16" name="surface-62">
            <a:extLst xmlns:a="http://schemas.openxmlformats.org/drawingml/2006/main">
              <a:ext uri="{FF2B5EF4-FFF2-40B4-BE49-F238E27FC236}">
                <a16:creationId xmlns:a16="http://schemas.microsoft.com/office/drawing/2014/main" id="{F192F6BF-3B46-471F-91B5-B577C349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11239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urface-63">
            <a:extLst xmlns:a="http://schemas.openxmlformats.org/drawingml/2006/main">
              <a:ext uri="{FF2B5EF4-FFF2-40B4-BE49-F238E27FC236}">
                <a16:creationId xmlns:a16="http://schemas.microsoft.com/office/drawing/2014/main" id="{9FE86DB9-619A-4750-9AB7-698721D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971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4">
            <a:extLst xmlns:a="http://schemas.openxmlformats.org/drawingml/2006/main">
              <a:ext uri="{FF2B5EF4-FFF2-40B4-BE49-F238E27FC236}">
                <a16:creationId xmlns:a16="http://schemas.microsoft.com/office/drawing/2014/main" id="{EFBBE4D9-C116-4CC1-8C36-D6199924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9" name="text-65">
            <a:extLst xmlns:a="http://schemas.openxmlformats.org/drawingml/2006/main">
              <a:ext uri="{FF2B5EF4-FFF2-40B4-BE49-F238E27FC236}">
                <a16:creationId xmlns:a16="http://schemas.microsoft.com/office/drawing/2014/main" id="{91FA9D9B-9E85-4792-A077-C02E3CF8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91050"/>
            <a:ext cx="9525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“十五五”时期美丽中国建设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面临的形势和任务</a:t>
            </a:r>
          </a:p>
        </p:txBody>
      </p:sp>
    </p:spTree>
    <p:extLst>
      <p:ext uri="{BB962C8B-B14F-4D97-AF65-F5344CB8AC3E}">
        <p14:creationId xmlns:p14="http://schemas.microsoft.com/office/powerpoint/2010/main" val="478573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-66">
            <a:extLst xmlns:a="http://schemas.openxmlformats.org/drawingml/2006/main">
              <a:ext uri="{FF2B5EF4-FFF2-40B4-BE49-F238E27FC236}">
                <a16:creationId xmlns:a16="http://schemas.microsoft.com/office/drawing/2014/main" id="{88050412-FD47-45D6-AB5A-CBF63468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67">
            <a:extLst xmlns:a="http://schemas.openxmlformats.org/drawingml/2006/main">
              <a:ext uri="{FF2B5EF4-FFF2-40B4-BE49-F238E27FC236}">
                <a16:creationId xmlns:a16="http://schemas.microsoft.com/office/drawing/2014/main" id="{4340CBEE-6D4F-40AC-9CAD-276B5810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68">
            <a:extLst xmlns:a="http://schemas.openxmlformats.org/drawingml/2006/main">
              <a:ext uri="{FF2B5EF4-FFF2-40B4-BE49-F238E27FC236}">
                <a16:creationId xmlns:a16="http://schemas.microsoft.com/office/drawing/2014/main" id="{5F3733AD-0006-4C92-8776-C090F04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A716A752-C00A-4F82-AAC6-FF3C2417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把成就、法治与未来任务连起来</a:t>
            </a:r>
          </a:p>
        </p:txBody>
      </p:sp>
      <p:sp>
        <p:nvSpPr>
          <p:cNvPr id="5" name="rule-70">
            <a:extLst xmlns:a="http://schemas.openxmlformats.org/drawingml/2006/main">
              <a:ext uri="{FF2B5EF4-FFF2-40B4-BE49-F238E27FC236}">
                <a16:creationId xmlns:a16="http://schemas.microsoft.com/office/drawing/2014/main" id="{826D3BA7-EA7C-42A1-B64A-2E752B3A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6845752C-B950-4532-905F-7514B50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出处：党的二十大报告（2022）；全国生态环保大会公开报道（2023）；《美丽中国建设意见》（2023）。完整文献及讲解见备注</a:t>
            </a:r>
          </a:p>
        </p:txBody>
      </p:sp>
      <p:sp>
        <p:nvSpPr>
          <p:cNvPr id="7" name="text-72">
            <a:extLst xmlns:a="http://schemas.openxmlformats.org/drawingml/2006/main">
              <a:ext uri="{FF2B5EF4-FFF2-40B4-BE49-F238E27FC236}">
                <a16:creationId xmlns:a16="http://schemas.microsoft.com/office/drawing/2014/main" id="{3954D83F-3CB5-4EFF-A8D1-506D6683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8" name="surface-73">
            <a:extLst xmlns:a="http://schemas.openxmlformats.org/drawingml/2006/main">
              <a:ext uri="{FF2B5EF4-FFF2-40B4-BE49-F238E27FC236}">
                <a16:creationId xmlns:a16="http://schemas.microsoft.com/office/drawing/2014/main" id="{45F2D678-26D1-4EDF-9A2F-B4F65A97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74">
            <a:extLst xmlns:a="http://schemas.openxmlformats.org/drawingml/2006/main">
              <a:ext uri="{FF2B5EF4-FFF2-40B4-BE49-F238E27FC236}">
                <a16:creationId xmlns:a16="http://schemas.microsoft.com/office/drawing/2014/main" id="{750515AC-D2FE-4C60-AFF8-B262E9FE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107051D7-2D21-47F5-A700-B9AF7037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-76">
            <a:extLst xmlns:a="http://schemas.openxmlformats.org/drawingml/2006/main">
              <a:ext uri="{FF2B5EF4-FFF2-40B4-BE49-F238E27FC236}">
                <a16:creationId xmlns:a16="http://schemas.microsoft.com/office/drawing/2014/main" id="{D439C8C6-DAC5-4D59-BE69-513FD113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看见建设成就</a:t>
            </a:r>
          </a:p>
        </p:txBody>
      </p:sp>
      <p:sp>
        <p:nvSpPr>
          <p:cNvPr id="12" name="text-77">
            <a:extLst xmlns:a="http://schemas.openxmlformats.org/drawingml/2006/main">
              <a:ext uri="{FF2B5EF4-FFF2-40B4-BE49-F238E27FC236}">
                <a16:creationId xmlns:a16="http://schemas.microsoft.com/office/drawing/2014/main" id="{3936A253-DEF8-4B3B-818B-C85552A0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环境面貌怎样变，发展方式怎样变？</a:t>
            </a:r>
          </a:p>
        </p:txBody>
      </p:sp>
      <p:sp>
        <p:nvSpPr>
          <p:cNvPr id="13" name="arrow-78">
            <a:extLst xmlns:a="http://schemas.openxmlformats.org/drawingml/2006/main">
              <a:ext uri="{FF2B5EF4-FFF2-40B4-BE49-F238E27FC236}">
                <a16:creationId xmlns:a16="http://schemas.microsoft.com/office/drawing/2014/main" id="{858891CC-AE79-43EC-B181-B51E6E16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79">
            <a:extLst xmlns:a="http://schemas.openxmlformats.org/drawingml/2006/main">
              <a:ext uri="{FF2B5EF4-FFF2-40B4-BE49-F238E27FC236}">
                <a16:creationId xmlns:a16="http://schemas.microsoft.com/office/drawing/2014/main" id="{CABA57FB-6F72-4481-8508-922D5087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80">
            <a:extLst xmlns:a="http://schemas.openxmlformats.org/drawingml/2006/main">
              <a:ext uri="{FF2B5EF4-FFF2-40B4-BE49-F238E27FC236}">
                <a16:creationId xmlns:a16="http://schemas.microsoft.com/office/drawing/2014/main" id="{9D1953D5-E66F-4606-970D-8DE3CD4F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81">
            <a:extLst xmlns:a="http://schemas.openxmlformats.org/drawingml/2006/main">
              <a:ext uri="{FF2B5EF4-FFF2-40B4-BE49-F238E27FC236}">
                <a16:creationId xmlns:a16="http://schemas.microsoft.com/office/drawing/2014/main" id="{7FF4F856-D09C-4AEF-A90F-13F82805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-82">
            <a:extLst xmlns:a="http://schemas.openxmlformats.org/drawingml/2006/main">
              <a:ext uri="{FF2B5EF4-FFF2-40B4-BE49-F238E27FC236}">
                <a16:creationId xmlns:a16="http://schemas.microsoft.com/office/drawing/2014/main" id="{7E8E4B92-F1C4-45B8-9EF9-F6D45FD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理解制度保障</a:t>
            </a:r>
          </a:p>
        </p:txBody>
      </p:sp>
      <p:sp>
        <p:nvSpPr>
          <p:cNvPr id="18" name="text-83">
            <a:extLst xmlns:a="http://schemas.openxmlformats.org/drawingml/2006/main">
              <a:ext uri="{FF2B5EF4-FFF2-40B4-BE49-F238E27FC236}">
                <a16:creationId xmlns:a16="http://schemas.microsoft.com/office/drawing/2014/main" id="{5B5F9EC0-714B-4E6D-A792-9D62FB69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有效做法怎样形成稳定、可执行的规则？</a:t>
            </a:r>
          </a:p>
        </p:txBody>
      </p:sp>
      <p:sp>
        <p:nvSpPr>
          <p:cNvPr id="19" name="arrow-84">
            <a:extLst xmlns:a="http://schemas.openxmlformats.org/drawingml/2006/main">
              <a:ext uri="{FF2B5EF4-FFF2-40B4-BE49-F238E27FC236}">
                <a16:creationId xmlns:a16="http://schemas.microsoft.com/office/drawing/2014/main" id="{BC219875-2ADD-497A-A18B-DD3DFB6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85">
            <a:extLst xmlns:a="http://schemas.openxmlformats.org/drawingml/2006/main">
              <a:ext uri="{FF2B5EF4-FFF2-40B4-BE49-F238E27FC236}">
                <a16:creationId xmlns:a16="http://schemas.microsoft.com/office/drawing/2014/main" id="{21221018-75EB-4E74-840A-3E70153D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86">
            <a:extLst xmlns:a="http://schemas.openxmlformats.org/drawingml/2006/main">
              <a:ext uri="{FF2B5EF4-FFF2-40B4-BE49-F238E27FC236}">
                <a16:creationId xmlns:a16="http://schemas.microsoft.com/office/drawing/2014/main" id="{2F6862FF-90C9-49C8-9FC1-1CD21047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87">
            <a:extLst xmlns:a="http://schemas.openxmlformats.org/drawingml/2006/main">
              <a:ext uri="{FF2B5EF4-FFF2-40B4-BE49-F238E27FC236}">
                <a16:creationId xmlns:a16="http://schemas.microsoft.com/office/drawing/2014/main" id="{A492B03B-5DC0-475F-9768-14F88AC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text-88">
            <a:extLst xmlns:a="http://schemas.openxmlformats.org/drawingml/2006/main">
              <a:ext uri="{FF2B5EF4-FFF2-40B4-BE49-F238E27FC236}">
                <a16:creationId xmlns:a16="http://schemas.microsoft.com/office/drawing/2014/main" id="{7BCB5722-DF4E-4086-BC3C-14971FBA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回应未来任务</a:t>
            </a:r>
          </a:p>
        </p:txBody>
      </p:sp>
      <p:sp>
        <p:nvSpPr>
          <p:cNvPr id="24" name="text-89">
            <a:extLst xmlns:a="http://schemas.openxmlformats.org/drawingml/2006/main">
              <a:ext uri="{FF2B5EF4-FFF2-40B4-BE49-F238E27FC236}">
                <a16:creationId xmlns:a16="http://schemas.microsoft.com/office/drawing/2014/main" id="{DC0D36B5-4478-4655-AB55-63457566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新形势下，如何持续提升治理成效？</a:t>
            </a:r>
          </a:p>
        </p:txBody>
      </p:sp>
      <p:sp>
        <p:nvSpPr>
          <p:cNvPr id="25" name="surface-90">
            <a:extLst xmlns:a="http://schemas.openxmlformats.org/drawingml/2006/main">
              <a:ext uri="{FF2B5EF4-FFF2-40B4-BE49-F238E27FC236}">
                <a16:creationId xmlns:a16="http://schemas.microsoft.com/office/drawing/2014/main" id="{6E7DF07B-2B90-4CEF-A185-6A66BF2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91">
            <a:extLst xmlns:a="http://schemas.openxmlformats.org/drawingml/2006/main">
              <a:ext uri="{FF2B5EF4-FFF2-40B4-BE49-F238E27FC236}">
                <a16:creationId xmlns:a16="http://schemas.microsoft.com/office/drawing/2014/main" id="{05A7C7A1-1CEA-4369-8D93-8130F31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从一幅风景看到政策，从一个案例理解治理</a:t>
            </a:r>
          </a:p>
        </p:txBody>
      </p:sp>
      <p:sp>
        <p:nvSpPr>
          <p:cNvPr id="27" name="text-92">
            <a:extLst xmlns:a="http://schemas.openxmlformats.org/drawingml/2006/main">
              <a:ext uri="{FF2B5EF4-FFF2-40B4-BE49-F238E27FC236}">
                <a16:creationId xmlns:a16="http://schemas.microsoft.com/office/drawing/2014/main" id="{83EAE078-47A5-4748-9FE0-B1D2E5B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教学主线：从现象到机制，再从机制走向持续行动</a:t>
            </a:r>
          </a:p>
        </p:txBody>
      </p:sp>
    </p:spTree>
    <p:extLst>
      <p:ext uri="{BB962C8B-B14F-4D97-AF65-F5344CB8AC3E}">
        <p14:creationId xmlns:p14="http://schemas.microsoft.com/office/powerpoint/2010/main" val="198884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-93">
            <a:extLst xmlns:a="http://schemas.openxmlformats.org/drawingml/2006/main">
              <a:ext uri="{FF2B5EF4-FFF2-40B4-BE49-F238E27FC236}">
                <a16:creationId xmlns:a16="http://schemas.microsoft.com/office/drawing/2014/main" id="{B32A05CF-8D47-4DA3-A3CB-0413266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94">
            <a:extLst xmlns:a="http://schemas.openxmlformats.org/drawingml/2006/main">
              <a:ext uri="{FF2B5EF4-FFF2-40B4-BE49-F238E27FC236}">
                <a16:creationId xmlns:a16="http://schemas.microsoft.com/office/drawing/2014/main" id="{FFC94C10-D68F-4756-AED5-C43E9C5F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95">
            <a:extLst xmlns:a="http://schemas.openxmlformats.org/drawingml/2006/main">
              <a:ext uri="{FF2B5EF4-FFF2-40B4-BE49-F238E27FC236}">
                <a16:creationId xmlns:a16="http://schemas.microsoft.com/office/drawing/2014/main" id="{4E01410F-6EA9-459F-9E0D-9C4B86C8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6C325CB4-C0AA-4BF9-9290-B38B8587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理论起点：人与自然是生命共同体</a:t>
            </a:r>
          </a:p>
        </p:txBody>
      </p:sp>
      <p:sp>
        <p:nvSpPr>
          <p:cNvPr id="5" name="rule-97">
            <a:extLst xmlns:a="http://schemas.openxmlformats.org/drawingml/2006/main">
              <a:ext uri="{FF2B5EF4-FFF2-40B4-BE49-F238E27FC236}">
                <a16:creationId xmlns:a16="http://schemas.microsoft.com/office/drawing/2014/main" id="{1499D176-FE41-4550-B53B-91118BCE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98">
            <a:extLst xmlns:a="http://schemas.openxmlformats.org/drawingml/2006/main">
              <a:ext uri="{FF2B5EF4-FFF2-40B4-BE49-F238E27FC236}">
                <a16:creationId xmlns:a16="http://schemas.microsoft.com/office/drawing/2014/main" id="{5044D8E9-7704-4ED9-BA00-D1FFBE36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出处：党的二十大报告（2022）。完整文献及讲解见备注</a:t>
            </a:r>
          </a:p>
        </p:txBody>
      </p:sp>
      <p:sp>
        <p:nvSpPr>
          <p:cNvPr id="7" name="text-99">
            <a:extLst xmlns:a="http://schemas.openxmlformats.org/drawingml/2006/main">
              <a:ext uri="{FF2B5EF4-FFF2-40B4-BE49-F238E27FC236}">
                <a16:creationId xmlns:a16="http://schemas.microsoft.com/office/drawing/2014/main" id="{6A48EB54-E125-4BC3-AF12-0700A536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8" name="surface-100">
            <a:extLst xmlns:a="http://schemas.openxmlformats.org/drawingml/2006/main">
              <a:ext uri="{FF2B5EF4-FFF2-40B4-BE49-F238E27FC236}">
                <a16:creationId xmlns:a16="http://schemas.microsoft.com/office/drawing/2014/main" id="{85A3610E-9BB1-4806-8580-AC0DB5EE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23975"/>
            <a:ext cx="1123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01">
            <a:extLst xmlns:a="http://schemas.openxmlformats.org/drawingml/2006/main">
              <a:ext uri="{FF2B5EF4-FFF2-40B4-BE49-F238E27FC236}">
                <a16:creationId xmlns:a16="http://schemas.microsoft.com/office/drawing/2014/main" id="{A5175386-889D-44B2-A5BC-A12008E4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10706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“人与自然是生命共同体。”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CB41A-4993-4A13-878E-768B63A11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ff6101fba487a">
            <a:extLst>
              <a:ext uri="{96DAC541-7B7A-43D3-8B79-37D633B846F1}">
                <asvg:svgBlip xmlns:asvg="http://schemas.microsoft.com/office/drawing/2016/SVG/main" r:embed="Race73a60a5b340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" y="319087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1" name="text-102">
            <a:extLst xmlns:a="http://schemas.openxmlformats.org/drawingml/2006/main">
              <a:ext uri="{FF2B5EF4-FFF2-40B4-BE49-F238E27FC236}">
                <a16:creationId xmlns:a16="http://schemas.microsoft.com/office/drawing/2014/main" id="{89A31BCD-6CB4-44A2-BE1A-ECD27A02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62300"/>
            <a:ext cx="276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生产生活有依托</a:t>
            </a:r>
          </a:p>
        </p:txBody>
      </p:sp>
      <p:sp>
        <p:nvSpPr>
          <p:cNvPr id="12" name="text-103">
            <a:extLst xmlns:a="http://schemas.openxmlformats.org/drawingml/2006/main">
              <a:ext uri="{FF2B5EF4-FFF2-40B4-BE49-F238E27FC236}">
                <a16:creationId xmlns:a16="http://schemas.microsoft.com/office/drawing/2014/main" id="{FECB4B2A-3E38-46B0-8BE1-CE3EBEA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3314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空气、水、土壤和生态系统支撑人类生存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E3210-B6F2-46A2-B608-241DCABE6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49f264c984ecf">
            <a:extLst>
              <a:ext uri="{96DAC541-7B7A-43D3-8B79-37D633B846F1}">
                <asvg:svgBlip xmlns:asvg="http://schemas.microsoft.com/office/drawing/2016/SVG/main" r:embed="Rb93019d7125944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24375" y="319087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4" name="text-104">
            <a:extLst xmlns:a="http://schemas.openxmlformats.org/drawingml/2006/main">
              <a:ext uri="{FF2B5EF4-FFF2-40B4-BE49-F238E27FC236}">
                <a16:creationId xmlns:a16="http://schemas.microsoft.com/office/drawing/2014/main" id="{03265AEB-6BC8-43FA-8506-82A91C2E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62300"/>
            <a:ext cx="276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发展活动有边界</a:t>
            </a:r>
          </a:p>
        </p:txBody>
      </p:sp>
      <p:sp>
        <p:nvSpPr>
          <p:cNvPr id="15" name="text-105">
            <a:extLst xmlns:a="http://schemas.openxmlformats.org/drawingml/2006/main">
              <a:ext uri="{FF2B5EF4-FFF2-40B4-BE49-F238E27FC236}">
                <a16:creationId xmlns:a16="http://schemas.microsoft.com/office/drawing/2014/main" id="{DABC0726-B776-4892-9C23-E07382A1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81475"/>
            <a:ext cx="3314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资源与环境承载能力，需要纳入发展决策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803F2-1BB7-42A2-B35D-9E584F537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7dbfc329545b7">
            <a:extLst>
              <a:ext uri="{96DAC541-7B7A-43D3-8B79-37D633B846F1}">
                <asvg:svgBlip xmlns:asvg="http://schemas.microsoft.com/office/drawing/2016/SVG/main" r:embed="Rdcd6d394fdea40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01050" y="319087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7" name="text-106">
            <a:extLst xmlns:a="http://schemas.openxmlformats.org/drawingml/2006/main">
              <a:ext uri="{FF2B5EF4-FFF2-40B4-BE49-F238E27FC236}">
                <a16:creationId xmlns:a16="http://schemas.microsoft.com/office/drawing/2014/main" id="{2365AC9A-DE3E-4DA3-8617-3BAD16E4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62300"/>
            <a:ext cx="276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代际责任要承担</a:t>
            </a:r>
          </a:p>
        </p:txBody>
      </p:sp>
      <p:sp>
        <p:nvSpPr>
          <p:cNvPr id="18" name="text-107">
            <a:extLst xmlns:a="http://schemas.openxmlformats.org/drawingml/2006/main">
              <a:ext uri="{FF2B5EF4-FFF2-40B4-BE49-F238E27FC236}">
                <a16:creationId xmlns:a16="http://schemas.microsoft.com/office/drawing/2014/main" id="{13C1EEE6-D6B2-4D2F-9487-4BF3C8CA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81475"/>
            <a:ext cx="33147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今天的发展，要为后人留下良好生态环境</a:t>
            </a:r>
          </a:p>
        </p:txBody>
      </p:sp>
      <p:sp>
        <p:nvSpPr>
          <p:cNvPr id="19" name="rule-108">
            <a:extLst xmlns:a="http://schemas.openxmlformats.org/drawingml/2006/main">
              <a:ext uri="{FF2B5EF4-FFF2-40B4-BE49-F238E27FC236}">
                <a16:creationId xmlns:a16="http://schemas.microsoft.com/office/drawing/2014/main" id="{FEF4A54B-1C47-4944-A2D1-B73ECEAC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20" name="text-109">
            <a:extLst xmlns:a="http://schemas.openxmlformats.org/drawingml/2006/main">
              <a:ext uri="{FF2B5EF4-FFF2-40B4-BE49-F238E27FC236}">
                <a16:creationId xmlns:a16="http://schemas.microsoft.com/office/drawing/2014/main" id="{98F502B1-7D41-49E1-A697-E1BF709F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864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尊重自然规律，才能让发展成果持续积累</a:t>
            </a:r>
          </a:p>
        </p:txBody>
      </p:sp>
    </p:spTree>
    <p:extLst>
      <p:ext uri="{BB962C8B-B14F-4D97-AF65-F5344CB8AC3E}">
        <p14:creationId xmlns:p14="http://schemas.microsoft.com/office/powerpoint/2010/main" val="1395179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-110">
            <a:extLst xmlns:a="http://schemas.openxmlformats.org/drawingml/2006/main">
              <a:ext uri="{FF2B5EF4-FFF2-40B4-BE49-F238E27FC236}">
                <a16:creationId xmlns:a16="http://schemas.microsoft.com/office/drawing/2014/main" id="{128B90CA-A386-49A9-AF29-8947A56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111">
            <a:extLst xmlns:a="http://schemas.openxmlformats.org/drawingml/2006/main">
              <a:ext uri="{FF2B5EF4-FFF2-40B4-BE49-F238E27FC236}">
                <a16:creationId xmlns:a16="http://schemas.microsoft.com/office/drawing/2014/main" id="{08984DD4-F7AE-44B1-9B56-3D4E8ED6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112">
            <a:extLst xmlns:a="http://schemas.openxmlformats.org/drawingml/2006/main">
              <a:ext uri="{FF2B5EF4-FFF2-40B4-BE49-F238E27FC236}">
                <a16:creationId xmlns:a16="http://schemas.microsoft.com/office/drawing/2014/main" id="{45B151DE-928B-47BE-80F6-9C0F225F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13">
            <a:extLst xmlns:a="http://schemas.openxmlformats.org/drawingml/2006/main">
              <a:ext uri="{FF2B5EF4-FFF2-40B4-BE49-F238E27FC236}">
                <a16:creationId xmlns:a16="http://schemas.microsoft.com/office/drawing/2014/main" id="{31C9C866-0DE1-4AB2-BC15-03183219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中国式现代化为什么包含绿色要求</a:t>
            </a:r>
          </a:p>
        </p:txBody>
      </p:sp>
      <p:sp>
        <p:nvSpPr>
          <p:cNvPr id="5" name="rule-114">
            <a:extLst xmlns:a="http://schemas.openxmlformats.org/drawingml/2006/main">
              <a:ext uri="{FF2B5EF4-FFF2-40B4-BE49-F238E27FC236}">
                <a16:creationId xmlns:a16="http://schemas.microsoft.com/office/drawing/2014/main" id="{69598214-5E10-4B33-8E17-34CC8A27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115">
            <a:extLst xmlns:a="http://schemas.openxmlformats.org/drawingml/2006/main">
              <a:ext uri="{FF2B5EF4-FFF2-40B4-BE49-F238E27FC236}">
                <a16:creationId xmlns:a16="http://schemas.microsoft.com/office/drawing/2014/main" id="{E31EBFD5-0064-463F-8D99-0AE84213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出处：党的二十大报告（2022）。完整文献及讲解见备注</a:t>
            </a:r>
          </a:p>
        </p:txBody>
      </p:sp>
      <p:sp>
        <p:nvSpPr>
          <p:cNvPr id="7" name="text-116">
            <a:extLst xmlns:a="http://schemas.openxmlformats.org/drawingml/2006/main">
              <a:ext uri="{FF2B5EF4-FFF2-40B4-BE49-F238E27FC236}">
                <a16:creationId xmlns:a16="http://schemas.microsoft.com/office/drawing/2014/main" id="{751AF0B6-7DD6-495B-AB2F-DDB32E9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8" name="surface-117">
            <a:extLst xmlns:a="http://schemas.openxmlformats.org/drawingml/2006/main">
              <a:ext uri="{FF2B5EF4-FFF2-40B4-BE49-F238E27FC236}">
                <a16:creationId xmlns:a16="http://schemas.microsoft.com/office/drawing/2014/main" id="{F15D6AA4-4187-4B57-8300-925F80C6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ircle-118">
            <a:extLst xmlns:a="http://schemas.openxmlformats.org/drawingml/2006/main">
              <a:ext uri="{FF2B5EF4-FFF2-40B4-BE49-F238E27FC236}">
                <a16:creationId xmlns:a16="http://schemas.microsoft.com/office/drawing/2014/main" id="{A568118D-7ACC-4486-ADFB-FBC8D03E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F2786-A642-421F-9B61-456CA34DB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4a3d6926746dc">
            <a:extLst>
              <a:ext uri="{96DAC541-7B7A-43D3-8B79-37D633B846F1}">
                <asvg:svgBlip xmlns:asvg="http://schemas.microsoft.com/office/drawing/2016/SVG/main" r:embed="R4fdf396828dc46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1" name="text-119">
            <a:extLst xmlns:a="http://schemas.openxmlformats.org/drawingml/2006/main">
              <a:ext uri="{FF2B5EF4-FFF2-40B4-BE49-F238E27FC236}">
                <a16:creationId xmlns:a16="http://schemas.microsoft.com/office/drawing/2014/main" id="{E75E6DD9-B2AB-456C-92AF-26E0FE35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人口规模巨大</a:t>
            </a:r>
          </a:p>
        </p:txBody>
      </p:sp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E99F9121-F660-4571-B324-5BA9FC6D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更高效利用资源，才能支撑共同发展</a:t>
            </a:r>
          </a:p>
        </p:txBody>
      </p:sp>
      <p:sp>
        <p:nvSpPr>
          <p:cNvPr id="13" name="surface-121">
            <a:extLst xmlns:a="http://schemas.openxmlformats.org/drawingml/2006/main">
              <a:ext uri="{FF2B5EF4-FFF2-40B4-BE49-F238E27FC236}">
                <a16:creationId xmlns:a16="http://schemas.microsoft.com/office/drawing/2014/main" id="{C2E57411-AC25-4239-90FC-6F579458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ircle-122">
            <a:extLst xmlns:a="http://schemas.openxmlformats.org/drawingml/2006/main">
              <a:ext uri="{FF2B5EF4-FFF2-40B4-BE49-F238E27FC236}">
                <a16:creationId xmlns:a16="http://schemas.microsoft.com/office/drawing/2014/main" id="{1D75D222-57C9-4F4B-A1E9-7597B68A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1C2A8-5388-42E9-855D-79136448F0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a655982bb4cc8">
            <a:extLst>
              <a:ext uri="{96DAC541-7B7A-43D3-8B79-37D633B846F1}">
                <asvg:svgBlip xmlns:asvg="http://schemas.microsoft.com/office/drawing/2016/SVG/main" r:embed="Rb3ca2edf6e6849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6" name="text-123">
            <a:extLst xmlns:a="http://schemas.openxmlformats.org/drawingml/2006/main">
              <a:ext uri="{FF2B5EF4-FFF2-40B4-BE49-F238E27FC236}">
                <a16:creationId xmlns:a16="http://schemas.microsoft.com/office/drawing/2014/main" id="{15BBBE4F-1350-4FA6-909A-3364E8C8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资源环境有约束</a:t>
            </a:r>
          </a:p>
        </p:txBody>
      </p:sp>
      <p:sp>
        <p:nvSpPr>
          <p:cNvPr id="17" name="text-124">
            <a:extLst xmlns:a="http://schemas.openxmlformats.org/drawingml/2006/main">
              <a:ext uri="{FF2B5EF4-FFF2-40B4-BE49-F238E27FC236}">
                <a16:creationId xmlns:a16="http://schemas.microsoft.com/office/drawing/2014/main" id="{F04386AD-19FC-47A0-8552-4F9C849F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把节约与保护要求贯穿现代化全过程</a:t>
            </a:r>
          </a:p>
        </p:txBody>
      </p:sp>
      <p:sp>
        <p:nvSpPr>
          <p:cNvPr id="18" name="surface-125">
            <a:extLst xmlns:a="http://schemas.openxmlformats.org/drawingml/2006/main">
              <a:ext uri="{FF2B5EF4-FFF2-40B4-BE49-F238E27FC236}">
                <a16:creationId xmlns:a16="http://schemas.microsoft.com/office/drawing/2014/main" id="{3684EC7F-2931-4F57-AB08-CB5B3CC4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ircle-126">
            <a:extLst xmlns:a="http://schemas.openxmlformats.org/drawingml/2006/main">
              <a:ext uri="{FF2B5EF4-FFF2-40B4-BE49-F238E27FC236}">
                <a16:creationId xmlns:a16="http://schemas.microsoft.com/office/drawing/2014/main" id="{137EC41D-4863-42DF-BA51-B67968E5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130FF-9DAF-4FB9-B83D-0409AB30F1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31996d6144c08">
            <a:extLst>
              <a:ext uri="{96DAC541-7B7A-43D3-8B79-37D633B846F1}">
                <asvg:svgBlip xmlns:asvg="http://schemas.microsoft.com/office/drawing/2016/SVG/main" r:embed="R4e8325624eb343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1" name="text-127">
            <a:extLst xmlns:a="http://schemas.openxmlformats.org/drawingml/2006/main">
              <a:ext uri="{FF2B5EF4-FFF2-40B4-BE49-F238E27FC236}">
                <a16:creationId xmlns:a16="http://schemas.microsoft.com/office/drawing/2014/main" id="{345E32AA-8D52-4DDA-9349-1DFFBD19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美好生活有期待</a:t>
            </a:r>
          </a:p>
        </p:txBody>
      </p:sp>
      <p:sp>
        <p:nvSpPr>
          <p:cNvPr id="22" name="text-128">
            <a:extLst xmlns:a="http://schemas.openxmlformats.org/drawingml/2006/main">
              <a:ext uri="{FF2B5EF4-FFF2-40B4-BE49-F238E27FC236}">
                <a16:creationId xmlns:a16="http://schemas.microsoft.com/office/drawing/2014/main" id="{FEAA24E0-237B-4F98-905B-4330C58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生活富裕、环境优美、生态安全</a:t>
            </a:r>
          </a:p>
        </p:txBody>
      </p:sp>
      <p:sp>
        <p:nvSpPr>
          <p:cNvPr id="23" name="surface-129">
            <a:extLst xmlns:a="http://schemas.openxmlformats.org/drawingml/2006/main">
              <a:ext uri="{FF2B5EF4-FFF2-40B4-BE49-F238E27FC236}">
                <a16:creationId xmlns:a16="http://schemas.microsoft.com/office/drawing/2014/main" id="{609091C5-05E1-4BAB-BF57-8F44622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123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30">
            <a:extLst xmlns:a="http://schemas.openxmlformats.org/drawingml/2006/main">
              <a:ext uri="{FF2B5EF4-FFF2-40B4-BE49-F238E27FC236}">
                <a16:creationId xmlns:a16="http://schemas.microsoft.com/office/drawing/2014/main" id="{CA5A884A-78DE-4AA1-AD4A-47087E20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人与自然和谐共生，是中国式现代化的重要特征</a:t>
            </a:r>
          </a:p>
        </p:txBody>
      </p:sp>
    </p:spTree>
    <p:extLst>
      <p:ext uri="{BB962C8B-B14F-4D97-AF65-F5344CB8AC3E}">
        <p14:creationId xmlns:p14="http://schemas.microsoft.com/office/powerpoint/2010/main" val="1726636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urface-131">
            <a:extLst xmlns:a="http://schemas.openxmlformats.org/drawingml/2006/main">
              <a:ext uri="{FF2B5EF4-FFF2-40B4-BE49-F238E27FC236}">
                <a16:creationId xmlns:a16="http://schemas.microsoft.com/office/drawing/2014/main" id="{E1E3C021-AC22-4E71-AA06-955C7D50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132">
            <a:extLst xmlns:a="http://schemas.openxmlformats.org/drawingml/2006/main">
              <a:ext uri="{FF2B5EF4-FFF2-40B4-BE49-F238E27FC236}">
                <a16:creationId xmlns:a16="http://schemas.microsoft.com/office/drawing/2014/main" id="{4C01C8BA-A248-434C-ABD7-5EE02A23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133">
            <a:extLst xmlns:a="http://schemas.openxmlformats.org/drawingml/2006/main">
              <a:ext uri="{FF2B5EF4-FFF2-40B4-BE49-F238E27FC236}">
                <a16:creationId xmlns:a16="http://schemas.microsoft.com/office/drawing/2014/main" id="{480BDAEA-6F56-455A-B288-256EABC1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5C0AB08F-BF99-496F-A5B1-439E9366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推进生态文明建设要处理好五个关系</a:t>
            </a:r>
          </a:p>
        </p:txBody>
      </p:sp>
      <p:sp>
        <p:nvSpPr>
          <p:cNvPr id="5" name="rule-135">
            <a:extLst xmlns:a="http://schemas.openxmlformats.org/drawingml/2006/main">
              <a:ext uri="{FF2B5EF4-FFF2-40B4-BE49-F238E27FC236}">
                <a16:creationId xmlns:a16="http://schemas.microsoft.com/office/drawing/2014/main" id="{B8E4497A-2342-4305-A645-3CC2F67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136">
            <a:extLst xmlns:a="http://schemas.openxmlformats.org/drawingml/2006/main">
              <a:ext uri="{FF2B5EF4-FFF2-40B4-BE49-F238E27FC236}">
                <a16:creationId xmlns:a16="http://schemas.microsoft.com/office/drawing/2014/main" id="{DF0AC0CB-CEFC-46CF-B3D5-34F76B10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出处：全国生态环保大会公开报道（2023）。完整文献及讲解见备注</a:t>
            </a:r>
          </a:p>
        </p:txBody>
      </p:sp>
      <p:sp>
        <p:nvSpPr>
          <p:cNvPr id="7" name="text-137">
            <a:extLst xmlns:a="http://schemas.openxmlformats.org/drawingml/2006/main">
              <a:ext uri="{FF2B5EF4-FFF2-40B4-BE49-F238E27FC236}">
                <a16:creationId xmlns:a16="http://schemas.microsoft.com/office/drawing/2014/main" id="{777420D7-AE27-4FF5-9FC2-70957E0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8" name="surface-138">
            <a:extLst xmlns:a="http://schemas.openxmlformats.org/drawingml/2006/main">
              <a:ext uri="{FF2B5EF4-FFF2-40B4-BE49-F238E27FC236}">
                <a16:creationId xmlns:a16="http://schemas.microsoft.com/office/drawing/2014/main" id="{67219CA4-5F39-4B2B-BF2D-456D3B6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9" name="text-139">
            <a:extLst xmlns:a="http://schemas.openxmlformats.org/drawingml/2006/main">
              <a:ext uri="{FF2B5EF4-FFF2-40B4-BE49-F238E27FC236}">
                <a16:creationId xmlns:a16="http://schemas.microsoft.com/office/drawing/2014/main" id="{C43408B5-ACED-40E5-B962-D7CE94E0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0" name="text-140">
            <a:extLst xmlns:a="http://schemas.openxmlformats.org/drawingml/2006/main">
              <a:ext uri="{FF2B5EF4-FFF2-40B4-BE49-F238E27FC236}">
                <a16:creationId xmlns:a16="http://schemas.microsoft.com/office/drawing/2014/main" id="{3D3FF690-BE36-4135-B41E-AC71143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381125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高质量发展</a:t>
            </a:r>
          </a:p>
        </p:txBody>
      </p:sp>
      <p:sp>
        <p:nvSpPr>
          <p:cNvPr id="11" name="relation-arrow-0">
            <a:extLst xmlns:a="http://schemas.openxmlformats.org/drawingml/2006/main">
              <a:ext uri="{FF2B5EF4-FFF2-40B4-BE49-F238E27FC236}">
                <a16:creationId xmlns:a16="http://schemas.microsoft.com/office/drawing/2014/main" id="{CF26C63C-1A9C-4E5E-A0F3-F7260D2F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14475"/>
            <a:ext cx="581025" cy="1905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41">
            <a:extLst xmlns:a="http://schemas.openxmlformats.org/drawingml/2006/main">
              <a:ext uri="{FF2B5EF4-FFF2-40B4-BE49-F238E27FC236}">
                <a16:creationId xmlns:a16="http://schemas.microsoft.com/office/drawing/2014/main" id="{4803AD24-7DBC-47F3-B4BE-8E544E00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3811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高水平保护</a:t>
            </a:r>
          </a:p>
        </p:txBody>
      </p:sp>
      <p:sp>
        <p:nvSpPr>
          <p:cNvPr id="13" name="surface-142">
            <a:extLst xmlns:a="http://schemas.openxmlformats.org/drawingml/2006/main">
              <a:ext uri="{FF2B5EF4-FFF2-40B4-BE49-F238E27FC236}">
                <a16:creationId xmlns:a16="http://schemas.microsoft.com/office/drawing/2014/main" id="{D619714A-2491-47B3-9116-CF360B28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455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14" name="text-143">
            <a:extLst xmlns:a="http://schemas.openxmlformats.org/drawingml/2006/main">
              <a:ext uri="{FF2B5EF4-FFF2-40B4-BE49-F238E27FC236}">
                <a16:creationId xmlns:a16="http://schemas.microsoft.com/office/drawing/2014/main" id="{FB3E9DA7-5B63-4F53-BBA6-D5E07B19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5" name="text-144">
            <a:extLst xmlns:a="http://schemas.openxmlformats.org/drawingml/2006/main">
              <a:ext uri="{FF2B5EF4-FFF2-40B4-BE49-F238E27FC236}">
                <a16:creationId xmlns:a16="http://schemas.microsoft.com/office/drawing/2014/main" id="{99A5C0AF-A62F-4514-888C-ADB69A5B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38375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重点攻坚</a:t>
            </a:r>
          </a:p>
        </p:txBody>
      </p:sp>
      <p:sp>
        <p:nvSpPr>
          <p:cNvPr id="16" name="relation-arrow-1">
            <a:extLst xmlns:a="http://schemas.openxmlformats.org/drawingml/2006/main">
              <a:ext uri="{FF2B5EF4-FFF2-40B4-BE49-F238E27FC236}">
                <a16:creationId xmlns:a16="http://schemas.microsoft.com/office/drawing/2014/main" id="{2702F218-5357-4B58-A03F-0DC267FA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71725"/>
            <a:ext cx="581025" cy="1905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45">
            <a:extLst xmlns:a="http://schemas.openxmlformats.org/drawingml/2006/main">
              <a:ext uri="{FF2B5EF4-FFF2-40B4-BE49-F238E27FC236}">
                <a16:creationId xmlns:a16="http://schemas.microsoft.com/office/drawing/2014/main" id="{E077B89A-3853-4AA5-8664-554BFA8E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3837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协同治理</a:t>
            </a:r>
          </a:p>
        </p:txBody>
      </p:sp>
      <p:sp>
        <p:nvSpPr>
          <p:cNvPr id="18" name="surface-146">
            <a:extLst xmlns:a="http://schemas.openxmlformats.org/drawingml/2006/main">
              <a:ext uri="{FF2B5EF4-FFF2-40B4-BE49-F238E27FC236}">
                <a16:creationId xmlns:a16="http://schemas.microsoft.com/office/drawing/2014/main" id="{9F57C710-B46D-4F82-BC3D-7207E1A3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19" name="text-147">
            <a:extLst xmlns:a="http://schemas.openxmlformats.org/drawingml/2006/main">
              <a:ext uri="{FF2B5EF4-FFF2-40B4-BE49-F238E27FC236}">
                <a16:creationId xmlns:a16="http://schemas.microsoft.com/office/drawing/2014/main" id="{E107AB8A-97E4-4656-922D-BD8FE1F7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0" name="text-148">
            <a:extLst xmlns:a="http://schemas.openxmlformats.org/drawingml/2006/main">
              <a:ext uri="{FF2B5EF4-FFF2-40B4-BE49-F238E27FC236}">
                <a16:creationId xmlns:a16="http://schemas.microsoft.com/office/drawing/2014/main" id="{67B22138-3B44-4956-9F7F-75CAA42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95625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自然恢复</a:t>
            </a:r>
          </a:p>
        </p:txBody>
      </p:sp>
      <p:sp>
        <p:nvSpPr>
          <p:cNvPr id="21" name="relation-arrow-2">
            <a:extLst xmlns:a="http://schemas.openxmlformats.org/drawingml/2006/main">
              <a:ext uri="{FF2B5EF4-FFF2-40B4-BE49-F238E27FC236}">
                <a16:creationId xmlns:a16="http://schemas.microsoft.com/office/drawing/2014/main" id="{F20D4C22-29B3-4DA5-A493-3F114DFC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28975"/>
            <a:ext cx="581025" cy="1905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49">
            <a:extLst xmlns:a="http://schemas.openxmlformats.org/drawingml/2006/main">
              <a:ext uri="{FF2B5EF4-FFF2-40B4-BE49-F238E27FC236}">
                <a16:creationId xmlns:a16="http://schemas.microsoft.com/office/drawing/2014/main" id="{C15D5751-6083-4DD9-88E1-C1953EE1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956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人工修复</a:t>
            </a:r>
          </a:p>
        </p:txBody>
      </p:sp>
      <p:sp>
        <p:nvSpPr>
          <p:cNvPr id="23" name="surface-150">
            <a:extLst xmlns:a="http://schemas.openxmlformats.org/drawingml/2006/main">
              <a:ext uri="{FF2B5EF4-FFF2-40B4-BE49-F238E27FC236}">
                <a16:creationId xmlns:a16="http://schemas.microsoft.com/office/drawing/2014/main" id="{F0F11811-DE4B-49FA-90D2-FA987486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24" name="text-151">
            <a:extLst xmlns:a="http://schemas.openxmlformats.org/drawingml/2006/main">
              <a:ext uri="{FF2B5EF4-FFF2-40B4-BE49-F238E27FC236}">
                <a16:creationId xmlns:a16="http://schemas.microsoft.com/office/drawing/2014/main" id="{D85D60E4-FCA5-4E2D-867F-5B71CF22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5" name="text-152">
            <a:extLst xmlns:a="http://schemas.openxmlformats.org/drawingml/2006/main">
              <a:ext uri="{FF2B5EF4-FFF2-40B4-BE49-F238E27FC236}">
                <a16:creationId xmlns:a16="http://schemas.microsoft.com/office/drawing/2014/main" id="{639D7F6D-7282-4E49-A8C8-3B31A7EC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52875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外部约束</a:t>
            </a:r>
          </a:p>
        </p:txBody>
      </p:sp>
      <p:sp>
        <p:nvSpPr>
          <p:cNvPr id="26" name="relation-arrow-3">
            <a:extLst xmlns:a="http://schemas.openxmlformats.org/drawingml/2006/main">
              <a:ext uri="{FF2B5EF4-FFF2-40B4-BE49-F238E27FC236}">
                <a16:creationId xmlns:a16="http://schemas.microsoft.com/office/drawing/2014/main" id="{55E340AC-21C6-4126-9BC1-C6003918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86225"/>
            <a:ext cx="581025" cy="1905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153">
            <a:extLst xmlns:a="http://schemas.openxmlformats.org/drawingml/2006/main">
              <a:ext uri="{FF2B5EF4-FFF2-40B4-BE49-F238E27FC236}">
                <a16:creationId xmlns:a16="http://schemas.microsoft.com/office/drawing/2014/main" id="{8AC4840E-F889-4FDE-B2BA-9BE61C5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5287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内生动力</a:t>
            </a:r>
          </a:p>
        </p:txBody>
      </p:sp>
      <p:sp>
        <p:nvSpPr>
          <p:cNvPr id="28" name="surface-154">
            <a:extLst xmlns:a="http://schemas.openxmlformats.org/drawingml/2006/main">
              <a:ext uri="{FF2B5EF4-FFF2-40B4-BE49-F238E27FC236}">
                <a16:creationId xmlns:a16="http://schemas.microsoft.com/office/drawing/2014/main" id="{82CAC204-826E-45B1-BE0A-9E7D91FD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863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29" name="text-155">
            <a:extLst xmlns:a="http://schemas.openxmlformats.org/drawingml/2006/main">
              <a:ext uri="{FF2B5EF4-FFF2-40B4-BE49-F238E27FC236}">
                <a16:creationId xmlns:a16="http://schemas.microsoft.com/office/drawing/2014/main" id="{6F2DEEDE-92E2-42A5-8B30-CB800927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0" name="text-156">
            <a:extLst xmlns:a="http://schemas.openxmlformats.org/drawingml/2006/main">
              <a:ext uri="{FF2B5EF4-FFF2-40B4-BE49-F238E27FC236}">
                <a16:creationId xmlns:a16="http://schemas.microsoft.com/office/drawing/2014/main" id="{4E693D62-B425-4741-A9E6-A36137D7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10125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“双碳”承诺</a:t>
            </a:r>
          </a:p>
        </p:txBody>
      </p:sp>
      <p:sp>
        <p:nvSpPr>
          <p:cNvPr id="31" name="relation-arrow-4">
            <a:extLst xmlns:a="http://schemas.openxmlformats.org/drawingml/2006/main">
              <a:ext uri="{FF2B5EF4-FFF2-40B4-BE49-F238E27FC236}">
                <a16:creationId xmlns:a16="http://schemas.microsoft.com/office/drawing/2014/main" id="{65B8C968-1DE2-4078-A084-8247A47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43475"/>
            <a:ext cx="581025" cy="1905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57">
            <a:extLst xmlns:a="http://schemas.openxmlformats.org/drawingml/2006/main">
              <a:ext uri="{FF2B5EF4-FFF2-40B4-BE49-F238E27FC236}">
                <a16:creationId xmlns:a16="http://schemas.microsoft.com/office/drawing/2014/main" id="{5A089A1B-7FC4-44D0-A4F7-B8FF9F2C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8101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自主行动</a:t>
            </a:r>
          </a:p>
        </p:txBody>
      </p:sp>
      <p:sp>
        <p:nvSpPr>
          <p:cNvPr id="33" name="text-158">
            <a:extLst xmlns:a="http://schemas.openxmlformats.org/drawingml/2006/main">
              <a:ext uri="{FF2B5EF4-FFF2-40B4-BE49-F238E27FC236}">
                <a16:creationId xmlns:a16="http://schemas.microsoft.com/office/drawing/2014/main" id="{F44D5600-270D-41F5-A543-1393323F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76925"/>
            <a:ext cx="11239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把握关系，才能在具体问题中找到合适的方法</a:t>
            </a:r>
          </a:p>
        </p:txBody>
      </p:sp>
    </p:spTree>
    <p:extLst>
      <p:ext uri="{BB962C8B-B14F-4D97-AF65-F5344CB8AC3E}">
        <p14:creationId xmlns:p14="http://schemas.microsoft.com/office/powerpoint/2010/main" val="167812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-159">
            <a:extLst xmlns:a="http://schemas.openxmlformats.org/drawingml/2006/main">
              <a:ext uri="{FF2B5EF4-FFF2-40B4-BE49-F238E27FC236}">
                <a16:creationId xmlns:a16="http://schemas.microsoft.com/office/drawing/2014/main" id="{797866AD-AC70-4AF9-BDD3-10753573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160">
            <a:extLst xmlns:a="http://schemas.openxmlformats.org/drawingml/2006/main">
              <a:ext uri="{FF2B5EF4-FFF2-40B4-BE49-F238E27FC236}">
                <a16:creationId xmlns:a16="http://schemas.microsoft.com/office/drawing/2014/main" id="{DC924804-7D32-4C5C-AC64-85DEB955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161">
            <a:extLst xmlns:a="http://schemas.openxmlformats.org/drawingml/2006/main">
              <a:ext uri="{FF2B5EF4-FFF2-40B4-BE49-F238E27FC236}">
                <a16:creationId xmlns:a16="http://schemas.microsoft.com/office/drawing/2014/main" id="{9CB18178-A095-4738-B72F-1393AD97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62">
            <a:extLst xmlns:a="http://schemas.openxmlformats.org/drawingml/2006/main">
              <a:ext uri="{FF2B5EF4-FFF2-40B4-BE49-F238E27FC236}">
                <a16:creationId xmlns:a16="http://schemas.microsoft.com/office/drawing/2014/main" id="{CD40AB1D-9A80-4F60-87FC-817F8B23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用什么尺度评价生态文明建设</a:t>
            </a:r>
          </a:p>
        </p:txBody>
      </p:sp>
      <p:sp>
        <p:nvSpPr>
          <p:cNvPr id="5" name="rule-163">
            <a:extLst xmlns:a="http://schemas.openxmlformats.org/drawingml/2006/main">
              <a:ext uri="{FF2B5EF4-FFF2-40B4-BE49-F238E27FC236}">
                <a16:creationId xmlns:a16="http://schemas.microsoft.com/office/drawing/2014/main" id="{FDFB224B-B5F9-4A07-839C-5451790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B2D823B5-F5D2-4FD2-9FE0-B75D6399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出处：党的二十大报告（2022）；《美丽中国建设意见》（2023）。完整文献及讲解见备注</a:t>
            </a:r>
          </a:p>
        </p:txBody>
      </p:sp>
      <p:sp>
        <p:nvSpPr>
          <p:cNvPr id="7" name="text-165">
            <a:extLst xmlns:a="http://schemas.openxmlformats.org/drawingml/2006/main">
              <a:ext uri="{FF2B5EF4-FFF2-40B4-BE49-F238E27FC236}">
                <a16:creationId xmlns:a16="http://schemas.microsoft.com/office/drawing/2014/main" id="{89BB5EBD-8297-4E63-B1CD-3C5461BC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8" name="surface-166">
            <a:extLst xmlns:a="http://schemas.openxmlformats.org/drawingml/2006/main">
              <a:ext uri="{FF2B5EF4-FFF2-40B4-BE49-F238E27FC236}">
                <a16:creationId xmlns:a16="http://schemas.microsoft.com/office/drawing/2014/main" id="{9A8542A7-3405-4584-8424-09910B88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04925"/>
            <a:ext cx="5419725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5BF42-8069-40FB-85B4-D7A068BA9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df4013f334301">
            <a:extLst>
              <a:ext uri="{96DAC541-7B7A-43D3-8B79-37D633B846F1}">
                <asvg:svgBlip xmlns:asvg="http://schemas.microsoft.com/office/drawing/2016/SVG/main" r:embed="R333a302d1b834c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15335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0" name="text-167">
            <a:extLst xmlns:a="http://schemas.openxmlformats.org/drawingml/2006/main">
              <a:ext uri="{FF2B5EF4-FFF2-40B4-BE49-F238E27FC236}">
                <a16:creationId xmlns:a16="http://schemas.microsoft.com/office/drawing/2014/main" id="{4E3FFBDC-B193-4097-B2EA-82BD2394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看环境质量</a:t>
            </a:r>
          </a:p>
        </p:txBody>
      </p:sp>
      <p:sp>
        <p:nvSpPr>
          <p:cNvPr id="11" name="text-168">
            <a:extLst xmlns:a="http://schemas.openxmlformats.org/drawingml/2006/main">
              <a:ext uri="{FF2B5EF4-FFF2-40B4-BE49-F238E27FC236}">
                <a16:creationId xmlns:a16="http://schemas.microsoft.com/office/drawing/2014/main" id="{7D3A96C0-B97A-489E-A652-AF9F7A9E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48672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空气、水和土壤是否改善？</a:t>
            </a:r>
          </a:p>
        </p:txBody>
      </p:sp>
      <p:sp>
        <p:nvSpPr>
          <p:cNvPr id="12" name="surface-169">
            <a:extLst xmlns:a="http://schemas.openxmlformats.org/drawingml/2006/main">
              <a:ext uri="{FF2B5EF4-FFF2-40B4-BE49-F238E27FC236}">
                <a16:creationId xmlns:a16="http://schemas.microsoft.com/office/drawing/2014/main" id="{0C186495-F329-4BE3-A206-746EF291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304925"/>
            <a:ext cx="5419725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C1466-39B2-4A68-9FAC-3BDDDBB54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cf523063948fa">
            <a:extLst>
              <a:ext uri="{96DAC541-7B7A-43D3-8B79-37D633B846F1}">
                <asvg:svgBlip xmlns:asvg="http://schemas.microsoft.com/office/drawing/2016/SVG/main" r:embed="Rb2cd1b23ad0d4e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34150" y="15335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4" name="text-170">
            <a:extLst xmlns:a="http://schemas.openxmlformats.org/drawingml/2006/main">
              <a:ext uri="{FF2B5EF4-FFF2-40B4-BE49-F238E27FC236}">
                <a16:creationId xmlns:a16="http://schemas.microsoft.com/office/drawing/2014/main" id="{40286537-9A5B-4515-8FD8-B445B62B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5240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看生态系统</a:t>
            </a:r>
          </a:p>
        </p:txBody>
      </p:sp>
      <p:sp>
        <p:nvSpPr>
          <p:cNvPr id="15" name="text-171">
            <a:extLst xmlns:a="http://schemas.openxmlformats.org/drawingml/2006/main">
              <a:ext uri="{FF2B5EF4-FFF2-40B4-BE49-F238E27FC236}">
                <a16:creationId xmlns:a16="http://schemas.microsoft.com/office/drawing/2014/main" id="{58218FFF-3AF9-462A-AD56-B812A8F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00275"/>
            <a:ext cx="48672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自然空间能否持续发挥生态功能？</a:t>
            </a:r>
          </a:p>
        </p:txBody>
      </p:sp>
      <p:sp>
        <p:nvSpPr>
          <p:cNvPr id="16" name="surface-172">
            <a:extLst xmlns:a="http://schemas.openxmlformats.org/drawingml/2006/main">
              <a:ext uri="{FF2B5EF4-FFF2-40B4-BE49-F238E27FC236}">
                <a16:creationId xmlns:a16="http://schemas.microsoft.com/office/drawing/2014/main" id="{91E87543-DF2D-48D9-B5DA-835D587B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8525"/>
            <a:ext cx="5419725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6A158-264F-41A4-986A-FA2F55C6FC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e116026764a66">
            <a:extLst>
              <a:ext uri="{96DAC541-7B7A-43D3-8B79-37D633B846F1}">
                <asvg:svgBlip xmlns:asvg="http://schemas.microsoft.com/office/drawing/2016/SVG/main" r:embed="Rc0ea9f4fcf9f44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36671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8" name="text-173">
            <a:extLst xmlns:a="http://schemas.openxmlformats.org/drawingml/2006/main">
              <a:ext uri="{FF2B5EF4-FFF2-40B4-BE49-F238E27FC236}">
                <a16:creationId xmlns:a16="http://schemas.microsoft.com/office/drawing/2014/main" id="{236776D0-CFF8-4D70-84BC-771B61A9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看发展方式</a:t>
            </a:r>
          </a:p>
        </p:txBody>
      </p:sp>
      <p:sp>
        <p:nvSpPr>
          <p:cNvPr id="19" name="text-174">
            <a:extLst xmlns:a="http://schemas.openxmlformats.org/drawingml/2006/main">
              <a:ext uri="{FF2B5EF4-FFF2-40B4-BE49-F238E27FC236}">
                <a16:creationId xmlns:a16="http://schemas.microsoft.com/office/drawing/2014/main" id="{87C8DB39-DA66-4C87-8366-DCD19370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48672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资源利用和生活方式有何变化？</a:t>
            </a:r>
          </a:p>
        </p:txBody>
      </p:sp>
      <p:sp>
        <p:nvSpPr>
          <p:cNvPr id="20" name="surface-175">
            <a:extLst xmlns:a="http://schemas.openxmlformats.org/drawingml/2006/main">
              <a:ext uri="{FF2B5EF4-FFF2-40B4-BE49-F238E27FC236}">
                <a16:creationId xmlns:a16="http://schemas.microsoft.com/office/drawing/2014/main" id="{EB762826-19E4-49E6-8A96-78806997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38525"/>
            <a:ext cx="5419725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B54A5-32DE-48C7-AC10-B8CE3D86F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a58cb85944655">
            <a:extLst>
              <a:ext uri="{96DAC541-7B7A-43D3-8B79-37D633B846F1}">
                <asvg:svgBlip xmlns:asvg="http://schemas.microsoft.com/office/drawing/2016/SVG/main" r:embed="R19aaf99846274f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34150" y="36671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22" name="text-176">
            <a:extLst xmlns:a="http://schemas.openxmlformats.org/drawingml/2006/main">
              <a:ext uri="{FF2B5EF4-FFF2-40B4-BE49-F238E27FC236}">
                <a16:creationId xmlns:a16="http://schemas.microsoft.com/office/drawing/2014/main" id="{4963BCAD-187C-4A15-AA96-32DCF0DF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6576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看治理能力</a:t>
            </a:r>
          </a:p>
        </p:txBody>
      </p:sp>
      <p:sp>
        <p:nvSpPr>
          <p:cNvPr id="23" name="text-177">
            <a:extLst xmlns:a="http://schemas.openxmlformats.org/drawingml/2006/main">
              <a:ext uri="{FF2B5EF4-FFF2-40B4-BE49-F238E27FC236}">
                <a16:creationId xmlns:a16="http://schemas.microsoft.com/office/drawing/2014/main" id="{FB4A1270-935B-47EB-881E-ED9394FD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33875"/>
            <a:ext cx="48672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制度能否持续发现并解决问题？</a:t>
            </a:r>
          </a:p>
        </p:txBody>
      </p:sp>
      <p:sp>
        <p:nvSpPr>
          <p:cNvPr id="24" name="text-178">
            <a:extLst xmlns:a="http://schemas.openxmlformats.org/drawingml/2006/main">
              <a:ext uri="{FF2B5EF4-FFF2-40B4-BE49-F238E27FC236}">
                <a16:creationId xmlns:a16="http://schemas.microsoft.com/office/drawing/2014/main" id="{381FACA7-B648-412A-8FA3-3D86AE7F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00725"/>
            <a:ext cx="1123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既看当下变化，也看长期效果与区域联系</a:t>
            </a:r>
          </a:p>
        </p:txBody>
      </p:sp>
    </p:spTree>
    <p:extLst>
      <p:ext uri="{BB962C8B-B14F-4D97-AF65-F5344CB8AC3E}">
        <p14:creationId xmlns:p14="http://schemas.microsoft.com/office/powerpoint/2010/main" val="66065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01A97-F8AB-4C7F-B005-119801BBAE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7220d6939413f"/>
          <a:srcRect xmlns:a="http://schemas.openxmlformats.org/drawingml/2006/main" l="21078" t="0" r="21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0"/>
            <a:ext cx="7048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urface-179">
            <a:extLst xmlns:a="http://schemas.openxmlformats.org/drawingml/2006/main">
              <a:ext uri="{FF2B5EF4-FFF2-40B4-BE49-F238E27FC236}">
                <a16:creationId xmlns:a16="http://schemas.microsoft.com/office/drawing/2014/main" id="{D724B27D-2C11-4489-B8EA-64B0CCA3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0"/>
            <a:ext cx="10287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8000">
                <a:srgbClr val="FFFFFF">
                  <a:alpha val="98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surface-180">
            <a:extLst xmlns:a="http://schemas.openxmlformats.org/drawingml/2006/main">
              <a:ext uri="{FF2B5EF4-FFF2-40B4-BE49-F238E27FC236}">
                <a16:creationId xmlns:a16="http://schemas.microsoft.com/office/drawing/2014/main" id="{4A69A125-0C37-4AEA-9599-86A9C03D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181">
            <a:extLst xmlns:a="http://schemas.openxmlformats.org/drawingml/2006/main">
              <a:ext uri="{FF2B5EF4-FFF2-40B4-BE49-F238E27FC236}">
                <a16:creationId xmlns:a16="http://schemas.microsoft.com/office/drawing/2014/main" id="{89983C77-4E02-416B-8F88-7F71B1D0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5144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5161B"/>
            </a:solidFill>
            <a:prstDash val="solid"/>
          </a:ln>
        </p:spPr>
      </p:sp>
      <p:sp>
        <p:nvSpPr>
          <p:cNvPr id="5" name="red-accent-182">
            <a:extLst xmlns:a="http://schemas.openxmlformats.org/drawingml/2006/main">
              <a:ext uri="{FF2B5EF4-FFF2-40B4-BE49-F238E27FC236}">
                <a16:creationId xmlns:a16="http://schemas.microsoft.com/office/drawing/2014/main" id="{C3D9F710-058F-475E-8AFB-0E245C8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d-accent-183">
            <a:extLst xmlns:a="http://schemas.openxmlformats.org/drawingml/2006/main">
              <a:ext uri="{FF2B5EF4-FFF2-40B4-BE49-F238E27FC236}">
                <a16:creationId xmlns:a16="http://schemas.microsoft.com/office/drawing/2014/main" id="{D9B5A751-A810-4CF7-8E0F-9F65C84C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d-accent-184">
            <a:extLst xmlns:a="http://schemas.openxmlformats.org/drawingml/2006/main">
              <a:ext uri="{FF2B5EF4-FFF2-40B4-BE49-F238E27FC236}">
                <a16:creationId xmlns:a16="http://schemas.microsoft.com/office/drawing/2014/main" id="{538F6CF6-7EE4-4C70-AB38-51FE8435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d-accent-185">
            <a:extLst xmlns:a="http://schemas.openxmlformats.org/drawingml/2006/main">
              <a:ext uri="{FF2B5EF4-FFF2-40B4-BE49-F238E27FC236}">
                <a16:creationId xmlns:a16="http://schemas.microsoft.com/office/drawing/2014/main" id="{08AA2145-5768-4003-B506-F8B7C44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d-accent-186">
            <a:extLst xmlns:a="http://schemas.openxmlformats.org/drawingml/2006/main">
              <a:ext uri="{FF2B5EF4-FFF2-40B4-BE49-F238E27FC236}">
                <a16:creationId xmlns:a16="http://schemas.microsoft.com/office/drawing/2014/main" id="{C5778D1A-F786-4AA6-8FE4-A7674B21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4573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87">
            <a:extLst xmlns:a="http://schemas.openxmlformats.org/drawingml/2006/main">
              <a:ext uri="{FF2B5EF4-FFF2-40B4-BE49-F238E27FC236}">
                <a16:creationId xmlns:a16="http://schemas.microsoft.com/office/drawing/2014/main" id="{64401800-9E8F-4691-B1EF-3741308B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0125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第一部分</a:t>
            </a:r>
          </a:p>
        </p:txBody>
      </p:sp>
      <p:sp>
        <p:nvSpPr>
          <p:cNvPr id="11" name="text-188">
            <a:extLst xmlns:a="http://schemas.openxmlformats.org/drawingml/2006/main">
              <a:ext uri="{FF2B5EF4-FFF2-40B4-BE49-F238E27FC236}">
                <a16:creationId xmlns:a16="http://schemas.microsoft.com/office/drawing/2014/main" id="{BD3D0540-7F92-4CCD-8F0E-71861384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52625"/>
            <a:ext cx="93345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新时代生态文明建设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取得举世瞩目的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巨大成就</a:t>
            </a:r>
          </a:p>
        </p:txBody>
      </p:sp>
      <p:sp>
        <p:nvSpPr>
          <p:cNvPr id="12" name="text-189">
            <a:extLst xmlns:a="http://schemas.openxmlformats.org/drawingml/2006/main">
              <a:ext uri="{FF2B5EF4-FFF2-40B4-BE49-F238E27FC236}">
                <a16:creationId xmlns:a16="http://schemas.microsoft.com/office/drawing/2014/main" id="{7F5CBA0E-6A42-4B33-9EB0-E779EFE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“历史性、转折性、全局性变化”</a:t>
            </a:r>
          </a:p>
        </p:txBody>
      </p:sp>
      <p:sp>
        <p:nvSpPr>
          <p:cNvPr id="13" name="text-190">
            <a:extLst xmlns:a="http://schemas.openxmlformats.org/drawingml/2006/main">
              <a:ext uri="{FF2B5EF4-FFF2-40B4-BE49-F238E27FC236}">
                <a16:creationId xmlns:a16="http://schemas.microsoft.com/office/drawing/2014/main" id="{20700B9B-C498-4A78-983C-3C7BCF8A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理念与制度 · 环境与生态 · 转型与治理</a:t>
            </a:r>
          </a:p>
        </p:txBody>
      </p:sp>
      <p:sp>
        <p:nvSpPr>
          <p:cNvPr id="14" name="text-191">
            <a:extLst xmlns:a="http://schemas.openxmlformats.org/drawingml/2006/main">
              <a:ext uri="{FF2B5EF4-FFF2-40B4-BE49-F238E27FC236}">
                <a16:creationId xmlns:a16="http://schemas.microsoft.com/office/drawing/2014/main" id="{280B3828-69AA-431E-9616-44B96D9D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原创教学示意图</a:t>
            </a:r>
          </a:p>
        </p:txBody>
      </p:sp>
      <p:sp>
        <p:nvSpPr>
          <p:cNvPr id="15" name="text-192">
            <a:extLst xmlns:a="http://schemas.openxmlformats.org/drawingml/2006/main">
              <a:ext uri="{FF2B5EF4-FFF2-40B4-BE49-F238E27FC236}">
                <a16:creationId xmlns:a16="http://schemas.microsoft.com/office/drawing/2014/main" id="{DACDA266-664B-4B1F-852B-672B1EBD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出处：党的二十大报告（2022），第一部分</a:t>
            </a:r>
          </a:p>
        </p:txBody>
      </p:sp>
    </p:spTree>
    <p:extLst>
      <p:ext uri="{BB962C8B-B14F-4D97-AF65-F5344CB8AC3E}">
        <p14:creationId xmlns:p14="http://schemas.microsoft.com/office/powerpoint/2010/main" val="1430428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-193">
            <a:extLst xmlns:a="http://schemas.openxmlformats.org/drawingml/2006/main">
              <a:ext uri="{FF2B5EF4-FFF2-40B4-BE49-F238E27FC236}">
                <a16:creationId xmlns:a16="http://schemas.microsoft.com/office/drawing/2014/main" id="{2C43A121-D77E-41F2-B932-29C313FB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194">
            <a:extLst xmlns:a="http://schemas.openxmlformats.org/drawingml/2006/main">
              <a:ext uri="{FF2B5EF4-FFF2-40B4-BE49-F238E27FC236}">
                <a16:creationId xmlns:a16="http://schemas.microsoft.com/office/drawing/2014/main" id="{C6F5560F-3044-46C7-9213-FCEBF497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195">
            <a:extLst xmlns:a="http://schemas.openxmlformats.org/drawingml/2006/main">
              <a:ext uri="{FF2B5EF4-FFF2-40B4-BE49-F238E27FC236}">
                <a16:creationId xmlns:a16="http://schemas.microsoft.com/office/drawing/2014/main" id="{728CEBE7-A64F-4C65-80F9-180270A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96">
            <a:extLst xmlns:a="http://schemas.openxmlformats.org/drawingml/2006/main">
              <a:ext uri="{FF2B5EF4-FFF2-40B4-BE49-F238E27FC236}">
                <a16:creationId xmlns:a16="http://schemas.microsoft.com/office/drawing/2014/main" id="{831867F5-BA16-4037-8522-31008012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理念之变：把生态价值纳入发展判断</a:t>
            </a:r>
          </a:p>
        </p:txBody>
      </p:sp>
      <p:sp>
        <p:nvSpPr>
          <p:cNvPr id="5" name="rule-197">
            <a:extLst xmlns:a="http://schemas.openxmlformats.org/drawingml/2006/main">
              <a:ext uri="{FF2B5EF4-FFF2-40B4-BE49-F238E27FC236}">
                <a16:creationId xmlns:a16="http://schemas.microsoft.com/office/drawing/2014/main" id="{1A7D43F5-83BC-470A-9156-F82AFC3D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198">
            <a:extLst xmlns:a="http://schemas.openxmlformats.org/drawingml/2006/main">
              <a:ext uri="{FF2B5EF4-FFF2-40B4-BE49-F238E27FC236}">
                <a16:creationId xmlns:a16="http://schemas.microsoft.com/office/drawing/2014/main" id="{F30F0437-E5B0-4621-83D1-17F7ED72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出处：党的二十大报告（2022）；《美丽中国建设意见》（2023）。完整文献及讲解见备注</a:t>
            </a:r>
          </a:p>
        </p:txBody>
      </p:sp>
      <p:sp>
        <p:nvSpPr>
          <p:cNvPr id="7" name="text-199">
            <a:extLst xmlns:a="http://schemas.openxmlformats.org/drawingml/2006/main">
              <a:ext uri="{FF2B5EF4-FFF2-40B4-BE49-F238E27FC236}">
                <a16:creationId xmlns:a16="http://schemas.microsoft.com/office/drawing/2014/main" id="{4115BEC1-32FF-4D3A-BBCA-B05A0B85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8" name="surface-200">
            <a:extLst xmlns:a="http://schemas.openxmlformats.org/drawingml/2006/main">
              <a:ext uri="{FF2B5EF4-FFF2-40B4-BE49-F238E27FC236}">
                <a16:creationId xmlns:a16="http://schemas.microsoft.com/office/drawing/2014/main" id="{6FC374C6-1736-45A4-A49A-BB71849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5276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201">
            <a:extLst xmlns:a="http://schemas.openxmlformats.org/drawingml/2006/main">
              <a:ext uri="{FF2B5EF4-FFF2-40B4-BE49-F238E27FC236}">
                <a16:creationId xmlns:a16="http://schemas.microsoft.com/office/drawing/2014/main" id="{15D488EA-9A00-4749-AC77-C09BF9F1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62075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核心观察</a:t>
            </a:r>
          </a:p>
        </p:txBody>
      </p:sp>
      <p:sp>
        <p:nvSpPr>
          <p:cNvPr id="10" name="red-accent-202">
            <a:extLst xmlns:a="http://schemas.openxmlformats.org/drawingml/2006/main">
              <a:ext uri="{FF2B5EF4-FFF2-40B4-BE49-F238E27FC236}">
                <a16:creationId xmlns:a16="http://schemas.microsoft.com/office/drawing/2014/main" id="{638D4B5C-92B9-4317-87C5-4E6F8F8E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d-accent-203">
            <a:extLst xmlns:a="http://schemas.openxmlformats.org/drawingml/2006/main">
              <a:ext uri="{FF2B5EF4-FFF2-40B4-BE49-F238E27FC236}">
                <a16:creationId xmlns:a16="http://schemas.microsoft.com/office/drawing/2014/main" id="{A59FD103-E71F-471B-8897-33CD80A3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d-accent-204">
            <a:extLst xmlns:a="http://schemas.openxmlformats.org/drawingml/2006/main">
              <a:ext uri="{FF2B5EF4-FFF2-40B4-BE49-F238E27FC236}">
                <a16:creationId xmlns:a16="http://schemas.microsoft.com/office/drawing/2014/main" id="{3B2D6214-0CD1-4525-8E15-15A8104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d-accent-205">
            <a:extLst xmlns:a="http://schemas.openxmlformats.org/drawingml/2006/main">
              <a:ext uri="{FF2B5EF4-FFF2-40B4-BE49-F238E27FC236}">
                <a16:creationId xmlns:a16="http://schemas.microsoft.com/office/drawing/2014/main" id="{D9B311ED-C749-4D8F-92E4-81A26F33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d-accent-206">
            <a:extLst xmlns:a="http://schemas.openxmlformats.org/drawingml/2006/main">
              <a:ext uri="{FF2B5EF4-FFF2-40B4-BE49-F238E27FC236}">
                <a16:creationId xmlns:a16="http://schemas.microsoft.com/office/drawing/2014/main" id="{B94C72B3-5B2A-444B-B7C6-51B20CE1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07">
            <a:extLst xmlns:a="http://schemas.openxmlformats.org/drawingml/2006/main">
              <a:ext uri="{FF2B5EF4-FFF2-40B4-BE49-F238E27FC236}">
                <a16:creationId xmlns:a16="http://schemas.microsoft.com/office/drawing/2014/main" id="{D6A64816-85EE-4D7D-83EB-22123868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6" name="text-208">
            <a:extLst xmlns:a="http://schemas.openxmlformats.org/drawingml/2006/main">
              <a:ext uri="{FF2B5EF4-FFF2-40B4-BE49-F238E27FC236}">
                <a16:creationId xmlns:a16="http://schemas.microsoft.com/office/drawing/2014/main" id="{ACE8486E-FFBA-4F5C-845E-BDBE8408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977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先守住好生态</a:t>
            </a:r>
          </a:p>
        </p:txBody>
      </p:sp>
      <p:sp>
        <p:nvSpPr>
          <p:cNvPr id="17" name="text-209">
            <a:extLst xmlns:a="http://schemas.openxmlformats.org/drawingml/2006/main">
              <a:ext uri="{FF2B5EF4-FFF2-40B4-BE49-F238E27FC236}">
                <a16:creationId xmlns:a16="http://schemas.microsoft.com/office/drawing/2014/main" id="{97E4C2C8-852D-423B-A9BA-5C57409F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003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保护山水，减少污染破坏</a:t>
            </a:r>
          </a:p>
        </p:txBody>
      </p:sp>
      <p:sp>
        <p:nvSpPr>
          <p:cNvPr id="18" name="text-210">
            <a:extLst xmlns:a="http://schemas.openxmlformats.org/drawingml/2006/main">
              <a:ext uri="{FF2B5EF4-FFF2-40B4-BE49-F238E27FC236}">
                <a16:creationId xmlns:a16="http://schemas.microsoft.com/office/drawing/2014/main" id="{C018D787-8AE9-407B-91B6-6D0DB945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9" name="text-211">
            <a:extLst xmlns:a="http://schemas.openxmlformats.org/drawingml/2006/main">
              <a:ext uri="{FF2B5EF4-FFF2-40B4-BE49-F238E27FC236}">
                <a16:creationId xmlns:a16="http://schemas.microsoft.com/office/drawing/2014/main" id="{454B8F3E-0849-4BBA-AF5B-340DC76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再形成好产业</a:t>
            </a:r>
          </a:p>
        </p:txBody>
      </p:sp>
      <p:sp>
        <p:nvSpPr>
          <p:cNvPr id="20" name="text-212">
            <a:extLst xmlns:a="http://schemas.openxmlformats.org/drawingml/2006/main">
              <a:ext uri="{FF2B5EF4-FFF2-40B4-BE49-F238E27FC236}">
                <a16:creationId xmlns:a16="http://schemas.microsoft.com/office/drawing/2014/main" id="{4E499E8F-03E3-44DC-B2F5-DBE2D2C0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75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因地制宜发展绿色产业</a:t>
            </a:r>
          </a:p>
        </p:txBody>
      </p:sp>
      <p:sp>
        <p:nvSpPr>
          <p:cNvPr id="21" name="text-213">
            <a:extLst xmlns:a="http://schemas.openxmlformats.org/drawingml/2006/main">
              <a:ext uri="{FF2B5EF4-FFF2-40B4-BE49-F238E27FC236}">
                <a16:creationId xmlns:a16="http://schemas.microsoft.com/office/drawing/2014/main" id="{0B7D7102-0912-4CC8-A93D-439FC539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text-214">
            <a:extLst xmlns:a="http://schemas.openxmlformats.org/drawingml/2006/main">
              <a:ext uri="{FF2B5EF4-FFF2-40B4-BE49-F238E27FC236}">
                <a16:creationId xmlns:a16="http://schemas.microsoft.com/office/drawing/2014/main" id="{1942010E-C54E-4513-BCDE-43D3B07B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243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还需要好机制</a:t>
            </a:r>
          </a:p>
        </p:txBody>
      </p:sp>
      <p:sp>
        <p:nvSpPr>
          <p:cNvPr id="23" name="text-215">
            <a:extLst xmlns:a="http://schemas.openxmlformats.org/drawingml/2006/main">
              <a:ext uri="{FF2B5EF4-FFF2-40B4-BE49-F238E27FC236}">
                <a16:creationId xmlns:a16="http://schemas.microsoft.com/office/drawing/2014/main" id="{3298886C-D988-49BC-B442-2766DC50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服务、经营与规则共同支撑</a:t>
            </a:r>
          </a:p>
        </p:txBody>
      </p:sp>
      <p:sp>
        <p:nvSpPr>
          <p:cNvPr id="24" name="surface-216">
            <a:extLst xmlns:a="http://schemas.openxmlformats.org/drawingml/2006/main">
              <a:ext uri="{FF2B5EF4-FFF2-40B4-BE49-F238E27FC236}">
                <a16:creationId xmlns:a16="http://schemas.microsoft.com/office/drawing/2014/main" id="{79E79C10-B5CD-463E-AF71-4DBCEA72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00150"/>
            <a:ext cx="56864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7DDE8-0225-4499-878E-AB39E71D65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f808bb0aa4869"/>
          <a:srcRect xmlns:a="http://schemas.openxmlformats.org/drawingml/2006/main" l="33333" t="0" r="33333" b="50000"/>
          <a:stretch xmlns:a="http://schemas.openxmlformats.org/drawingml/2006/main"/>
        </p:blipFill>
        <p:spPr>
          <a:xfrm xmlns:a="http://schemas.openxmlformats.org/drawingml/2006/main">
            <a:off x="6067425" y="1219200"/>
            <a:ext cx="5648325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surface-217">
            <a:extLst xmlns:a="http://schemas.openxmlformats.org/drawingml/2006/main">
              <a:ext uri="{FF2B5EF4-FFF2-40B4-BE49-F238E27FC236}">
                <a16:creationId xmlns:a16="http://schemas.microsoft.com/office/drawing/2014/main" id="{79458050-1184-418A-B4D1-2719F887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52850"/>
            <a:ext cx="1143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18">
            <a:extLst xmlns:a="http://schemas.openxmlformats.org/drawingml/2006/main">
              <a:ext uri="{FF2B5EF4-FFF2-40B4-BE49-F238E27FC236}">
                <a16:creationId xmlns:a16="http://schemas.microsoft.com/office/drawing/2014/main" id="{C676FCF6-2921-4DDB-B5A1-2469F81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814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教学示意图</a:t>
            </a:r>
          </a:p>
        </p:txBody>
      </p:sp>
      <p:sp>
        <p:nvSpPr>
          <p:cNvPr id="28" name="surface-219">
            <a:extLst xmlns:a="http://schemas.openxmlformats.org/drawingml/2006/main">
              <a:ext uri="{FF2B5EF4-FFF2-40B4-BE49-F238E27FC236}">
                <a16:creationId xmlns:a16="http://schemas.microsoft.com/office/drawing/2014/main" id="{6FAB0FF1-FF2C-44B5-809B-76725ED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56483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220">
            <a:extLst xmlns:a="http://schemas.openxmlformats.org/drawingml/2006/main">
              <a:ext uri="{FF2B5EF4-FFF2-40B4-BE49-F238E27FC236}">
                <a16:creationId xmlns:a16="http://schemas.microsoft.com/office/drawing/2014/main" id="{41105CCE-76B2-49D4-B197-AB1893C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05300"/>
            <a:ext cx="5229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生态优势转化为发展优势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需要具体条件</a:t>
            </a:r>
          </a:p>
        </p:txBody>
      </p:sp>
      <p:sp>
        <p:nvSpPr>
          <p:cNvPr id="30" name="surface-221">
            <a:extLst xmlns:a="http://schemas.openxmlformats.org/drawingml/2006/main">
              <a:ext uri="{FF2B5EF4-FFF2-40B4-BE49-F238E27FC236}">
                <a16:creationId xmlns:a16="http://schemas.microsoft.com/office/drawing/2014/main" id="{E46B45EE-DDF9-4C01-A84D-D3BBCE0D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circle-222">
            <a:extLst xmlns:a="http://schemas.openxmlformats.org/drawingml/2006/main">
              <a:ext uri="{FF2B5EF4-FFF2-40B4-BE49-F238E27FC236}">
                <a16:creationId xmlns:a16="http://schemas.microsoft.com/office/drawing/2014/main" id="{56E1439D-31EE-4BDA-8539-63E1864F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24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1A933-0E77-4AFA-8F86-AC7F8615A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82fc689664315">
            <a:extLst>
              <a:ext uri="{96DAC541-7B7A-43D3-8B79-37D633B846F1}">
                <asvg:svgBlip xmlns:asvg="http://schemas.microsoft.com/office/drawing/2016/SVG/main" r:embed="R0557315a53e041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10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3" name="text-223">
            <a:extLst xmlns:a="http://schemas.openxmlformats.org/drawingml/2006/main">
              <a:ext uri="{FF2B5EF4-FFF2-40B4-BE49-F238E27FC236}">
                <a16:creationId xmlns:a16="http://schemas.microsoft.com/office/drawing/2014/main" id="{AC96D117-B676-4CCC-B499-2B4E96DE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4" name="text-224">
            <a:extLst xmlns:a="http://schemas.openxmlformats.org/drawingml/2006/main">
              <a:ext uri="{FF2B5EF4-FFF2-40B4-BE49-F238E27FC236}">
                <a16:creationId xmlns:a16="http://schemas.microsoft.com/office/drawing/2014/main" id="{E4F31D63-2428-4EB8-8098-A1B32232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有了好山水，是否就一定能带来好收入？</a:t>
            </a:r>
          </a:p>
        </p:txBody>
      </p:sp>
    </p:spTree>
    <p:extLst>
      <p:ext uri="{BB962C8B-B14F-4D97-AF65-F5344CB8AC3E}">
        <p14:creationId xmlns:p14="http://schemas.microsoft.com/office/powerpoint/2010/main" val="1206694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-225">
            <a:extLst xmlns:a="http://schemas.openxmlformats.org/drawingml/2006/main">
              <a:ext uri="{FF2B5EF4-FFF2-40B4-BE49-F238E27FC236}">
                <a16:creationId xmlns:a16="http://schemas.microsoft.com/office/drawing/2014/main" id="{A1CF42DB-EE15-4565-BE1F-59F0B666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226">
            <a:extLst xmlns:a="http://schemas.openxmlformats.org/drawingml/2006/main">
              <a:ext uri="{FF2B5EF4-FFF2-40B4-BE49-F238E27FC236}">
                <a16:creationId xmlns:a16="http://schemas.microsoft.com/office/drawing/2014/main" id="{CAF27BF6-56ED-47CB-90CB-FE972E9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227">
            <a:extLst xmlns:a="http://schemas.openxmlformats.org/drawingml/2006/main">
              <a:ext uri="{FF2B5EF4-FFF2-40B4-BE49-F238E27FC236}">
                <a16:creationId xmlns:a16="http://schemas.microsoft.com/office/drawing/2014/main" id="{E69ED4D7-BDEB-400E-9A01-FD0B3D8E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28">
            <a:extLst xmlns:a="http://schemas.openxmlformats.org/drawingml/2006/main">
              <a:ext uri="{FF2B5EF4-FFF2-40B4-BE49-F238E27FC236}">
                <a16:creationId xmlns:a16="http://schemas.microsoft.com/office/drawing/2014/main" id="{2DDC3083-8339-4336-A87E-E4972229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制度之变：让保护责任落到具体环节</a:t>
            </a:r>
          </a:p>
        </p:txBody>
      </p:sp>
      <p:sp>
        <p:nvSpPr>
          <p:cNvPr id="5" name="rule-229">
            <a:extLst xmlns:a="http://schemas.openxmlformats.org/drawingml/2006/main">
              <a:ext uri="{FF2B5EF4-FFF2-40B4-BE49-F238E27FC236}">
                <a16:creationId xmlns:a16="http://schemas.microsoft.com/office/drawing/2014/main" id="{CDCF6712-C874-4C10-8ECC-982973C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230">
            <a:extLst xmlns:a="http://schemas.openxmlformats.org/drawingml/2006/main">
              <a:ext uri="{FF2B5EF4-FFF2-40B4-BE49-F238E27FC236}">
                <a16:creationId xmlns:a16="http://schemas.microsoft.com/office/drawing/2014/main" id="{85916076-FA6A-4626-A51E-7A193C2F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出处：全国生态环保大会公开报道（2023）；《美丽中国建设意见》（2023）。完整文献及讲解见备注</a:t>
            </a:r>
          </a:p>
        </p:txBody>
      </p:sp>
      <p:sp>
        <p:nvSpPr>
          <p:cNvPr id="7" name="text-231">
            <a:extLst xmlns:a="http://schemas.openxmlformats.org/drawingml/2006/main">
              <a:ext uri="{FF2B5EF4-FFF2-40B4-BE49-F238E27FC236}">
                <a16:creationId xmlns:a16="http://schemas.microsoft.com/office/drawing/2014/main" id="{64B3B0FE-173F-4DC1-8B2F-D0169B9E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8" name="surface-232">
            <a:extLst xmlns:a="http://schemas.openxmlformats.org/drawingml/2006/main">
              <a:ext uri="{FF2B5EF4-FFF2-40B4-BE49-F238E27FC236}">
                <a16:creationId xmlns:a16="http://schemas.microsoft.com/office/drawing/2014/main" id="{5900241E-A282-45B7-B7B6-2F73D844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233">
            <a:extLst xmlns:a="http://schemas.openxmlformats.org/drawingml/2006/main">
              <a:ext uri="{FF2B5EF4-FFF2-40B4-BE49-F238E27FC236}">
                <a16:creationId xmlns:a16="http://schemas.microsoft.com/office/drawing/2014/main" id="{924B6E6D-AE39-4675-9F4C-ECF047CA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34">
            <a:extLst xmlns:a="http://schemas.openxmlformats.org/drawingml/2006/main">
              <a:ext uri="{FF2B5EF4-FFF2-40B4-BE49-F238E27FC236}">
                <a16:creationId xmlns:a16="http://schemas.microsoft.com/office/drawing/2014/main" id="{7415AAC6-A13D-4FA9-B163-E5440936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-235">
            <a:extLst xmlns:a="http://schemas.openxmlformats.org/drawingml/2006/main">
              <a:ext uri="{FF2B5EF4-FFF2-40B4-BE49-F238E27FC236}">
                <a16:creationId xmlns:a16="http://schemas.microsoft.com/office/drawing/2014/main" id="{C3CA4E87-0F5A-4865-A859-DF1A51C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发现并查清问题</a:t>
            </a:r>
          </a:p>
        </p:txBody>
      </p:sp>
      <p:sp>
        <p:nvSpPr>
          <p:cNvPr id="12" name="text-236">
            <a:extLst xmlns:a="http://schemas.openxmlformats.org/drawingml/2006/main">
              <a:ext uri="{FF2B5EF4-FFF2-40B4-BE49-F238E27FC236}">
                <a16:creationId xmlns:a16="http://schemas.microsoft.com/office/drawing/2014/main" id="{526A8DDD-8EF7-43FC-9EA2-D858B109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监测异常、核查排口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追溯污染来源</a:t>
            </a:r>
          </a:p>
        </p:txBody>
      </p:sp>
      <p:sp>
        <p:nvSpPr>
          <p:cNvPr id="13" name="arrow-237">
            <a:extLst xmlns:a="http://schemas.openxmlformats.org/drawingml/2006/main">
              <a:ext uri="{FF2B5EF4-FFF2-40B4-BE49-F238E27FC236}">
                <a16:creationId xmlns:a16="http://schemas.microsoft.com/office/drawing/2014/main" id="{15592A07-DF7D-4C7C-B49A-8CF14D2C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238">
            <a:extLst xmlns:a="http://schemas.openxmlformats.org/drawingml/2006/main">
              <a:ext uri="{FF2B5EF4-FFF2-40B4-BE49-F238E27FC236}">
                <a16:creationId xmlns:a16="http://schemas.microsoft.com/office/drawing/2014/main" id="{49934161-4600-4C88-AA10-AEF4600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239">
            <a:extLst xmlns:a="http://schemas.openxmlformats.org/drawingml/2006/main">
              <a:ext uri="{FF2B5EF4-FFF2-40B4-BE49-F238E27FC236}">
                <a16:creationId xmlns:a16="http://schemas.microsoft.com/office/drawing/2014/main" id="{2F9E1394-9FE7-4121-86A2-2BB98120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40">
            <a:extLst xmlns:a="http://schemas.openxmlformats.org/drawingml/2006/main">
              <a:ext uri="{FF2B5EF4-FFF2-40B4-BE49-F238E27FC236}">
                <a16:creationId xmlns:a16="http://schemas.microsoft.com/office/drawing/2014/main" id="{E1829643-8FC5-42A7-8A61-24E5CB70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-241">
            <a:extLst xmlns:a="http://schemas.openxmlformats.org/drawingml/2006/main">
              <a:ext uri="{FF2B5EF4-FFF2-40B4-BE49-F238E27FC236}">
                <a16:creationId xmlns:a16="http://schemas.microsoft.com/office/drawing/2014/main" id="{F4933AD3-5546-4516-8398-9B81D569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明确谁来整改</a:t>
            </a:r>
          </a:p>
        </p:txBody>
      </p:sp>
      <p:sp>
        <p:nvSpPr>
          <p:cNvPr id="18" name="text-242">
            <a:extLst xmlns:a="http://schemas.openxmlformats.org/drawingml/2006/main">
              <a:ext uri="{FF2B5EF4-FFF2-40B4-BE49-F238E27FC236}">
                <a16:creationId xmlns:a16="http://schemas.microsoft.com/office/drawing/2014/main" id="{806FA202-248B-4D76-8FE8-41C0C84A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压实属地、部门与相关排污主体责任</a:t>
            </a:r>
          </a:p>
        </p:txBody>
      </p:sp>
      <p:sp>
        <p:nvSpPr>
          <p:cNvPr id="19" name="arrow-243">
            <a:extLst xmlns:a="http://schemas.openxmlformats.org/drawingml/2006/main">
              <a:ext uri="{FF2B5EF4-FFF2-40B4-BE49-F238E27FC236}">
                <a16:creationId xmlns:a16="http://schemas.microsoft.com/office/drawing/2014/main" id="{A0171C81-84A3-4BF3-B1FB-A44654A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244">
            <a:extLst xmlns:a="http://schemas.openxmlformats.org/drawingml/2006/main">
              <a:ext uri="{FF2B5EF4-FFF2-40B4-BE49-F238E27FC236}">
                <a16:creationId xmlns:a16="http://schemas.microsoft.com/office/drawing/2014/main" id="{41E90246-9BF5-42AB-B9E2-2BC0EA85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245">
            <a:extLst xmlns:a="http://schemas.openxmlformats.org/drawingml/2006/main">
              <a:ext uri="{FF2B5EF4-FFF2-40B4-BE49-F238E27FC236}">
                <a16:creationId xmlns:a16="http://schemas.microsoft.com/office/drawing/2014/main" id="{8716A1A6-6FFF-451D-8EF4-6996A8D6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46">
            <a:extLst xmlns:a="http://schemas.openxmlformats.org/drawingml/2006/main">
              <a:ext uri="{FF2B5EF4-FFF2-40B4-BE49-F238E27FC236}">
                <a16:creationId xmlns:a16="http://schemas.microsoft.com/office/drawing/2014/main" id="{598BCFE2-9F93-460A-BCEB-4A83A935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text-247">
            <a:extLst xmlns:a="http://schemas.openxmlformats.org/drawingml/2006/main">
              <a:ext uri="{FF2B5EF4-FFF2-40B4-BE49-F238E27FC236}">
                <a16:creationId xmlns:a16="http://schemas.microsoft.com/office/drawing/2014/main" id="{D3D41CD9-0445-4EA4-AB3F-0D890643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跟踪整改效果</a:t>
            </a:r>
          </a:p>
        </p:txBody>
      </p:sp>
      <p:sp>
        <p:nvSpPr>
          <p:cNvPr id="24" name="text-248">
            <a:extLst xmlns:a="http://schemas.openxmlformats.org/drawingml/2006/main">
              <a:ext uri="{FF2B5EF4-FFF2-40B4-BE49-F238E27FC236}">
                <a16:creationId xmlns:a16="http://schemas.microsoft.com/office/drawing/2014/main" id="{35119E54-2E08-4758-9539-C804466C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复核数据、公开信息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防止问题反复</a:t>
            </a:r>
          </a:p>
        </p:txBody>
      </p:sp>
      <p:sp>
        <p:nvSpPr>
          <p:cNvPr id="25" name="surface-249">
            <a:extLst xmlns:a="http://schemas.openxmlformats.org/drawingml/2006/main">
              <a:ext uri="{FF2B5EF4-FFF2-40B4-BE49-F238E27FC236}">
                <a16:creationId xmlns:a16="http://schemas.microsoft.com/office/drawing/2014/main" id="{72B96932-3C18-4DF0-9DAF-EBE53F6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50">
            <a:extLst xmlns:a="http://schemas.openxmlformats.org/drawingml/2006/main">
              <a:ext uri="{FF2B5EF4-FFF2-40B4-BE49-F238E27FC236}">
                <a16:creationId xmlns:a16="http://schemas.microsoft.com/office/drawing/2014/main" id="{B2E1F9DD-6BF8-4BFA-AF9C-5302EE1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从“有人管”走向责任清晰、整改可追踪</a:t>
            </a:r>
          </a:p>
        </p:txBody>
      </p:sp>
      <p:sp>
        <p:nvSpPr>
          <p:cNvPr id="27" name="text-251">
            <a:extLst xmlns:a="http://schemas.openxmlformats.org/drawingml/2006/main">
              <a:ext uri="{FF2B5EF4-FFF2-40B4-BE49-F238E27FC236}">
                <a16:creationId xmlns:a16="http://schemas.microsoft.com/office/drawing/2014/main" id="{3C0C4B6F-EADC-4347-A38D-5A295281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教学主线：从现象到机制，再从机制走向持续行动</a:t>
            </a:r>
          </a:p>
        </p:txBody>
      </p:sp>
    </p:spTree>
    <p:extLst>
      <p:ext uri="{BB962C8B-B14F-4D97-AF65-F5344CB8AC3E}">
        <p14:creationId xmlns:p14="http://schemas.microsoft.com/office/powerpoint/2010/main" val="4836813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-252">
            <a:extLst xmlns:a="http://schemas.openxmlformats.org/drawingml/2006/main">
              <a:ext uri="{FF2B5EF4-FFF2-40B4-BE49-F238E27FC236}">
                <a16:creationId xmlns:a16="http://schemas.microsoft.com/office/drawing/2014/main" id="{C0AF3561-944A-42FF-B4CA-61139B52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253">
            <a:extLst xmlns:a="http://schemas.openxmlformats.org/drawingml/2006/main">
              <a:ext uri="{FF2B5EF4-FFF2-40B4-BE49-F238E27FC236}">
                <a16:creationId xmlns:a16="http://schemas.microsoft.com/office/drawing/2014/main" id="{58DF622C-74ED-4636-B4F2-C1B56311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254">
            <a:extLst xmlns:a="http://schemas.openxmlformats.org/drawingml/2006/main">
              <a:ext uri="{FF2B5EF4-FFF2-40B4-BE49-F238E27FC236}">
                <a16:creationId xmlns:a16="http://schemas.microsoft.com/office/drawing/2014/main" id="{896C8A81-A04D-44E7-80E8-19390C0D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55">
            <a:extLst xmlns:a="http://schemas.openxmlformats.org/drawingml/2006/main">
              <a:ext uri="{FF2B5EF4-FFF2-40B4-BE49-F238E27FC236}">
                <a16:creationId xmlns:a16="http://schemas.microsoft.com/office/drawing/2014/main" id="{A0FE512D-EBC9-483D-ACB7-25981C7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微动画：生态优势怎样转化为发展优势</a:t>
            </a:r>
          </a:p>
        </p:txBody>
      </p:sp>
      <p:sp>
        <p:nvSpPr>
          <p:cNvPr id="5" name="rule-256">
            <a:extLst xmlns:a="http://schemas.openxmlformats.org/drawingml/2006/main">
              <a:ext uri="{FF2B5EF4-FFF2-40B4-BE49-F238E27FC236}">
                <a16:creationId xmlns:a16="http://schemas.microsoft.com/office/drawing/2014/main" id="{09824DD4-2EB9-4E5D-A3B5-D961ECA4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257">
            <a:extLst xmlns:a="http://schemas.openxmlformats.org/drawingml/2006/main">
              <a:ext uri="{FF2B5EF4-FFF2-40B4-BE49-F238E27FC236}">
                <a16:creationId xmlns:a16="http://schemas.microsoft.com/office/drawing/2014/main" id="{06AAFA50-6D40-4E37-9CEA-4D451D2B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出处：党的二十大报告（2022）；《美丽中国建设意见》（2023）。完整文献及讲解见备注</a:t>
            </a:r>
          </a:p>
        </p:txBody>
      </p:sp>
      <p:sp>
        <p:nvSpPr>
          <p:cNvPr id="7" name="text-258">
            <a:extLst xmlns:a="http://schemas.openxmlformats.org/drawingml/2006/main">
              <a:ext uri="{FF2B5EF4-FFF2-40B4-BE49-F238E27FC236}">
                <a16:creationId xmlns:a16="http://schemas.microsoft.com/office/drawing/2014/main" id="{4641545C-8499-4DF5-8A56-D14AC596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8" name="surface-259">
            <a:extLst xmlns:a="http://schemas.openxmlformats.org/drawingml/2006/main">
              <a:ext uri="{FF2B5EF4-FFF2-40B4-BE49-F238E27FC236}">
                <a16:creationId xmlns:a16="http://schemas.microsoft.com/office/drawing/2014/main" id="{F890CAF4-2385-494F-A981-2CC7C895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6924675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BF2DF-592B-4651-B022-7E3F3704D8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afc8af72340a9"/>
          <a:srcRect xmlns:a="http://schemas.openxmlformats.org/drawingml/2006/main" l="33333" t="0" r="33333" b="50000"/>
          <a:stretch xmlns:a="http://schemas.openxmlformats.org/drawingml/2006/main"/>
        </p:blipFill>
        <p:spPr>
          <a:xfrm xmlns:a="http://schemas.openxmlformats.org/drawingml/2006/main">
            <a:off x="476250" y="1285875"/>
            <a:ext cx="6886575" cy="3895725"/>
          </a:xfrm>
          <a:prstGeom xmlns:a="http://schemas.openxmlformats.org/drawingml/2006/main" prst="rect">
            <a:avLst/>
          </a:prstGeom>
        </p:spPr>
      </p:pic>
      <p:sp>
        <p:nvSpPr>
          <p:cNvPr id="10" name="surface-260">
            <a:extLst xmlns:a="http://schemas.openxmlformats.org/drawingml/2006/main">
              <a:ext uri="{FF2B5EF4-FFF2-40B4-BE49-F238E27FC236}">
                <a16:creationId xmlns:a16="http://schemas.microsoft.com/office/drawing/2014/main" id="{84369796-1A82-4B80-83D2-863651B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6886575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C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61">
            <a:extLst xmlns:a="http://schemas.openxmlformats.org/drawingml/2006/main">
              <a:ext uri="{FF2B5EF4-FFF2-40B4-BE49-F238E27FC236}">
                <a16:creationId xmlns:a16="http://schemas.microsoft.com/office/drawing/2014/main" id="{FD39923A-C590-41CD-B375-DAF65F6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633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原创教学微动画</a:t>
            </a:r>
          </a:p>
        </p:txBody>
      </p:sp>
      <p:sp>
        <p:nvSpPr>
          <p:cNvPr id="12" name="text-262">
            <a:extLst xmlns:a="http://schemas.openxmlformats.org/drawingml/2006/main">
              <a:ext uri="{FF2B5EF4-FFF2-40B4-BE49-F238E27FC236}">
                <a16:creationId xmlns:a16="http://schemas.microsoft.com/office/drawing/2014/main" id="{700E6F03-4D03-411C-937B-B00CAC56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71725"/>
            <a:ext cx="6153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绿水青山，如何成为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可持续的发展优势？</a:t>
            </a:r>
          </a:p>
        </p:txBody>
      </p:sp>
      <p:sp>
        <p:nvSpPr>
          <p:cNvPr id="13" name="circle-263">
            <a:extLst xmlns:a="http://schemas.openxmlformats.org/drawingml/2006/main">
              <a:ext uri="{FF2B5EF4-FFF2-40B4-BE49-F238E27FC236}">
                <a16:creationId xmlns:a16="http://schemas.microsoft.com/office/drawing/2014/main" id="{53400816-EAC0-457B-8BFA-3141773B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8957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p-264">
            <a:extLst xmlns:a="http://schemas.openxmlformats.org/drawingml/2006/main">
              <a:ext uri="{FF2B5EF4-FFF2-40B4-BE49-F238E27FC236}">
                <a16:creationId xmlns:a16="http://schemas.microsoft.com/office/drawing/2014/main" id="{F7F9F38C-D5A4-4C20-9E3E-187F299B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076700"/>
            <a:ext cx="257175" cy="295275"/>
          </a:xfrm>
          <a:custGeom xmlns:a="http://schemas.openxmlformats.org/drawingml/2006/main">
            <a:pathLst>
              <a:path w="257175" h="295275">
                <a:moveTo>
                  <a:pt x="0" y="0"/>
                </a:moveTo>
                <a:lnTo>
                  <a:pt x="257175" y="147638"/>
                </a:lnTo>
                <a:lnTo>
                  <a:pt x="0" y="2952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65">
            <a:extLst xmlns:a="http://schemas.openxmlformats.org/drawingml/2006/main">
              <a:ext uri="{FF2B5EF4-FFF2-40B4-BE49-F238E27FC236}">
                <a16:creationId xmlns:a16="http://schemas.microsoft.com/office/drawing/2014/main" id="{AB283A53-80BC-487B-AE36-D6E6442C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257800"/>
            <a:ext cx="4352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e3483b31254d45cf"/>
              </a:rPr>
              <a:t>点击播放配套动画</a:t>
            </a:r>
          </a:p>
        </p:txBody>
      </p:sp>
      <p:sp>
        <p:nvSpPr>
          <p:cNvPr id="16" name="text-266">
            <a:extLst xmlns:a="http://schemas.openxmlformats.org/drawingml/2006/main">
              <a:ext uri="{FF2B5EF4-FFF2-40B4-BE49-F238E27FC236}">
                <a16:creationId xmlns:a16="http://schemas.microsoft.com/office/drawing/2014/main" id="{D3F89D12-58DA-45A0-9D80-BD9C6FA4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38825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0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约36秒 · 静音字幕版 · 机制示意</a:t>
            </a:r>
          </a:p>
        </p:txBody>
      </p:sp>
      <p:sp>
        <p:nvSpPr>
          <p:cNvPr id="17" name="text-267">
            <a:extLst xmlns:a="http://schemas.openxmlformats.org/drawingml/2006/main">
              <a:ext uri="{FF2B5EF4-FFF2-40B4-BE49-F238E27FC236}">
                <a16:creationId xmlns:a16="http://schemas.microsoft.com/office/drawing/2014/main" id="{D317696A-4D4E-4D85-B446-483BB912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1922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保护是前提</a:t>
            </a:r>
          </a:p>
        </p:txBody>
      </p:sp>
      <p:sp>
        <p:nvSpPr>
          <p:cNvPr id="18" name="text-268">
            <a:extLst xmlns:a="http://schemas.openxmlformats.org/drawingml/2006/main">
              <a:ext uri="{FF2B5EF4-FFF2-40B4-BE49-F238E27FC236}">
                <a16:creationId xmlns:a16="http://schemas.microsoft.com/office/drawing/2014/main" id="{4DB2C243-41C3-47A2-A8F7-F405F14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76425"/>
            <a:ext cx="3581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生态资源怎样得到持续保护？</a:t>
            </a:r>
          </a:p>
        </p:txBody>
      </p:sp>
      <p:sp>
        <p:nvSpPr>
          <p:cNvPr id="19" name="text-269">
            <a:extLst xmlns:a="http://schemas.openxmlformats.org/drawingml/2006/main">
              <a:ext uri="{FF2B5EF4-FFF2-40B4-BE49-F238E27FC236}">
                <a16:creationId xmlns:a16="http://schemas.microsoft.com/office/drawing/2014/main" id="{0DCB1D79-2AB3-4060-B698-BA242C22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转化有条件</a:t>
            </a:r>
          </a:p>
        </p:txBody>
      </p:sp>
      <p:sp>
        <p:nvSpPr>
          <p:cNvPr id="20" name="text-270">
            <a:extLst xmlns:a="http://schemas.openxmlformats.org/drawingml/2006/main">
              <a:ext uri="{FF2B5EF4-FFF2-40B4-BE49-F238E27FC236}">
                <a16:creationId xmlns:a16="http://schemas.microsoft.com/office/drawing/2014/main" id="{6213A8DA-D239-4AE9-9AD1-BAC1D9E7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3581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哪些服务和产业支撑价值实现？</a:t>
            </a:r>
          </a:p>
        </p:txBody>
      </p:sp>
      <p:sp>
        <p:nvSpPr>
          <p:cNvPr id="21" name="text-271">
            <a:extLst xmlns:a="http://schemas.openxmlformats.org/drawingml/2006/main">
              <a:ext uri="{FF2B5EF4-FFF2-40B4-BE49-F238E27FC236}">
                <a16:creationId xmlns:a16="http://schemas.microsoft.com/office/drawing/2014/main" id="{42BF9EAC-B635-4F53-9100-BB30159C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0057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收益要共享</a:t>
            </a:r>
          </a:p>
        </p:txBody>
      </p:sp>
      <p:sp>
        <p:nvSpPr>
          <p:cNvPr id="22" name="text-272">
            <a:extLst xmlns:a="http://schemas.openxmlformats.org/drawingml/2006/main">
              <a:ext uri="{FF2B5EF4-FFF2-40B4-BE49-F238E27FC236}">
                <a16:creationId xmlns:a16="http://schemas.microsoft.com/office/drawing/2014/main" id="{A221045D-2E37-4D32-8203-CCBC7FC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3581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怎样让群众获得持续的发展收益？</a:t>
            </a:r>
          </a:p>
        </p:txBody>
      </p:sp>
    </p:spTree>
    <p:extLst>
      <p:ext uri="{BB962C8B-B14F-4D97-AF65-F5344CB8AC3E}">
        <p14:creationId xmlns:p14="http://schemas.microsoft.com/office/powerpoint/2010/main" val="209595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-273">
            <a:extLst xmlns:a="http://schemas.openxmlformats.org/drawingml/2006/main">
              <a:ext uri="{FF2B5EF4-FFF2-40B4-BE49-F238E27FC236}">
                <a16:creationId xmlns:a16="http://schemas.microsoft.com/office/drawing/2014/main" id="{EA096D1F-5B9A-446E-A42B-744925EC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274">
            <a:extLst xmlns:a="http://schemas.openxmlformats.org/drawingml/2006/main">
              <a:ext uri="{FF2B5EF4-FFF2-40B4-BE49-F238E27FC236}">
                <a16:creationId xmlns:a16="http://schemas.microsoft.com/office/drawing/2014/main" id="{C0A9A85E-11A1-484A-8FF7-A4C368A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275">
            <a:extLst xmlns:a="http://schemas.openxmlformats.org/drawingml/2006/main">
              <a:ext uri="{FF2B5EF4-FFF2-40B4-BE49-F238E27FC236}">
                <a16:creationId xmlns:a16="http://schemas.microsoft.com/office/drawing/2014/main" id="{2CECF5CE-A808-4974-880E-E63CCD80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76">
            <a:extLst xmlns:a="http://schemas.openxmlformats.org/drawingml/2006/main">
              <a:ext uri="{FF2B5EF4-FFF2-40B4-BE49-F238E27FC236}">
                <a16:creationId xmlns:a16="http://schemas.microsoft.com/office/drawing/2014/main" id="{E1C17130-00E8-4F89-8F98-C641F3F6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蓝天保卫战：改善群众的直接感受</a:t>
            </a:r>
          </a:p>
        </p:txBody>
      </p:sp>
      <p:sp>
        <p:nvSpPr>
          <p:cNvPr id="5" name="rule-277">
            <a:extLst xmlns:a="http://schemas.openxmlformats.org/drawingml/2006/main">
              <a:ext uri="{FF2B5EF4-FFF2-40B4-BE49-F238E27FC236}">
                <a16:creationId xmlns:a16="http://schemas.microsoft.com/office/drawing/2014/main" id="{A83C467C-C11D-463E-96DE-BB2FB45B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278">
            <a:extLst xmlns:a="http://schemas.openxmlformats.org/drawingml/2006/main">
              <a:ext uri="{FF2B5EF4-FFF2-40B4-BE49-F238E27FC236}">
                <a16:creationId xmlns:a16="http://schemas.microsoft.com/office/drawing/2014/main" id="{6B312A89-E50C-4773-8644-2256E6F3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出处：党的二十大报告（2022）；《2023中国生态环境状况公报》；《空气质量持续改善行动计划》（2023）。完整文献及讲解见备注</a:t>
            </a:r>
          </a:p>
        </p:txBody>
      </p:sp>
      <p:sp>
        <p:nvSpPr>
          <p:cNvPr id="7" name="text-279">
            <a:extLst xmlns:a="http://schemas.openxmlformats.org/drawingml/2006/main">
              <a:ext uri="{FF2B5EF4-FFF2-40B4-BE49-F238E27FC236}">
                <a16:creationId xmlns:a16="http://schemas.microsoft.com/office/drawing/2014/main" id="{AEA692AF-1AD1-4D9F-BD36-FDB51501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8" name="surface-280">
            <a:extLst xmlns:a="http://schemas.openxmlformats.org/drawingml/2006/main">
              <a:ext uri="{FF2B5EF4-FFF2-40B4-BE49-F238E27FC236}">
                <a16:creationId xmlns:a16="http://schemas.microsoft.com/office/drawing/2014/main" id="{000C880B-EE69-4EB6-BD79-E740DCEF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5276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281">
            <a:extLst xmlns:a="http://schemas.openxmlformats.org/drawingml/2006/main">
              <a:ext uri="{FF2B5EF4-FFF2-40B4-BE49-F238E27FC236}">
                <a16:creationId xmlns:a16="http://schemas.microsoft.com/office/drawing/2014/main" id="{79ECCF6F-9B26-477D-838F-A82247E6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62075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核心观察</a:t>
            </a:r>
          </a:p>
        </p:txBody>
      </p:sp>
      <p:sp>
        <p:nvSpPr>
          <p:cNvPr id="10" name="red-accent-282">
            <a:extLst xmlns:a="http://schemas.openxmlformats.org/drawingml/2006/main">
              <a:ext uri="{FF2B5EF4-FFF2-40B4-BE49-F238E27FC236}">
                <a16:creationId xmlns:a16="http://schemas.microsoft.com/office/drawing/2014/main" id="{A71F0D59-95CB-4FD7-BCBF-7FCA7308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d-accent-283">
            <a:extLst xmlns:a="http://schemas.openxmlformats.org/drawingml/2006/main">
              <a:ext uri="{FF2B5EF4-FFF2-40B4-BE49-F238E27FC236}">
                <a16:creationId xmlns:a16="http://schemas.microsoft.com/office/drawing/2014/main" id="{9C642381-5D2D-4BE9-93D3-7C083D23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d-accent-284">
            <a:extLst xmlns:a="http://schemas.openxmlformats.org/drawingml/2006/main">
              <a:ext uri="{FF2B5EF4-FFF2-40B4-BE49-F238E27FC236}">
                <a16:creationId xmlns:a16="http://schemas.microsoft.com/office/drawing/2014/main" id="{FCC5A3B0-8415-4BD2-821F-A70D05ED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d-accent-285">
            <a:extLst xmlns:a="http://schemas.openxmlformats.org/drawingml/2006/main">
              <a:ext uri="{FF2B5EF4-FFF2-40B4-BE49-F238E27FC236}">
                <a16:creationId xmlns:a16="http://schemas.microsoft.com/office/drawing/2014/main" id="{CE21BF62-FE82-4C90-8630-49315D77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d-accent-286">
            <a:extLst xmlns:a="http://schemas.openxmlformats.org/drawingml/2006/main">
              <a:ext uri="{FF2B5EF4-FFF2-40B4-BE49-F238E27FC236}">
                <a16:creationId xmlns:a16="http://schemas.microsoft.com/office/drawing/2014/main" id="{66A1B6A8-F56D-4A0D-A392-064A7384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87">
            <a:extLst xmlns:a="http://schemas.openxmlformats.org/drawingml/2006/main">
              <a:ext uri="{FF2B5EF4-FFF2-40B4-BE49-F238E27FC236}">
                <a16:creationId xmlns:a16="http://schemas.microsoft.com/office/drawing/2014/main" id="{F09BB514-06A2-417F-B057-C2E049C0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6" name="text-288">
            <a:extLst xmlns:a="http://schemas.openxmlformats.org/drawingml/2006/main">
              <a:ext uri="{FF2B5EF4-FFF2-40B4-BE49-F238E27FC236}">
                <a16:creationId xmlns:a16="http://schemas.microsoft.com/office/drawing/2014/main" id="{9FB792F2-F8EA-4453-97A5-09CB0A1F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977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能源结构调整</a:t>
            </a:r>
          </a:p>
        </p:txBody>
      </p:sp>
      <p:sp>
        <p:nvSpPr>
          <p:cNvPr id="17" name="text-289">
            <a:extLst xmlns:a="http://schemas.openxmlformats.org/drawingml/2006/main">
              <a:ext uri="{FF2B5EF4-FFF2-40B4-BE49-F238E27FC236}">
                <a16:creationId xmlns:a16="http://schemas.microsoft.com/office/drawing/2014/main" id="{F7B7822B-6EBC-4D87-985B-DDEEE2D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003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优化用能结构，推进清洁利用</a:t>
            </a:r>
          </a:p>
        </p:txBody>
      </p:sp>
      <p:sp>
        <p:nvSpPr>
          <p:cNvPr id="18" name="text-290">
            <a:extLst xmlns:a="http://schemas.openxmlformats.org/drawingml/2006/main">
              <a:ext uri="{FF2B5EF4-FFF2-40B4-BE49-F238E27FC236}">
                <a16:creationId xmlns:a16="http://schemas.microsoft.com/office/drawing/2014/main" id="{AECBDC05-6C1A-417F-8C8B-E486BF7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9" name="text-291">
            <a:extLst xmlns:a="http://schemas.openxmlformats.org/drawingml/2006/main">
              <a:ext uri="{FF2B5EF4-FFF2-40B4-BE49-F238E27FC236}">
                <a16:creationId xmlns:a16="http://schemas.microsoft.com/office/drawing/2014/main" id="{B365B3A7-BD3F-4142-AA4E-AD866C6E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重点污染源治理</a:t>
            </a:r>
          </a:p>
        </p:txBody>
      </p:sp>
      <p:sp>
        <p:nvSpPr>
          <p:cNvPr id="20" name="text-292">
            <a:extLst xmlns:a="http://schemas.openxmlformats.org/drawingml/2006/main">
              <a:ext uri="{FF2B5EF4-FFF2-40B4-BE49-F238E27FC236}">
                <a16:creationId xmlns:a16="http://schemas.microsoft.com/office/drawing/2014/main" id="{723ACF80-D886-426D-8075-A51324B8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75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工业、交通和扬尘一起抓</a:t>
            </a:r>
          </a:p>
        </p:txBody>
      </p:sp>
      <p:sp>
        <p:nvSpPr>
          <p:cNvPr id="21" name="text-293">
            <a:extLst xmlns:a="http://schemas.openxmlformats.org/drawingml/2006/main">
              <a:ext uri="{FF2B5EF4-FFF2-40B4-BE49-F238E27FC236}">
                <a16:creationId xmlns:a16="http://schemas.microsoft.com/office/drawing/2014/main" id="{8AF810B3-0E16-4C93-AA93-87E15858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text-294">
            <a:extLst xmlns:a="http://schemas.openxmlformats.org/drawingml/2006/main">
              <a:ext uri="{FF2B5EF4-FFF2-40B4-BE49-F238E27FC236}">
                <a16:creationId xmlns:a16="http://schemas.microsoft.com/office/drawing/2014/main" id="{E7529E0E-4927-411D-AB90-D37EE588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243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区域协同治理</a:t>
            </a:r>
          </a:p>
        </p:txBody>
      </p:sp>
      <p:sp>
        <p:nvSpPr>
          <p:cNvPr id="23" name="text-295">
            <a:extLst xmlns:a="http://schemas.openxmlformats.org/drawingml/2006/main">
              <a:ext uri="{FF2B5EF4-FFF2-40B4-BE49-F238E27FC236}">
                <a16:creationId xmlns:a16="http://schemas.microsoft.com/office/drawing/2014/main" id="{040BCFE9-E83D-4D4A-9EFB-BD4B9458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联动区域治理，关注污染传输</a:t>
            </a:r>
          </a:p>
        </p:txBody>
      </p:sp>
      <p:sp>
        <p:nvSpPr>
          <p:cNvPr id="24" name="surface-296">
            <a:extLst xmlns:a="http://schemas.openxmlformats.org/drawingml/2006/main">
              <a:ext uri="{FF2B5EF4-FFF2-40B4-BE49-F238E27FC236}">
                <a16:creationId xmlns:a16="http://schemas.microsoft.com/office/drawing/2014/main" id="{5772F476-2CE0-4E86-B341-AE5A8C1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00150"/>
            <a:ext cx="56864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9C6E3-4E65-4DB3-BF43-A28C80F5C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b8677678c4a15"/>
          <a:srcRect xmlns:a="http://schemas.openxmlformats.org/drawingml/2006/main" l="0" t="0" r="66667" b="50000"/>
          <a:stretch xmlns:a="http://schemas.openxmlformats.org/drawingml/2006/main"/>
        </p:blipFill>
        <p:spPr>
          <a:xfrm xmlns:a="http://schemas.openxmlformats.org/drawingml/2006/main">
            <a:off x="6067425" y="1219200"/>
            <a:ext cx="5648325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surface-297">
            <a:extLst xmlns:a="http://schemas.openxmlformats.org/drawingml/2006/main">
              <a:ext uri="{FF2B5EF4-FFF2-40B4-BE49-F238E27FC236}">
                <a16:creationId xmlns:a16="http://schemas.microsoft.com/office/drawing/2014/main" id="{82C8503C-E313-49C9-B695-4E48D82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52850"/>
            <a:ext cx="1143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98">
            <a:extLst xmlns:a="http://schemas.openxmlformats.org/drawingml/2006/main">
              <a:ext uri="{FF2B5EF4-FFF2-40B4-BE49-F238E27FC236}">
                <a16:creationId xmlns:a16="http://schemas.microsoft.com/office/drawing/2014/main" id="{0B7E9D0A-5569-4F17-8AB5-08B2498C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814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教学示意图</a:t>
            </a:r>
          </a:p>
        </p:txBody>
      </p:sp>
      <p:sp>
        <p:nvSpPr>
          <p:cNvPr id="28" name="surface-299">
            <a:extLst xmlns:a="http://schemas.openxmlformats.org/drawingml/2006/main">
              <a:ext uri="{FF2B5EF4-FFF2-40B4-BE49-F238E27FC236}">
                <a16:creationId xmlns:a16="http://schemas.microsoft.com/office/drawing/2014/main" id="{78921694-FD2A-406E-8512-5C81BE83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56483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300">
            <a:extLst xmlns:a="http://schemas.openxmlformats.org/drawingml/2006/main">
              <a:ext uri="{FF2B5EF4-FFF2-40B4-BE49-F238E27FC236}">
                <a16:creationId xmlns:a16="http://schemas.microsoft.com/office/drawing/2014/main" id="{886F9314-54A6-4A71-B046-F56C3AF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05300"/>
            <a:ext cx="5229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一片蓝天背后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是多领域持续配合</a:t>
            </a:r>
          </a:p>
        </p:txBody>
      </p:sp>
      <p:sp>
        <p:nvSpPr>
          <p:cNvPr id="30" name="surface-301">
            <a:extLst xmlns:a="http://schemas.openxmlformats.org/drawingml/2006/main">
              <a:ext uri="{FF2B5EF4-FFF2-40B4-BE49-F238E27FC236}">
                <a16:creationId xmlns:a16="http://schemas.microsoft.com/office/drawing/2014/main" id="{6A5C0022-036F-4711-B292-00711654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circle-302">
            <a:extLst xmlns:a="http://schemas.openxmlformats.org/drawingml/2006/main">
              <a:ext uri="{FF2B5EF4-FFF2-40B4-BE49-F238E27FC236}">
                <a16:creationId xmlns:a16="http://schemas.microsoft.com/office/drawing/2014/main" id="{8F7C53EC-0CDD-49C9-A835-3D7B47F8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24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9CA01-7213-446A-B370-B7ECD924B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be9894e4f4f98">
            <a:extLst>
              <a:ext uri="{96DAC541-7B7A-43D3-8B79-37D633B846F1}">
                <asvg:svgBlip xmlns:asvg="http://schemas.microsoft.com/office/drawing/2016/SVG/main" r:embed="Ra004e53aff2244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10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3" name="text-303">
            <a:extLst xmlns:a="http://schemas.openxmlformats.org/drawingml/2006/main">
              <a:ext uri="{FF2B5EF4-FFF2-40B4-BE49-F238E27FC236}">
                <a16:creationId xmlns:a16="http://schemas.microsoft.com/office/drawing/2014/main" id="{7F9FB64C-958D-4D52-9150-65BA4194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4" name="text-304">
            <a:extLst xmlns:a="http://schemas.openxmlformats.org/drawingml/2006/main">
              <a:ext uri="{FF2B5EF4-FFF2-40B4-BE49-F238E27FC236}">
                <a16:creationId xmlns:a16="http://schemas.microsoft.com/office/drawing/2014/main" id="{263A0FC5-011A-4186-BD09-7D2B7660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某一天晴朗，能否证明空气治理任务已完成？</a:t>
            </a:r>
          </a:p>
        </p:txBody>
      </p:sp>
    </p:spTree>
    <p:extLst>
      <p:ext uri="{BB962C8B-B14F-4D97-AF65-F5344CB8AC3E}">
        <p14:creationId xmlns:p14="http://schemas.microsoft.com/office/powerpoint/2010/main" val="6374708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urface-305">
            <a:extLst xmlns:a="http://schemas.openxmlformats.org/drawingml/2006/main">
              <a:ext uri="{FF2B5EF4-FFF2-40B4-BE49-F238E27FC236}">
                <a16:creationId xmlns:a16="http://schemas.microsoft.com/office/drawing/2014/main" id="{60F4BA5B-5575-4303-ADBA-583EA04D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306">
            <a:extLst xmlns:a="http://schemas.openxmlformats.org/drawingml/2006/main">
              <a:ext uri="{FF2B5EF4-FFF2-40B4-BE49-F238E27FC236}">
                <a16:creationId xmlns:a16="http://schemas.microsoft.com/office/drawing/2014/main" id="{656CFF21-C8EB-4129-BCF9-7737B380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307">
            <a:extLst xmlns:a="http://schemas.openxmlformats.org/drawingml/2006/main">
              <a:ext uri="{FF2B5EF4-FFF2-40B4-BE49-F238E27FC236}">
                <a16:creationId xmlns:a16="http://schemas.microsoft.com/office/drawing/2014/main" id="{1D185EDF-A58E-4B10-BC04-18E8D370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08">
            <a:extLst xmlns:a="http://schemas.openxmlformats.org/drawingml/2006/main">
              <a:ext uri="{FF2B5EF4-FFF2-40B4-BE49-F238E27FC236}">
                <a16:creationId xmlns:a16="http://schemas.microsoft.com/office/drawing/2014/main" id="{6C574BB9-3E1D-4980-BA3C-F69C3210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2023年空气质量：用两项指标观察</a:t>
            </a:r>
          </a:p>
        </p:txBody>
      </p:sp>
      <p:sp>
        <p:nvSpPr>
          <p:cNvPr id="5" name="rule-309">
            <a:extLst xmlns:a="http://schemas.openxmlformats.org/drawingml/2006/main">
              <a:ext uri="{FF2B5EF4-FFF2-40B4-BE49-F238E27FC236}">
                <a16:creationId xmlns:a16="http://schemas.microsoft.com/office/drawing/2014/main" id="{1F3D2EFA-AE28-4EC5-ABAB-EAADE38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310">
            <a:extLst xmlns:a="http://schemas.openxmlformats.org/drawingml/2006/main">
              <a:ext uri="{FF2B5EF4-FFF2-40B4-BE49-F238E27FC236}">
                <a16:creationId xmlns:a16="http://schemas.microsoft.com/office/drawing/2014/main" id="{E4592581-04B0-4FFB-B3E6-F37067BB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出处：《2023中国生态环境状况公报》。完整文献及讲解见备注</a:t>
            </a:r>
          </a:p>
        </p:txBody>
      </p:sp>
      <p:sp>
        <p:nvSpPr>
          <p:cNvPr id="7" name="text-311">
            <a:extLst xmlns:a="http://schemas.openxmlformats.org/drawingml/2006/main">
              <a:ext uri="{FF2B5EF4-FFF2-40B4-BE49-F238E27FC236}">
                <a16:creationId xmlns:a16="http://schemas.microsoft.com/office/drawing/2014/main" id="{6386D15C-D018-4633-94FD-FB3D5BF9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209E1AD-38ED-42FC-B213-503045E92BDB}"/>
              </a:ext>
            </a:extLst>
          </p:cNvPr>
          <p:cNvGraphicFramePr/>
          <p:nvPr/>
        </p:nvGraphicFramePr>
        <p:xfrm>
          <a:off xmlns:a="http://schemas.openxmlformats.org/drawingml/2006/main" x="6953250" y="1447800"/>
          <a:ext xmlns:a="http://schemas.openxmlformats.org/drawingml/2006/main" cx="42672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cecdacdab44d8d"/>
          </a:graphicData>
        </a:graphic>
      </p:graphicFrame>
      <p:sp>
        <p:nvSpPr>
          <p:cNvPr id="9" name="text-312">
            <a:extLst xmlns:a="http://schemas.openxmlformats.org/drawingml/2006/main">
              <a:ext uri="{FF2B5EF4-FFF2-40B4-BE49-F238E27FC236}">
                <a16:creationId xmlns:a16="http://schemas.microsoft.com/office/drawing/2014/main" id="{0C2080C4-73E6-4798-9302-0A56FDF0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2023年</a:t>
            </a:r>
          </a:p>
        </p:txBody>
      </p:sp>
      <p:sp>
        <p:nvSpPr>
          <p:cNvPr id="10" name="text-313">
            <a:extLst xmlns:a="http://schemas.openxmlformats.org/drawingml/2006/main">
              <a:ext uri="{FF2B5EF4-FFF2-40B4-BE49-F238E27FC236}">
                <a16:creationId xmlns:a16="http://schemas.microsoft.com/office/drawing/2014/main" id="{66BA042C-70AD-4028-AB14-7A7CF970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全国地级及以上城市</a:t>
            </a:r>
          </a:p>
        </p:txBody>
      </p:sp>
      <p:sp>
        <p:nvSpPr>
          <p:cNvPr id="11" name="text-314">
            <a:extLst xmlns:a="http://schemas.openxmlformats.org/drawingml/2006/main">
              <a:ext uri="{FF2B5EF4-FFF2-40B4-BE49-F238E27FC236}">
                <a16:creationId xmlns:a16="http://schemas.microsoft.com/office/drawing/2014/main" id="{5946E37D-BBCB-42E1-A412-106D634C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4476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sp>
        <p:nvSpPr>
          <p:cNvPr id="12" name="text-315">
            <a:extLst xmlns:a="http://schemas.openxmlformats.org/drawingml/2006/main">
              <a:ext uri="{FF2B5EF4-FFF2-40B4-BE49-F238E27FC236}">
                <a16:creationId xmlns:a16="http://schemas.microsoft.com/office/drawing/2014/main" id="{6506854B-FAE2-4F45-A173-C2FE0E7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66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微克/立方米</a:t>
            </a:r>
          </a:p>
        </p:txBody>
      </p:sp>
      <p:sp>
        <p:nvSpPr>
          <p:cNvPr id="13" name="text-316">
            <a:extLst xmlns:a="http://schemas.openxmlformats.org/drawingml/2006/main">
              <a:ext uri="{FF2B5EF4-FFF2-40B4-BE49-F238E27FC236}">
                <a16:creationId xmlns:a16="http://schemas.microsoft.com/office/drawing/2014/main" id="{D76CCB54-D819-442C-BFA0-FE456F25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71975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PM2.5 平均浓度</a:t>
            </a:r>
          </a:p>
        </p:txBody>
      </p:sp>
      <p:sp>
        <p:nvSpPr>
          <p:cNvPr id="14" name="text-317">
            <a:extLst xmlns:a="http://schemas.openxmlformats.org/drawingml/2006/main">
              <a:ext uri="{FF2B5EF4-FFF2-40B4-BE49-F238E27FC236}">
                <a16:creationId xmlns:a16="http://schemas.microsoft.com/office/drawing/2014/main" id="{E4E42D2B-2FE3-4297-8966-3A55223B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3943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51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51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7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85.5%</a:t>
            </a:r>
          </a:p>
        </p:txBody>
      </p:sp>
      <p:sp>
        <p:nvSpPr>
          <p:cNvPr id="15" name="text-318">
            <a:extLst xmlns:a="http://schemas.openxmlformats.org/drawingml/2006/main">
              <a:ext uri="{FF2B5EF4-FFF2-40B4-BE49-F238E27FC236}">
                <a16:creationId xmlns:a16="http://schemas.microsoft.com/office/drawing/2014/main" id="{FA2ED131-F28A-4731-BCD4-F02A54A1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6265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2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全国平均值，不能替代每个城市、每一天的情况</a:t>
            </a:r>
          </a:p>
        </p:txBody>
      </p:sp>
    </p:spTree>
    <p:extLst>
      <p:ext uri="{BB962C8B-B14F-4D97-AF65-F5344CB8AC3E}">
        <p14:creationId xmlns:p14="http://schemas.microsoft.com/office/powerpoint/2010/main" val="13927902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-319">
            <a:extLst xmlns:a="http://schemas.openxmlformats.org/drawingml/2006/main">
              <a:ext uri="{FF2B5EF4-FFF2-40B4-BE49-F238E27FC236}">
                <a16:creationId xmlns:a16="http://schemas.microsoft.com/office/drawing/2014/main" id="{23E8B381-670E-4E96-BC1D-E69503E7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320">
            <a:extLst xmlns:a="http://schemas.openxmlformats.org/drawingml/2006/main">
              <a:ext uri="{FF2B5EF4-FFF2-40B4-BE49-F238E27FC236}">
                <a16:creationId xmlns:a16="http://schemas.microsoft.com/office/drawing/2014/main" id="{44A7466E-B7BD-4351-8C13-A06F29D1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321">
            <a:extLst xmlns:a="http://schemas.openxmlformats.org/drawingml/2006/main">
              <a:ext uri="{FF2B5EF4-FFF2-40B4-BE49-F238E27FC236}">
                <a16:creationId xmlns:a16="http://schemas.microsoft.com/office/drawing/2014/main" id="{99D2B8EF-28B9-49D1-970C-266A5540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22">
            <a:extLst xmlns:a="http://schemas.openxmlformats.org/drawingml/2006/main">
              <a:ext uri="{FF2B5EF4-FFF2-40B4-BE49-F238E27FC236}">
                <a16:creationId xmlns:a16="http://schemas.microsoft.com/office/drawing/2014/main" id="{B74D8836-371C-4865-A54B-7B24C25F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碧水保卫战：从治污走向流域治理</a:t>
            </a:r>
          </a:p>
        </p:txBody>
      </p:sp>
      <p:sp>
        <p:nvSpPr>
          <p:cNvPr id="5" name="rule-323">
            <a:extLst xmlns:a="http://schemas.openxmlformats.org/drawingml/2006/main">
              <a:ext uri="{FF2B5EF4-FFF2-40B4-BE49-F238E27FC236}">
                <a16:creationId xmlns:a16="http://schemas.microsoft.com/office/drawing/2014/main" id="{BF1CBC41-29BB-4F3E-B811-CED8D8CB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324">
            <a:extLst xmlns:a="http://schemas.openxmlformats.org/drawingml/2006/main">
              <a:ext uri="{FF2B5EF4-FFF2-40B4-BE49-F238E27FC236}">
                <a16:creationId xmlns:a16="http://schemas.microsoft.com/office/drawing/2014/main" id="{7E9AEFED-A6C9-442A-80EC-7294A853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出处：党的二十大报告（2022）；《美丽中国建设意见》（2023）；《2023中国生态环境状况公报》。完整文献及讲解见备注</a:t>
            </a:r>
          </a:p>
        </p:txBody>
      </p:sp>
      <p:sp>
        <p:nvSpPr>
          <p:cNvPr id="7" name="text-325">
            <a:extLst xmlns:a="http://schemas.openxmlformats.org/drawingml/2006/main">
              <a:ext uri="{FF2B5EF4-FFF2-40B4-BE49-F238E27FC236}">
                <a16:creationId xmlns:a16="http://schemas.microsoft.com/office/drawing/2014/main" id="{0B6A97DB-3116-478E-9FB8-657A4864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8" name="surface-326">
            <a:extLst xmlns:a="http://schemas.openxmlformats.org/drawingml/2006/main">
              <a:ext uri="{FF2B5EF4-FFF2-40B4-BE49-F238E27FC236}">
                <a16:creationId xmlns:a16="http://schemas.microsoft.com/office/drawing/2014/main" id="{6A22AD75-8D65-4425-9248-417A2047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5276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327">
            <a:extLst xmlns:a="http://schemas.openxmlformats.org/drawingml/2006/main">
              <a:ext uri="{FF2B5EF4-FFF2-40B4-BE49-F238E27FC236}">
                <a16:creationId xmlns:a16="http://schemas.microsoft.com/office/drawing/2014/main" id="{D2BF91A9-2C47-4D5B-BD3C-7EBBA0C5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62075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核心观察</a:t>
            </a:r>
          </a:p>
        </p:txBody>
      </p:sp>
      <p:sp>
        <p:nvSpPr>
          <p:cNvPr id="10" name="red-accent-328">
            <a:extLst xmlns:a="http://schemas.openxmlformats.org/drawingml/2006/main">
              <a:ext uri="{FF2B5EF4-FFF2-40B4-BE49-F238E27FC236}">
                <a16:creationId xmlns:a16="http://schemas.microsoft.com/office/drawing/2014/main" id="{B6096468-ED69-4251-8040-C48D94BE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d-accent-329">
            <a:extLst xmlns:a="http://schemas.openxmlformats.org/drawingml/2006/main">
              <a:ext uri="{FF2B5EF4-FFF2-40B4-BE49-F238E27FC236}">
                <a16:creationId xmlns:a16="http://schemas.microsoft.com/office/drawing/2014/main" id="{F191E96E-9EB0-46CB-A3ED-5D1FA259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d-accent-330">
            <a:extLst xmlns:a="http://schemas.openxmlformats.org/drawingml/2006/main">
              <a:ext uri="{FF2B5EF4-FFF2-40B4-BE49-F238E27FC236}">
                <a16:creationId xmlns:a16="http://schemas.microsoft.com/office/drawing/2014/main" id="{C2FCB254-B1B5-40A0-9D8F-9348D153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d-accent-331">
            <a:extLst xmlns:a="http://schemas.openxmlformats.org/drawingml/2006/main">
              <a:ext uri="{FF2B5EF4-FFF2-40B4-BE49-F238E27FC236}">
                <a16:creationId xmlns:a16="http://schemas.microsoft.com/office/drawing/2014/main" id="{ACD038E0-99BF-4AC2-9365-8B656D39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d-accent-332">
            <a:extLst xmlns:a="http://schemas.openxmlformats.org/drawingml/2006/main">
              <a:ext uri="{FF2B5EF4-FFF2-40B4-BE49-F238E27FC236}">
                <a16:creationId xmlns:a16="http://schemas.microsoft.com/office/drawing/2014/main" id="{810E4455-8E16-45A2-A26F-4D93974F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33">
            <a:extLst xmlns:a="http://schemas.openxmlformats.org/drawingml/2006/main">
              <a:ext uri="{FF2B5EF4-FFF2-40B4-BE49-F238E27FC236}">
                <a16:creationId xmlns:a16="http://schemas.microsoft.com/office/drawing/2014/main" id="{C073392F-3F31-4E51-9F84-2BEFB0B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6" name="text-334">
            <a:extLst xmlns:a="http://schemas.openxmlformats.org/drawingml/2006/main">
              <a:ext uri="{FF2B5EF4-FFF2-40B4-BE49-F238E27FC236}">
                <a16:creationId xmlns:a16="http://schemas.microsoft.com/office/drawing/2014/main" id="{C9216E8A-A951-417D-A0C5-6DBA067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977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减少污染入河</a:t>
            </a:r>
          </a:p>
        </p:txBody>
      </p:sp>
      <p:sp>
        <p:nvSpPr>
          <p:cNvPr id="17" name="text-335">
            <a:extLst xmlns:a="http://schemas.openxmlformats.org/drawingml/2006/main">
              <a:ext uri="{FF2B5EF4-FFF2-40B4-BE49-F238E27FC236}">
                <a16:creationId xmlns:a16="http://schemas.microsoft.com/office/drawing/2014/main" id="{7862C584-7A58-4500-B526-A0D10D0F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003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工业、生活和农业污染一起治</a:t>
            </a:r>
          </a:p>
        </p:txBody>
      </p:sp>
      <p:sp>
        <p:nvSpPr>
          <p:cNvPr id="18" name="text-336">
            <a:extLst xmlns:a="http://schemas.openxmlformats.org/drawingml/2006/main">
              <a:ext uri="{FF2B5EF4-FFF2-40B4-BE49-F238E27FC236}">
                <a16:creationId xmlns:a16="http://schemas.microsoft.com/office/drawing/2014/main" id="{9843CD06-0BF9-4BF2-AFB1-7BD541AF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9" name="text-337">
            <a:extLst xmlns:a="http://schemas.openxmlformats.org/drawingml/2006/main">
              <a:ext uri="{FF2B5EF4-FFF2-40B4-BE49-F238E27FC236}">
                <a16:creationId xmlns:a16="http://schemas.microsoft.com/office/drawing/2014/main" id="{8CB895F6-E880-43A3-9976-B5B9DB4A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保持设施运行</a:t>
            </a:r>
          </a:p>
        </p:txBody>
      </p:sp>
      <p:sp>
        <p:nvSpPr>
          <p:cNvPr id="20" name="text-338">
            <a:extLst xmlns:a="http://schemas.openxmlformats.org/drawingml/2006/main">
              <a:ext uri="{FF2B5EF4-FFF2-40B4-BE49-F238E27FC236}">
                <a16:creationId xmlns:a16="http://schemas.microsoft.com/office/drawing/2014/main" id="{D79B9924-FAAF-40FE-94D5-86973C62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75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管网、排口与设施稳定运行</a:t>
            </a:r>
          </a:p>
        </p:txBody>
      </p:sp>
      <p:sp>
        <p:nvSpPr>
          <p:cNvPr id="21" name="text-339">
            <a:extLst xmlns:a="http://schemas.openxmlformats.org/drawingml/2006/main">
              <a:ext uri="{FF2B5EF4-FFF2-40B4-BE49-F238E27FC236}">
                <a16:creationId xmlns:a16="http://schemas.microsoft.com/office/drawing/2014/main" id="{8D74E404-5581-456A-B4F4-D29F5435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text-340">
            <a:extLst xmlns:a="http://schemas.openxmlformats.org/drawingml/2006/main">
              <a:ext uri="{FF2B5EF4-FFF2-40B4-BE49-F238E27FC236}">
                <a16:creationId xmlns:a16="http://schemas.microsoft.com/office/drawing/2014/main" id="{5B561415-2E98-4FE8-A7D8-8ABB4303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243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恢复生态功能</a:t>
            </a:r>
          </a:p>
        </p:txBody>
      </p:sp>
      <p:sp>
        <p:nvSpPr>
          <p:cNvPr id="23" name="text-341">
            <a:extLst xmlns:a="http://schemas.openxmlformats.org/drawingml/2006/main">
              <a:ext uri="{FF2B5EF4-FFF2-40B4-BE49-F238E27FC236}">
                <a16:creationId xmlns:a16="http://schemas.microsoft.com/office/drawing/2014/main" id="{5EA78CA7-E94F-4B45-BC32-94F5F471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水质、水量、岸线、生境统筹</a:t>
            </a:r>
          </a:p>
        </p:txBody>
      </p:sp>
      <p:sp>
        <p:nvSpPr>
          <p:cNvPr id="24" name="surface-342">
            <a:extLst xmlns:a="http://schemas.openxmlformats.org/drawingml/2006/main">
              <a:ext uri="{FF2B5EF4-FFF2-40B4-BE49-F238E27FC236}">
                <a16:creationId xmlns:a16="http://schemas.microsoft.com/office/drawing/2014/main" id="{53C5458A-E1F1-4492-A894-FD8C7119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00150"/>
            <a:ext cx="56864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7D76A-C1BA-41F9-99B2-36DFB3DD49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1071bbd5d4bc5"/>
          <a:srcRect xmlns:a="http://schemas.openxmlformats.org/drawingml/2006/main" l="33333" t="50000" r="33333" b="0"/>
          <a:stretch xmlns:a="http://schemas.openxmlformats.org/drawingml/2006/main"/>
        </p:blipFill>
        <p:spPr>
          <a:xfrm xmlns:a="http://schemas.openxmlformats.org/drawingml/2006/main">
            <a:off x="6067425" y="1219200"/>
            <a:ext cx="5648325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surface-343">
            <a:extLst xmlns:a="http://schemas.openxmlformats.org/drawingml/2006/main">
              <a:ext uri="{FF2B5EF4-FFF2-40B4-BE49-F238E27FC236}">
                <a16:creationId xmlns:a16="http://schemas.microsoft.com/office/drawing/2014/main" id="{1F005C6C-22E4-438A-A079-90897C14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52850"/>
            <a:ext cx="1143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344">
            <a:extLst xmlns:a="http://schemas.openxmlformats.org/drawingml/2006/main">
              <a:ext uri="{FF2B5EF4-FFF2-40B4-BE49-F238E27FC236}">
                <a16:creationId xmlns:a16="http://schemas.microsoft.com/office/drawing/2014/main" id="{F18BDEC4-9F14-43AA-8AE8-281E28CC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814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教学示意图</a:t>
            </a:r>
          </a:p>
        </p:txBody>
      </p:sp>
      <p:sp>
        <p:nvSpPr>
          <p:cNvPr id="28" name="surface-345">
            <a:extLst xmlns:a="http://schemas.openxmlformats.org/drawingml/2006/main">
              <a:ext uri="{FF2B5EF4-FFF2-40B4-BE49-F238E27FC236}">
                <a16:creationId xmlns:a16="http://schemas.microsoft.com/office/drawing/2014/main" id="{098559AF-12E6-426E-8D88-9D0D48E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56483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346">
            <a:extLst xmlns:a="http://schemas.openxmlformats.org/drawingml/2006/main">
              <a:ext uri="{FF2B5EF4-FFF2-40B4-BE49-F238E27FC236}">
                <a16:creationId xmlns:a16="http://schemas.microsoft.com/office/drawing/2014/main" id="{901E7BC6-B706-4213-B035-1C674D65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05300"/>
            <a:ext cx="5229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水面变清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还要靠岸上治理与长效运行</a:t>
            </a:r>
          </a:p>
        </p:txBody>
      </p:sp>
      <p:sp>
        <p:nvSpPr>
          <p:cNvPr id="30" name="surface-347">
            <a:extLst xmlns:a="http://schemas.openxmlformats.org/drawingml/2006/main">
              <a:ext uri="{FF2B5EF4-FFF2-40B4-BE49-F238E27FC236}">
                <a16:creationId xmlns:a16="http://schemas.microsoft.com/office/drawing/2014/main" id="{207CC1C7-909C-484D-833B-BE82D96E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circle-348">
            <a:extLst xmlns:a="http://schemas.openxmlformats.org/drawingml/2006/main">
              <a:ext uri="{FF2B5EF4-FFF2-40B4-BE49-F238E27FC236}">
                <a16:creationId xmlns:a16="http://schemas.microsoft.com/office/drawing/2014/main" id="{DAC03B9C-472A-4630-843A-27C74BD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24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E0AC5-7DA1-472F-B357-4F681AE439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151dbd19e4600">
            <a:extLst>
              <a:ext uri="{96DAC541-7B7A-43D3-8B79-37D633B846F1}">
                <asvg:svgBlip xmlns:asvg="http://schemas.microsoft.com/office/drawing/2016/SVG/main" r:embed="Rb4f6331e5fed45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10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3" name="text-349">
            <a:extLst xmlns:a="http://schemas.openxmlformats.org/drawingml/2006/main">
              <a:ext uri="{FF2B5EF4-FFF2-40B4-BE49-F238E27FC236}">
                <a16:creationId xmlns:a16="http://schemas.microsoft.com/office/drawing/2014/main" id="{9D3EA7C4-4C3C-40A8-9EBD-9A451C92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4" name="text-350">
            <a:extLst xmlns:a="http://schemas.openxmlformats.org/drawingml/2006/main">
              <a:ext uri="{FF2B5EF4-FFF2-40B4-BE49-F238E27FC236}">
                <a16:creationId xmlns:a16="http://schemas.microsoft.com/office/drawing/2014/main" id="{B1CEE4BB-E2D1-4F79-8FFF-7656707B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只清理漂浮垃圾，能让一条河持续变好吗？</a:t>
            </a:r>
          </a:p>
        </p:txBody>
      </p:sp>
    </p:spTree>
    <p:extLst>
      <p:ext uri="{BB962C8B-B14F-4D97-AF65-F5344CB8AC3E}">
        <p14:creationId xmlns:p14="http://schemas.microsoft.com/office/powerpoint/2010/main" val="11140872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-351">
            <a:extLst xmlns:a="http://schemas.openxmlformats.org/drawingml/2006/main">
              <a:ext uri="{FF2B5EF4-FFF2-40B4-BE49-F238E27FC236}">
                <a16:creationId xmlns:a16="http://schemas.microsoft.com/office/drawing/2014/main" id="{75EA740D-131A-4F5C-AA7D-111C9C2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352">
            <a:extLst xmlns:a="http://schemas.openxmlformats.org/drawingml/2006/main">
              <a:ext uri="{FF2B5EF4-FFF2-40B4-BE49-F238E27FC236}">
                <a16:creationId xmlns:a16="http://schemas.microsoft.com/office/drawing/2014/main" id="{A1E6AA0B-BAE0-41C2-836D-3F270ACA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353">
            <a:extLst xmlns:a="http://schemas.openxmlformats.org/drawingml/2006/main">
              <a:ext uri="{FF2B5EF4-FFF2-40B4-BE49-F238E27FC236}">
                <a16:creationId xmlns:a16="http://schemas.microsoft.com/office/drawing/2014/main" id="{B435A7E6-A104-4B64-8FDE-E7CBCF1E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54">
            <a:extLst xmlns:a="http://schemas.openxmlformats.org/drawingml/2006/main">
              <a:ext uri="{FF2B5EF4-FFF2-40B4-BE49-F238E27FC236}">
                <a16:creationId xmlns:a16="http://schemas.microsoft.com/office/drawing/2014/main" id="{943C56A8-7061-46E8-A29D-1E5ABD17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水质优良比例，究竟统计什么</a:t>
            </a:r>
          </a:p>
        </p:txBody>
      </p:sp>
      <p:sp>
        <p:nvSpPr>
          <p:cNvPr id="5" name="rule-355">
            <a:extLst xmlns:a="http://schemas.openxmlformats.org/drawingml/2006/main">
              <a:ext uri="{FF2B5EF4-FFF2-40B4-BE49-F238E27FC236}">
                <a16:creationId xmlns:a16="http://schemas.microsoft.com/office/drawing/2014/main" id="{C2DCEDB2-90E8-47DD-B67F-74E0582D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356">
            <a:extLst xmlns:a="http://schemas.openxmlformats.org/drawingml/2006/main">
              <a:ext uri="{FF2B5EF4-FFF2-40B4-BE49-F238E27FC236}">
                <a16:creationId xmlns:a16="http://schemas.microsoft.com/office/drawing/2014/main" id="{B3E39529-2D65-412E-882F-377A141E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出处：《2023中国生态环境状况公报》。完整文献及讲解见备注</a:t>
            </a:r>
          </a:p>
        </p:txBody>
      </p:sp>
      <p:sp>
        <p:nvSpPr>
          <p:cNvPr id="7" name="text-357">
            <a:extLst xmlns:a="http://schemas.openxmlformats.org/drawingml/2006/main">
              <a:ext uri="{FF2B5EF4-FFF2-40B4-BE49-F238E27FC236}">
                <a16:creationId xmlns:a16="http://schemas.microsoft.com/office/drawing/2014/main" id="{CFC990B3-DC00-4B0E-8696-4189981B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B5D1444-21B0-401A-8263-EA052A9B93DF}"/>
              </a:ext>
            </a:extLst>
          </p:cNvPr>
          <p:cNvGraphicFramePr/>
          <p:nvPr/>
        </p:nvGraphicFramePr>
        <p:xfrm>
          <a:off xmlns:a="http://schemas.openxmlformats.org/drawingml/2006/main" x="666750" y="1447800"/>
          <a:ext xmlns:a="http://schemas.openxmlformats.org/drawingml/2006/main" cx="45624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b463150b3b474f"/>
          </a:graphicData>
        </a:graphic>
      </p:graphicFrame>
      <p:sp>
        <p:nvSpPr>
          <p:cNvPr id="9" name="text-358">
            <a:extLst xmlns:a="http://schemas.openxmlformats.org/drawingml/2006/main">
              <a:ext uri="{FF2B5EF4-FFF2-40B4-BE49-F238E27FC236}">
                <a16:creationId xmlns:a16="http://schemas.microsoft.com/office/drawing/2014/main" id="{06BC40A1-DF8D-4585-9DEA-972A27B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05150"/>
            <a:ext cx="4171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5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rPr>
              <a:t>89.4%</a:t>
            </a:r>
          </a:p>
        </p:txBody>
      </p:sp>
      <p:sp>
        <p:nvSpPr>
          <p:cNvPr id="10" name="text-359">
            <a:extLst xmlns:a="http://schemas.openxmlformats.org/drawingml/2006/main">
              <a:ext uri="{FF2B5EF4-FFF2-40B4-BE49-F238E27FC236}">
                <a16:creationId xmlns:a16="http://schemas.microsoft.com/office/drawing/2014/main" id="{7599F89F-0D14-49C2-9A52-ECC47DA8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2023年 · Ⅰ—Ⅲ类</a:t>
            </a:r>
          </a:p>
        </p:txBody>
      </p:sp>
      <p:sp>
        <p:nvSpPr>
          <p:cNvPr id="11" name="surface-360">
            <a:extLst xmlns:a="http://schemas.openxmlformats.org/drawingml/2006/main">
              <a:ext uri="{FF2B5EF4-FFF2-40B4-BE49-F238E27FC236}">
                <a16:creationId xmlns:a16="http://schemas.microsoft.com/office/drawing/2014/main" id="{F2E85F3B-5977-4BE5-A927-326FA0BD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43025"/>
            <a:ext cx="5810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text-361">
            <a:extLst xmlns:a="http://schemas.openxmlformats.org/drawingml/2006/main">
              <a:ext uri="{FF2B5EF4-FFF2-40B4-BE49-F238E27FC236}">
                <a16:creationId xmlns:a16="http://schemas.microsoft.com/office/drawing/2014/main" id="{EEFC5C6D-A4EA-4656-9E89-356CE3F2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716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先辨清三个概念</a:t>
            </a:r>
          </a:p>
        </p:txBody>
      </p:sp>
      <p:sp>
        <p:nvSpPr>
          <p:cNvPr id="13" name="red-accent-362">
            <a:extLst xmlns:a="http://schemas.openxmlformats.org/drawingml/2006/main">
              <a:ext uri="{FF2B5EF4-FFF2-40B4-BE49-F238E27FC236}">
                <a16:creationId xmlns:a16="http://schemas.microsoft.com/office/drawing/2014/main" id="{813C3E7B-53E8-4519-84AA-2D763862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621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d-accent-363">
            <a:extLst xmlns:a="http://schemas.openxmlformats.org/drawingml/2006/main">
              <a:ext uri="{FF2B5EF4-FFF2-40B4-BE49-F238E27FC236}">
                <a16:creationId xmlns:a16="http://schemas.microsoft.com/office/drawing/2014/main" id="{08ACAD84-ADD6-4086-86CC-8E067D91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621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d-accent-364">
            <a:extLst xmlns:a="http://schemas.openxmlformats.org/drawingml/2006/main">
              <a:ext uri="{FF2B5EF4-FFF2-40B4-BE49-F238E27FC236}">
                <a16:creationId xmlns:a16="http://schemas.microsoft.com/office/drawing/2014/main" id="{A40BFA83-EE59-4C01-B117-59E497D5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621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d-accent-365">
            <a:extLst xmlns:a="http://schemas.openxmlformats.org/drawingml/2006/main">
              <a:ext uri="{FF2B5EF4-FFF2-40B4-BE49-F238E27FC236}">
                <a16:creationId xmlns:a16="http://schemas.microsoft.com/office/drawing/2014/main" id="{336AA5C1-C8DA-4F84-A4EF-742A1A2E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621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d-accent-366">
            <a:extLst xmlns:a="http://schemas.openxmlformats.org/drawingml/2006/main">
              <a:ext uri="{FF2B5EF4-FFF2-40B4-BE49-F238E27FC236}">
                <a16:creationId xmlns:a16="http://schemas.microsoft.com/office/drawing/2014/main" id="{BD156404-F945-42F8-8EAC-0401A86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621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67">
            <a:extLst xmlns:a="http://schemas.openxmlformats.org/drawingml/2006/main">
              <a:ext uri="{FF2B5EF4-FFF2-40B4-BE49-F238E27FC236}">
                <a16:creationId xmlns:a16="http://schemas.microsoft.com/office/drawing/2014/main" id="{CB06A7E6-F632-4F0A-8722-51C1EE21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统计对象</a:t>
            </a:r>
          </a:p>
        </p:txBody>
      </p:sp>
      <p:sp>
        <p:nvSpPr>
          <p:cNvPr id="19" name="text-368">
            <a:extLst xmlns:a="http://schemas.openxmlformats.org/drawingml/2006/main">
              <a:ext uri="{FF2B5EF4-FFF2-40B4-BE49-F238E27FC236}">
                <a16:creationId xmlns:a16="http://schemas.microsoft.com/office/drawing/2014/main" id="{AF516D03-89E7-4AE9-9D90-AA47C150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5257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全国地表水国考断面（点位）</a:t>
            </a:r>
          </a:p>
        </p:txBody>
      </p:sp>
      <p:sp>
        <p:nvSpPr>
          <p:cNvPr id="20" name="text-369">
            <a:extLst xmlns:a="http://schemas.openxmlformats.org/drawingml/2006/main">
              <a:ext uri="{FF2B5EF4-FFF2-40B4-BE49-F238E27FC236}">
                <a16:creationId xmlns:a16="http://schemas.microsoft.com/office/drawing/2014/main" id="{59E7B70F-B88E-4E01-9762-1F56DBE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水质优良</a:t>
            </a:r>
          </a:p>
        </p:txBody>
      </p:sp>
      <p:sp>
        <p:nvSpPr>
          <p:cNvPr id="21" name="text-370">
            <a:extLst xmlns:a="http://schemas.openxmlformats.org/drawingml/2006/main">
              <a:ext uri="{FF2B5EF4-FFF2-40B4-BE49-F238E27FC236}">
                <a16:creationId xmlns:a16="http://schemas.microsoft.com/office/drawing/2014/main" id="{1A174809-FB1F-46D9-A201-491DF988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38575"/>
            <a:ext cx="5257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Ⅰ—Ⅲ类</a:t>
            </a:r>
          </a:p>
        </p:txBody>
      </p:sp>
      <p:sp>
        <p:nvSpPr>
          <p:cNvPr id="22" name="text-371">
            <a:extLst xmlns:a="http://schemas.openxmlformats.org/drawingml/2006/main">
              <a:ext uri="{FF2B5EF4-FFF2-40B4-BE49-F238E27FC236}">
                <a16:creationId xmlns:a16="http://schemas.microsoft.com/office/drawing/2014/main" id="{5239AC7B-6DDC-43A2-81C3-AB0DD32D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577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解读边界</a:t>
            </a:r>
          </a:p>
        </p:txBody>
      </p:sp>
      <p:sp>
        <p:nvSpPr>
          <p:cNvPr id="23" name="text-372">
            <a:extLst xmlns:a="http://schemas.openxmlformats.org/drawingml/2006/main">
              <a:ext uri="{FF2B5EF4-FFF2-40B4-BE49-F238E27FC236}">
                <a16:creationId xmlns:a16="http://schemas.microsoft.com/office/drawing/2014/main" id="{B2787408-8523-4D21-B859-022AC62B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67275"/>
            <a:ext cx="5257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不等于河流占比或饮用水合格率</a:t>
            </a:r>
          </a:p>
        </p:txBody>
      </p:sp>
      <p:sp>
        <p:nvSpPr>
          <p:cNvPr id="24" name="text-373">
            <a:extLst xmlns:a="http://schemas.openxmlformats.org/drawingml/2006/main">
              <a:ext uri="{FF2B5EF4-FFF2-40B4-BE49-F238E27FC236}">
                <a16:creationId xmlns:a16="http://schemas.microsoft.com/office/drawing/2014/main" id="{61A62F22-50EA-4275-8B24-28A20122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1123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2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把统计对象、分类与用途分清楚，才能读懂成果</a:t>
            </a:r>
          </a:p>
        </p:txBody>
      </p:sp>
    </p:spTree>
    <p:extLst>
      <p:ext uri="{BB962C8B-B14F-4D97-AF65-F5344CB8AC3E}">
        <p14:creationId xmlns:p14="http://schemas.microsoft.com/office/powerpoint/2010/main" val="12032970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-374">
            <a:extLst xmlns:a="http://schemas.openxmlformats.org/drawingml/2006/main">
              <a:ext uri="{FF2B5EF4-FFF2-40B4-BE49-F238E27FC236}">
                <a16:creationId xmlns:a16="http://schemas.microsoft.com/office/drawing/2014/main" id="{8C8D017A-F501-45FC-846B-5D396764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375">
            <a:extLst xmlns:a="http://schemas.openxmlformats.org/drawingml/2006/main">
              <a:ext uri="{FF2B5EF4-FFF2-40B4-BE49-F238E27FC236}">
                <a16:creationId xmlns:a16="http://schemas.microsoft.com/office/drawing/2014/main" id="{046B25C2-2BF2-4959-BC2B-98378497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376">
            <a:extLst xmlns:a="http://schemas.openxmlformats.org/drawingml/2006/main">
              <a:ext uri="{FF2B5EF4-FFF2-40B4-BE49-F238E27FC236}">
                <a16:creationId xmlns:a16="http://schemas.microsoft.com/office/drawing/2014/main" id="{414E5CF9-1BF1-4A47-B8EB-8F817DD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77">
            <a:extLst xmlns:a="http://schemas.openxmlformats.org/drawingml/2006/main">
              <a:ext uri="{FF2B5EF4-FFF2-40B4-BE49-F238E27FC236}">
                <a16:creationId xmlns:a16="http://schemas.microsoft.com/office/drawing/2014/main" id="{2D760CE9-0850-40E2-91C3-034C18D0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净土保卫战：守住土地安全利用底线</a:t>
            </a:r>
          </a:p>
        </p:txBody>
      </p:sp>
      <p:sp>
        <p:nvSpPr>
          <p:cNvPr id="5" name="rule-378">
            <a:extLst xmlns:a="http://schemas.openxmlformats.org/drawingml/2006/main">
              <a:ext uri="{FF2B5EF4-FFF2-40B4-BE49-F238E27FC236}">
                <a16:creationId xmlns:a16="http://schemas.microsoft.com/office/drawing/2014/main" id="{F66D80CA-1ECA-4327-9FC0-BCD0CA4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379">
            <a:extLst xmlns:a="http://schemas.openxmlformats.org/drawingml/2006/main">
              <a:ext uri="{FF2B5EF4-FFF2-40B4-BE49-F238E27FC236}">
                <a16:creationId xmlns:a16="http://schemas.microsoft.com/office/drawing/2014/main" id="{97322831-D166-4D2A-B6C3-540A79C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出处：党的二十大报告（2022）；《美丽中国建设意见》（2023）。完整文献及讲解见备注</a:t>
            </a:r>
          </a:p>
        </p:txBody>
      </p:sp>
      <p:sp>
        <p:nvSpPr>
          <p:cNvPr id="7" name="text-380">
            <a:extLst xmlns:a="http://schemas.openxmlformats.org/drawingml/2006/main">
              <a:ext uri="{FF2B5EF4-FFF2-40B4-BE49-F238E27FC236}">
                <a16:creationId xmlns:a16="http://schemas.microsoft.com/office/drawing/2014/main" id="{185F7AD2-6958-45C8-BA3C-7EA885B5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8" name="surface-381">
            <a:extLst xmlns:a="http://schemas.openxmlformats.org/drawingml/2006/main">
              <a:ext uri="{FF2B5EF4-FFF2-40B4-BE49-F238E27FC236}">
                <a16:creationId xmlns:a16="http://schemas.microsoft.com/office/drawing/2014/main" id="{C6C55845-3167-4313-84CA-2C243A4E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382">
            <a:extLst xmlns:a="http://schemas.openxmlformats.org/drawingml/2006/main">
              <a:ext uri="{FF2B5EF4-FFF2-40B4-BE49-F238E27FC236}">
                <a16:creationId xmlns:a16="http://schemas.microsoft.com/office/drawing/2014/main" id="{962D6380-2D44-4F3F-B2B0-1F2DF8B8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383">
            <a:extLst xmlns:a="http://schemas.openxmlformats.org/drawingml/2006/main">
              <a:ext uri="{FF2B5EF4-FFF2-40B4-BE49-F238E27FC236}">
                <a16:creationId xmlns:a16="http://schemas.microsoft.com/office/drawing/2014/main" id="{DF2ABF2D-9850-4973-91DD-A21135E4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-384">
            <a:extLst xmlns:a="http://schemas.openxmlformats.org/drawingml/2006/main">
              <a:ext uri="{FF2B5EF4-FFF2-40B4-BE49-F238E27FC236}">
                <a16:creationId xmlns:a16="http://schemas.microsoft.com/office/drawing/2014/main" id="{88CE29F3-66DC-4CCC-BDBC-3152CDE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先防污染进入</a:t>
            </a:r>
          </a:p>
        </p:txBody>
      </p:sp>
      <p:sp>
        <p:nvSpPr>
          <p:cNvPr id="12" name="text-385">
            <a:extLst xmlns:a="http://schemas.openxmlformats.org/drawingml/2006/main">
              <a:ext uri="{FF2B5EF4-FFF2-40B4-BE49-F238E27FC236}">
                <a16:creationId xmlns:a16="http://schemas.microsoft.com/office/drawing/2014/main" id="{6CE7935E-523F-4D1C-8E49-6BA9E554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管好污染来源，减少新增土壤污染</a:t>
            </a:r>
          </a:p>
        </p:txBody>
      </p:sp>
      <p:sp>
        <p:nvSpPr>
          <p:cNvPr id="13" name="arrow-386">
            <a:extLst xmlns:a="http://schemas.openxmlformats.org/drawingml/2006/main">
              <a:ext uri="{FF2B5EF4-FFF2-40B4-BE49-F238E27FC236}">
                <a16:creationId xmlns:a16="http://schemas.microsoft.com/office/drawing/2014/main" id="{FB0AED4C-969D-43A2-9238-4A65CCBD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387">
            <a:extLst xmlns:a="http://schemas.openxmlformats.org/drawingml/2006/main">
              <a:ext uri="{FF2B5EF4-FFF2-40B4-BE49-F238E27FC236}">
                <a16:creationId xmlns:a16="http://schemas.microsoft.com/office/drawing/2014/main" id="{804A5DED-4C4B-4B53-8486-8606B75C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388">
            <a:extLst xmlns:a="http://schemas.openxmlformats.org/drawingml/2006/main">
              <a:ext uri="{FF2B5EF4-FFF2-40B4-BE49-F238E27FC236}">
                <a16:creationId xmlns:a16="http://schemas.microsoft.com/office/drawing/2014/main" id="{352A04AF-52A4-4394-B2EA-0A4519F5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89">
            <a:extLst xmlns:a="http://schemas.openxmlformats.org/drawingml/2006/main">
              <a:ext uri="{FF2B5EF4-FFF2-40B4-BE49-F238E27FC236}">
                <a16:creationId xmlns:a16="http://schemas.microsoft.com/office/drawing/2014/main" id="{57C17A76-EC12-4306-B9A7-76E92A9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-390">
            <a:extLst xmlns:a="http://schemas.openxmlformats.org/drawingml/2006/main">
              <a:ext uri="{FF2B5EF4-FFF2-40B4-BE49-F238E27FC236}">
                <a16:creationId xmlns:a16="http://schemas.microsoft.com/office/drawing/2014/main" id="{EC19D5ED-A504-462A-95C4-CF2A0F1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再查风险在哪</a:t>
            </a:r>
          </a:p>
        </p:txBody>
      </p:sp>
      <p:sp>
        <p:nvSpPr>
          <p:cNvPr id="18" name="text-391">
            <a:extLst xmlns:a="http://schemas.openxmlformats.org/drawingml/2006/main">
              <a:ext uri="{FF2B5EF4-FFF2-40B4-BE49-F238E27FC236}">
                <a16:creationId xmlns:a16="http://schemas.microsoft.com/office/drawing/2014/main" id="{D892942C-02EE-4D15-A4DE-4E8BB501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调查评估污染状况，结合土地用途判断</a:t>
            </a:r>
          </a:p>
        </p:txBody>
      </p:sp>
      <p:sp>
        <p:nvSpPr>
          <p:cNvPr id="19" name="arrow-392">
            <a:extLst xmlns:a="http://schemas.openxmlformats.org/drawingml/2006/main">
              <a:ext uri="{FF2B5EF4-FFF2-40B4-BE49-F238E27FC236}">
                <a16:creationId xmlns:a16="http://schemas.microsoft.com/office/drawing/2014/main" id="{18C07176-03C4-4DA5-B575-CE054ED2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393">
            <a:extLst xmlns:a="http://schemas.openxmlformats.org/drawingml/2006/main">
              <a:ext uri="{FF2B5EF4-FFF2-40B4-BE49-F238E27FC236}">
                <a16:creationId xmlns:a16="http://schemas.microsoft.com/office/drawing/2014/main" id="{124E9CDB-3C3E-454C-AE0E-A6717B10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394">
            <a:extLst xmlns:a="http://schemas.openxmlformats.org/drawingml/2006/main">
              <a:ext uri="{FF2B5EF4-FFF2-40B4-BE49-F238E27FC236}">
                <a16:creationId xmlns:a16="http://schemas.microsoft.com/office/drawing/2014/main" id="{96E49600-B7E1-47D1-9E30-76E3DE3C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95">
            <a:extLst xmlns:a="http://schemas.openxmlformats.org/drawingml/2006/main">
              <a:ext uri="{FF2B5EF4-FFF2-40B4-BE49-F238E27FC236}">
                <a16:creationId xmlns:a16="http://schemas.microsoft.com/office/drawing/2014/main" id="{BBD86C4A-D060-46D0-A164-9DCA1F44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text-396">
            <a:extLst xmlns:a="http://schemas.openxmlformats.org/drawingml/2006/main">
              <a:ext uri="{FF2B5EF4-FFF2-40B4-BE49-F238E27FC236}">
                <a16:creationId xmlns:a16="http://schemas.microsoft.com/office/drawing/2014/main" id="{BC4BA955-9817-4706-A98C-7DEB85F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分类管控修复</a:t>
            </a:r>
          </a:p>
        </p:txBody>
      </p:sp>
      <p:sp>
        <p:nvSpPr>
          <p:cNvPr id="24" name="text-397">
            <a:extLst xmlns:a="http://schemas.openxmlformats.org/drawingml/2006/main">
              <a:ext uri="{FF2B5EF4-FFF2-40B4-BE49-F238E27FC236}">
                <a16:creationId xmlns:a16="http://schemas.microsoft.com/office/drawing/2014/main" id="{88AE18FD-5BB6-45B5-A1F4-50AB93A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按风险采取措施，保障土地安全利用</a:t>
            </a:r>
          </a:p>
        </p:txBody>
      </p:sp>
      <p:sp>
        <p:nvSpPr>
          <p:cNvPr id="25" name="surface-398">
            <a:extLst xmlns:a="http://schemas.openxmlformats.org/drawingml/2006/main">
              <a:ext uri="{FF2B5EF4-FFF2-40B4-BE49-F238E27FC236}">
                <a16:creationId xmlns:a16="http://schemas.microsoft.com/office/drawing/2014/main" id="{E59A6A80-3269-4AF5-AD98-B49AFAA8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399">
            <a:extLst xmlns:a="http://schemas.openxmlformats.org/drawingml/2006/main">
              <a:ext uri="{FF2B5EF4-FFF2-40B4-BE49-F238E27FC236}">
                <a16:creationId xmlns:a16="http://schemas.microsoft.com/office/drawing/2014/main" id="{301BEE72-C597-4285-AF43-1B6D8195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地面看起来整洁，不等于土壤环境安全</a:t>
            </a:r>
          </a:p>
        </p:txBody>
      </p:sp>
      <p:sp>
        <p:nvSpPr>
          <p:cNvPr id="27" name="surface-400">
            <a:extLst xmlns:a="http://schemas.openxmlformats.org/drawingml/2006/main">
              <a:ext uri="{FF2B5EF4-FFF2-40B4-BE49-F238E27FC236}">
                <a16:creationId xmlns:a16="http://schemas.microsoft.com/office/drawing/2014/main" id="{9A7D00AD-4D2D-4D84-847C-4A0712D6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circle-401">
            <a:extLst xmlns:a="http://schemas.openxmlformats.org/drawingml/2006/main">
              <a:ext uri="{FF2B5EF4-FFF2-40B4-BE49-F238E27FC236}">
                <a16:creationId xmlns:a16="http://schemas.microsoft.com/office/drawing/2014/main" id="{81F77DE1-EA74-4038-93D7-2698324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72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3047A0-4673-4BBE-B3B7-7473B4D5A6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3ed331d0b4895">
            <a:extLst>
              <a:ext uri="{96DAC541-7B7A-43D3-8B79-37D633B846F1}">
                <asvg:svgBlip xmlns:asvg="http://schemas.microsoft.com/office/drawing/2016/SVG/main" r:embed="Ra83fb7ed594e42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578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" name="text-402">
            <a:extLst xmlns:a="http://schemas.openxmlformats.org/drawingml/2006/main">
              <a:ext uri="{FF2B5EF4-FFF2-40B4-BE49-F238E27FC236}">
                <a16:creationId xmlns:a16="http://schemas.microsoft.com/office/drawing/2014/main" id="{6FC58AC9-967E-4D7E-9111-9841B64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1" name="text-403">
            <a:extLst xmlns:a="http://schemas.openxmlformats.org/drawingml/2006/main">
              <a:ext uri="{FF2B5EF4-FFF2-40B4-BE49-F238E27FC236}">
                <a16:creationId xmlns:a16="http://schemas.microsoft.com/office/drawing/2014/main" id="{0A91B0D8-65BE-4728-9932-709AEEAC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435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同一块地用作工厂或学校，风险判断会一样吗？</a:t>
            </a:r>
          </a:p>
        </p:txBody>
      </p:sp>
    </p:spTree>
    <p:extLst>
      <p:ext uri="{BB962C8B-B14F-4D97-AF65-F5344CB8AC3E}">
        <p14:creationId xmlns:p14="http://schemas.microsoft.com/office/powerpoint/2010/main" val="15129307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-404">
            <a:extLst xmlns:a="http://schemas.openxmlformats.org/drawingml/2006/main">
              <a:ext uri="{FF2B5EF4-FFF2-40B4-BE49-F238E27FC236}">
                <a16:creationId xmlns:a16="http://schemas.microsoft.com/office/drawing/2014/main" id="{9BBF3E8A-381B-4015-B994-6E9DDDC0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405">
            <a:extLst xmlns:a="http://schemas.openxmlformats.org/drawingml/2006/main">
              <a:ext uri="{FF2B5EF4-FFF2-40B4-BE49-F238E27FC236}">
                <a16:creationId xmlns:a16="http://schemas.microsoft.com/office/drawing/2014/main" id="{33D33FF5-AF8B-41C5-8FED-3A120D3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406">
            <a:extLst xmlns:a="http://schemas.openxmlformats.org/drawingml/2006/main">
              <a:ext uri="{FF2B5EF4-FFF2-40B4-BE49-F238E27FC236}">
                <a16:creationId xmlns:a16="http://schemas.microsoft.com/office/drawing/2014/main" id="{2257032D-1ECC-4979-AA03-7E6C28C2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07">
            <a:extLst xmlns:a="http://schemas.openxmlformats.org/drawingml/2006/main">
              <a:ext uri="{FF2B5EF4-FFF2-40B4-BE49-F238E27FC236}">
                <a16:creationId xmlns:a16="http://schemas.microsoft.com/office/drawing/2014/main" id="{C1734B1E-312F-48DE-B63C-E0DBC9AD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治理之变：把环境要求前移到源头</a:t>
            </a:r>
          </a:p>
        </p:txBody>
      </p:sp>
      <p:sp>
        <p:nvSpPr>
          <p:cNvPr id="5" name="rule-408">
            <a:extLst xmlns:a="http://schemas.openxmlformats.org/drawingml/2006/main">
              <a:ext uri="{FF2B5EF4-FFF2-40B4-BE49-F238E27FC236}">
                <a16:creationId xmlns:a16="http://schemas.microsoft.com/office/drawing/2014/main" id="{53B41E7D-D298-4730-86B2-B8373C2A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409">
            <a:extLst xmlns:a="http://schemas.openxmlformats.org/drawingml/2006/main">
              <a:ext uri="{FF2B5EF4-FFF2-40B4-BE49-F238E27FC236}">
                <a16:creationId xmlns:a16="http://schemas.microsoft.com/office/drawing/2014/main" id="{34C4CFCD-C0FA-4918-9B44-6A57D859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出处：党的二十大报告（2022）；《全面绿色转型意见》（2024）；《生态环境分区管控意见》（2024）。完整文献及讲解见备注</a:t>
            </a:r>
          </a:p>
        </p:txBody>
      </p:sp>
      <p:sp>
        <p:nvSpPr>
          <p:cNvPr id="7" name="text-410">
            <a:extLst xmlns:a="http://schemas.openxmlformats.org/drawingml/2006/main">
              <a:ext uri="{FF2B5EF4-FFF2-40B4-BE49-F238E27FC236}">
                <a16:creationId xmlns:a16="http://schemas.microsoft.com/office/drawing/2014/main" id="{D7C7EDB3-66BF-4722-9202-3F18CF4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8" name="surface-411">
            <a:extLst xmlns:a="http://schemas.openxmlformats.org/drawingml/2006/main">
              <a:ext uri="{FF2B5EF4-FFF2-40B4-BE49-F238E27FC236}">
                <a16:creationId xmlns:a16="http://schemas.microsoft.com/office/drawing/2014/main" id="{F59A94D4-F7B5-4C19-BA36-461406F2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412">
            <a:extLst xmlns:a="http://schemas.openxmlformats.org/drawingml/2006/main">
              <a:ext uri="{FF2B5EF4-FFF2-40B4-BE49-F238E27FC236}">
                <a16:creationId xmlns:a16="http://schemas.microsoft.com/office/drawing/2014/main" id="{06BFC49E-2222-40D5-8738-DA9377E0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13">
            <a:extLst xmlns:a="http://schemas.openxmlformats.org/drawingml/2006/main">
              <a:ext uri="{FF2B5EF4-FFF2-40B4-BE49-F238E27FC236}">
                <a16:creationId xmlns:a16="http://schemas.microsoft.com/office/drawing/2014/main" id="{693FF7CF-5921-4A1F-9B74-C581B946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-414">
            <a:extLst xmlns:a="http://schemas.openxmlformats.org/drawingml/2006/main">
              <a:ext uri="{FF2B5EF4-FFF2-40B4-BE49-F238E27FC236}">
                <a16:creationId xmlns:a16="http://schemas.microsoft.com/office/drawing/2014/main" id="{E34A03A4-7313-43A2-B4D1-49E9F6C1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规划阶段先避让</a:t>
            </a:r>
          </a:p>
        </p:txBody>
      </p:sp>
      <p:sp>
        <p:nvSpPr>
          <p:cNvPr id="12" name="text-415">
            <a:extLst xmlns:a="http://schemas.openxmlformats.org/drawingml/2006/main">
              <a:ext uri="{FF2B5EF4-FFF2-40B4-BE49-F238E27FC236}">
                <a16:creationId xmlns:a16="http://schemas.microsoft.com/office/drawing/2014/main" id="{B8A236C9-78BE-4ED1-B018-16A62631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合理安排空间布局，保护重要生态空间</a:t>
            </a:r>
          </a:p>
        </p:txBody>
      </p:sp>
      <p:sp>
        <p:nvSpPr>
          <p:cNvPr id="13" name="arrow-416">
            <a:extLst xmlns:a="http://schemas.openxmlformats.org/drawingml/2006/main">
              <a:ext uri="{FF2B5EF4-FFF2-40B4-BE49-F238E27FC236}">
                <a16:creationId xmlns:a16="http://schemas.microsoft.com/office/drawing/2014/main" id="{6DB078A4-0C44-4976-89FC-6DCDFEC4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417">
            <a:extLst xmlns:a="http://schemas.openxmlformats.org/drawingml/2006/main">
              <a:ext uri="{FF2B5EF4-FFF2-40B4-BE49-F238E27FC236}">
                <a16:creationId xmlns:a16="http://schemas.microsoft.com/office/drawing/2014/main" id="{6AE6ECDD-82D2-446C-B866-ED7D918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418">
            <a:extLst xmlns:a="http://schemas.openxmlformats.org/drawingml/2006/main">
              <a:ext uri="{FF2B5EF4-FFF2-40B4-BE49-F238E27FC236}">
                <a16:creationId xmlns:a16="http://schemas.microsoft.com/office/drawing/2014/main" id="{1F794BF1-A6ED-4BF1-AFAA-E91D0E0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9">
            <a:extLst xmlns:a="http://schemas.openxmlformats.org/drawingml/2006/main">
              <a:ext uri="{FF2B5EF4-FFF2-40B4-BE49-F238E27FC236}">
                <a16:creationId xmlns:a16="http://schemas.microsoft.com/office/drawing/2014/main" id="{3838E3B7-BCCC-48E3-85C7-507DCFAA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-420">
            <a:extLst xmlns:a="http://schemas.openxmlformats.org/drawingml/2006/main">
              <a:ext uri="{FF2B5EF4-FFF2-40B4-BE49-F238E27FC236}">
                <a16:creationId xmlns:a16="http://schemas.microsoft.com/office/drawing/2014/main" id="{F64F9429-EA4A-4EE7-9022-EE489B14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生产阶段少产生</a:t>
            </a:r>
          </a:p>
        </p:txBody>
      </p:sp>
      <p:sp>
        <p:nvSpPr>
          <p:cNvPr id="18" name="text-421">
            <a:extLst xmlns:a="http://schemas.openxmlformats.org/drawingml/2006/main">
              <a:ext uri="{FF2B5EF4-FFF2-40B4-BE49-F238E27FC236}">
                <a16:creationId xmlns:a16="http://schemas.microsoft.com/office/drawing/2014/main" id="{C1A813E1-EEC0-4759-B684-5F7C709D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选择清洁工艺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提高资源与能源效率</a:t>
            </a:r>
          </a:p>
        </p:txBody>
      </p:sp>
      <p:sp>
        <p:nvSpPr>
          <p:cNvPr id="19" name="arrow-422">
            <a:extLst xmlns:a="http://schemas.openxmlformats.org/drawingml/2006/main">
              <a:ext uri="{FF2B5EF4-FFF2-40B4-BE49-F238E27FC236}">
                <a16:creationId xmlns:a16="http://schemas.microsoft.com/office/drawing/2014/main" id="{6DC535DB-7543-4E7B-B2B8-353DFC1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423">
            <a:extLst xmlns:a="http://schemas.openxmlformats.org/drawingml/2006/main">
              <a:ext uri="{FF2B5EF4-FFF2-40B4-BE49-F238E27FC236}">
                <a16:creationId xmlns:a16="http://schemas.microsoft.com/office/drawing/2014/main" id="{3C2C299E-BCF1-46DA-8B8B-3676E29A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424">
            <a:extLst xmlns:a="http://schemas.openxmlformats.org/drawingml/2006/main">
              <a:ext uri="{FF2B5EF4-FFF2-40B4-BE49-F238E27FC236}">
                <a16:creationId xmlns:a16="http://schemas.microsoft.com/office/drawing/2014/main" id="{6ADA1C21-E64F-4C21-8C15-0AD3755E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425">
            <a:extLst xmlns:a="http://schemas.openxmlformats.org/drawingml/2006/main">
              <a:ext uri="{FF2B5EF4-FFF2-40B4-BE49-F238E27FC236}">
                <a16:creationId xmlns:a16="http://schemas.microsoft.com/office/drawing/2014/main" id="{FB533E59-6669-4256-ACFA-D2811114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text-426">
            <a:extLst xmlns:a="http://schemas.openxmlformats.org/drawingml/2006/main">
              <a:ext uri="{FF2B5EF4-FFF2-40B4-BE49-F238E27FC236}">
                <a16:creationId xmlns:a16="http://schemas.microsoft.com/office/drawing/2014/main" id="{6B5E6916-3707-4A7B-B85D-2A063836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治理阶段再兜底</a:t>
            </a:r>
          </a:p>
        </p:txBody>
      </p:sp>
      <p:sp>
        <p:nvSpPr>
          <p:cNvPr id="24" name="text-427">
            <a:extLst xmlns:a="http://schemas.openxmlformats.org/drawingml/2006/main">
              <a:ext uri="{FF2B5EF4-FFF2-40B4-BE49-F238E27FC236}">
                <a16:creationId xmlns:a16="http://schemas.microsoft.com/office/drawing/2014/main" id="{35CCFCBE-21D2-47C1-A2D5-A668A28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规范收集处理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监测排放与设施运行</a:t>
            </a:r>
          </a:p>
        </p:txBody>
      </p:sp>
      <p:sp>
        <p:nvSpPr>
          <p:cNvPr id="25" name="surface-428">
            <a:extLst xmlns:a="http://schemas.openxmlformats.org/drawingml/2006/main">
              <a:ext uri="{FF2B5EF4-FFF2-40B4-BE49-F238E27FC236}">
                <a16:creationId xmlns:a16="http://schemas.microsoft.com/office/drawing/2014/main" id="{70CEB149-6BEC-439E-92D2-2C110B36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429">
            <a:extLst xmlns:a="http://schemas.openxmlformats.org/drawingml/2006/main">
              <a:ext uri="{FF2B5EF4-FFF2-40B4-BE49-F238E27FC236}">
                <a16:creationId xmlns:a16="http://schemas.microsoft.com/office/drawing/2014/main" id="{6711A80B-8D28-4BB0-AD82-882D4645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从形成污染再处理，转向把预防纳入发展决策</a:t>
            </a:r>
          </a:p>
        </p:txBody>
      </p:sp>
      <p:sp>
        <p:nvSpPr>
          <p:cNvPr id="27" name="surface-430">
            <a:extLst xmlns:a="http://schemas.openxmlformats.org/drawingml/2006/main">
              <a:ext uri="{FF2B5EF4-FFF2-40B4-BE49-F238E27FC236}">
                <a16:creationId xmlns:a16="http://schemas.microsoft.com/office/drawing/2014/main" id="{401D93E6-D916-472F-9A7A-40DD8F7A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circle-431">
            <a:extLst xmlns:a="http://schemas.openxmlformats.org/drawingml/2006/main">
              <a:ext uri="{FF2B5EF4-FFF2-40B4-BE49-F238E27FC236}">
                <a16:creationId xmlns:a16="http://schemas.microsoft.com/office/drawing/2014/main" id="{B322714B-DF79-46D2-ABBE-9A505A46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72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485500-B0AC-49E6-ADC4-0DC5888B1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2dbb66f364fe3">
            <a:extLst>
              <a:ext uri="{96DAC541-7B7A-43D3-8B79-37D633B846F1}">
                <asvg:svgBlip xmlns:asvg="http://schemas.microsoft.com/office/drawing/2016/SVG/main" r:embed="R329396ff4b8247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578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" name="text-432">
            <a:extLst xmlns:a="http://schemas.openxmlformats.org/drawingml/2006/main">
              <a:ext uri="{FF2B5EF4-FFF2-40B4-BE49-F238E27FC236}">
                <a16:creationId xmlns:a16="http://schemas.microsoft.com/office/drawing/2014/main" id="{1298F5A3-EE50-49AE-82C9-A7697FE2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1" name="text-433">
            <a:extLst xmlns:a="http://schemas.openxmlformats.org/drawingml/2006/main">
              <a:ext uri="{FF2B5EF4-FFF2-40B4-BE49-F238E27FC236}">
                <a16:creationId xmlns:a16="http://schemas.microsoft.com/office/drawing/2014/main" id="{D084A7B0-E976-46B7-9137-5DE3B264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435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哪些环境问题，可以在项目设计阶段就减少？</a:t>
            </a:r>
          </a:p>
        </p:txBody>
      </p:sp>
    </p:spTree>
    <p:extLst>
      <p:ext uri="{BB962C8B-B14F-4D97-AF65-F5344CB8AC3E}">
        <p14:creationId xmlns:p14="http://schemas.microsoft.com/office/powerpoint/2010/main" val="14240132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-434">
            <a:extLst xmlns:a="http://schemas.openxmlformats.org/drawingml/2006/main">
              <a:ext uri="{FF2B5EF4-FFF2-40B4-BE49-F238E27FC236}">
                <a16:creationId xmlns:a16="http://schemas.microsoft.com/office/drawing/2014/main" id="{E21F6A59-BBF0-4B50-8E8B-560491C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435">
            <a:extLst xmlns:a="http://schemas.openxmlformats.org/drawingml/2006/main">
              <a:ext uri="{FF2B5EF4-FFF2-40B4-BE49-F238E27FC236}">
                <a16:creationId xmlns:a16="http://schemas.microsoft.com/office/drawing/2014/main" id="{E29CCDEC-975F-40AC-B23C-A412BC15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436">
            <a:extLst xmlns:a="http://schemas.openxmlformats.org/drawingml/2006/main">
              <a:ext uri="{FF2B5EF4-FFF2-40B4-BE49-F238E27FC236}">
                <a16:creationId xmlns:a16="http://schemas.microsoft.com/office/drawing/2014/main" id="{8CC5BA19-7CC4-46C3-A352-71F07FA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37">
            <a:extLst xmlns:a="http://schemas.openxmlformats.org/drawingml/2006/main">
              <a:ext uri="{FF2B5EF4-FFF2-40B4-BE49-F238E27FC236}">
                <a16:creationId xmlns:a16="http://schemas.microsoft.com/office/drawing/2014/main" id="{AF599719-FD43-4F4B-B9C6-BBE6100D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生态保护，从单个要素走向系统治理</a:t>
            </a:r>
          </a:p>
        </p:txBody>
      </p:sp>
      <p:sp>
        <p:nvSpPr>
          <p:cNvPr id="5" name="rule-438">
            <a:extLst xmlns:a="http://schemas.openxmlformats.org/drawingml/2006/main">
              <a:ext uri="{FF2B5EF4-FFF2-40B4-BE49-F238E27FC236}">
                <a16:creationId xmlns:a16="http://schemas.microsoft.com/office/drawing/2014/main" id="{81DFE880-CDA0-4DB4-8BBB-0F7CED29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439">
            <a:extLst xmlns:a="http://schemas.openxmlformats.org/drawingml/2006/main">
              <a:ext uri="{FF2B5EF4-FFF2-40B4-BE49-F238E27FC236}">
                <a16:creationId xmlns:a16="http://schemas.microsoft.com/office/drawing/2014/main" id="{738E73F5-ABC1-4B11-A7C9-C14466F3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出处：党的二十大报告（2022）。完整文献及讲解见备注</a:t>
            </a:r>
          </a:p>
        </p:txBody>
      </p:sp>
      <p:sp>
        <p:nvSpPr>
          <p:cNvPr id="7" name="text-440">
            <a:extLst xmlns:a="http://schemas.openxmlformats.org/drawingml/2006/main">
              <a:ext uri="{FF2B5EF4-FFF2-40B4-BE49-F238E27FC236}">
                <a16:creationId xmlns:a16="http://schemas.microsoft.com/office/drawing/2014/main" id="{FD084814-04A4-4177-A356-7000D191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8" name="surface-441">
            <a:extLst xmlns:a="http://schemas.openxmlformats.org/drawingml/2006/main">
              <a:ext uri="{FF2B5EF4-FFF2-40B4-BE49-F238E27FC236}">
                <a16:creationId xmlns:a16="http://schemas.microsoft.com/office/drawing/2014/main" id="{773852BF-E926-44E8-A970-9667736E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562725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66D14-8967-4656-847A-7C2804A3E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d8c6c09514a0f"/>
          <a:srcRect xmlns:a="http://schemas.openxmlformats.org/drawingml/2006/main" l="33333" t="50000" r="33333" b="0"/>
          <a:stretch xmlns:a="http://schemas.openxmlformats.org/drawingml/2006/main"/>
        </p:blipFill>
        <p:spPr>
          <a:xfrm xmlns:a="http://schemas.openxmlformats.org/drawingml/2006/main">
            <a:off x="476250" y="1314450"/>
            <a:ext cx="6524625" cy="3667125"/>
          </a:xfrm>
          <a:prstGeom xmlns:a="http://schemas.openxmlformats.org/drawingml/2006/main" prst="rect">
            <a:avLst/>
          </a:prstGeom>
        </p:spPr>
      </p:pic>
      <p:sp>
        <p:nvSpPr>
          <p:cNvPr id="10" name="surface-442">
            <a:extLst xmlns:a="http://schemas.openxmlformats.org/drawingml/2006/main">
              <a:ext uri="{FF2B5EF4-FFF2-40B4-BE49-F238E27FC236}">
                <a16:creationId xmlns:a16="http://schemas.microsoft.com/office/drawing/2014/main" id="{128AC2D1-89B9-427F-AD80-6799AF36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143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43">
            <a:extLst xmlns:a="http://schemas.openxmlformats.org/drawingml/2006/main">
              <a:ext uri="{FF2B5EF4-FFF2-40B4-BE49-F238E27FC236}">
                <a16:creationId xmlns:a16="http://schemas.microsoft.com/office/drawing/2014/main" id="{C1DB8072-27D7-4857-A3B0-FC67089E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339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教学示意图</a:t>
            </a:r>
          </a:p>
        </p:txBody>
      </p:sp>
      <p:sp>
        <p:nvSpPr>
          <p:cNvPr id="12" name="text-444">
            <a:extLst xmlns:a="http://schemas.openxmlformats.org/drawingml/2006/main">
              <a:ext uri="{FF2B5EF4-FFF2-40B4-BE49-F238E27FC236}">
                <a16:creationId xmlns:a16="http://schemas.microsoft.com/office/drawing/2014/main" id="{1A12DCED-DAB2-488B-9738-882B4C17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614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rPr>
              <a:t>山 · 水 · 林 · 田 · 湖 · 草 · 沙</a:t>
            </a:r>
          </a:p>
        </p:txBody>
      </p:sp>
      <p:sp>
        <p:nvSpPr>
          <p:cNvPr id="13" name="text-445">
            <a:extLst xmlns:a="http://schemas.openxmlformats.org/drawingml/2006/main">
              <a:ext uri="{FF2B5EF4-FFF2-40B4-BE49-F238E27FC236}">
                <a16:creationId xmlns:a16="http://schemas.microsoft.com/office/drawing/2014/main" id="{0DADCE2D-4457-4225-90EF-9E4B4A6C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4192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看要素联系</a:t>
            </a:r>
          </a:p>
        </p:txBody>
      </p:sp>
      <p:sp>
        <p:nvSpPr>
          <p:cNvPr id="14" name="text-446">
            <a:extLst xmlns:a="http://schemas.openxmlformats.org/drawingml/2006/main">
              <a:ext uri="{FF2B5EF4-FFF2-40B4-BE49-F238E27FC236}">
                <a16:creationId xmlns:a16="http://schemas.microsoft.com/office/drawing/2014/main" id="{391D002C-10C1-412D-A435-2A96A045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76425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植被、水土、生境相互影响</a:t>
            </a:r>
          </a:p>
        </p:txBody>
      </p:sp>
      <p:sp>
        <p:nvSpPr>
          <p:cNvPr id="15" name="text-447">
            <a:extLst xmlns:a="http://schemas.openxmlformats.org/drawingml/2006/main">
              <a:ext uri="{FF2B5EF4-FFF2-40B4-BE49-F238E27FC236}">
                <a16:creationId xmlns:a16="http://schemas.microsoft.com/office/drawing/2014/main" id="{3A4D632E-7053-4D47-BFC5-697B5DE3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098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看自然过程</a:t>
            </a:r>
          </a:p>
        </p:txBody>
      </p:sp>
      <p:sp>
        <p:nvSpPr>
          <p:cNvPr id="16" name="text-448">
            <a:extLst xmlns:a="http://schemas.openxmlformats.org/drawingml/2006/main">
              <a:ext uri="{FF2B5EF4-FFF2-40B4-BE49-F238E27FC236}">
                <a16:creationId xmlns:a16="http://schemas.microsoft.com/office/drawing/2014/main" id="{EB539320-0649-44A3-BB95-0EF451AF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67075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上游变化影响下游水沙与水质</a:t>
            </a:r>
          </a:p>
        </p:txBody>
      </p:sp>
      <p:sp>
        <p:nvSpPr>
          <p:cNvPr id="17" name="text-449">
            <a:extLst xmlns:a="http://schemas.openxmlformats.org/drawingml/2006/main">
              <a:ext uri="{FF2B5EF4-FFF2-40B4-BE49-F238E27FC236}">
                <a16:creationId xmlns:a16="http://schemas.microsoft.com/office/drawing/2014/main" id="{3B31BEE7-E038-4193-BEE2-B6F98941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005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看治理整体</a:t>
            </a:r>
          </a:p>
        </p:txBody>
      </p:sp>
      <p:sp>
        <p:nvSpPr>
          <p:cNvPr id="18" name="text-450">
            <a:extLst xmlns:a="http://schemas.openxmlformats.org/drawingml/2006/main">
              <a:ext uri="{FF2B5EF4-FFF2-40B4-BE49-F238E27FC236}">
                <a16:creationId xmlns:a16="http://schemas.microsoft.com/office/drawing/2014/main" id="{945B0F80-21D0-4B9D-9381-22B6BD0C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657725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统筹山水林田湖草沙保护修复</a:t>
            </a:r>
          </a:p>
        </p:txBody>
      </p:sp>
      <p:sp>
        <p:nvSpPr>
          <p:cNvPr id="19" name="surface-451">
            <a:extLst xmlns:a="http://schemas.openxmlformats.org/drawingml/2006/main">
              <a:ext uri="{FF2B5EF4-FFF2-40B4-BE49-F238E27FC236}">
                <a16:creationId xmlns:a16="http://schemas.microsoft.com/office/drawing/2014/main" id="{A312814A-1A39-4392-A2EE-24049D7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72150"/>
            <a:ext cx="11239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452">
            <a:extLst xmlns:a="http://schemas.openxmlformats.org/drawingml/2006/main">
              <a:ext uri="{FF2B5EF4-FFF2-40B4-BE49-F238E27FC236}">
                <a16:creationId xmlns:a16="http://schemas.microsoft.com/office/drawing/2014/main" id="{FFC2B903-9083-408F-BE8A-42B48132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修复一片区域，需要理解整个生态系统</a:t>
            </a:r>
          </a:p>
        </p:txBody>
      </p:sp>
    </p:spTree>
    <p:extLst>
      <p:ext uri="{BB962C8B-B14F-4D97-AF65-F5344CB8AC3E}">
        <p14:creationId xmlns:p14="http://schemas.microsoft.com/office/powerpoint/2010/main" val="15540356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-453">
            <a:extLst xmlns:a="http://schemas.openxmlformats.org/drawingml/2006/main">
              <a:ext uri="{FF2B5EF4-FFF2-40B4-BE49-F238E27FC236}">
                <a16:creationId xmlns:a16="http://schemas.microsoft.com/office/drawing/2014/main" id="{F9E23B57-85CE-4B06-A44A-21190BFC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454">
            <a:extLst xmlns:a="http://schemas.openxmlformats.org/drawingml/2006/main">
              <a:ext uri="{FF2B5EF4-FFF2-40B4-BE49-F238E27FC236}">
                <a16:creationId xmlns:a16="http://schemas.microsoft.com/office/drawing/2014/main" id="{C37F017B-6B6E-4D62-B2E2-997A29AF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455">
            <a:extLst xmlns:a="http://schemas.openxmlformats.org/drawingml/2006/main">
              <a:ext uri="{FF2B5EF4-FFF2-40B4-BE49-F238E27FC236}">
                <a16:creationId xmlns:a16="http://schemas.microsoft.com/office/drawing/2014/main" id="{BEA43065-C542-46B4-AD33-58E068E2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56">
            <a:extLst xmlns:a="http://schemas.openxmlformats.org/drawingml/2006/main">
              <a:ext uri="{FF2B5EF4-FFF2-40B4-BE49-F238E27FC236}">
                <a16:creationId xmlns:a16="http://schemas.microsoft.com/office/drawing/2014/main" id="{A41B498D-DEC7-4DEC-8513-EE8FEEF6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生态保护红线，守住关键生态空间</a:t>
            </a:r>
          </a:p>
        </p:txBody>
      </p:sp>
      <p:sp>
        <p:nvSpPr>
          <p:cNvPr id="5" name="rule-457">
            <a:extLst xmlns:a="http://schemas.openxmlformats.org/drawingml/2006/main">
              <a:ext uri="{FF2B5EF4-FFF2-40B4-BE49-F238E27FC236}">
                <a16:creationId xmlns:a16="http://schemas.microsoft.com/office/drawing/2014/main" id="{215214E4-05C7-44DA-87A3-33D8792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458">
            <a:extLst xmlns:a="http://schemas.openxmlformats.org/drawingml/2006/main">
              <a:ext uri="{FF2B5EF4-FFF2-40B4-BE49-F238E27FC236}">
                <a16:creationId xmlns:a16="http://schemas.microsoft.com/office/drawing/2014/main" id="{30C4D8B9-1C81-4BC6-A1DB-5C5D4B43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出处：党的二十大报告（2022）；《美丽中国建设意见》（2023）；《生态环境分区管控意见》（2024）。完整文献及讲解见备注</a:t>
            </a:r>
          </a:p>
        </p:txBody>
      </p:sp>
      <p:sp>
        <p:nvSpPr>
          <p:cNvPr id="7" name="text-459">
            <a:extLst xmlns:a="http://schemas.openxmlformats.org/drawingml/2006/main">
              <a:ext uri="{FF2B5EF4-FFF2-40B4-BE49-F238E27FC236}">
                <a16:creationId xmlns:a16="http://schemas.microsoft.com/office/drawing/2014/main" id="{A031F52F-B8B2-45A3-A730-8653ADED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8" name="surface-460">
            <a:extLst xmlns:a="http://schemas.openxmlformats.org/drawingml/2006/main">
              <a:ext uri="{FF2B5EF4-FFF2-40B4-BE49-F238E27FC236}">
                <a16:creationId xmlns:a16="http://schemas.microsoft.com/office/drawing/2014/main" id="{D36671DE-91DA-4BCB-80A4-22351714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14450"/>
            <a:ext cx="6543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4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map-461">
            <a:extLst xmlns:a="http://schemas.openxmlformats.org/drawingml/2006/main">
              <a:ext uri="{FF2B5EF4-FFF2-40B4-BE49-F238E27FC236}">
                <a16:creationId xmlns:a16="http://schemas.microsoft.com/office/drawing/2014/main" id="{7FFFDDC7-3DAB-45E8-A294-A5EAE63A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5743575" cy="3286125"/>
          </a:xfrm>
          <a:custGeom xmlns:a="http://schemas.openxmlformats.org/drawingml/2006/main">
            <a:pathLst>
              <a:path w="5743575" h="3286125">
                <a:moveTo>
                  <a:pt x="95250" y="857250"/>
                </a:moveTo>
                <a:lnTo>
                  <a:pt x="942975" y="142875"/>
                </a:lnTo>
                <a:lnTo>
                  <a:pt x="2019300" y="342900"/>
                </a:lnTo>
                <a:lnTo>
                  <a:pt x="2819400" y="19050"/>
                </a:lnTo>
                <a:lnTo>
                  <a:pt x="4210050" y="361950"/>
                </a:lnTo>
                <a:lnTo>
                  <a:pt x="5600700" y="1095375"/>
                </a:lnTo>
                <a:lnTo>
                  <a:pt x="5257800" y="2343150"/>
                </a:lnTo>
                <a:lnTo>
                  <a:pt x="3667125" y="3143250"/>
                </a:lnTo>
                <a:lnTo>
                  <a:pt x="2600325" y="2895600"/>
                </a:lnTo>
                <a:lnTo>
                  <a:pt x="1438275" y="3248025"/>
                </a:lnTo>
                <a:lnTo>
                  <a:pt x="257175" y="2343150"/>
                </a:lnTo>
                <a:close/>
              </a:path>
            </a:pathLst>
          </a:custGeom>
          <a:solidFill xmlns:a="http://schemas.openxmlformats.org/drawingml/2006/main">
            <a:srgbClr val="D8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p-462">
            <a:extLst xmlns:a="http://schemas.openxmlformats.org/drawingml/2006/main">
              <a:ext uri="{FF2B5EF4-FFF2-40B4-BE49-F238E27FC236}">
                <a16:creationId xmlns:a16="http://schemas.microsoft.com/office/drawing/2014/main" id="{9DABE2E7-45E0-41FC-99D1-4496E9F4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38350"/>
            <a:ext cx="3876675" cy="2209800"/>
          </a:xfrm>
          <a:custGeom xmlns:a="http://schemas.openxmlformats.org/drawingml/2006/main">
            <a:pathLst>
              <a:path w="3876675" h="2209800">
                <a:moveTo>
                  <a:pt x="28575" y="571500"/>
                </a:moveTo>
                <a:lnTo>
                  <a:pt x="1000125" y="28575"/>
                </a:lnTo>
                <a:lnTo>
                  <a:pt x="2400300" y="95250"/>
                </a:lnTo>
                <a:lnTo>
                  <a:pt x="3790950" y="790575"/>
                </a:lnTo>
                <a:lnTo>
                  <a:pt x="3086100" y="2057400"/>
                </a:lnTo>
                <a:lnTo>
                  <a:pt x="1704975" y="2133600"/>
                </a:lnTo>
                <a:lnTo>
                  <a:pt x="152400" y="1581150"/>
                </a:lnTo>
                <a:close/>
              </a:path>
            </a:pathLst>
          </a:custGeom>
          <a:solidFill xmlns:a="http://schemas.openxmlformats.org/drawingml/2006/main">
            <a:srgbClr val="A9C8A0"/>
          </a:solidFill>
          <a:ln xmlns:a="http://schemas.openxmlformats.org/drawingml/2006/main" w="38100">
            <a:solidFill>
              <a:srgbClr val="B5161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D4C62-5026-419E-A343-3A21F47F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66875"/>
            <a:ext cx="5143500" cy="3209925"/>
          </a:xfrm>
          <a:custGeom xmlns:a="http://schemas.openxmlformats.org/drawingml/2006/main">
            <a:pathLst>
              <a:path w="5143500" h="3209925">
                <a:moveTo>
                  <a:pt x="4619625" y="76200"/>
                </a:moveTo>
                <a:cubicBezTo>
                  <a:pt x="1047750" y="285750"/>
                  <a:pt x="4191000" y="1600200"/>
                  <a:pt x="1885950" y="1809750"/>
                </a:cubicBezTo>
                <a:cubicBezTo>
                  <a:pt x="666750" y="2000250"/>
                  <a:pt x="1914525" y="2667000"/>
                  <a:pt x="85725" y="30289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550">
            <a:solidFill>
              <a:srgbClr val="8DB8C5"/>
            </a:solidFill>
            <a:prstDash val="solid"/>
          </a:ln>
        </p:spPr>
      </p:sp>
      <p:sp>
        <p:nvSpPr>
          <p:cNvPr id="12" name="surface-463">
            <a:extLst xmlns:a="http://schemas.openxmlformats.org/drawingml/2006/main">
              <a:ext uri="{FF2B5EF4-FFF2-40B4-BE49-F238E27FC236}">
                <a16:creationId xmlns:a16="http://schemas.microsoft.com/office/drawing/2014/main" id="{8F7DF25B-725D-4A8E-BED3-4C6DA14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81275"/>
            <a:ext cx="323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64">
            <a:extLst xmlns:a="http://schemas.openxmlformats.org/drawingml/2006/main">
              <a:ext uri="{FF2B5EF4-FFF2-40B4-BE49-F238E27FC236}">
                <a16:creationId xmlns:a16="http://schemas.microsoft.com/office/drawing/2014/main" id="{CF87A215-81DD-46F1-83EE-35C6350D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28925"/>
            <a:ext cx="2990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重要生态空间</a:t>
            </a:r>
          </a:p>
        </p:txBody>
      </p:sp>
      <p:sp>
        <p:nvSpPr>
          <p:cNvPr id="14" name="text-465">
            <a:extLst xmlns:a="http://schemas.openxmlformats.org/drawingml/2006/main">
              <a:ext uri="{FF2B5EF4-FFF2-40B4-BE49-F238E27FC236}">
                <a16:creationId xmlns:a16="http://schemas.microsoft.com/office/drawing/2014/main" id="{3DADD7AB-665A-4497-A63B-A9ABF1EB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19675"/>
            <a:ext cx="601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功能分区示意，非实际地图或法定边界</a:t>
            </a:r>
          </a:p>
        </p:txBody>
      </p:sp>
      <p:sp>
        <p:nvSpPr>
          <p:cNvPr id="15" name="text-466">
            <a:extLst xmlns:a="http://schemas.openxmlformats.org/drawingml/2006/main">
              <a:ext uri="{FF2B5EF4-FFF2-40B4-BE49-F238E27FC236}">
                <a16:creationId xmlns:a16="http://schemas.microsoft.com/office/drawing/2014/main" id="{AC3F63C2-712E-43F0-A5AC-BAB40C10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9065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保护关键功能</a:t>
            </a:r>
          </a:p>
        </p:txBody>
      </p:sp>
      <p:sp>
        <p:nvSpPr>
          <p:cNvPr id="16" name="text-467">
            <a:extLst xmlns:a="http://schemas.openxmlformats.org/drawingml/2006/main">
              <a:ext uri="{FF2B5EF4-FFF2-40B4-BE49-F238E27FC236}">
                <a16:creationId xmlns:a16="http://schemas.microsoft.com/office/drawing/2014/main" id="{07AA4F10-3B37-44DA-AE5E-EFBB4322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47850"/>
            <a:ext cx="3943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维护水源涵养、水土保持和生物多样性</a:t>
            </a:r>
          </a:p>
        </p:txBody>
      </p:sp>
      <p:sp>
        <p:nvSpPr>
          <p:cNvPr id="17" name="text-468">
            <a:extLst xmlns:a="http://schemas.openxmlformats.org/drawingml/2006/main">
              <a:ext uri="{FF2B5EF4-FFF2-40B4-BE49-F238E27FC236}">
                <a16:creationId xmlns:a16="http://schemas.microsoft.com/office/drawing/2014/main" id="{1FF25465-8046-4328-9620-FBF1AD06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90825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约束开发活动</a:t>
            </a:r>
          </a:p>
        </p:txBody>
      </p:sp>
      <p:sp>
        <p:nvSpPr>
          <p:cNvPr id="18" name="text-469">
            <a:extLst xmlns:a="http://schemas.openxmlformats.org/drawingml/2006/main">
              <a:ext uri="{FF2B5EF4-FFF2-40B4-BE49-F238E27FC236}">
                <a16:creationId xmlns:a16="http://schemas.microsoft.com/office/drawing/2014/main" id="{E9AE57E0-22B8-479F-A306-279F8983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48025"/>
            <a:ext cx="3943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把空间边界转化为项目与用途约束</a:t>
            </a:r>
          </a:p>
        </p:txBody>
      </p:sp>
      <p:sp>
        <p:nvSpPr>
          <p:cNvPr id="19" name="text-470">
            <a:extLst xmlns:a="http://schemas.openxmlformats.org/drawingml/2006/main">
              <a:ext uri="{FF2B5EF4-FFF2-40B4-BE49-F238E27FC236}">
                <a16:creationId xmlns:a16="http://schemas.microsoft.com/office/drawing/2014/main" id="{B8173BEB-CEA7-45E9-8CA5-F57AD799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9100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落实日常监管</a:t>
            </a:r>
          </a:p>
        </p:txBody>
      </p:sp>
      <p:sp>
        <p:nvSpPr>
          <p:cNvPr id="20" name="text-471">
            <a:extLst xmlns:a="http://schemas.openxmlformats.org/drawingml/2006/main">
              <a:ext uri="{FF2B5EF4-FFF2-40B4-BE49-F238E27FC236}">
                <a16:creationId xmlns:a16="http://schemas.microsoft.com/office/drawing/2014/main" id="{2DF66056-3D6E-44D4-BE0C-81BF2663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48200"/>
            <a:ext cx="3943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用监测、巡查和责任落实守住底线</a:t>
            </a:r>
          </a:p>
        </p:txBody>
      </p:sp>
      <p:sp>
        <p:nvSpPr>
          <p:cNvPr id="21" name="surface-472">
            <a:extLst xmlns:a="http://schemas.openxmlformats.org/drawingml/2006/main">
              <a:ext uri="{FF2B5EF4-FFF2-40B4-BE49-F238E27FC236}">
                <a16:creationId xmlns:a16="http://schemas.microsoft.com/office/drawing/2014/main" id="{CBC10030-4486-4419-BF1F-6F861A4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72150"/>
            <a:ext cx="11239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473">
            <a:extLst xmlns:a="http://schemas.openxmlformats.org/drawingml/2006/main">
              <a:ext uri="{FF2B5EF4-FFF2-40B4-BE49-F238E27FC236}">
                <a16:creationId xmlns:a16="http://schemas.microsoft.com/office/drawing/2014/main" id="{AB2D7BAD-4A80-4962-8DF4-E3A603BA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红线划在地图上，也要落实在决策中</a:t>
            </a:r>
          </a:p>
        </p:txBody>
      </p:sp>
    </p:spTree>
    <p:extLst>
      <p:ext uri="{BB962C8B-B14F-4D97-AF65-F5344CB8AC3E}">
        <p14:creationId xmlns:p14="http://schemas.microsoft.com/office/powerpoint/2010/main" val="17890239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-474">
            <a:extLst xmlns:a="http://schemas.openxmlformats.org/drawingml/2006/main">
              <a:ext uri="{FF2B5EF4-FFF2-40B4-BE49-F238E27FC236}">
                <a16:creationId xmlns:a16="http://schemas.microsoft.com/office/drawing/2014/main" id="{1E85C64F-0CC6-450D-A7F9-FE5CE689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475">
            <a:extLst xmlns:a="http://schemas.openxmlformats.org/drawingml/2006/main">
              <a:ext uri="{FF2B5EF4-FFF2-40B4-BE49-F238E27FC236}">
                <a16:creationId xmlns:a16="http://schemas.microsoft.com/office/drawing/2014/main" id="{5237D63C-21E0-43F5-AA69-1C540764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476">
            <a:extLst xmlns:a="http://schemas.openxmlformats.org/drawingml/2006/main">
              <a:ext uri="{FF2B5EF4-FFF2-40B4-BE49-F238E27FC236}">
                <a16:creationId xmlns:a16="http://schemas.microsoft.com/office/drawing/2014/main" id="{7B4F4C33-3C17-4383-9D39-07936EC8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77">
            <a:extLst xmlns:a="http://schemas.openxmlformats.org/drawingml/2006/main">
              <a:ext uri="{FF2B5EF4-FFF2-40B4-BE49-F238E27FC236}">
                <a16:creationId xmlns:a16="http://schemas.microsoft.com/office/drawing/2014/main" id="{E7D54645-DA65-4ADB-9959-9837E98D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首批国家公园：保护重要自然生态系统</a:t>
            </a:r>
          </a:p>
        </p:txBody>
      </p:sp>
      <p:sp>
        <p:nvSpPr>
          <p:cNvPr id="5" name="rule-478">
            <a:extLst xmlns:a="http://schemas.openxmlformats.org/drawingml/2006/main">
              <a:ext uri="{FF2B5EF4-FFF2-40B4-BE49-F238E27FC236}">
                <a16:creationId xmlns:a16="http://schemas.microsoft.com/office/drawing/2014/main" id="{0583BF31-B7CA-4F8D-9A09-19E095CE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479">
            <a:extLst xmlns:a="http://schemas.openxmlformats.org/drawingml/2006/main">
              <a:ext uri="{FF2B5EF4-FFF2-40B4-BE49-F238E27FC236}">
                <a16:creationId xmlns:a16="http://schemas.microsoft.com/office/drawing/2014/main" id="{4294B8C5-64E8-48DD-AA8A-8CDD424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出处：党的二十大报告（2022）；首批国家公园设立宣布（2021）。完整文献及讲解见备注</a:t>
            </a:r>
          </a:p>
        </p:txBody>
      </p:sp>
      <p:sp>
        <p:nvSpPr>
          <p:cNvPr id="7" name="text-480">
            <a:extLst xmlns:a="http://schemas.openxmlformats.org/drawingml/2006/main">
              <a:ext uri="{FF2B5EF4-FFF2-40B4-BE49-F238E27FC236}">
                <a16:creationId xmlns:a16="http://schemas.microsoft.com/office/drawing/2014/main" id="{FA8A7AB2-6850-429B-8911-AEE39DD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sp>
        <p:nvSpPr>
          <p:cNvPr id="8" name="surface-481">
            <a:extLst xmlns:a="http://schemas.openxmlformats.org/drawingml/2006/main">
              <a:ext uri="{FF2B5EF4-FFF2-40B4-BE49-F238E27FC236}">
                <a16:creationId xmlns:a16="http://schemas.microsoft.com/office/drawing/2014/main" id="{C9EF54E4-9D8B-49CF-A783-8590BC68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3909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56169-E13D-4AE5-9A45-20D6FF126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91f4af56c4bbc">
            <a:extLst>
              <a:ext uri="{96DAC541-7B7A-43D3-8B79-37D633B846F1}">
                <asvg:svgBlip xmlns:asvg="http://schemas.microsoft.com/office/drawing/2016/SVG/main" r:embed="R1f02ab1856d249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" y="1666875"/>
            <a:ext cx="581025" cy="581025"/>
          </a:xfrm>
          <a:prstGeom xmlns:a="http://schemas.openxmlformats.org/drawingml/2006/main" prst="rect">
            <a:avLst/>
          </a:prstGeom>
        </p:spPr>
      </p:pic>
      <p:sp>
        <p:nvSpPr>
          <p:cNvPr id="10" name="text-482">
            <a:extLst xmlns:a="http://schemas.openxmlformats.org/drawingml/2006/main">
              <a:ext uri="{FF2B5EF4-FFF2-40B4-BE49-F238E27FC236}">
                <a16:creationId xmlns:a16="http://schemas.microsoft.com/office/drawing/2014/main" id="{5208F1AC-382A-4112-80AA-0B04A72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66875"/>
            <a:ext cx="2209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三江源</a:t>
            </a:r>
          </a:p>
        </p:txBody>
      </p:sp>
      <p:sp>
        <p:nvSpPr>
          <p:cNvPr id="11" name="text-483">
            <a:extLst xmlns:a="http://schemas.openxmlformats.org/drawingml/2006/main">
              <a:ext uri="{FF2B5EF4-FFF2-40B4-BE49-F238E27FC236}">
                <a16:creationId xmlns:a16="http://schemas.microsoft.com/office/drawing/2014/main" id="{BFD92AEF-7864-40F8-B53E-9D9B56DF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高寒生态系统</a:t>
            </a:r>
          </a:p>
        </p:txBody>
      </p:sp>
      <p:sp>
        <p:nvSpPr>
          <p:cNvPr id="12" name="surface-484">
            <a:extLst xmlns:a="http://schemas.openxmlformats.org/drawingml/2006/main">
              <a:ext uri="{FF2B5EF4-FFF2-40B4-BE49-F238E27FC236}">
                <a16:creationId xmlns:a16="http://schemas.microsoft.com/office/drawing/2014/main" id="{611B5E0D-1E54-4711-9F12-F24477C5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90650"/>
            <a:ext cx="33909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EEDE9-033D-4D02-969A-9948B5BB20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9a4bb78884ff2">
            <a:extLst>
              <a:ext uri="{96DAC541-7B7A-43D3-8B79-37D633B846F1}">
                <asvg:svgBlip xmlns:asvg="http://schemas.microsoft.com/office/drawing/2016/SVG/main" r:embed="R859d59f5c2504b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9625" y="1666875"/>
            <a:ext cx="581025" cy="581025"/>
          </a:xfrm>
          <a:prstGeom xmlns:a="http://schemas.openxmlformats.org/drawingml/2006/main" prst="rect">
            <a:avLst/>
          </a:prstGeom>
        </p:spPr>
      </p:pic>
      <p:sp>
        <p:nvSpPr>
          <p:cNvPr id="14" name="text-485">
            <a:extLst xmlns:a="http://schemas.openxmlformats.org/drawingml/2006/main">
              <a:ext uri="{FF2B5EF4-FFF2-40B4-BE49-F238E27FC236}">
                <a16:creationId xmlns:a16="http://schemas.microsoft.com/office/drawing/2014/main" id="{167B5DDB-8ACB-4DD4-BC75-38C3AE3C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66875"/>
            <a:ext cx="2209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大熊猫</a:t>
            </a:r>
          </a:p>
        </p:txBody>
      </p:sp>
      <p:sp>
        <p:nvSpPr>
          <p:cNvPr id="15" name="text-486">
            <a:extLst xmlns:a="http://schemas.openxmlformats.org/drawingml/2006/main">
              <a:ext uri="{FF2B5EF4-FFF2-40B4-BE49-F238E27FC236}">
                <a16:creationId xmlns:a16="http://schemas.microsoft.com/office/drawing/2014/main" id="{4702E374-5AF2-49A7-ADFE-AC04C682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山地森林生境</a:t>
            </a:r>
          </a:p>
        </p:txBody>
      </p:sp>
      <p:sp>
        <p:nvSpPr>
          <p:cNvPr id="16" name="surface-487">
            <a:extLst xmlns:a="http://schemas.openxmlformats.org/drawingml/2006/main">
              <a:ext uri="{FF2B5EF4-FFF2-40B4-BE49-F238E27FC236}">
                <a16:creationId xmlns:a16="http://schemas.microsoft.com/office/drawing/2014/main" id="{2FE23D6E-3440-48D1-A74E-C6C82C8A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90650"/>
            <a:ext cx="33909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183BE-ECDE-47BA-96D4-6BE14B097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d0aa62afc486b">
            <a:extLst>
              <a:ext uri="{96DAC541-7B7A-43D3-8B79-37D633B846F1}">
                <asvg:svgBlip xmlns:asvg="http://schemas.microsoft.com/office/drawing/2016/SVG/main" r:embed="R9ad71779782a47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43925" y="1666875"/>
            <a:ext cx="581025" cy="581025"/>
          </a:xfrm>
          <a:prstGeom xmlns:a="http://schemas.openxmlformats.org/drawingml/2006/main" prst="rect">
            <a:avLst/>
          </a:prstGeom>
        </p:spPr>
      </p:pic>
      <p:sp>
        <p:nvSpPr>
          <p:cNvPr id="18" name="text-488">
            <a:extLst xmlns:a="http://schemas.openxmlformats.org/drawingml/2006/main">
              <a:ext uri="{FF2B5EF4-FFF2-40B4-BE49-F238E27FC236}">
                <a16:creationId xmlns:a16="http://schemas.microsoft.com/office/drawing/2014/main" id="{01676094-EF54-495C-A7E2-C0F34F2B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66875"/>
            <a:ext cx="2209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东北虎豹</a:t>
            </a:r>
          </a:p>
        </p:txBody>
      </p:sp>
      <p:sp>
        <p:nvSpPr>
          <p:cNvPr id="19" name="text-489">
            <a:extLst xmlns:a="http://schemas.openxmlformats.org/drawingml/2006/main">
              <a:ext uri="{FF2B5EF4-FFF2-40B4-BE49-F238E27FC236}">
                <a16:creationId xmlns:a16="http://schemas.microsoft.com/office/drawing/2014/main" id="{F7AD104A-3C4D-43AF-8B65-C66329AE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76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东北森林生境</a:t>
            </a:r>
          </a:p>
        </p:txBody>
      </p:sp>
      <p:sp>
        <p:nvSpPr>
          <p:cNvPr id="20" name="surface-490">
            <a:extLst xmlns:a="http://schemas.openxmlformats.org/drawingml/2006/main">
              <a:ext uri="{FF2B5EF4-FFF2-40B4-BE49-F238E27FC236}">
                <a16:creationId xmlns:a16="http://schemas.microsoft.com/office/drawing/2014/main" id="{6EC46309-83DE-4BA0-8E4B-85388B26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00450"/>
            <a:ext cx="33909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DB4CD-284E-4162-8E7C-33B8F4CCDE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6958e665e4878">
            <a:extLst>
              <a:ext uri="{96DAC541-7B7A-43D3-8B79-37D633B846F1}">
                <asvg:svgBlip xmlns:asvg="http://schemas.microsoft.com/office/drawing/2016/SVG/main" r:embed="R190a7f8361c04d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47950" y="3876675"/>
            <a:ext cx="581025" cy="581025"/>
          </a:xfrm>
          <a:prstGeom xmlns:a="http://schemas.openxmlformats.org/drawingml/2006/main" prst="rect">
            <a:avLst/>
          </a:prstGeom>
        </p:spPr>
      </p:pic>
      <p:sp>
        <p:nvSpPr>
          <p:cNvPr id="22" name="text-491">
            <a:extLst xmlns:a="http://schemas.openxmlformats.org/drawingml/2006/main">
              <a:ext uri="{FF2B5EF4-FFF2-40B4-BE49-F238E27FC236}">
                <a16:creationId xmlns:a16="http://schemas.microsoft.com/office/drawing/2014/main" id="{F64C367B-353B-4E4C-89AB-6A7D4185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76675"/>
            <a:ext cx="2209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海南热带雨林</a:t>
            </a:r>
          </a:p>
        </p:txBody>
      </p:sp>
      <p:sp>
        <p:nvSpPr>
          <p:cNvPr id="23" name="text-492">
            <a:extLst xmlns:a="http://schemas.openxmlformats.org/drawingml/2006/main">
              <a:ext uri="{FF2B5EF4-FFF2-40B4-BE49-F238E27FC236}">
                <a16:creationId xmlns:a16="http://schemas.microsoft.com/office/drawing/2014/main" id="{A511C6CF-493B-48C8-A5F8-A490372B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63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热带雨林生态</a:t>
            </a:r>
          </a:p>
        </p:txBody>
      </p:sp>
      <p:sp>
        <p:nvSpPr>
          <p:cNvPr id="24" name="surface-493">
            <a:extLst xmlns:a="http://schemas.openxmlformats.org/drawingml/2006/main">
              <a:ext uri="{FF2B5EF4-FFF2-40B4-BE49-F238E27FC236}">
                <a16:creationId xmlns:a16="http://schemas.microsoft.com/office/drawing/2014/main" id="{91180F7C-7F6D-4DB1-8699-FE8958C1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00450"/>
            <a:ext cx="33909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98812-FB51-4C5B-9F56-7FA085DF3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e4e5bace540fe">
            <a:extLst>
              <a:ext uri="{96DAC541-7B7A-43D3-8B79-37D633B846F1}">
                <asvg:svgBlip xmlns:asvg="http://schemas.microsoft.com/office/drawing/2016/SVG/main" r:embed="Ra4aa8824b9b545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72250" y="3876675"/>
            <a:ext cx="581025" cy="581025"/>
          </a:xfrm>
          <a:prstGeom xmlns:a="http://schemas.openxmlformats.org/drawingml/2006/main" prst="rect">
            <a:avLst/>
          </a:prstGeom>
        </p:spPr>
      </p:pic>
      <p:sp>
        <p:nvSpPr>
          <p:cNvPr id="26" name="text-494">
            <a:extLst xmlns:a="http://schemas.openxmlformats.org/drawingml/2006/main">
              <a:ext uri="{FF2B5EF4-FFF2-40B4-BE49-F238E27FC236}">
                <a16:creationId xmlns:a16="http://schemas.microsoft.com/office/drawing/2014/main" id="{B9E76AF5-5E4C-4606-9792-AF7E662F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76675"/>
            <a:ext cx="2209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武夷山</a:t>
            </a:r>
          </a:p>
        </p:txBody>
      </p:sp>
      <p:sp>
        <p:nvSpPr>
          <p:cNvPr id="27" name="text-495">
            <a:extLst xmlns:a="http://schemas.openxmlformats.org/drawingml/2006/main">
              <a:ext uri="{FF2B5EF4-FFF2-40B4-BE49-F238E27FC236}">
                <a16:creationId xmlns:a16="http://schemas.microsoft.com/office/drawing/2014/main" id="{651C7347-5F3C-470A-A01E-6DF7E038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863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亚热带森林</a:t>
            </a:r>
          </a:p>
        </p:txBody>
      </p:sp>
      <p:sp>
        <p:nvSpPr>
          <p:cNvPr id="28" name="text-496">
            <a:extLst xmlns:a="http://schemas.openxmlformats.org/drawingml/2006/main">
              <a:ext uri="{FF2B5EF4-FFF2-40B4-BE49-F238E27FC236}">
                <a16:creationId xmlns:a16="http://schemas.microsoft.com/office/drawing/2014/main" id="{07099164-3871-483B-8B6D-93987E6C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3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2021年首批设立名单 · 不代表目前全部国家公园</a:t>
            </a:r>
          </a:p>
        </p:txBody>
      </p:sp>
    </p:spTree>
    <p:extLst>
      <p:ext uri="{BB962C8B-B14F-4D97-AF65-F5344CB8AC3E}">
        <p14:creationId xmlns:p14="http://schemas.microsoft.com/office/powerpoint/2010/main" val="1874417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-497">
            <a:extLst xmlns:a="http://schemas.openxmlformats.org/drawingml/2006/main">
              <a:ext uri="{FF2B5EF4-FFF2-40B4-BE49-F238E27FC236}">
                <a16:creationId xmlns:a16="http://schemas.microsoft.com/office/drawing/2014/main" id="{7FCF8D87-B0CA-406D-9128-84CC4C15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498">
            <a:extLst xmlns:a="http://schemas.openxmlformats.org/drawingml/2006/main">
              <a:ext uri="{FF2B5EF4-FFF2-40B4-BE49-F238E27FC236}">
                <a16:creationId xmlns:a16="http://schemas.microsoft.com/office/drawing/2014/main" id="{89C5470C-2DBD-4704-994B-C97A5A5B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499">
            <a:extLst xmlns:a="http://schemas.openxmlformats.org/drawingml/2006/main">
              <a:ext uri="{FF2B5EF4-FFF2-40B4-BE49-F238E27FC236}">
                <a16:creationId xmlns:a16="http://schemas.microsoft.com/office/drawing/2014/main" id="{B22DAD7F-3DFA-4BDF-A700-3F23F9A7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00">
            <a:extLst xmlns:a="http://schemas.openxmlformats.org/drawingml/2006/main">
              <a:ext uri="{FF2B5EF4-FFF2-40B4-BE49-F238E27FC236}">
                <a16:creationId xmlns:a16="http://schemas.microsoft.com/office/drawing/2014/main" id="{A9A5185A-8AC9-443E-99E0-5FC4399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生物多样性，保护相互依存的生命网络</a:t>
            </a:r>
          </a:p>
        </p:txBody>
      </p:sp>
      <p:sp>
        <p:nvSpPr>
          <p:cNvPr id="5" name="rule-501">
            <a:extLst xmlns:a="http://schemas.openxmlformats.org/drawingml/2006/main">
              <a:ext uri="{FF2B5EF4-FFF2-40B4-BE49-F238E27FC236}">
                <a16:creationId xmlns:a16="http://schemas.microsoft.com/office/drawing/2014/main" id="{67B1382E-5897-44F2-AF4D-2BCCE2A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502">
            <a:extLst xmlns:a="http://schemas.openxmlformats.org/drawingml/2006/main">
              <a:ext uri="{FF2B5EF4-FFF2-40B4-BE49-F238E27FC236}">
                <a16:creationId xmlns:a16="http://schemas.microsoft.com/office/drawing/2014/main" id="{D65BAEC8-508D-46CF-996B-2762948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出处：党的二十大报告（2022）；《生物多样性保护战略与行动计划》（2023—2030年）。完整文献及讲解见备注</a:t>
            </a:r>
          </a:p>
        </p:txBody>
      </p:sp>
      <p:sp>
        <p:nvSpPr>
          <p:cNvPr id="7" name="text-503">
            <a:extLst xmlns:a="http://schemas.openxmlformats.org/drawingml/2006/main">
              <a:ext uri="{FF2B5EF4-FFF2-40B4-BE49-F238E27FC236}">
                <a16:creationId xmlns:a16="http://schemas.microsoft.com/office/drawing/2014/main" id="{1B075E41-72A5-4C3C-9B9B-EC029FB0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sp>
        <p:nvSpPr>
          <p:cNvPr id="8" name="circle-504">
            <a:extLst xmlns:a="http://schemas.openxmlformats.org/drawingml/2006/main">
              <a:ext uri="{FF2B5EF4-FFF2-40B4-BE49-F238E27FC236}">
                <a16:creationId xmlns:a16="http://schemas.microsoft.com/office/drawing/2014/main" id="{577A33C2-29B3-4D11-B737-9A19986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3811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19050">
            <a:solidFill>
              <a:srgbClr val="386B56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1F31C-F8F1-4038-9E11-2111461E5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6540882944324">
            <a:extLst>
              <a:ext uri="{96DAC541-7B7A-43D3-8B79-37D633B846F1}">
                <asvg:svgBlip xmlns:asvg="http://schemas.microsoft.com/office/drawing/2016/SVG/main" r:embed="R6fe568fc19834a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38325" y="17526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0" name="text-505">
            <a:extLst xmlns:a="http://schemas.openxmlformats.org/drawingml/2006/main">
              <a:ext uri="{FF2B5EF4-FFF2-40B4-BE49-F238E27FC236}">
                <a16:creationId xmlns:a16="http://schemas.microsoft.com/office/drawing/2014/main" id="{9FC4E5AD-B563-46E5-990C-AD39AD70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33725"/>
            <a:ext cx="3390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遗传多样性</a:t>
            </a:r>
          </a:p>
        </p:txBody>
      </p:sp>
      <p:sp>
        <p:nvSpPr>
          <p:cNvPr id="11" name="text-506">
            <a:extLst xmlns:a="http://schemas.openxmlformats.org/drawingml/2006/main">
              <a:ext uri="{FF2B5EF4-FFF2-40B4-BE49-F238E27FC236}">
                <a16:creationId xmlns:a16="http://schemas.microsoft.com/office/drawing/2014/main" id="{49DF2B1B-95A5-41C0-8D50-B04AA9DA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2857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保存不同品种与遗传资源</a:t>
            </a:r>
          </a:p>
        </p:txBody>
      </p:sp>
      <p:sp>
        <p:nvSpPr>
          <p:cNvPr id="12" name="rule-507">
            <a:extLst xmlns:a="http://schemas.openxmlformats.org/drawingml/2006/main">
              <a:ext uri="{FF2B5EF4-FFF2-40B4-BE49-F238E27FC236}">
                <a16:creationId xmlns:a16="http://schemas.microsoft.com/office/drawing/2014/main" id="{CACF5CA2-3D17-4A2B-ADC9-011A0368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05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6B56"/>
            </a:solidFill>
            <a:prstDash val="solid"/>
          </a:ln>
        </p:spPr>
      </p:sp>
      <p:sp>
        <p:nvSpPr>
          <p:cNvPr id="13" name="circle-508">
            <a:extLst xmlns:a="http://schemas.openxmlformats.org/drawingml/2006/main">
              <a:ext uri="{FF2B5EF4-FFF2-40B4-BE49-F238E27FC236}">
                <a16:creationId xmlns:a16="http://schemas.microsoft.com/office/drawing/2014/main" id="{A5643E78-0AF7-4113-82F2-1B1790FB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811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19050">
            <a:solidFill>
              <a:srgbClr val="386B56"/>
            </a:solidFill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204DD-7BD9-46C6-B12C-AD12AB68A2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9bbeffc094aaa">
            <a:extLst>
              <a:ext uri="{96DAC541-7B7A-43D3-8B79-37D633B846F1}">
                <asvg:svgBlip xmlns:asvg="http://schemas.microsoft.com/office/drawing/2016/SVG/main" r:embed="Re926f757f22648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62625" y="17526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5" name="text-509">
            <a:extLst xmlns:a="http://schemas.openxmlformats.org/drawingml/2006/main">
              <a:ext uri="{FF2B5EF4-FFF2-40B4-BE49-F238E27FC236}">
                <a16:creationId xmlns:a16="http://schemas.microsoft.com/office/drawing/2014/main" id="{6ADC307D-D4AE-49E3-B3E3-9782A240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33725"/>
            <a:ext cx="3390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物种多样性</a:t>
            </a:r>
          </a:p>
        </p:txBody>
      </p:sp>
      <p:sp>
        <p:nvSpPr>
          <p:cNvPr id="16" name="text-510">
            <a:extLst xmlns:a="http://schemas.openxmlformats.org/drawingml/2006/main">
              <a:ext uri="{FF2B5EF4-FFF2-40B4-BE49-F238E27FC236}">
                <a16:creationId xmlns:a16="http://schemas.microsoft.com/office/drawing/2014/main" id="{AF478AF6-C872-46AB-8C19-A8CCBD35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00525"/>
            <a:ext cx="2857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关注珍稀物种，也关注普通物种</a:t>
            </a:r>
          </a:p>
        </p:txBody>
      </p:sp>
      <p:sp>
        <p:nvSpPr>
          <p:cNvPr id="17" name="rule-511">
            <a:extLst xmlns:a="http://schemas.openxmlformats.org/drawingml/2006/main">
              <a:ext uri="{FF2B5EF4-FFF2-40B4-BE49-F238E27FC236}">
                <a16:creationId xmlns:a16="http://schemas.microsoft.com/office/drawing/2014/main" id="{5A52E5F5-ED02-4D75-90B1-B6E1374B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0502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6B56"/>
            </a:solidFill>
            <a:prstDash val="solid"/>
          </a:ln>
        </p:spPr>
      </p:sp>
      <p:sp>
        <p:nvSpPr>
          <p:cNvPr id="18" name="circle-512">
            <a:extLst xmlns:a="http://schemas.openxmlformats.org/drawingml/2006/main">
              <a:ext uri="{FF2B5EF4-FFF2-40B4-BE49-F238E27FC236}">
                <a16:creationId xmlns:a16="http://schemas.microsoft.com/office/drawing/2014/main" id="{DD96838E-2BBF-4BF1-953F-630307E4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3811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19050">
            <a:solidFill>
              <a:srgbClr val="386B56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9EEC4-2969-4A04-BD4E-876E5F1D1F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c85753899423d">
            <a:extLst>
              <a:ext uri="{96DAC541-7B7A-43D3-8B79-37D633B846F1}">
                <asvg:svgBlip xmlns:asvg="http://schemas.microsoft.com/office/drawing/2016/SVG/main" r:embed="R752ead53bdc240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86925" y="17526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0" name="text-513">
            <a:extLst xmlns:a="http://schemas.openxmlformats.org/drawingml/2006/main">
              <a:ext uri="{FF2B5EF4-FFF2-40B4-BE49-F238E27FC236}">
                <a16:creationId xmlns:a16="http://schemas.microsoft.com/office/drawing/2014/main" id="{55901265-2D06-4C90-9040-BB5B06FA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33725"/>
            <a:ext cx="33909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生态系统多样性</a:t>
            </a:r>
          </a:p>
        </p:txBody>
      </p:sp>
      <p:sp>
        <p:nvSpPr>
          <p:cNvPr id="21" name="text-514">
            <a:extLst xmlns:a="http://schemas.openxmlformats.org/drawingml/2006/main">
              <a:ext uri="{FF2B5EF4-FFF2-40B4-BE49-F238E27FC236}">
                <a16:creationId xmlns:a16="http://schemas.microsoft.com/office/drawing/2014/main" id="{960A6479-162F-4DC9-980D-0AF02402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00525"/>
            <a:ext cx="2857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维护森林、湿地、河流等多种生境</a:t>
            </a:r>
          </a:p>
        </p:txBody>
      </p:sp>
      <p:sp>
        <p:nvSpPr>
          <p:cNvPr id="22" name="surface-515">
            <a:extLst xmlns:a="http://schemas.openxmlformats.org/drawingml/2006/main">
              <a:ext uri="{FF2B5EF4-FFF2-40B4-BE49-F238E27FC236}">
                <a16:creationId xmlns:a16="http://schemas.microsoft.com/office/drawing/2014/main" id="{8568C705-4592-4E8E-A4C4-DB3C696D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48325"/>
            <a:ext cx="11239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516">
            <a:extLst xmlns:a="http://schemas.openxmlformats.org/drawingml/2006/main">
              <a:ext uri="{FF2B5EF4-FFF2-40B4-BE49-F238E27FC236}">
                <a16:creationId xmlns:a16="http://schemas.microsoft.com/office/drawing/2014/main" id="{57237BF5-43BF-4415-94C0-67F45A9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保护生物，也要保护栖息地与生态联系</a:t>
            </a:r>
          </a:p>
        </p:txBody>
      </p:sp>
    </p:spTree>
    <p:extLst>
      <p:ext uri="{BB962C8B-B14F-4D97-AF65-F5344CB8AC3E}">
        <p14:creationId xmlns:p14="http://schemas.microsoft.com/office/powerpoint/2010/main" val="14629981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-517">
            <a:extLst xmlns:a="http://schemas.openxmlformats.org/drawingml/2006/main">
              <a:ext uri="{FF2B5EF4-FFF2-40B4-BE49-F238E27FC236}">
                <a16:creationId xmlns:a16="http://schemas.microsoft.com/office/drawing/2014/main" id="{FBD89C12-DDF7-40B6-9988-B25838B2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518">
            <a:extLst xmlns:a="http://schemas.openxmlformats.org/drawingml/2006/main">
              <a:ext uri="{FF2B5EF4-FFF2-40B4-BE49-F238E27FC236}">
                <a16:creationId xmlns:a16="http://schemas.microsoft.com/office/drawing/2014/main" id="{5442F0C2-E29A-4C6E-9537-979C36D2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519">
            <a:extLst xmlns:a="http://schemas.openxmlformats.org/drawingml/2006/main">
              <a:ext uri="{FF2B5EF4-FFF2-40B4-BE49-F238E27FC236}">
                <a16:creationId xmlns:a16="http://schemas.microsoft.com/office/drawing/2014/main" id="{BCF26948-8518-4EB0-A45B-8F97F69E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20">
            <a:extLst xmlns:a="http://schemas.openxmlformats.org/drawingml/2006/main">
              <a:ext uri="{FF2B5EF4-FFF2-40B4-BE49-F238E27FC236}">
                <a16:creationId xmlns:a16="http://schemas.microsoft.com/office/drawing/2014/main" id="{4A69B792-D406-47B3-A6F0-F987C2C3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一条流域，上下游需要共同治理</a:t>
            </a:r>
          </a:p>
        </p:txBody>
      </p:sp>
      <p:sp>
        <p:nvSpPr>
          <p:cNvPr id="5" name="rule-521">
            <a:extLst xmlns:a="http://schemas.openxmlformats.org/drawingml/2006/main">
              <a:ext uri="{FF2B5EF4-FFF2-40B4-BE49-F238E27FC236}">
                <a16:creationId xmlns:a16="http://schemas.microsoft.com/office/drawing/2014/main" id="{AA1E4ABE-725E-4165-ACCE-1218C8E8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522">
            <a:extLst xmlns:a="http://schemas.openxmlformats.org/drawingml/2006/main">
              <a:ext uri="{FF2B5EF4-FFF2-40B4-BE49-F238E27FC236}">
                <a16:creationId xmlns:a16="http://schemas.microsoft.com/office/drawing/2014/main" id="{D696ECF7-CA56-4C67-B7A5-C2A6886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出处：党的二十大报告（2022）；《美丽中国建设意见》（2023）。完整文献及讲解见备注</a:t>
            </a:r>
          </a:p>
        </p:txBody>
      </p:sp>
      <p:sp>
        <p:nvSpPr>
          <p:cNvPr id="7" name="text-523">
            <a:extLst xmlns:a="http://schemas.openxmlformats.org/drawingml/2006/main">
              <a:ext uri="{FF2B5EF4-FFF2-40B4-BE49-F238E27FC236}">
                <a16:creationId xmlns:a16="http://schemas.microsoft.com/office/drawing/2014/main" id="{DD04D6BD-717E-4114-AFB3-AADBD35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sp>
        <p:nvSpPr>
          <p:cNvPr id="8" name="surface-524">
            <a:extLst xmlns:a="http://schemas.openxmlformats.org/drawingml/2006/main">
              <a:ext uri="{FF2B5EF4-FFF2-40B4-BE49-F238E27FC236}">
                <a16:creationId xmlns:a16="http://schemas.microsoft.com/office/drawing/2014/main" id="{B50B59EC-D8D7-4862-B3EC-E5EAF963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525">
            <a:extLst xmlns:a="http://schemas.openxmlformats.org/drawingml/2006/main">
              <a:ext uri="{FF2B5EF4-FFF2-40B4-BE49-F238E27FC236}">
                <a16:creationId xmlns:a16="http://schemas.microsoft.com/office/drawing/2014/main" id="{DBA0DF53-D305-480A-8290-981F95D4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26">
            <a:extLst xmlns:a="http://schemas.openxmlformats.org/drawingml/2006/main">
              <a:ext uri="{FF2B5EF4-FFF2-40B4-BE49-F238E27FC236}">
                <a16:creationId xmlns:a16="http://schemas.microsoft.com/office/drawing/2014/main" id="{97710770-FDCC-429B-A435-7331B9F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-527">
            <a:extLst xmlns:a="http://schemas.openxmlformats.org/drawingml/2006/main">
              <a:ext uri="{FF2B5EF4-FFF2-40B4-BE49-F238E27FC236}">
                <a16:creationId xmlns:a16="http://schemas.microsoft.com/office/drawing/2014/main" id="{5FC913FB-C4C2-46C0-8D56-6F40A088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共享生态联系</a:t>
            </a:r>
          </a:p>
        </p:txBody>
      </p:sp>
      <p:sp>
        <p:nvSpPr>
          <p:cNvPr id="12" name="text-528">
            <a:extLst xmlns:a="http://schemas.openxmlformats.org/drawingml/2006/main">
              <a:ext uri="{FF2B5EF4-FFF2-40B4-BE49-F238E27FC236}">
                <a16:creationId xmlns:a16="http://schemas.microsoft.com/office/drawing/2014/main" id="{1222BD6D-2E3D-4D16-9110-4315B96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水资源、污染与生态效益跨越行政边界</a:t>
            </a:r>
          </a:p>
        </p:txBody>
      </p:sp>
      <p:sp>
        <p:nvSpPr>
          <p:cNvPr id="13" name="arrow-529">
            <a:extLst xmlns:a="http://schemas.openxmlformats.org/drawingml/2006/main">
              <a:ext uri="{FF2B5EF4-FFF2-40B4-BE49-F238E27FC236}">
                <a16:creationId xmlns:a16="http://schemas.microsoft.com/office/drawing/2014/main" id="{0CAD78C8-2D21-42DB-8E51-4B775918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530">
            <a:extLst xmlns:a="http://schemas.openxmlformats.org/drawingml/2006/main">
              <a:ext uri="{FF2B5EF4-FFF2-40B4-BE49-F238E27FC236}">
                <a16:creationId xmlns:a16="http://schemas.microsoft.com/office/drawing/2014/main" id="{03DFBBCA-7804-4609-B50A-A80599B7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531">
            <a:extLst xmlns:a="http://schemas.openxmlformats.org/drawingml/2006/main">
              <a:ext uri="{FF2B5EF4-FFF2-40B4-BE49-F238E27FC236}">
                <a16:creationId xmlns:a16="http://schemas.microsoft.com/office/drawing/2014/main" id="{E9A10BC6-2D72-4EF3-875F-A52B8761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532">
            <a:extLst xmlns:a="http://schemas.openxmlformats.org/drawingml/2006/main">
              <a:ext uri="{FF2B5EF4-FFF2-40B4-BE49-F238E27FC236}">
                <a16:creationId xmlns:a16="http://schemas.microsoft.com/office/drawing/2014/main" id="{CAC06F97-A942-4A70-BF38-E7FDF5F6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-533">
            <a:extLst xmlns:a="http://schemas.openxmlformats.org/drawingml/2006/main">
              <a:ext uri="{FF2B5EF4-FFF2-40B4-BE49-F238E27FC236}">
                <a16:creationId xmlns:a16="http://schemas.microsoft.com/office/drawing/2014/main" id="{1C0C6747-E8CC-4439-BC9A-56AF68E3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明确共同责任</a:t>
            </a:r>
          </a:p>
        </p:txBody>
      </p:sp>
      <p:sp>
        <p:nvSpPr>
          <p:cNvPr id="18" name="text-534">
            <a:extLst xmlns:a="http://schemas.openxmlformats.org/drawingml/2006/main">
              <a:ext uri="{FF2B5EF4-FFF2-40B4-BE49-F238E27FC236}">
                <a16:creationId xmlns:a16="http://schemas.microsoft.com/office/drawing/2014/main" id="{F167EA5F-3616-4CF6-86CC-FFABFB0A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推动跨地区、跨部门协同治理</a:t>
            </a:r>
          </a:p>
        </p:txBody>
      </p:sp>
      <p:sp>
        <p:nvSpPr>
          <p:cNvPr id="19" name="arrow-535">
            <a:extLst xmlns:a="http://schemas.openxmlformats.org/drawingml/2006/main">
              <a:ext uri="{FF2B5EF4-FFF2-40B4-BE49-F238E27FC236}">
                <a16:creationId xmlns:a16="http://schemas.microsoft.com/office/drawing/2014/main" id="{6B736E7F-BCF9-4A2B-8423-3EDA7B97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536">
            <a:extLst xmlns:a="http://schemas.openxmlformats.org/drawingml/2006/main">
              <a:ext uri="{FF2B5EF4-FFF2-40B4-BE49-F238E27FC236}">
                <a16:creationId xmlns:a16="http://schemas.microsoft.com/office/drawing/2014/main" id="{E489D5AE-B5C6-484B-B838-B07FD8D4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537">
            <a:extLst xmlns:a="http://schemas.openxmlformats.org/drawingml/2006/main">
              <a:ext uri="{FF2B5EF4-FFF2-40B4-BE49-F238E27FC236}">
                <a16:creationId xmlns:a16="http://schemas.microsoft.com/office/drawing/2014/main" id="{CCA65706-7A7D-4651-BD35-B6D368E6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538">
            <a:extLst xmlns:a="http://schemas.openxmlformats.org/drawingml/2006/main">
              <a:ext uri="{FF2B5EF4-FFF2-40B4-BE49-F238E27FC236}">
                <a16:creationId xmlns:a16="http://schemas.microsoft.com/office/drawing/2014/main" id="{31F48EF8-FD01-40CC-ACEA-20E3D213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text-539">
            <a:extLst xmlns:a="http://schemas.openxmlformats.org/drawingml/2006/main">
              <a:ext uri="{FF2B5EF4-FFF2-40B4-BE49-F238E27FC236}">
                <a16:creationId xmlns:a16="http://schemas.microsoft.com/office/drawing/2014/main" id="{EB6D51C6-FCAA-4954-8D1B-6A35B4C2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形成长效协作</a:t>
            </a:r>
          </a:p>
        </p:txBody>
      </p:sp>
      <p:sp>
        <p:nvSpPr>
          <p:cNvPr id="24" name="text-540">
            <a:extLst xmlns:a="http://schemas.openxmlformats.org/drawingml/2006/main">
              <a:ext uri="{FF2B5EF4-FFF2-40B4-BE49-F238E27FC236}">
                <a16:creationId xmlns:a16="http://schemas.microsoft.com/office/drawing/2014/main" id="{78054F22-53F2-4B9C-A6D9-6E96E07A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协调保护投入、发展需求与生态受益</a:t>
            </a:r>
          </a:p>
        </p:txBody>
      </p:sp>
      <p:sp>
        <p:nvSpPr>
          <p:cNvPr id="25" name="surface-541">
            <a:extLst xmlns:a="http://schemas.openxmlformats.org/drawingml/2006/main">
              <a:ext uri="{FF2B5EF4-FFF2-40B4-BE49-F238E27FC236}">
                <a16:creationId xmlns:a16="http://schemas.microsoft.com/office/drawing/2014/main" id="{8E7255D4-611D-4897-87D4-9EBC3A94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42">
            <a:extLst xmlns:a="http://schemas.openxmlformats.org/drawingml/2006/main">
              <a:ext uri="{FF2B5EF4-FFF2-40B4-BE49-F238E27FC236}">
                <a16:creationId xmlns:a16="http://schemas.microsoft.com/office/drawing/2014/main" id="{7D204801-A4C5-4951-8120-E56FFA67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上下游共享生态环境，也要共担治理责任</a:t>
            </a:r>
          </a:p>
        </p:txBody>
      </p:sp>
      <p:sp>
        <p:nvSpPr>
          <p:cNvPr id="27" name="surface-543">
            <a:extLst xmlns:a="http://schemas.openxmlformats.org/drawingml/2006/main">
              <a:ext uri="{FF2B5EF4-FFF2-40B4-BE49-F238E27FC236}">
                <a16:creationId xmlns:a16="http://schemas.microsoft.com/office/drawing/2014/main" id="{54356049-8285-405D-8DA4-033DC87F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circle-544">
            <a:extLst xmlns:a="http://schemas.openxmlformats.org/drawingml/2006/main">
              <a:ext uri="{FF2B5EF4-FFF2-40B4-BE49-F238E27FC236}">
                <a16:creationId xmlns:a16="http://schemas.microsoft.com/office/drawing/2014/main" id="{5AA1423E-4880-4504-B675-7CAAB552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72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5F660-2D9F-4C88-951A-B4AE4316C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1d945a67c4851">
            <a:extLst>
              <a:ext uri="{96DAC541-7B7A-43D3-8B79-37D633B846F1}">
                <asvg:svgBlip xmlns:asvg="http://schemas.microsoft.com/office/drawing/2016/SVG/main" r:embed="Ra09fe9ebe8a244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578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" name="text-545">
            <a:extLst xmlns:a="http://schemas.openxmlformats.org/drawingml/2006/main">
              <a:ext uri="{FF2B5EF4-FFF2-40B4-BE49-F238E27FC236}">
                <a16:creationId xmlns:a16="http://schemas.microsoft.com/office/drawing/2014/main" id="{179B4A63-9F48-44A9-88B1-3FB07FC0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1" name="text-546">
            <a:extLst xmlns:a="http://schemas.openxmlformats.org/drawingml/2006/main">
              <a:ext uri="{FF2B5EF4-FFF2-40B4-BE49-F238E27FC236}">
                <a16:creationId xmlns:a16="http://schemas.microsoft.com/office/drawing/2014/main" id="{F08E84A6-371D-41F2-8FCF-2201CBA1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435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上游保护投入，为什么可能让下游受益？</a:t>
            </a:r>
          </a:p>
        </p:txBody>
      </p:sp>
    </p:spTree>
    <p:extLst>
      <p:ext uri="{BB962C8B-B14F-4D97-AF65-F5344CB8AC3E}">
        <p14:creationId xmlns:p14="http://schemas.microsoft.com/office/powerpoint/2010/main" val="8606038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urface-547">
            <a:extLst xmlns:a="http://schemas.openxmlformats.org/drawingml/2006/main">
              <a:ext uri="{FF2B5EF4-FFF2-40B4-BE49-F238E27FC236}">
                <a16:creationId xmlns:a16="http://schemas.microsoft.com/office/drawing/2014/main" id="{03E5F091-B0B5-4E88-8A45-F7B0DDC4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548">
            <a:extLst xmlns:a="http://schemas.openxmlformats.org/drawingml/2006/main">
              <a:ext uri="{FF2B5EF4-FFF2-40B4-BE49-F238E27FC236}">
                <a16:creationId xmlns:a16="http://schemas.microsoft.com/office/drawing/2014/main" id="{24EE5B81-5F1C-4FD9-9011-D594247D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549">
            <a:extLst xmlns:a="http://schemas.openxmlformats.org/drawingml/2006/main">
              <a:ext uri="{FF2B5EF4-FFF2-40B4-BE49-F238E27FC236}">
                <a16:creationId xmlns:a16="http://schemas.microsoft.com/office/drawing/2014/main" id="{E44283AF-38B3-42FC-ADDD-22B9A428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50">
            <a:extLst xmlns:a="http://schemas.openxmlformats.org/drawingml/2006/main">
              <a:ext uri="{FF2B5EF4-FFF2-40B4-BE49-F238E27FC236}">
                <a16:creationId xmlns:a16="http://schemas.microsoft.com/office/drawing/2014/main" id="{6E3E8839-007B-45D9-B36A-0F859BFE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绿色转型，贯穿产品的整个生命周期</a:t>
            </a:r>
          </a:p>
        </p:txBody>
      </p:sp>
      <p:sp>
        <p:nvSpPr>
          <p:cNvPr id="5" name="rule-551">
            <a:extLst xmlns:a="http://schemas.openxmlformats.org/drawingml/2006/main">
              <a:ext uri="{FF2B5EF4-FFF2-40B4-BE49-F238E27FC236}">
                <a16:creationId xmlns:a16="http://schemas.microsoft.com/office/drawing/2014/main" id="{1E5F7E0F-EA8D-4B39-996B-1C0544A3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552">
            <a:extLst xmlns:a="http://schemas.openxmlformats.org/drawingml/2006/main">
              <a:ext uri="{FF2B5EF4-FFF2-40B4-BE49-F238E27FC236}">
                <a16:creationId xmlns:a16="http://schemas.microsoft.com/office/drawing/2014/main" id="{ADCCB93B-DCE7-4A3A-9F33-D2BD4A78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出处：党的二十大报告（2022）；《全面绿色转型意见》（2024）。完整文献及讲解见备注</a:t>
            </a:r>
          </a:p>
        </p:txBody>
      </p:sp>
      <p:sp>
        <p:nvSpPr>
          <p:cNvPr id="7" name="text-553">
            <a:extLst xmlns:a="http://schemas.openxmlformats.org/drawingml/2006/main">
              <a:ext uri="{FF2B5EF4-FFF2-40B4-BE49-F238E27FC236}">
                <a16:creationId xmlns:a16="http://schemas.microsoft.com/office/drawing/2014/main" id="{33B02921-0F5B-434B-B80E-96045A50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sp>
        <p:nvSpPr>
          <p:cNvPr id="8" name="surface-554">
            <a:extLst xmlns:a="http://schemas.openxmlformats.org/drawingml/2006/main">
              <a:ext uri="{FF2B5EF4-FFF2-40B4-BE49-F238E27FC236}">
                <a16:creationId xmlns:a16="http://schemas.microsoft.com/office/drawing/2014/main" id="{A1EEE558-EEDB-4E57-AD6A-3BDC9685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555">
            <a:extLst xmlns:a="http://schemas.openxmlformats.org/drawingml/2006/main">
              <a:ext uri="{FF2B5EF4-FFF2-40B4-BE49-F238E27FC236}">
                <a16:creationId xmlns:a16="http://schemas.microsoft.com/office/drawing/2014/main" id="{71C0FCD0-E6BB-4EAF-8266-B51C0A47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56">
            <a:extLst xmlns:a="http://schemas.openxmlformats.org/drawingml/2006/main">
              <a:ext uri="{FF2B5EF4-FFF2-40B4-BE49-F238E27FC236}">
                <a16:creationId xmlns:a16="http://schemas.microsoft.com/office/drawing/2014/main" id="{1FCD1694-4F19-4B87-9A61-C5CE5624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EEC84-D91D-44D1-B802-CB1C1A11F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c8a241ff54393">
            <a:extLst>
              <a:ext uri="{96DAC541-7B7A-43D3-8B79-37D633B846F1}">
                <asvg:svgBlip xmlns:asvg="http://schemas.microsoft.com/office/drawing/2016/SVG/main" r:embed="Rc200807298064c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2" name="text-557">
            <a:extLst xmlns:a="http://schemas.openxmlformats.org/drawingml/2006/main">
              <a:ext uri="{FF2B5EF4-FFF2-40B4-BE49-F238E27FC236}">
                <a16:creationId xmlns:a16="http://schemas.microsoft.com/office/drawing/2014/main" id="{B4B16EE5-EE25-4AE5-965B-9A4203AD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原料</a:t>
            </a:r>
          </a:p>
        </p:txBody>
      </p:sp>
      <p:sp>
        <p:nvSpPr>
          <p:cNvPr id="13" name="arrow-558">
            <a:extLst xmlns:a="http://schemas.openxmlformats.org/drawingml/2006/main">
              <a:ext uri="{FF2B5EF4-FFF2-40B4-BE49-F238E27FC236}">
                <a16:creationId xmlns:a16="http://schemas.microsoft.com/office/drawing/2014/main" id="{E87226E7-8A5D-4BCD-892E-174964E5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05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559">
            <a:extLst xmlns:a="http://schemas.openxmlformats.org/drawingml/2006/main">
              <a:ext uri="{FF2B5EF4-FFF2-40B4-BE49-F238E27FC236}">
                <a16:creationId xmlns:a16="http://schemas.microsoft.com/office/drawing/2014/main" id="{B4E21E96-BE81-4F73-AF81-88FB364E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560">
            <a:extLst xmlns:a="http://schemas.openxmlformats.org/drawingml/2006/main">
              <a:ext uri="{FF2B5EF4-FFF2-40B4-BE49-F238E27FC236}">
                <a16:creationId xmlns:a16="http://schemas.microsoft.com/office/drawing/2014/main" id="{C38A3F26-ED13-42ED-BAD9-D461F20A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561">
            <a:extLst xmlns:a="http://schemas.openxmlformats.org/drawingml/2006/main">
              <a:ext uri="{FF2B5EF4-FFF2-40B4-BE49-F238E27FC236}">
                <a16:creationId xmlns:a16="http://schemas.microsoft.com/office/drawing/2014/main" id="{C62256BA-9F9B-40CD-8B49-ABE68453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D893F-204B-4A57-ABCF-08181F360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1c888b4d2414c">
            <a:extLst>
              <a:ext uri="{96DAC541-7B7A-43D3-8B79-37D633B846F1}">
                <asvg:svgBlip xmlns:asvg="http://schemas.microsoft.com/office/drawing/2016/SVG/main" r:embed="Rf892360db3d441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04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8" name="text-562">
            <a:extLst xmlns:a="http://schemas.openxmlformats.org/drawingml/2006/main">
              <a:ext uri="{FF2B5EF4-FFF2-40B4-BE49-F238E27FC236}">
                <a16:creationId xmlns:a16="http://schemas.microsoft.com/office/drawing/2014/main" id="{901A74A3-C6A1-4E33-94A6-7560DB58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制造</a:t>
            </a:r>
          </a:p>
        </p:txBody>
      </p:sp>
      <p:sp>
        <p:nvSpPr>
          <p:cNvPr id="19" name="arrow-563">
            <a:extLst xmlns:a="http://schemas.openxmlformats.org/drawingml/2006/main">
              <a:ext uri="{FF2B5EF4-FFF2-40B4-BE49-F238E27FC236}">
                <a16:creationId xmlns:a16="http://schemas.microsoft.com/office/drawing/2014/main" id="{E1E15770-1715-4027-8210-ADEE328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564">
            <a:extLst xmlns:a="http://schemas.openxmlformats.org/drawingml/2006/main">
              <a:ext uri="{FF2B5EF4-FFF2-40B4-BE49-F238E27FC236}">
                <a16:creationId xmlns:a16="http://schemas.microsoft.com/office/drawing/2014/main" id="{26ADE734-E9B9-4238-8BEB-EC09CC17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565">
            <a:extLst xmlns:a="http://schemas.openxmlformats.org/drawingml/2006/main">
              <a:ext uri="{FF2B5EF4-FFF2-40B4-BE49-F238E27FC236}">
                <a16:creationId xmlns:a16="http://schemas.microsoft.com/office/drawing/2014/main" id="{DC051C44-EA4F-4591-9D99-F702004F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566">
            <a:extLst xmlns:a="http://schemas.openxmlformats.org/drawingml/2006/main">
              <a:ext uri="{FF2B5EF4-FFF2-40B4-BE49-F238E27FC236}">
                <a16:creationId xmlns:a16="http://schemas.microsoft.com/office/drawing/2014/main" id="{859C1A3A-1798-4F41-8205-C07F7C0E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79FB4-F3EE-47EB-864E-191AF0C9E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dc18dda4748c9">
            <a:extLst>
              <a:ext uri="{96DAC541-7B7A-43D3-8B79-37D633B846F1}">
                <asvg:svgBlip xmlns:asvg="http://schemas.microsoft.com/office/drawing/2016/SVG/main" r:embed="Rd314fbed9eb044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245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4" name="text-567">
            <a:extLst xmlns:a="http://schemas.openxmlformats.org/drawingml/2006/main">
              <a:ext uri="{FF2B5EF4-FFF2-40B4-BE49-F238E27FC236}">
                <a16:creationId xmlns:a16="http://schemas.microsoft.com/office/drawing/2014/main" id="{F77700CE-2686-46DC-90C0-E335DFCE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运输</a:t>
            </a:r>
          </a:p>
        </p:txBody>
      </p:sp>
      <p:sp>
        <p:nvSpPr>
          <p:cNvPr id="25" name="arrow-568">
            <a:extLst xmlns:a="http://schemas.openxmlformats.org/drawingml/2006/main">
              <a:ext uri="{FF2B5EF4-FFF2-40B4-BE49-F238E27FC236}">
                <a16:creationId xmlns:a16="http://schemas.microsoft.com/office/drawing/2014/main" id="{64DB992A-33E5-4A99-95C6-3AE78B64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urface-569">
            <a:extLst xmlns:a="http://schemas.openxmlformats.org/drawingml/2006/main">
              <a:ext uri="{FF2B5EF4-FFF2-40B4-BE49-F238E27FC236}">
                <a16:creationId xmlns:a16="http://schemas.microsoft.com/office/drawing/2014/main" id="{4B561BA4-0C09-425A-9F7B-002AFAB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urface-570">
            <a:extLst xmlns:a="http://schemas.openxmlformats.org/drawingml/2006/main">
              <a:ext uri="{FF2B5EF4-FFF2-40B4-BE49-F238E27FC236}">
                <a16:creationId xmlns:a16="http://schemas.microsoft.com/office/drawing/2014/main" id="{671881AA-AE9E-45E3-B71E-45C2D96A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571">
            <a:extLst xmlns:a="http://schemas.openxmlformats.org/drawingml/2006/main">
              <a:ext uri="{FF2B5EF4-FFF2-40B4-BE49-F238E27FC236}">
                <a16:creationId xmlns:a16="http://schemas.microsoft.com/office/drawing/2014/main" id="{E6CA56AF-582E-4C9B-A28F-F97A5549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33EB7-8CF4-4ACA-9DAA-DADF40474D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63424a33244a6">
            <a:extLst>
              <a:ext uri="{96DAC541-7B7A-43D3-8B79-37D633B846F1}">
                <asvg:svgBlip xmlns:asvg="http://schemas.microsoft.com/office/drawing/2016/SVG/main" r:embed="R020579664f4c4e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486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0" name="text-572">
            <a:extLst xmlns:a="http://schemas.openxmlformats.org/drawingml/2006/main">
              <a:ext uri="{FF2B5EF4-FFF2-40B4-BE49-F238E27FC236}">
                <a16:creationId xmlns:a16="http://schemas.microsoft.com/office/drawing/2014/main" id="{B596D6A8-35E8-46DC-BD4B-BCBD3A43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使用</a:t>
            </a:r>
          </a:p>
        </p:txBody>
      </p:sp>
      <p:sp>
        <p:nvSpPr>
          <p:cNvPr id="31" name="arrow-573">
            <a:extLst xmlns:a="http://schemas.openxmlformats.org/drawingml/2006/main">
              <a:ext uri="{FF2B5EF4-FFF2-40B4-BE49-F238E27FC236}">
                <a16:creationId xmlns:a16="http://schemas.microsoft.com/office/drawing/2014/main" id="{75551BC9-9B7D-4B5B-9FB8-A53133E6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05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rface-574">
            <a:extLst xmlns:a="http://schemas.openxmlformats.org/drawingml/2006/main">
              <a:ext uri="{FF2B5EF4-FFF2-40B4-BE49-F238E27FC236}">
                <a16:creationId xmlns:a16="http://schemas.microsoft.com/office/drawing/2014/main" id="{7311F2DF-9ACD-4F64-8F94-42A95CC6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urface-575">
            <a:extLst xmlns:a="http://schemas.openxmlformats.org/drawingml/2006/main">
              <a:ext uri="{FF2B5EF4-FFF2-40B4-BE49-F238E27FC236}">
                <a16:creationId xmlns:a16="http://schemas.microsoft.com/office/drawing/2014/main" id="{A1F539A7-DBDA-41D6-AE5B-C4C3DD71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576">
            <a:extLst xmlns:a="http://schemas.openxmlformats.org/drawingml/2006/main">
              <a:ext uri="{FF2B5EF4-FFF2-40B4-BE49-F238E27FC236}">
                <a16:creationId xmlns:a16="http://schemas.microsoft.com/office/drawing/2014/main" id="{05BC2604-143C-422B-B930-C5EA0CF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C36A1E-3BF4-47F0-923E-CFE1BABBB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3b571c8e04f69">
            <a:extLst>
              <a:ext uri="{96DAC541-7B7A-43D3-8B79-37D633B846F1}">
                <asvg:svgBlip xmlns:asvg="http://schemas.microsoft.com/office/drawing/2016/SVG/main" r:embed="R7391230cdc9d46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727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6" name="text-577">
            <a:extLst xmlns:a="http://schemas.openxmlformats.org/drawingml/2006/main">
              <a:ext uri="{FF2B5EF4-FFF2-40B4-BE49-F238E27FC236}">
                <a16:creationId xmlns:a16="http://schemas.microsoft.com/office/drawing/2014/main" id="{EE990CD0-31A4-44EC-A9FA-9150B6BA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回收</a:t>
            </a:r>
          </a:p>
        </p:txBody>
      </p:sp>
      <p:sp>
        <p:nvSpPr>
          <p:cNvPr id="37" name="rule-578">
            <a:extLst xmlns:a="http://schemas.openxmlformats.org/drawingml/2006/main">
              <a:ext uri="{FF2B5EF4-FFF2-40B4-BE49-F238E27FC236}">
                <a16:creationId xmlns:a16="http://schemas.microsoft.com/office/drawing/2014/main" id="{FD5393E4-FDD1-41E2-993B-9CA0D57A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9305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6B56"/>
            </a:solidFill>
            <a:prstDash val="solid"/>
          </a:ln>
        </p:spPr>
      </p:sp>
      <p:sp>
        <p:nvSpPr>
          <p:cNvPr id="38" name="rule-579">
            <a:extLst xmlns:a="http://schemas.openxmlformats.org/drawingml/2006/main">
              <a:ext uri="{FF2B5EF4-FFF2-40B4-BE49-F238E27FC236}">
                <a16:creationId xmlns:a16="http://schemas.microsoft.com/office/drawing/2014/main" id="{BB56FB50-0CB0-4DF2-A129-0E33FF97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910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6B56"/>
            </a:solidFill>
            <a:prstDash val="solid"/>
          </a:ln>
        </p:spPr>
      </p:sp>
      <p:sp>
        <p:nvSpPr>
          <p:cNvPr id="39" name="rule-580">
            <a:extLst xmlns:a="http://schemas.openxmlformats.org/drawingml/2006/main">
              <a:ext uri="{FF2B5EF4-FFF2-40B4-BE49-F238E27FC236}">
                <a16:creationId xmlns:a16="http://schemas.microsoft.com/office/drawing/2014/main" id="{D95B5CC3-7720-4C99-88FB-B2CE944E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910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6B56"/>
            </a:solidFill>
            <a:prstDash val="solid"/>
          </a:ln>
        </p:spPr>
      </p:sp>
      <p:sp>
        <p:nvSpPr>
          <p:cNvPr id="40" name="text-581">
            <a:extLst xmlns:a="http://schemas.openxmlformats.org/drawingml/2006/main">
              <a:ext uri="{FF2B5EF4-FFF2-40B4-BE49-F238E27FC236}">
                <a16:creationId xmlns:a16="http://schemas.microsoft.com/office/drawing/2014/main" id="{823EAC8F-DC85-4C82-B863-90610BC9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05400"/>
            <a:ext cx="628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rPr>
              <a:t>循环利用 · 全链条观察</a:t>
            </a:r>
          </a:p>
        </p:txBody>
      </p:sp>
      <p:sp>
        <p:nvSpPr>
          <p:cNvPr id="41" name="surface-582">
            <a:extLst xmlns:a="http://schemas.openxmlformats.org/drawingml/2006/main">
              <a:ext uri="{FF2B5EF4-FFF2-40B4-BE49-F238E27FC236}">
                <a16:creationId xmlns:a16="http://schemas.microsoft.com/office/drawing/2014/main" id="{BA7667FA-5DB1-4DEF-80B5-EE97ABDE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05475"/>
            <a:ext cx="1123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583">
            <a:extLst xmlns:a="http://schemas.openxmlformats.org/drawingml/2006/main">
              <a:ext uri="{FF2B5EF4-FFF2-40B4-BE49-F238E27FC236}">
                <a16:creationId xmlns:a16="http://schemas.microsoft.com/office/drawing/2014/main" id="{FAA92795-2BB6-4B9D-B077-1D83FE6B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绿色发展，需要把产品各环节联系起来</a:t>
            </a:r>
          </a:p>
        </p:txBody>
      </p:sp>
    </p:spTree>
    <p:extLst>
      <p:ext uri="{BB962C8B-B14F-4D97-AF65-F5344CB8AC3E}">
        <p14:creationId xmlns:p14="http://schemas.microsoft.com/office/powerpoint/2010/main" val="20854513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urface-584">
            <a:extLst xmlns:a="http://schemas.openxmlformats.org/drawingml/2006/main">
              <a:ext uri="{FF2B5EF4-FFF2-40B4-BE49-F238E27FC236}">
                <a16:creationId xmlns:a16="http://schemas.microsoft.com/office/drawing/2014/main" id="{42D55BFC-00C0-4FDC-8FD7-F520E6EB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585">
            <a:extLst xmlns:a="http://schemas.openxmlformats.org/drawingml/2006/main">
              <a:ext uri="{FF2B5EF4-FFF2-40B4-BE49-F238E27FC236}">
                <a16:creationId xmlns:a16="http://schemas.microsoft.com/office/drawing/2014/main" id="{1B056220-C923-4C34-AFDF-6BFC218D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586">
            <a:extLst xmlns:a="http://schemas.openxmlformats.org/drawingml/2006/main">
              <a:ext uri="{FF2B5EF4-FFF2-40B4-BE49-F238E27FC236}">
                <a16:creationId xmlns:a16="http://schemas.microsoft.com/office/drawing/2014/main" id="{868E41EB-ED03-4ADA-88C9-AD6A6A69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87">
            <a:extLst xmlns:a="http://schemas.openxmlformats.org/drawingml/2006/main">
              <a:ext uri="{FF2B5EF4-FFF2-40B4-BE49-F238E27FC236}">
                <a16:creationId xmlns:a16="http://schemas.microsoft.com/office/drawing/2014/main" id="{F048EC70-5D94-4C14-A989-67AFDF7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能源转型，需要清洁供给与系统安全</a:t>
            </a:r>
          </a:p>
        </p:txBody>
      </p:sp>
      <p:sp>
        <p:nvSpPr>
          <p:cNvPr id="5" name="rule-588">
            <a:extLst xmlns:a="http://schemas.openxmlformats.org/drawingml/2006/main">
              <a:ext uri="{FF2B5EF4-FFF2-40B4-BE49-F238E27FC236}">
                <a16:creationId xmlns:a16="http://schemas.microsoft.com/office/drawing/2014/main" id="{20495097-2489-4AD2-BA4A-72B379C9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589">
            <a:extLst xmlns:a="http://schemas.openxmlformats.org/drawingml/2006/main">
              <a:ext uri="{FF2B5EF4-FFF2-40B4-BE49-F238E27FC236}">
                <a16:creationId xmlns:a16="http://schemas.microsoft.com/office/drawing/2014/main" id="{972CE0F8-5543-41A0-80EB-40842064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出处：党的二十大报告（2022）；《全面绿色转型意见》（2024）；《碳达峰行动方案》（2021）。完整文献及讲解见备注</a:t>
            </a:r>
          </a:p>
        </p:txBody>
      </p:sp>
      <p:sp>
        <p:nvSpPr>
          <p:cNvPr id="7" name="text-590">
            <a:extLst xmlns:a="http://schemas.openxmlformats.org/drawingml/2006/main">
              <a:ext uri="{FF2B5EF4-FFF2-40B4-BE49-F238E27FC236}">
                <a16:creationId xmlns:a16="http://schemas.microsoft.com/office/drawing/2014/main" id="{A98F2FBF-C881-4DD4-89DD-BE381FAA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  <p:sp>
        <p:nvSpPr>
          <p:cNvPr id="8" name="surface-591">
            <a:extLst xmlns:a="http://schemas.openxmlformats.org/drawingml/2006/main">
              <a:ext uri="{FF2B5EF4-FFF2-40B4-BE49-F238E27FC236}">
                <a16:creationId xmlns:a16="http://schemas.microsoft.com/office/drawing/2014/main" id="{F4C86568-69D9-4A57-88A6-A6CAFE9C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5276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592">
            <a:extLst xmlns:a="http://schemas.openxmlformats.org/drawingml/2006/main">
              <a:ext uri="{FF2B5EF4-FFF2-40B4-BE49-F238E27FC236}">
                <a16:creationId xmlns:a16="http://schemas.microsoft.com/office/drawing/2014/main" id="{D4783ABC-2A7A-41FF-9B10-4155A77B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62075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核心观察</a:t>
            </a:r>
          </a:p>
        </p:txBody>
      </p:sp>
      <p:sp>
        <p:nvSpPr>
          <p:cNvPr id="10" name="red-accent-593">
            <a:extLst xmlns:a="http://schemas.openxmlformats.org/drawingml/2006/main">
              <a:ext uri="{FF2B5EF4-FFF2-40B4-BE49-F238E27FC236}">
                <a16:creationId xmlns:a16="http://schemas.microsoft.com/office/drawing/2014/main" id="{C6723B49-DE27-45D8-A366-22F20EA1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d-accent-594">
            <a:extLst xmlns:a="http://schemas.openxmlformats.org/drawingml/2006/main">
              <a:ext uri="{FF2B5EF4-FFF2-40B4-BE49-F238E27FC236}">
                <a16:creationId xmlns:a16="http://schemas.microsoft.com/office/drawing/2014/main" id="{DF884E70-4784-4607-9751-A6162A5C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d-accent-595">
            <a:extLst xmlns:a="http://schemas.openxmlformats.org/drawingml/2006/main">
              <a:ext uri="{FF2B5EF4-FFF2-40B4-BE49-F238E27FC236}">
                <a16:creationId xmlns:a16="http://schemas.microsoft.com/office/drawing/2014/main" id="{7DDAD7D5-36EC-458C-9D1C-C7D9C21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d-accent-596">
            <a:extLst xmlns:a="http://schemas.openxmlformats.org/drawingml/2006/main">
              <a:ext uri="{FF2B5EF4-FFF2-40B4-BE49-F238E27FC236}">
                <a16:creationId xmlns:a16="http://schemas.microsoft.com/office/drawing/2014/main" id="{EFC4333D-6530-4751-B525-BC71487B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d-accent-597">
            <a:extLst xmlns:a="http://schemas.openxmlformats.org/drawingml/2006/main">
              <a:ext uri="{FF2B5EF4-FFF2-40B4-BE49-F238E27FC236}">
                <a16:creationId xmlns:a16="http://schemas.microsoft.com/office/drawing/2014/main" id="{BF1965AF-685F-4028-9712-9D573976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598">
            <a:extLst xmlns:a="http://schemas.openxmlformats.org/drawingml/2006/main">
              <a:ext uri="{FF2B5EF4-FFF2-40B4-BE49-F238E27FC236}">
                <a16:creationId xmlns:a16="http://schemas.microsoft.com/office/drawing/2014/main" id="{417A3245-7532-4C77-B89B-24E35145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6" name="text-599">
            <a:extLst xmlns:a="http://schemas.openxmlformats.org/drawingml/2006/main">
              <a:ext uri="{FF2B5EF4-FFF2-40B4-BE49-F238E27FC236}">
                <a16:creationId xmlns:a16="http://schemas.microsoft.com/office/drawing/2014/main" id="{847BA2D1-E101-4D3D-8CDE-F2621F2F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977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增加清洁供给</a:t>
            </a:r>
          </a:p>
        </p:txBody>
      </p:sp>
      <p:sp>
        <p:nvSpPr>
          <p:cNvPr id="17" name="text-600">
            <a:extLst xmlns:a="http://schemas.openxmlformats.org/drawingml/2006/main">
              <a:ext uri="{FF2B5EF4-FFF2-40B4-BE49-F238E27FC236}">
                <a16:creationId xmlns:a16="http://schemas.microsoft.com/office/drawing/2014/main" id="{021B9CB4-948B-4044-9BFE-C88D3981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003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发展风电、光伏等清洁能源</a:t>
            </a:r>
          </a:p>
        </p:txBody>
      </p:sp>
      <p:sp>
        <p:nvSpPr>
          <p:cNvPr id="18" name="text-601">
            <a:extLst xmlns:a="http://schemas.openxmlformats.org/drawingml/2006/main">
              <a:ext uri="{FF2B5EF4-FFF2-40B4-BE49-F238E27FC236}">
                <a16:creationId xmlns:a16="http://schemas.microsoft.com/office/drawing/2014/main" id="{A15DF5F5-38CE-473F-8A01-79FA62E6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9" name="text-602">
            <a:extLst xmlns:a="http://schemas.openxmlformats.org/drawingml/2006/main">
              <a:ext uri="{FF2B5EF4-FFF2-40B4-BE49-F238E27FC236}">
                <a16:creationId xmlns:a16="http://schemas.microsoft.com/office/drawing/2014/main" id="{EE0A38FA-1242-4236-ACD3-1F57BE5F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增强调节能力</a:t>
            </a:r>
          </a:p>
        </p:txBody>
      </p:sp>
      <p:sp>
        <p:nvSpPr>
          <p:cNvPr id="20" name="text-603">
            <a:extLst xmlns:a="http://schemas.openxmlformats.org/drawingml/2006/main">
              <a:ext uri="{FF2B5EF4-FFF2-40B4-BE49-F238E27FC236}">
                <a16:creationId xmlns:a16="http://schemas.microsoft.com/office/drawing/2014/main" id="{08FB600B-7445-4B78-9E63-FD4BDA45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75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完善电网、储能与运行管理</a:t>
            </a:r>
          </a:p>
        </p:txBody>
      </p:sp>
      <p:sp>
        <p:nvSpPr>
          <p:cNvPr id="21" name="text-604">
            <a:extLst xmlns:a="http://schemas.openxmlformats.org/drawingml/2006/main">
              <a:ext uri="{FF2B5EF4-FFF2-40B4-BE49-F238E27FC236}">
                <a16:creationId xmlns:a16="http://schemas.microsoft.com/office/drawing/2014/main" id="{E67CBF2E-5B2D-49D6-8DE7-AD604A8A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text-605">
            <a:extLst xmlns:a="http://schemas.openxmlformats.org/drawingml/2006/main">
              <a:ext uri="{FF2B5EF4-FFF2-40B4-BE49-F238E27FC236}">
                <a16:creationId xmlns:a16="http://schemas.microsoft.com/office/drawing/2014/main" id="{26AEB82E-6771-4ABC-8DBC-B234E69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243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统筹供需安全</a:t>
            </a:r>
          </a:p>
        </p:txBody>
      </p:sp>
      <p:sp>
        <p:nvSpPr>
          <p:cNvPr id="23" name="text-606">
            <a:extLst xmlns:a="http://schemas.openxmlformats.org/drawingml/2006/main">
              <a:ext uri="{FF2B5EF4-FFF2-40B4-BE49-F238E27FC236}">
                <a16:creationId xmlns:a16="http://schemas.microsoft.com/office/drawing/2014/main" id="{4CE75805-54A4-4CA6-868E-C7B520A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兼顾清洁、可靠性与成本</a:t>
            </a:r>
          </a:p>
        </p:txBody>
      </p:sp>
      <p:sp>
        <p:nvSpPr>
          <p:cNvPr id="24" name="surface-607">
            <a:extLst xmlns:a="http://schemas.openxmlformats.org/drawingml/2006/main">
              <a:ext uri="{FF2B5EF4-FFF2-40B4-BE49-F238E27FC236}">
                <a16:creationId xmlns:a16="http://schemas.microsoft.com/office/drawing/2014/main" id="{1635806D-3C96-4147-B2AF-E4899A3A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00150"/>
            <a:ext cx="56864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6535C-2D2D-4492-AEFA-D330D8D06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a6f004eaf48e9"/>
          <a:srcRect xmlns:a="http://schemas.openxmlformats.org/drawingml/2006/main" l="0" t="50000" r="66667" b="0"/>
          <a:stretch xmlns:a="http://schemas.openxmlformats.org/drawingml/2006/main"/>
        </p:blipFill>
        <p:spPr>
          <a:xfrm xmlns:a="http://schemas.openxmlformats.org/drawingml/2006/main">
            <a:off x="6067425" y="1219200"/>
            <a:ext cx="5648325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surface-608">
            <a:extLst xmlns:a="http://schemas.openxmlformats.org/drawingml/2006/main">
              <a:ext uri="{FF2B5EF4-FFF2-40B4-BE49-F238E27FC236}">
                <a16:creationId xmlns:a16="http://schemas.microsoft.com/office/drawing/2014/main" id="{8F9C7FD4-4762-4A7C-844E-77DB3317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52850"/>
            <a:ext cx="1143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609">
            <a:extLst xmlns:a="http://schemas.openxmlformats.org/drawingml/2006/main">
              <a:ext uri="{FF2B5EF4-FFF2-40B4-BE49-F238E27FC236}">
                <a16:creationId xmlns:a16="http://schemas.microsoft.com/office/drawing/2014/main" id="{9DD61D52-1245-47A7-B0B6-88354862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8142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教学示意图</a:t>
            </a:r>
          </a:p>
        </p:txBody>
      </p:sp>
      <p:sp>
        <p:nvSpPr>
          <p:cNvPr id="28" name="surface-610">
            <a:extLst xmlns:a="http://schemas.openxmlformats.org/drawingml/2006/main">
              <a:ext uri="{FF2B5EF4-FFF2-40B4-BE49-F238E27FC236}">
                <a16:creationId xmlns:a16="http://schemas.microsoft.com/office/drawing/2014/main" id="{5A75D4DD-55F0-483F-A652-4418B27D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56483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611">
            <a:extLst xmlns:a="http://schemas.openxmlformats.org/drawingml/2006/main">
              <a:ext uri="{FF2B5EF4-FFF2-40B4-BE49-F238E27FC236}">
                <a16:creationId xmlns:a16="http://schemas.microsoft.com/office/drawing/2014/main" id="{638B8BDA-8841-4584-B7E2-AED717D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05300"/>
            <a:ext cx="5229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评价能源转型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要看整个能源系统</a:t>
            </a:r>
          </a:p>
        </p:txBody>
      </p:sp>
      <p:sp>
        <p:nvSpPr>
          <p:cNvPr id="30" name="surface-612">
            <a:extLst xmlns:a="http://schemas.openxmlformats.org/drawingml/2006/main">
              <a:ext uri="{FF2B5EF4-FFF2-40B4-BE49-F238E27FC236}">
                <a16:creationId xmlns:a16="http://schemas.microsoft.com/office/drawing/2014/main" id="{674197F1-BAAF-4F1B-991A-5FBD70CD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circle-613">
            <a:extLst xmlns:a="http://schemas.openxmlformats.org/drawingml/2006/main">
              <a:ext uri="{FF2B5EF4-FFF2-40B4-BE49-F238E27FC236}">
                <a16:creationId xmlns:a16="http://schemas.microsoft.com/office/drawing/2014/main" id="{247B306E-2778-47B3-863E-D11B399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24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D6E1E4-BAE5-4B45-B9AD-B3FE19E5CA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6d0ceebd145e3">
            <a:extLst>
              <a:ext uri="{96DAC541-7B7A-43D3-8B79-37D633B846F1}">
                <asvg:svgBlip xmlns:asvg="http://schemas.microsoft.com/office/drawing/2016/SVG/main" r:embed="Re4aa9dca048941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10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3" name="text-614">
            <a:extLst xmlns:a="http://schemas.openxmlformats.org/drawingml/2006/main">
              <a:ext uri="{FF2B5EF4-FFF2-40B4-BE49-F238E27FC236}">
                <a16:creationId xmlns:a16="http://schemas.microsoft.com/office/drawing/2014/main" id="{E0FBB121-67C4-4C1A-BFA7-B18B440A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4" name="text-615">
            <a:extLst xmlns:a="http://schemas.openxmlformats.org/drawingml/2006/main">
              <a:ext uri="{FF2B5EF4-FFF2-40B4-BE49-F238E27FC236}">
                <a16:creationId xmlns:a16="http://schemas.microsoft.com/office/drawing/2014/main" id="{C55D02B2-3B38-4EE9-AE34-0C0C39ED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风电和光伏增加后，系统还需要哪些支撑？</a:t>
            </a:r>
          </a:p>
        </p:txBody>
      </p:sp>
    </p:spTree>
    <p:extLst>
      <p:ext uri="{BB962C8B-B14F-4D97-AF65-F5344CB8AC3E}">
        <p14:creationId xmlns:p14="http://schemas.microsoft.com/office/powerpoint/2010/main" val="19855724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urface-616">
            <a:extLst xmlns:a="http://schemas.openxmlformats.org/drawingml/2006/main">
              <a:ext uri="{FF2B5EF4-FFF2-40B4-BE49-F238E27FC236}">
                <a16:creationId xmlns:a16="http://schemas.microsoft.com/office/drawing/2014/main" id="{597ED954-1323-4266-8753-D6007FC0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617">
            <a:extLst xmlns:a="http://schemas.openxmlformats.org/drawingml/2006/main">
              <a:ext uri="{FF2B5EF4-FFF2-40B4-BE49-F238E27FC236}">
                <a16:creationId xmlns:a16="http://schemas.microsoft.com/office/drawing/2014/main" id="{802DCACE-531D-419A-952F-82E984F3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618">
            <a:extLst xmlns:a="http://schemas.openxmlformats.org/drawingml/2006/main">
              <a:ext uri="{FF2B5EF4-FFF2-40B4-BE49-F238E27FC236}">
                <a16:creationId xmlns:a16="http://schemas.microsoft.com/office/drawing/2014/main" id="{ABB2F83E-4E7B-495B-8067-6530B72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19">
            <a:extLst xmlns:a="http://schemas.openxmlformats.org/drawingml/2006/main">
              <a:ext uri="{FF2B5EF4-FFF2-40B4-BE49-F238E27FC236}">
                <a16:creationId xmlns:a16="http://schemas.microsoft.com/office/drawing/2014/main" id="{D0E5C317-F7FC-4F86-8788-2C812A63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新能源汽车，怎样看全链条环境影响</a:t>
            </a:r>
          </a:p>
        </p:txBody>
      </p:sp>
      <p:sp>
        <p:nvSpPr>
          <p:cNvPr id="5" name="rule-620">
            <a:extLst xmlns:a="http://schemas.openxmlformats.org/drawingml/2006/main">
              <a:ext uri="{FF2B5EF4-FFF2-40B4-BE49-F238E27FC236}">
                <a16:creationId xmlns:a16="http://schemas.microsoft.com/office/drawing/2014/main" id="{306E030A-07AF-46C5-8F89-5C451191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621">
            <a:extLst xmlns:a="http://schemas.openxmlformats.org/drawingml/2006/main">
              <a:ext uri="{FF2B5EF4-FFF2-40B4-BE49-F238E27FC236}">
                <a16:creationId xmlns:a16="http://schemas.microsoft.com/office/drawing/2014/main" id="{E0CE140A-8A5A-41A0-BB88-629F4A2E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出处：《全面绿色转型意见》（2024）；《碳达峰行动方案》（2021）。完整文献及讲解见备注</a:t>
            </a:r>
          </a:p>
        </p:txBody>
      </p:sp>
      <p:sp>
        <p:nvSpPr>
          <p:cNvPr id="7" name="text-622">
            <a:extLst xmlns:a="http://schemas.openxmlformats.org/drawingml/2006/main">
              <a:ext uri="{FF2B5EF4-FFF2-40B4-BE49-F238E27FC236}">
                <a16:creationId xmlns:a16="http://schemas.microsoft.com/office/drawing/2014/main" id="{65A1A6AD-94A9-435B-A772-8911791F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26</a:t>
            </a:r>
          </a:p>
        </p:txBody>
      </p:sp>
      <p:sp>
        <p:nvSpPr>
          <p:cNvPr id="8" name="surface-623">
            <a:extLst xmlns:a="http://schemas.openxmlformats.org/drawingml/2006/main">
              <a:ext uri="{FF2B5EF4-FFF2-40B4-BE49-F238E27FC236}">
                <a16:creationId xmlns:a16="http://schemas.microsoft.com/office/drawing/2014/main" id="{FEF9874A-9221-4305-B658-756F2260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624">
            <a:extLst xmlns:a="http://schemas.openxmlformats.org/drawingml/2006/main">
              <a:ext uri="{FF2B5EF4-FFF2-40B4-BE49-F238E27FC236}">
                <a16:creationId xmlns:a16="http://schemas.microsoft.com/office/drawing/2014/main" id="{E237DA06-70DD-4BF4-B640-E469AC4C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625">
            <a:extLst xmlns:a="http://schemas.openxmlformats.org/drawingml/2006/main">
              <a:ext uri="{FF2B5EF4-FFF2-40B4-BE49-F238E27FC236}">
                <a16:creationId xmlns:a16="http://schemas.microsoft.com/office/drawing/2014/main" id="{4581F782-F59B-4B0C-9D30-AAF32903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E56BD-1473-4989-8B65-3CC826551E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5b23575834e66">
            <a:extLst>
              <a:ext uri="{96DAC541-7B7A-43D3-8B79-37D633B846F1}">
                <asvg:svgBlip xmlns:asvg="http://schemas.microsoft.com/office/drawing/2016/SVG/main" r:embed="R8b9faa6ea5b742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2" name="text-626">
            <a:extLst xmlns:a="http://schemas.openxmlformats.org/drawingml/2006/main">
              <a:ext uri="{FF2B5EF4-FFF2-40B4-BE49-F238E27FC236}">
                <a16:creationId xmlns:a16="http://schemas.microsoft.com/office/drawing/2014/main" id="{DE7B491A-8E4E-4D18-A03D-640926FB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原料</a:t>
            </a:r>
          </a:p>
        </p:txBody>
      </p:sp>
      <p:sp>
        <p:nvSpPr>
          <p:cNvPr id="13" name="arrow-627">
            <a:extLst xmlns:a="http://schemas.openxmlformats.org/drawingml/2006/main">
              <a:ext uri="{FF2B5EF4-FFF2-40B4-BE49-F238E27FC236}">
                <a16:creationId xmlns:a16="http://schemas.microsoft.com/office/drawing/2014/main" id="{E9C9F1EF-9130-448B-A54B-BE8C7393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05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628">
            <a:extLst xmlns:a="http://schemas.openxmlformats.org/drawingml/2006/main">
              <a:ext uri="{FF2B5EF4-FFF2-40B4-BE49-F238E27FC236}">
                <a16:creationId xmlns:a16="http://schemas.microsoft.com/office/drawing/2014/main" id="{3732C52E-680F-4AB3-AE5F-DFB56D8C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629">
            <a:extLst xmlns:a="http://schemas.openxmlformats.org/drawingml/2006/main">
              <a:ext uri="{FF2B5EF4-FFF2-40B4-BE49-F238E27FC236}">
                <a16:creationId xmlns:a16="http://schemas.microsoft.com/office/drawing/2014/main" id="{D5873755-0A58-4B20-B899-13D38542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630">
            <a:extLst xmlns:a="http://schemas.openxmlformats.org/drawingml/2006/main">
              <a:ext uri="{FF2B5EF4-FFF2-40B4-BE49-F238E27FC236}">
                <a16:creationId xmlns:a16="http://schemas.microsoft.com/office/drawing/2014/main" id="{9DD13F72-C217-40A7-A1B3-1C59BE6B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4F5D5-C5D7-4244-A305-150017A2D4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256149834dfa">
            <a:extLst>
              <a:ext uri="{96DAC541-7B7A-43D3-8B79-37D633B846F1}">
                <asvg:svgBlip xmlns:asvg="http://schemas.microsoft.com/office/drawing/2016/SVG/main" r:embed="R0694cfd609f747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04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8" name="text-631">
            <a:extLst xmlns:a="http://schemas.openxmlformats.org/drawingml/2006/main">
              <a:ext uri="{FF2B5EF4-FFF2-40B4-BE49-F238E27FC236}">
                <a16:creationId xmlns:a16="http://schemas.microsoft.com/office/drawing/2014/main" id="{246B765C-8640-420B-8458-D7B6B54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电池制造</a:t>
            </a:r>
          </a:p>
        </p:txBody>
      </p:sp>
      <p:sp>
        <p:nvSpPr>
          <p:cNvPr id="19" name="arrow-632">
            <a:extLst xmlns:a="http://schemas.openxmlformats.org/drawingml/2006/main">
              <a:ext uri="{FF2B5EF4-FFF2-40B4-BE49-F238E27FC236}">
                <a16:creationId xmlns:a16="http://schemas.microsoft.com/office/drawing/2014/main" id="{F871CBB4-3BE1-4149-B811-998525E2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633">
            <a:extLst xmlns:a="http://schemas.openxmlformats.org/drawingml/2006/main">
              <a:ext uri="{FF2B5EF4-FFF2-40B4-BE49-F238E27FC236}">
                <a16:creationId xmlns:a16="http://schemas.microsoft.com/office/drawing/2014/main" id="{38B60287-26B5-4C0E-8759-0A38E669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634">
            <a:extLst xmlns:a="http://schemas.openxmlformats.org/drawingml/2006/main">
              <a:ext uri="{FF2B5EF4-FFF2-40B4-BE49-F238E27FC236}">
                <a16:creationId xmlns:a16="http://schemas.microsoft.com/office/drawing/2014/main" id="{F39D9C02-2F88-48A5-8DF2-2751BA5E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635">
            <a:extLst xmlns:a="http://schemas.openxmlformats.org/drawingml/2006/main">
              <a:ext uri="{FF2B5EF4-FFF2-40B4-BE49-F238E27FC236}">
                <a16:creationId xmlns:a16="http://schemas.microsoft.com/office/drawing/2014/main" id="{691494EB-0D2C-4D1E-8CF8-8BAD2AF8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4B969-2071-43B3-A682-A0DE4E1659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5f131249748a5">
            <a:extLst>
              <a:ext uri="{96DAC541-7B7A-43D3-8B79-37D633B846F1}">
                <asvg:svgBlip xmlns:asvg="http://schemas.microsoft.com/office/drawing/2016/SVG/main" r:embed="R3976efad10e446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245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4" name="text-636">
            <a:extLst xmlns:a="http://schemas.openxmlformats.org/drawingml/2006/main">
              <a:ext uri="{FF2B5EF4-FFF2-40B4-BE49-F238E27FC236}">
                <a16:creationId xmlns:a16="http://schemas.microsoft.com/office/drawing/2014/main" id="{50CBB9F5-1156-48CB-A1BD-9F4ED8A8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电力供给</a:t>
            </a:r>
          </a:p>
        </p:txBody>
      </p:sp>
      <p:sp>
        <p:nvSpPr>
          <p:cNvPr id="25" name="arrow-637">
            <a:extLst xmlns:a="http://schemas.openxmlformats.org/drawingml/2006/main">
              <a:ext uri="{FF2B5EF4-FFF2-40B4-BE49-F238E27FC236}">
                <a16:creationId xmlns:a16="http://schemas.microsoft.com/office/drawing/2014/main" id="{7DFB9771-9765-4DA6-A060-1BB25605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urface-638">
            <a:extLst xmlns:a="http://schemas.openxmlformats.org/drawingml/2006/main">
              <a:ext uri="{FF2B5EF4-FFF2-40B4-BE49-F238E27FC236}">
                <a16:creationId xmlns:a16="http://schemas.microsoft.com/office/drawing/2014/main" id="{C4A7D30E-08E8-4935-A0ED-0D72EB91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urface-639">
            <a:extLst xmlns:a="http://schemas.openxmlformats.org/drawingml/2006/main">
              <a:ext uri="{FF2B5EF4-FFF2-40B4-BE49-F238E27FC236}">
                <a16:creationId xmlns:a16="http://schemas.microsoft.com/office/drawing/2014/main" id="{D1B24FB0-4639-4C4A-BA7A-FDE81D72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640">
            <a:extLst xmlns:a="http://schemas.openxmlformats.org/drawingml/2006/main">
              <a:ext uri="{FF2B5EF4-FFF2-40B4-BE49-F238E27FC236}">
                <a16:creationId xmlns:a16="http://schemas.microsoft.com/office/drawing/2014/main" id="{D8ACCC62-21FA-4042-9195-78106BD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B39AE1-76C4-4E00-9E10-48E6DD535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66b87483240a1">
            <a:extLst>
              <a:ext uri="{96DAC541-7B7A-43D3-8B79-37D633B846F1}">
                <asvg:svgBlip xmlns:asvg="http://schemas.microsoft.com/office/drawing/2016/SVG/main" r:embed="R01c757030b334a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486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0" name="text-641">
            <a:extLst xmlns:a="http://schemas.openxmlformats.org/drawingml/2006/main">
              <a:ext uri="{FF2B5EF4-FFF2-40B4-BE49-F238E27FC236}">
                <a16:creationId xmlns:a16="http://schemas.microsoft.com/office/drawing/2014/main" id="{513D97EE-10BF-49D0-A141-8F934F63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车辆使用</a:t>
            </a:r>
          </a:p>
        </p:txBody>
      </p:sp>
      <p:sp>
        <p:nvSpPr>
          <p:cNvPr id="31" name="arrow-642">
            <a:extLst xmlns:a="http://schemas.openxmlformats.org/drawingml/2006/main">
              <a:ext uri="{FF2B5EF4-FFF2-40B4-BE49-F238E27FC236}">
                <a16:creationId xmlns:a16="http://schemas.microsoft.com/office/drawing/2014/main" id="{6469014F-39F4-4FBF-AA6C-31B650D4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051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rface-643">
            <a:extLst xmlns:a="http://schemas.openxmlformats.org/drawingml/2006/main">
              <a:ext uri="{FF2B5EF4-FFF2-40B4-BE49-F238E27FC236}">
                <a16:creationId xmlns:a16="http://schemas.microsoft.com/office/drawing/2014/main" id="{8AF4DD5A-010F-44F0-8B70-2BC636E2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28775"/>
            <a:ext cx="19431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urface-644">
            <a:extLst xmlns:a="http://schemas.openxmlformats.org/drawingml/2006/main">
              <a:ext uri="{FF2B5EF4-FFF2-40B4-BE49-F238E27FC236}">
                <a16:creationId xmlns:a16="http://schemas.microsoft.com/office/drawing/2014/main" id="{5131B93F-5421-4890-A52B-DFE728A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28775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645">
            <a:extLst xmlns:a="http://schemas.openxmlformats.org/drawingml/2006/main">
              <a:ext uri="{FF2B5EF4-FFF2-40B4-BE49-F238E27FC236}">
                <a16:creationId xmlns:a16="http://schemas.microsoft.com/office/drawing/2014/main" id="{97C6D9DE-6A1D-4F73-8A04-9A952B5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828800"/>
            <a:ext cx="1619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7F4CE6-7FB2-4A2B-B594-4AC9BE5992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800d86c1f4407">
            <a:extLst>
              <a:ext uri="{96DAC541-7B7A-43D3-8B79-37D633B846F1}">
                <asvg:svgBlip xmlns:asvg="http://schemas.microsoft.com/office/drawing/2016/SVG/main" r:embed="R2f181c8c900143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72725" y="25622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36" name="text-646">
            <a:extLst xmlns:a="http://schemas.openxmlformats.org/drawingml/2006/main">
              <a:ext uri="{FF2B5EF4-FFF2-40B4-BE49-F238E27FC236}">
                <a16:creationId xmlns:a16="http://schemas.microsoft.com/office/drawing/2014/main" id="{209861FF-BAC4-431D-9D52-C4F6C246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29025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回收利用</a:t>
            </a:r>
          </a:p>
        </p:txBody>
      </p:sp>
      <p:sp>
        <p:nvSpPr>
          <p:cNvPr id="37" name="rule-647">
            <a:extLst xmlns:a="http://schemas.openxmlformats.org/drawingml/2006/main">
              <a:ext uri="{FF2B5EF4-FFF2-40B4-BE49-F238E27FC236}">
                <a16:creationId xmlns:a16="http://schemas.microsoft.com/office/drawing/2014/main" id="{66EE0F92-E917-4970-A727-89C40DB4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9305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6B56"/>
            </a:solidFill>
            <a:prstDash val="solid"/>
          </a:ln>
        </p:spPr>
      </p:sp>
      <p:sp>
        <p:nvSpPr>
          <p:cNvPr id="38" name="rule-648">
            <a:extLst xmlns:a="http://schemas.openxmlformats.org/drawingml/2006/main">
              <a:ext uri="{FF2B5EF4-FFF2-40B4-BE49-F238E27FC236}">
                <a16:creationId xmlns:a16="http://schemas.microsoft.com/office/drawing/2014/main" id="{183F5E2B-11B1-40E0-9ECC-54903B6F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910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6B56"/>
            </a:solidFill>
            <a:prstDash val="solid"/>
          </a:ln>
        </p:spPr>
      </p:sp>
      <p:sp>
        <p:nvSpPr>
          <p:cNvPr id="39" name="rule-649">
            <a:extLst xmlns:a="http://schemas.openxmlformats.org/drawingml/2006/main">
              <a:ext uri="{FF2B5EF4-FFF2-40B4-BE49-F238E27FC236}">
                <a16:creationId xmlns:a16="http://schemas.microsoft.com/office/drawing/2014/main" id="{9E2EC325-6464-4F4A-8470-3BBCD04E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910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6B56"/>
            </a:solidFill>
            <a:prstDash val="solid"/>
          </a:ln>
        </p:spPr>
      </p:sp>
      <p:sp>
        <p:nvSpPr>
          <p:cNvPr id="40" name="text-650">
            <a:extLst xmlns:a="http://schemas.openxmlformats.org/drawingml/2006/main">
              <a:ext uri="{FF2B5EF4-FFF2-40B4-BE49-F238E27FC236}">
                <a16:creationId xmlns:a16="http://schemas.microsoft.com/office/drawing/2014/main" id="{6A2C5149-2CE6-46F1-B3C9-C1A4A33E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05400"/>
            <a:ext cx="628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rPr>
              <a:t>循环利用 · 全链条观察</a:t>
            </a:r>
          </a:p>
        </p:txBody>
      </p:sp>
      <p:sp>
        <p:nvSpPr>
          <p:cNvPr id="41" name="surface-651">
            <a:extLst xmlns:a="http://schemas.openxmlformats.org/drawingml/2006/main">
              <a:ext uri="{FF2B5EF4-FFF2-40B4-BE49-F238E27FC236}">
                <a16:creationId xmlns:a16="http://schemas.microsoft.com/office/drawing/2014/main" id="{137D7377-86BA-450A-970E-E5A8FE24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05475"/>
            <a:ext cx="1123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652">
            <a:extLst xmlns:a="http://schemas.openxmlformats.org/drawingml/2006/main">
              <a:ext uri="{FF2B5EF4-FFF2-40B4-BE49-F238E27FC236}">
                <a16:creationId xmlns:a16="http://schemas.microsoft.com/office/drawing/2014/main" id="{512C7174-17C0-4125-99EA-20B98699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评价绿色产业，不能只看一个环节</a:t>
            </a:r>
          </a:p>
        </p:txBody>
      </p:sp>
    </p:spTree>
    <p:extLst>
      <p:ext uri="{BB962C8B-B14F-4D97-AF65-F5344CB8AC3E}">
        <p14:creationId xmlns:p14="http://schemas.microsoft.com/office/powerpoint/2010/main" val="9313757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-653">
            <a:extLst xmlns:a="http://schemas.openxmlformats.org/drawingml/2006/main">
              <a:ext uri="{FF2B5EF4-FFF2-40B4-BE49-F238E27FC236}">
                <a16:creationId xmlns:a16="http://schemas.microsoft.com/office/drawing/2014/main" id="{E64F613A-8F04-4123-9F53-8C00977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654">
            <a:extLst xmlns:a="http://schemas.openxmlformats.org/drawingml/2006/main">
              <a:ext uri="{FF2B5EF4-FFF2-40B4-BE49-F238E27FC236}">
                <a16:creationId xmlns:a16="http://schemas.microsoft.com/office/drawing/2014/main" id="{AF27464F-6DF7-4856-9014-F12A97B3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655">
            <a:extLst xmlns:a="http://schemas.openxmlformats.org/drawingml/2006/main">
              <a:ext uri="{FF2B5EF4-FFF2-40B4-BE49-F238E27FC236}">
                <a16:creationId xmlns:a16="http://schemas.microsoft.com/office/drawing/2014/main" id="{536B3E30-8DF9-455B-A829-2CA4FF9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56">
            <a:extLst xmlns:a="http://schemas.openxmlformats.org/drawingml/2006/main">
              <a:ext uri="{FF2B5EF4-FFF2-40B4-BE49-F238E27FC236}">
                <a16:creationId xmlns:a16="http://schemas.microsoft.com/office/drawing/2014/main" id="{C9420420-0EC8-479C-8643-C0F727E0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绿色生活，让日常行动与公共服务衔接</a:t>
            </a:r>
          </a:p>
        </p:txBody>
      </p:sp>
      <p:sp>
        <p:nvSpPr>
          <p:cNvPr id="5" name="rule-657">
            <a:extLst xmlns:a="http://schemas.openxmlformats.org/drawingml/2006/main">
              <a:ext uri="{FF2B5EF4-FFF2-40B4-BE49-F238E27FC236}">
                <a16:creationId xmlns:a16="http://schemas.microsoft.com/office/drawing/2014/main" id="{599751EB-9D4B-432F-BAF2-02146281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658">
            <a:extLst xmlns:a="http://schemas.openxmlformats.org/drawingml/2006/main">
              <a:ext uri="{FF2B5EF4-FFF2-40B4-BE49-F238E27FC236}">
                <a16:creationId xmlns:a16="http://schemas.microsoft.com/office/drawing/2014/main" id="{D5363CAA-D7AA-4853-A47D-B22E7F4B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出处：党的二十大报告（2022）；《美丽中国建设意见》（2023）；《全面绿色转型意见》（2024）。完整文献及讲解见备注</a:t>
            </a:r>
          </a:p>
        </p:txBody>
      </p:sp>
      <p:sp>
        <p:nvSpPr>
          <p:cNvPr id="7" name="text-659">
            <a:extLst xmlns:a="http://schemas.openxmlformats.org/drawingml/2006/main">
              <a:ext uri="{FF2B5EF4-FFF2-40B4-BE49-F238E27FC236}">
                <a16:creationId xmlns:a16="http://schemas.microsoft.com/office/drawing/2014/main" id="{8C6737CC-DF5C-4ED1-97A9-17EBCB55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27</a:t>
            </a:r>
          </a:p>
        </p:txBody>
      </p:sp>
      <p:sp>
        <p:nvSpPr>
          <p:cNvPr id="8" name="surface-660">
            <a:extLst xmlns:a="http://schemas.openxmlformats.org/drawingml/2006/main">
              <a:ext uri="{FF2B5EF4-FFF2-40B4-BE49-F238E27FC236}">
                <a16:creationId xmlns:a16="http://schemas.microsoft.com/office/drawing/2014/main" id="{185BEB33-5E48-445B-9B23-A98A20C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ircle-661">
            <a:extLst xmlns:a="http://schemas.openxmlformats.org/drawingml/2006/main">
              <a:ext uri="{FF2B5EF4-FFF2-40B4-BE49-F238E27FC236}">
                <a16:creationId xmlns:a16="http://schemas.microsoft.com/office/drawing/2014/main" id="{0BE5F3CA-6A04-4EE0-8438-D574C96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01324-6425-4B1A-A443-493933B0E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3a2ab1cf94bb5">
            <a:extLst>
              <a:ext uri="{96DAC541-7B7A-43D3-8B79-37D633B846F1}">
                <asvg:svgBlip xmlns:asvg="http://schemas.microsoft.com/office/drawing/2016/SVG/main" r:embed="Rc31f058deb4844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1" name="text-662">
            <a:extLst xmlns:a="http://schemas.openxmlformats.org/drawingml/2006/main">
              <a:ext uri="{FF2B5EF4-FFF2-40B4-BE49-F238E27FC236}">
                <a16:creationId xmlns:a16="http://schemas.microsoft.com/office/drawing/2014/main" id="{1CBDCCE1-065B-45FC-AD79-C90D4F3C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节约资源</a:t>
            </a:r>
          </a:p>
        </p:txBody>
      </p:sp>
      <p:sp>
        <p:nvSpPr>
          <p:cNvPr id="12" name="text-663">
            <a:extLst xmlns:a="http://schemas.openxmlformats.org/drawingml/2006/main">
              <a:ext uri="{FF2B5EF4-FFF2-40B4-BE49-F238E27FC236}">
                <a16:creationId xmlns:a16="http://schemas.microsoft.com/office/drawing/2014/main" id="{6CE44F5A-C7EA-4413-BBCB-736D476E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节约水电，减少食物浪费</a:t>
            </a:r>
          </a:p>
        </p:txBody>
      </p:sp>
      <p:sp>
        <p:nvSpPr>
          <p:cNvPr id="13" name="surface-664">
            <a:extLst xmlns:a="http://schemas.openxmlformats.org/drawingml/2006/main">
              <a:ext uri="{FF2B5EF4-FFF2-40B4-BE49-F238E27FC236}">
                <a16:creationId xmlns:a16="http://schemas.microsoft.com/office/drawing/2014/main" id="{2A74CF4F-7B9C-45B5-98B4-F472A977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ircle-665">
            <a:extLst xmlns:a="http://schemas.openxmlformats.org/drawingml/2006/main">
              <a:ext uri="{FF2B5EF4-FFF2-40B4-BE49-F238E27FC236}">
                <a16:creationId xmlns:a16="http://schemas.microsoft.com/office/drawing/2014/main" id="{DEB8D25E-DB68-4B71-8C23-9BE20775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1F936-AF38-4BAA-8F2A-6FF635054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081e308ea4728">
            <a:extLst>
              <a:ext uri="{96DAC541-7B7A-43D3-8B79-37D633B846F1}">
                <asvg:svgBlip xmlns:asvg="http://schemas.microsoft.com/office/drawing/2016/SVG/main" r:embed="Re63a15ba1c6e46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6" name="text-666">
            <a:extLst xmlns:a="http://schemas.openxmlformats.org/drawingml/2006/main">
              <a:ext uri="{FF2B5EF4-FFF2-40B4-BE49-F238E27FC236}">
                <a16:creationId xmlns:a16="http://schemas.microsoft.com/office/drawing/2014/main" id="{76C3A006-4456-4C27-9B6C-675B5BE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绿色出行</a:t>
            </a:r>
          </a:p>
        </p:txBody>
      </p:sp>
      <p:sp>
        <p:nvSpPr>
          <p:cNvPr id="17" name="text-667">
            <a:extLst xmlns:a="http://schemas.openxmlformats.org/drawingml/2006/main">
              <a:ext uri="{FF2B5EF4-FFF2-40B4-BE49-F238E27FC236}">
                <a16:creationId xmlns:a16="http://schemas.microsoft.com/office/drawing/2014/main" id="{C677D9A6-4500-4AD0-948C-67FFBF5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便利公交与安全步行支持低碳选择</a:t>
            </a:r>
          </a:p>
        </p:txBody>
      </p:sp>
      <p:sp>
        <p:nvSpPr>
          <p:cNvPr id="18" name="surface-668">
            <a:extLst xmlns:a="http://schemas.openxmlformats.org/drawingml/2006/main">
              <a:ext uri="{FF2B5EF4-FFF2-40B4-BE49-F238E27FC236}">
                <a16:creationId xmlns:a16="http://schemas.microsoft.com/office/drawing/2014/main" id="{77F2D96D-3BC4-4C47-B231-2501A473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ircle-669">
            <a:extLst xmlns:a="http://schemas.openxmlformats.org/drawingml/2006/main">
              <a:ext uri="{FF2B5EF4-FFF2-40B4-BE49-F238E27FC236}">
                <a16:creationId xmlns:a16="http://schemas.microsoft.com/office/drawing/2014/main" id="{C3D112F9-39FD-42B4-B195-205BED50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2CCD0-A2DB-4956-8C81-C4D21E6FAA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75584b5354338">
            <a:extLst>
              <a:ext uri="{96DAC541-7B7A-43D3-8B79-37D633B846F1}">
                <asvg:svgBlip xmlns:asvg="http://schemas.microsoft.com/office/drawing/2016/SVG/main" r:embed="R832049bd1a1c41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1" name="text-670">
            <a:extLst xmlns:a="http://schemas.openxmlformats.org/drawingml/2006/main">
              <a:ext uri="{FF2B5EF4-FFF2-40B4-BE49-F238E27FC236}">
                <a16:creationId xmlns:a16="http://schemas.microsoft.com/office/drawing/2014/main" id="{EA25BDA1-332E-498C-B83D-8EA2214A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垃圾分类</a:t>
            </a:r>
          </a:p>
        </p:txBody>
      </p:sp>
      <p:sp>
        <p:nvSpPr>
          <p:cNvPr id="22" name="text-671">
            <a:extLst xmlns:a="http://schemas.openxmlformats.org/drawingml/2006/main">
              <a:ext uri="{FF2B5EF4-FFF2-40B4-BE49-F238E27FC236}">
                <a16:creationId xmlns:a16="http://schemas.microsoft.com/office/drawing/2014/main" id="{232CC3A9-002C-406C-BF23-0EDC098F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投放、收集、运输、处理保持衔接</a:t>
            </a:r>
          </a:p>
        </p:txBody>
      </p:sp>
      <p:sp>
        <p:nvSpPr>
          <p:cNvPr id="23" name="surface-672">
            <a:extLst xmlns:a="http://schemas.openxmlformats.org/drawingml/2006/main">
              <a:ext uri="{FF2B5EF4-FFF2-40B4-BE49-F238E27FC236}">
                <a16:creationId xmlns:a16="http://schemas.microsoft.com/office/drawing/2014/main" id="{310FA2A2-4DD8-41EF-9055-4C9456F8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123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73">
            <a:extLst xmlns:a="http://schemas.openxmlformats.org/drawingml/2006/main">
              <a:ext uri="{FF2B5EF4-FFF2-40B4-BE49-F238E27FC236}">
                <a16:creationId xmlns:a16="http://schemas.microsoft.com/office/drawing/2014/main" id="{DACEA339-E6D7-4295-9D05-D6A99E51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行动意愿与便利设施共同支撑绿色生活</a:t>
            </a:r>
          </a:p>
        </p:txBody>
      </p:sp>
    </p:spTree>
    <p:extLst>
      <p:ext uri="{BB962C8B-B14F-4D97-AF65-F5344CB8AC3E}">
        <p14:creationId xmlns:p14="http://schemas.microsoft.com/office/powerpoint/2010/main" val="6298436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-674">
            <a:extLst xmlns:a="http://schemas.openxmlformats.org/drawingml/2006/main">
              <a:ext uri="{FF2B5EF4-FFF2-40B4-BE49-F238E27FC236}">
                <a16:creationId xmlns:a16="http://schemas.microsoft.com/office/drawing/2014/main" id="{BBD5BDEA-5D61-483D-B153-6D70846F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675">
            <a:extLst xmlns:a="http://schemas.openxmlformats.org/drawingml/2006/main">
              <a:ext uri="{FF2B5EF4-FFF2-40B4-BE49-F238E27FC236}">
                <a16:creationId xmlns:a16="http://schemas.microsoft.com/office/drawing/2014/main" id="{AC99FD7E-4F06-4108-B257-14EF69E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676">
            <a:extLst xmlns:a="http://schemas.openxmlformats.org/drawingml/2006/main">
              <a:ext uri="{FF2B5EF4-FFF2-40B4-BE49-F238E27FC236}">
                <a16:creationId xmlns:a16="http://schemas.microsoft.com/office/drawing/2014/main" id="{31370FA8-34AF-4934-B12B-F3B7A12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77">
            <a:extLst xmlns:a="http://schemas.openxmlformats.org/drawingml/2006/main">
              <a:ext uri="{FF2B5EF4-FFF2-40B4-BE49-F238E27FC236}">
                <a16:creationId xmlns:a16="http://schemas.microsoft.com/office/drawing/2014/main" id="{64BF6EBA-097C-4A39-AB55-97B65EE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微动画：一条河为什么需要协同治理</a:t>
            </a:r>
          </a:p>
        </p:txBody>
      </p:sp>
      <p:sp>
        <p:nvSpPr>
          <p:cNvPr id="5" name="rule-678">
            <a:extLst xmlns:a="http://schemas.openxmlformats.org/drawingml/2006/main">
              <a:ext uri="{FF2B5EF4-FFF2-40B4-BE49-F238E27FC236}">
                <a16:creationId xmlns:a16="http://schemas.microsoft.com/office/drawing/2014/main" id="{65DF4AB1-2D05-492B-9B5A-E6A198C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679">
            <a:extLst xmlns:a="http://schemas.openxmlformats.org/drawingml/2006/main">
              <a:ext uri="{FF2B5EF4-FFF2-40B4-BE49-F238E27FC236}">
                <a16:creationId xmlns:a16="http://schemas.microsoft.com/office/drawing/2014/main" id="{4DC6AE51-4C10-497A-ABE8-1DA98C3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出处：《美丽中国建设意见》（2023）；《2023中国生态环境状况公报》。完整文献及讲解见备注</a:t>
            </a:r>
          </a:p>
        </p:txBody>
      </p:sp>
      <p:sp>
        <p:nvSpPr>
          <p:cNvPr id="7" name="text-680">
            <a:extLst xmlns:a="http://schemas.openxmlformats.org/drawingml/2006/main">
              <a:ext uri="{FF2B5EF4-FFF2-40B4-BE49-F238E27FC236}">
                <a16:creationId xmlns:a16="http://schemas.microsoft.com/office/drawing/2014/main" id="{2F346B2A-8470-4266-AA74-2A05BABD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8" name="surface-681">
            <a:extLst xmlns:a="http://schemas.openxmlformats.org/drawingml/2006/main">
              <a:ext uri="{FF2B5EF4-FFF2-40B4-BE49-F238E27FC236}">
                <a16:creationId xmlns:a16="http://schemas.microsoft.com/office/drawing/2014/main" id="{AF364750-14A1-4E33-BCE7-F4FE5E9F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6924675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FCB04-96E8-4665-96BB-3D469E189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80f0cea4b4b59"/>
          <a:srcRect xmlns:a="http://schemas.openxmlformats.org/drawingml/2006/main" l="33333" t="50000" r="33333" b="0"/>
          <a:stretch xmlns:a="http://schemas.openxmlformats.org/drawingml/2006/main"/>
        </p:blipFill>
        <p:spPr>
          <a:xfrm xmlns:a="http://schemas.openxmlformats.org/drawingml/2006/main">
            <a:off x="476250" y="1285875"/>
            <a:ext cx="6886575" cy="3895725"/>
          </a:xfrm>
          <a:prstGeom xmlns:a="http://schemas.openxmlformats.org/drawingml/2006/main" prst="rect">
            <a:avLst/>
          </a:prstGeom>
        </p:spPr>
      </p:pic>
      <p:sp>
        <p:nvSpPr>
          <p:cNvPr id="10" name="surface-682">
            <a:extLst xmlns:a="http://schemas.openxmlformats.org/drawingml/2006/main">
              <a:ext uri="{FF2B5EF4-FFF2-40B4-BE49-F238E27FC236}">
                <a16:creationId xmlns:a16="http://schemas.microsoft.com/office/drawing/2014/main" id="{19BAB7D6-8D61-43B0-9334-D5106CA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6886575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C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3">
            <a:extLst xmlns:a="http://schemas.openxmlformats.org/drawingml/2006/main">
              <a:ext uri="{FF2B5EF4-FFF2-40B4-BE49-F238E27FC236}">
                <a16:creationId xmlns:a16="http://schemas.microsoft.com/office/drawing/2014/main" id="{8E60EB4C-A1D8-4CB8-A944-D094FC5F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6334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原创教学微动画</a:t>
            </a:r>
          </a:p>
        </p:txBody>
      </p:sp>
      <p:sp>
        <p:nvSpPr>
          <p:cNvPr id="12" name="text-684">
            <a:extLst xmlns:a="http://schemas.openxmlformats.org/drawingml/2006/main">
              <a:ext uri="{FF2B5EF4-FFF2-40B4-BE49-F238E27FC236}">
                <a16:creationId xmlns:a16="http://schemas.microsoft.com/office/drawing/2014/main" id="{24E8AA1F-E90D-4F30-9FED-63BF894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71725"/>
            <a:ext cx="6153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一条河，为什么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需要协同治理？</a:t>
            </a:r>
          </a:p>
        </p:txBody>
      </p:sp>
      <p:sp>
        <p:nvSpPr>
          <p:cNvPr id="13" name="circle-685">
            <a:extLst xmlns:a="http://schemas.openxmlformats.org/drawingml/2006/main">
              <a:ext uri="{FF2B5EF4-FFF2-40B4-BE49-F238E27FC236}">
                <a16:creationId xmlns:a16="http://schemas.microsoft.com/office/drawing/2014/main" id="{5C77DAF7-2A32-4C22-A4EA-B54E885B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8957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p-686">
            <a:extLst xmlns:a="http://schemas.openxmlformats.org/drawingml/2006/main">
              <a:ext uri="{FF2B5EF4-FFF2-40B4-BE49-F238E27FC236}">
                <a16:creationId xmlns:a16="http://schemas.microsoft.com/office/drawing/2014/main" id="{560843D0-8FB7-47C9-91FB-A0A1A0EE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076700"/>
            <a:ext cx="257175" cy="295275"/>
          </a:xfrm>
          <a:custGeom xmlns:a="http://schemas.openxmlformats.org/drawingml/2006/main">
            <a:pathLst>
              <a:path w="257175" h="295275">
                <a:moveTo>
                  <a:pt x="0" y="0"/>
                </a:moveTo>
                <a:lnTo>
                  <a:pt x="257175" y="147638"/>
                </a:lnTo>
                <a:lnTo>
                  <a:pt x="0" y="2952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87">
            <a:extLst xmlns:a="http://schemas.openxmlformats.org/drawingml/2006/main">
              <a:ext uri="{FF2B5EF4-FFF2-40B4-BE49-F238E27FC236}">
                <a16:creationId xmlns:a16="http://schemas.microsoft.com/office/drawing/2014/main" id="{47699B0E-6A44-436B-804E-74A74764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257800"/>
            <a:ext cx="4352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fb8e47a8d6d48dc"/>
              </a:rPr>
              <a:t>点击播放配套动画</a:t>
            </a:r>
          </a:p>
        </p:txBody>
      </p:sp>
      <p:sp>
        <p:nvSpPr>
          <p:cNvPr id="16" name="text-688">
            <a:extLst xmlns:a="http://schemas.openxmlformats.org/drawingml/2006/main">
              <a:ext uri="{FF2B5EF4-FFF2-40B4-BE49-F238E27FC236}">
                <a16:creationId xmlns:a16="http://schemas.microsoft.com/office/drawing/2014/main" id="{D1053354-5239-4E46-A53A-B08F0A75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38825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0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约36秒 · 静音字幕版 · 机制示意</a:t>
            </a:r>
          </a:p>
        </p:txBody>
      </p:sp>
      <p:sp>
        <p:nvSpPr>
          <p:cNvPr id="17" name="text-689">
            <a:extLst xmlns:a="http://schemas.openxmlformats.org/drawingml/2006/main">
              <a:ext uri="{FF2B5EF4-FFF2-40B4-BE49-F238E27FC236}">
                <a16:creationId xmlns:a16="http://schemas.microsoft.com/office/drawing/2014/main" id="{9B3921B3-7F42-453B-B84F-4035E472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1922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找出污染来源</a:t>
            </a:r>
          </a:p>
        </p:txBody>
      </p:sp>
      <p:sp>
        <p:nvSpPr>
          <p:cNvPr id="18" name="text-690">
            <a:extLst xmlns:a="http://schemas.openxmlformats.org/drawingml/2006/main">
              <a:ext uri="{FF2B5EF4-FFF2-40B4-BE49-F238E27FC236}">
                <a16:creationId xmlns:a16="http://schemas.microsoft.com/office/drawing/2014/main" id="{F7CF244B-FBA3-417D-912E-221841B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76425"/>
            <a:ext cx="3581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污染从哪里来，需要怎样排查？</a:t>
            </a:r>
          </a:p>
        </p:txBody>
      </p:sp>
      <p:sp>
        <p:nvSpPr>
          <p:cNvPr id="19" name="text-691">
            <a:extLst xmlns:a="http://schemas.openxmlformats.org/drawingml/2006/main">
              <a:ext uri="{FF2B5EF4-FFF2-40B4-BE49-F238E27FC236}">
                <a16:creationId xmlns:a16="http://schemas.microsoft.com/office/drawing/2014/main" id="{BFA376FF-15D2-4C6D-A518-4A19809A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衔接治理环节</a:t>
            </a:r>
          </a:p>
        </p:txBody>
      </p:sp>
      <p:sp>
        <p:nvSpPr>
          <p:cNvPr id="20" name="text-692">
            <a:extLst xmlns:a="http://schemas.openxmlformats.org/drawingml/2006/main">
              <a:ext uri="{FF2B5EF4-FFF2-40B4-BE49-F238E27FC236}">
                <a16:creationId xmlns:a16="http://schemas.microsoft.com/office/drawing/2014/main" id="{8F993BD9-E7C0-4A90-B845-3887D4DB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3581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管网、排口、修复各起什么作用？</a:t>
            </a:r>
          </a:p>
        </p:txBody>
      </p:sp>
      <p:sp>
        <p:nvSpPr>
          <p:cNvPr id="21" name="text-693">
            <a:extLst xmlns:a="http://schemas.openxmlformats.org/drawingml/2006/main">
              <a:ext uri="{FF2B5EF4-FFF2-40B4-BE49-F238E27FC236}">
                <a16:creationId xmlns:a16="http://schemas.microsoft.com/office/drawing/2014/main" id="{5447B444-F98C-4439-99FA-4DA1499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0057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保持长效运行</a:t>
            </a:r>
          </a:p>
        </p:txBody>
      </p:sp>
      <p:sp>
        <p:nvSpPr>
          <p:cNvPr id="22" name="text-694">
            <a:extLst xmlns:a="http://schemas.openxmlformats.org/drawingml/2006/main">
              <a:ext uri="{FF2B5EF4-FFF2-40B4-BE49-F238E27FC236}">
                <a16:creationId xmlns:a16="http://schemas.microsoft.com/office/drawing/2014/main" id="{A7E704A9-542D-4E0D-91EF-788ED573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3581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哪些维护与监测必须长期坚持？</a:t>
            </a:r>
          </a:p>
        </p:txBody>
      </p:sp>
    </p:spTree>
    <p:extLst>
      <p:ext uri="{BB962C8B-B14F-4D97-AF65-F5344CB8AC3E}">
        <p14:creationId xmlns:p14="http://schemas.microsoft.com/office/powerpoint/2010/main" val="18061178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-695">
            <a:extLst xmlns:a="http://schemas.openxmlformats.org/drawingml/2006/main">
              <a:ext uri="{FF2B5EF4-FFF2-40B4-BE49-F238E27FC236}">
                <a16:creationId xmlns:a16="http://schemas.microsoft.com/office/drawing/2014/main" id="{9D359B5A-EADF-43A5-8ECF-0F040089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696">
            <a:extLst xmlns:a="http://schemas.openxmlformats.org/drawingml/2006/main">
              <a:ext uri="{FF2B5EF4-FFF2-40B4-BE49-F238E27FC236}">
                <a16:creationId xmlns:a16="http://schemas.microsoft.com/office/drawing/2014/main" id="{EB8F28C9-949A-4F9C-9306-69EFCFE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697">
            <a:extLst xmlns:a="http://schemas.openxmlformats.org/drawingml/2006/main">
              <a:ext uri="{FF2B5EF4-FFF2-40B4-BE49-F238E27FC236}">
                <a16:creationId xmlns:a16="http://schemas.microsoft.com/office/drawing/2014/main" id="{E7D90AE4-1041-4FAF-BA83-67674E67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98">
            <a:extLst xmlns:a="http://schemas.openxmlformats.org/drawingml/2006/main">
              <a:ext uri="{FF2B5EF4-FFF2-40B4-BE49-F238E27FC236}">
                <a16:creationId xmlns:a16="http://schemas.microsoft.com/office/drawing/2014/main" id="{E307AE15-15E5-4134-9305-A4724F1E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全球生态挑战，需要共同应对</a:t>
            </a:r>
          </a:p>
        </p:txBody>
      </p:sp>
      <p:sp>
        <p:nvSpPr>
          <p:cNvPr id="5" name="rule-699">
            <a:extLst xmlns:a="http://schemas.openxmlformats.org/drawingml/2006/main">
              <a:ext uri="{FF2B5EF4-FFF2-40B4-BE49-F238E27FC236}">
                <a16:creationId xmlns:a16="http://schemas.microsoft.com/office/drawing/2014/main" id="{20CCA4B0-3A6D-448B-B3A8-0A586401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700">
            <a:extLst xmlns:a="http://schemas.openxmlformats.org/drawingml/2006/main">
              <a:ext uri="{FF2B5EF4-FFF2-40B4-BE49-F238E27FC236}">
                <a16:creationId xmlns:a16="http://schemas.microsoft.com/office/drawing/2014/main" id="{4F43A9FE-FF8D-4BED-914C-0CDB4865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出处：党的二十大报告（2022）。完整文献及讲解见备注</a:t>
            </a:r>
          </a:p>
        </p:txBody>
      </p:sp>
      <p:sp>
        <p:nvSpPr>
          <p:cNvPr id="7" name="text-701">
            <a:extLst xmlns:a="http://schemas.openxmlformats.org/drawingml/2006/main">
              <a:ext uri="{FF2B5EF4-FFF2-40B4-BE49-F238E27FC236}">
                <a16:creationId xmlns:a16="http://schemas.microsoft.com/office/drawing/2014/main" id="{5C6B4863-0A8B-4322-AB04-CFDC321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29</a:t>
            </a:r>
          </a:p>
        </p:txBody>
      </p:sp>
      <p:sp>
        <p:nvSpPr>
          <p:cNvPr id="8" name="circle-702">
            <a:extLst xmlns:a="http://schemas.openxmlformats.org/drawingml/2006/main">
              <a:ext uri="{FF2B5EF4-FFF2-40B4-BE49-F238E27FC236}">
                <a16:creationId xmlns:a16="http://schemas.microsoft.com/office/drawing/2014/main" id="{E5192B9C-4CF8-4ADF-9363-76C97BE8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3733800" cy="3733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19050">
            <a:solidFill>
              <a:srgbClr val="386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E7803-2099-4EF9-BF81-79A41A94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76375"/>
            <a:ext cx="1866900" cy="3733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6B56">
                <a:alpha val="5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27645-CB7D-4378-B864-310020AC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3733800" cy="1866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6B56">
                <a:alpha val="50000"/>
              </a:srgbClr>
            </a:solidFill>
            <a:prstDash val="solid"/>
          </a:ln>
        </p:spPr>
      </p:sp>
      <p:sp>
        <p:nvSpPr>
          <p:cNvPr id="11" name="rule-703">
            <a:extLst xmlns:a="http://schemas.openxmlformats.org/drawingml/2006/main">
              <a:ext uri="{FF2B5EF4-FFF2-40B4-BE49-F238E27FC236}">
                <a16:creationId xmlns:a16="http://schemas.microsoft.com/office/drawing/2014/main" id="{31CBAEB3-D53B-4262-9223-1A76C56B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6B56">
                <a:alpha val="50000"/>
              </a:srgbClr>
            </a:solidFill>
            <a:prstDash val="solid"/>
          </a:ln>
        </p:spPr>
      </p:sp>
      <p:sp>
        <p:nvSpPr>
          <p:cNvPr id="12" name="rule-704">
            <a:extLst xmlns:a="http://schemas.openxmlformats.org/drawingml/2006/main">
              <a:ext uri="{FF2B5EF4-FFF2-40B4-BE49-F238E27FC236}">
                <a16:creationId xmlns:a16="http://schemas.microsoft.com/office/drawing/2014/main" id="{E9191376-B443-4166-A9AF-E9845B6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76375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6B56">
                <a:alpha val="50000"/>
              </a:srgbClr>
            </a:solidFill>
            <a:prstDash val="solid"/>
          </a:ln>
        </p:spPr>
      </p:sp>
      <p:sp>
        <p:nvSpPr>
          <p:cNvPr id="13" name="surface-705">
            <a:extLst xmlns:a="http://schemas.openxmlformats.org/drawingml/2006/main">
              <a:ext uri="{FF2B5EF4-FFF2-40B4-BE49-F238E27FC236}">
                <a16:creationId xmlns:a16="http://schemas.microsoft.com/office/drawing/2014/main" id="{80B94EBD-F598-4D73-9580-D610270B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43225"/>
            <a:ext cx="25241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706">
            <a:extLst xmlns:a="http://schemas.openxmlformats.org/drawingml/2006/main">
              <a:ext uri="{FF2B5EF4-FFF2-40B4-BE49-F238E27FC236}">
                <a16:creationId xmlns:a16="http://schemas.microsoft.com/office/drawing/2014/main" id="{EBDBA86C-D400-4989-AC36-EC43C418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0400"/>
            <a:ext cx="2333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625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rPr>
              <a:t>清洁美丽世界</a:t>
            </a:r>
          </a:p>
        </p:txBody>
      </p:sp>
      <p:sp>
        <p:nvSpPr>
          <p:cNvPr id="15" name="text-707">
            <a:extLst xmlns:a="http://schemas.openxmlformats.org/drawingml/2006/main">
              <a:ext uri="{FF2B5EF4-FFF2-40B4-BE49-F238E27FC236}">
                <a16:creationId xmlns:a16="http://schemas.microsoft.com/office/drawing/2014/main" id="{93495D8F-02CE-4329-9E6A-3052BDCE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09700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共同挑战</a:t>
            </a:r>
          </a:p>
        </p:txBody>
      </p:sp>
      <p:sp>
        <p:nvSpPr>
          <p:cNvPr id="16" name="text-708">
            <a:extLst xmlns:a="http://schemas.openxmlformats.org/drawingml/2006/main">
              <a:ext uri="{FF2B5EF4-FFF2-40B4-BE49-F238E27FC236}">
                <a16:creationId xmlns:a16="http://schemas.microsoft.com/office/drawing/2014/main" id="{5B1D4199-CF2A-408B-AD9D-AC5B9FD1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5857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气候变化、生物多样性丧失具有跨国影响</a:t>
            </a:r>
          </a:p>
        </p:txBody>
      </p:sp>
      <p:sp>
        <p:nvSpPr>
          <p:cNvPr id="17" name="text-709">
            <a:extLst xmlns:a="http://schemas.openxmlformats.org/drawingml/2006/main">
              <a:ext uri="{FF2B5EF4-FFF2-40B4-BE49-F238E27FC236}">
                <a16:creationId xmlns:a16="http://schemas.microsoft.com/office/drawing/2014/main" id="{095CB276-61B5-47CB-A75E-2F311D25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38450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合作领域</a:t>
            </a:r>
          </a:p>
        </p:txBody>
      </p:sp>
      <p:sp>
        <p:nvSpPr>
          <p:cNvPr id="18" name="text-710">
            <a:extLst xmlns:a="http://schemas.openxmlformats.org/drawingml/2006/main">
              <a:ext uri="{FF2B5EF4-FFF2-40B4-BE49-F238E27FC236}">
                <a16:creationId xmlns:a16="http://schemas.microsoft.com/office/drawing/2014/main" id="{2F0653FA-E1A5-4CDE-A2BB-5D46FC8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5857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参与气候、生物多样性等领域国际合作</a:t>
            </a:r>
          </a:p>
        </p:txBody>
      </p:sp>
      <p:sp>
        <p:nvSpPr>
          <p:cNvPr id="19" name="text-711">
            <a:extLst xmlns:a="http://schemas.openxmlformats.org/drawingml/2006/main">
              <a:ext uri="{FF2B5EF4-FFF2-40B4-BE49-F238E27FC236}">
                <a16:creationId xmlns:a16="http://schemas.microsoft.com/office/drawing/2014/main" id="{7ACD33E7-0AB9-4B4A-9940-8CB6BD51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合作原则</a:t>
            </a:r>
          </a:p>
        </p:txBody>
      </p:sp>
      <p:sp>
        <p:nvSpPr>
          <p:cNvPr id="20" name="text-712">
            <a:extLst xmlns:a="http://schemas.openxmlformats.org/drawingml/2006/main">
              <a:ext uri="{FF2B5EF4-FFF2-40B4-BE49-F238E27FC236}">
                <a16:creationId xmlns:a16="http://schemas.microsoft.com/office/drawing/2014/main" id="{A3444FBA-E2DC-4F61-9E71-DAD358BB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24400"/>
            <a:ext cx="5857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坚持公平、共同但有区别的责任</a:t>
            </a:r>
          </a:p>
        </p:txBody>
      </p:sp>
      <p:sp>
        <p:nvSpPr>
          <p:cNvPr id="21" name="surface-713">
            <a:extLst xmlns:a="http://schemas.openxmlformats.org/drawingml/2006/main">
              <a:ext uri="{FF2B5EF4-FFF2-40B4-BE49-F238E27FC236}">
                <a16:creationId xmlns:a16="http://schemas.microsoft.com/office/drawing/2014/main" id="{72039695-9206-4DAA-AB59-C4FF2DF5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714">
            <a:extLst xmlns:a="http://schemas.openxmlformats.org/drawingml/2006/main">
              <a:ext uri="{FF2B5EF4-FFF2-40B4-BE49-F238E27FC236}">
                <a16:creationId xmlns:a16="http://schemas.microsoft.com/office/drawing/2014/main" id="{4CA194D6-2C43-4450-88D9-FBC43378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理解全球合作，也要看到各国条件差异</a:t>
            </a:r>
          </a:p>
        </p:txBody>
      </p:sp>
    </p:spTree>
    <p:extLst>
      <p:ext uri="{BB962C8B-B14F-4D97-AF65-F5344CB8AC3E}">
        <p14:creationId xmlns:p14="http://schemas.microsoft.com/office/powerpoint/2010/main" val="6156407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-715">
            <a:extLst xmlns:a="http://schemas.openxmlformats.org/drawingml/2006/main">
              <a:ext uri="{FF2B5EF4-FFF2-40B4-BE49-F238E27FC236}">
                <a16:creationId xmlns:a16="http://schemas.microsoft.com/office/drawing/2014/main" id="{AC26960F-3CD0-42D7-9EE9-C7F71600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716">
            <a:extLst xmlns:a="http://schemas.openxmlformats.org/drawingml/2006/main">
              <a:ext uri="{FF2B5EF4-FFF2-40B4-BE49-F238E27FC236}">
                <a16:creationId xmlns:a16="http://schemas.microsoft.com/office/drawing/2014/main" id="{9DEDF03D-8DB5-4759-8046-54B32087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717">
            <a:extLst xmlns:a="http://schemas.openxmlformats.org/drawingml/2006/main">
              <a:ext uri="{FF2B5EF4-FFF2-40B4-BE49-F238E27FC236}">
                <a16:creationId xmlns:a16="http://schemas.microsoft.com/office/drawing/2014/main" id="{D0C7DE46-3E48-4095-A4A2-9EBEFB35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718">
            <a:extLst xmlns:a="http://schemas.openxmlformats.org/drawingml/2006/main">
              <a:ext uri="{FF2B5EF4-FFF2-40B4-BE49-F238E27FC236}">
                <a16:creationId xmlns:a16="http://schemas.microsoft.com/office/drawing/2014/main" id="{AE6D3194-BEA2-454A-9C81-AC9B3524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成就从何而来：多方面形成治理合力</a:t>
            </a:r>
          </a:p>
        </p:txBody>
      </p:sp>
      <p:sp>
        <p:nvSpPr>
          <p:cNvPr id="5" name="rule-719">
            <a:extLst xmlns:a="http://schemas.openxmlformats.org/drawingml/2006/main">
              <a:ext uri="{FF2B5EF4-FFF2-40B4-BE49-F238E27FC236}">
                <a16:creationId xmlns:a16="http://schemas.microsoft.com/office/drawing/2014/main" id="{B8C843C5-7CC9-45B6-9B2D-748020E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720">
            <a:extLst xmlns:a="http://schemas.openxmlformats.org/drawingml/2006/main">
              <a:ext uri="{FF2B5EF4-FFF2-40B4-BE49-F238E27FC236}">
                <a16:creationId xmlns:a16="http://schemas.microsoft.com/office/drawing/2014/main" id="{D718DF81-E249-4A89-86FA-A5F1CB51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出处：党的二十大报告（2022）；全国生态环保大会公开报道（2023）；《美丽中国建设意见》（2023）。完整文献及讲解见备注</a:t>
            </a:r>
          </a:p>
        </p:txBody>
      </p:sp>
      <p:sp>
        <p:nvSpPr>
          <p:cNvPr id="7" name="text-721">
            <a:extLst xmlns:a="http://schemas.openxmlformats.org/drawingml/2006/main">
              <a:ext uri="{FF2B5EF4-FFF2-40B4-BE49-F238E27FC236}">
                <a16:creationId xmlns:a16="http://schemas.microsoft.com/office/drawing/2014/main" id="{F022FC93-C788-4826-96EB-32E7DD11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sp>
        <p:nvSpPr>
          <p:cNvPr id="8" name="surface-722">
            <a:extLst xmlns:a="http://schemas.openxmlformats.org/drawingml/2006/main">
              <a:ext uri="{FF2B5EF4-FFF2-40B4-BE49-F238E27FC236}">
                <a16:creationId xmlns:a16="http://schemas.microsoft.com/office/drawing/2014/main" id="{A416C123-C111-4A53-B64E-F62843A1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723">
            <a:extLst xmlns:a="http://schemas.openxmlformats.org/drawingml/2006/main">
              <a:ext uri="{FF2B5EF4-FFF2-40B4-BE49-F238E27FC236}">
                <a16:creationId xmlns:a16="http://schemas.microsoft.com/office/drawing/2014/main" id="{04694B57-D90D-4C11-BC69-6F435512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724">
            <a:extLst xmlns:a="http://schemas.openxmlformats.org/drawingml/2006/main">
              <a:ext uri="{FF2B5EF4-FFF2-40B4-BE49-F238E27FC236}">
                <a16:creationId xmlns:a16="http://schemas.microsoft.com/office/drawing/2014/main" id="{6D46205C-0343-45F1-A7AC-87E20027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-725">
            <a:extLst xmlns:a="http://schemas.openxmlformats.org/drawingml/2006/main">
              <a:ext uri="{FF2B5EF4-FFF2-40B4-BE49-F238E27FC236}">
                <a16:creationId xmlns:a16="http://schemas.microsoft.com/office/drawing/2014/main" id="{C6FA24BF-5CE6-4203-98C2-135D06E6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方向与规则</a:t>
            </a:r>
          </a:p>
        </p:txBody>
      </p:sp>
      <p:sp>
        <p:nvSpPr>
          <p:cNvPr id="12" name="text-726">
            <a:extLst xmlns:a="http://schemas.openxmlformats.org/drawingml/2006/main">
              <a:ext uri="{FF2B5EF4-FFF2-40B4-BE49-F238E27FC236}">
                <a16:creationId xmlns:a16="http://schemas.microsoft.com/office/drawing/2014/main" id="{AAC101A1-F3B3-4B10-A837-2FBEDD49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理念明确方向，制度落实责任</a:t>
            </a:r>
          </a:p>
        </p:txBody>
      </p:sp>
      <p:sp>
        <p:nvSpPr>
          <p:cNvPr id="13" name="arrow-727">
            <a:extLst xmlns:a="http://schemas.openxmlformats.org/drawingml/2006/main">
              <a:ext uri="{FF2B5EF4-FFF2-40B4-BE49-F238E27FC236}">
                <a16:creationId xmlns:a16="http://schemas.microsoft.com/office/drawing/2014/main" id="{2D81A17A-6569-429B-AF77-504127D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728">
            <a:extLst xmlns:a="http://schemas.openxmlformats.org/drawingml/2006/main">
              <a:ext uri="{FF2B5EF4-FFF2-40B4-BE49-F238E27FC236}">
                <a16:creationId xmlns:a16="http://schemas.microsoft.com/office/drawing/2014/main" id="{14B10C6E-054B-42DC-9F8E-BD9EA06B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729">
            <a:extLst xmlns:a="http://schemas.openxmlformats.org/drawingml/2006/main">
              <a:ext uri="{FF2B5EF4-FFF2-40B4-BE49-F238E27FC236}">
                <a16:creationId xmlns:a16="http://schemas.microsoft.com/office/drawing/2014/main" id="{51056D9D-794A-4BD3-A841-F0100D65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30">
            <a:extLst xmlns:a="http://schemas.openxmlformats.org/drawingml/2006/main">
              <a:ext uri="{FF2B5EF4-FFF2-40B4-BE49-F238E27FC236}">
                <a16:creationId xmlns:a16="http://schemas.microsoft.com/office/drawing/2014/main" id="{4EEDC362-F31B-4977-B5CC-B2E06872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-731">
            <a:extLst xmlns:a="http://schemas.openxmlformats.org/drawingml/2006/main">
              <a:ext uri="{FF2B5EF4-FFF2-40B4-BE49-F238E27FC236}">
                <a16:creationId xmlns:a16="http://schemas.microsoft.com/office/drawing/2014/main" id="{BB58319C-466C-42DC-8316-A95602AC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能力与行动</a:t>
            </a:r>
          </a:p>
        </p:txBody>
      </p:sp>
      <p:sp>
        <p:nvSpPr>
          <p:cNvPr id="18" name="text-732">
            <a:extLst xmlns:a="http://schemas.openxmlformats.org/drawingml/2006/main">
              <a:ext uri="{FF2B5EF4-FFF2-40B4-BE49-F238E27FC236}">
                <a16:creationId xmlns:a16="http://schemas.microsoft.com/office/drawing/2014/main" id="{9FB15121-DBA2-4313-A778-B01372CF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技术、投入与治理实践共同支撑</a:t>
            </a:r>
          </a:p>
        </p:txBody>
      </p:sp>
      <p:sp>
        <p:nvSpPr>
          <p:cNvPr id="19" name="arrow-733">
            <a:extLst xmlns:a="http://schemas.openxmlformats.org/drawingml/2006/main">
              <a:ext uri="{FF2B5EF4-FFF2-40B4-BE49-F238E27FC236}">
                <a16:creationId xmlns:a16="http://schemas.microsoft.com/office/drawing/2014/main" id="{7679C078-FB29-4B3D-9B52-66B5DA9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734">
            <a:extLst xmlns:a="http://schemas.openxmlformats.org/drawingml/2006/main">
              <a:ext uri="{FF2B5EF4-FFF2-40B4-BE49-F238E27FC236}">
                <a16:creationId xmlns:a16="http://schemas.microsoft.com/office/drawing/2014/main" id="{1D19D2DA-FDA1-46D8-B6D2-10F3AAB0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735">
            <a:extLst xmlns:a="http://schemas.openxmlformats.org/drawingml/2006/main">
              <a:ext uri="{FF2B5EF4-FFF2-40B4-BE49-F238E27FC236}">
                <a16:creationId xmlns:a16="http://schemas.microsoft.com/office/drawing/2014/main" id="{4B0B9605-A7BA-4A70-B609-B9211A0A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736">
            <a:extLst xmlns:a="http://schemas.openxmlformats.org/drawingml/2006/main">
              <a:ext uri="{FF2B5EF4-FFF2-40B4-BE49-F238E27FC236}">
                <a16:creationId xmlns:a16="http://schemas.microsoft.com/office/drawing/2014/main" id="{852F5D2D-63FA-42B7-AC01-B13C0E52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text-737">
            <a:extLst xmlns:a="http://schemas.openxmlformats.org/drawingml/2006/main">
              <a:ext uri="{FF2B5EF4-FFF2-40B4-BE49-F238E27FC236}">
                <a16:creationId xmlns:a16="http://schemas.microsoft.com/office/drawing/2014/main" id="{3E5224A0-1DE0-4BA4-8EE1-64605F6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参与与反馈</a:t>
            </a:r>
          </a:p>
        </p:txBody>
      </p:sp>
      <p:sp>
        <p:nvSpPr>
          <p:cNvPr id="24" name="text-738">
            <a:extLst xmlns:a="http://schemas.openxmlformats.org/drawingml/2006/main">
              <a:ext uri="{FF2B5EF4-FFF2-40B4-BE49-F238E27FC236}">
                <a16:creationId xmlns:a16="http://schemas.microsoft.com/office/drawing/2014/main" id="{87B53DD4-7414-43F0-8619-9D64132E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社会参与促进措施落地和持续改进</a:t>
            </a:r>
          </a:p>
        </p:txBody>
      </p:sp>
      <p:sp>
        <p:nvSpPr>
          <p:cNvPr id="25" name="surface-739">
            <a:extLst xmlns:a="http://schemas.openxmlformats.org/drawingml/2006/main">
              <a:ext uri="{FF2B5EF4-FFF2-40B4-BE49-F238E27FC236}">
                <a16:creationId xmlns:a16="http://schemas.microsoft.com/office/drawing/2014/main" id="{CB1C3C0C-B2F7-4649-A804-342EA8A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740">
            <a:extLst xmlns:a="http://schemas.openxmlformats.org/drawingml/2006/main">
              <a:ext uri="{FF2B5EF4-FFF2-40B4-BE49-F238E27FC236}">
                <a16:creationId xmlns:a16="http://schemas.microsoft.com/office/drawing/2014/main" id="{B1AE5224-12D8-4654-AA97-9B3C3D9D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理念、制度、能力与参与相互支撑</a:t>
            </a:r>
          </a:p>
        </p:txBody>
      </p:sp>
      <p:sp>
        <p:nvSpPr>
          <p:cNvPr id="27" name="surface-741">
            <a:extLst xmlns:a="http://schemas.openxmlformats.org/drawingml/2006/main">
              <a:ext uri="{FF2B5EF4-FFF2-40B4-BE49-F238E27FC236}">
                <a16:creationId xmlns:a16="http://schemas.microsoft.com/office/drawing/2014/main" id="{89242091-2A5B-49D0-ACF3-7D873CF6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circle-742">
            <a:extLst xmlns:a="http://schemas.openxmlformats.org/drawingml/2006/main">
              <a:ext uri="{FF2B5EF4-FFF2-40B4-BE49-F238E27FC236}">
                <a16:creationId xmlns:a16="http://schemas.microsoft.com/office/drawing/2014/main" id="{66BCB529-1AE7-4198-9568-6BC4A1B4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72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EBFD6-2283-403F-9FA0-A03B0E3E1E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f4fb60a284364">
            <a:extLst>
              <a:ext uri="{96DAC541-7B7A-43D3-8B79-37D633B846F1}">
                <asvg:svgBlip xmlns:asvg="http://schemas.microsoft.com/office/drawing/2016/SVG/main" r:embed="R380b4b52f28b49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578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" name="text-743">
            <a:extLst xmlns:a="http://schemas.openxmlformats.org/drawingml/2006/main">
              <a:ext uri="{FF2B5EF4-FFF2-40B4-BE49-F238E27FC236}">
                <a16:creationId xmlns:a16="http://schemas.microsoft.com/office/drawing/2014/main" id="{8A0DE924-8C53-4A8B-BD09-545F8892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1" name="text-744">
            <a:extLst xmlns:a="http://schemas.openxmlformats.org/drawingml/2006/main">
              <a:ext uri="{FF2B5EF4-FFF2-40B4-BE49-F238E27FC236}">
                <a16:creationId xmlns:a16="http://schemas.microsoft.com/office/drawing/2014/main" id="{EE5A110B-B251-461C-806E-C10F9E6E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435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一个成功治理案例，通常需要哪些条件？</a:t>
            </a:r>
          </a:p>
        </p:txBody>
      </p:sp>
    </p:spTree>
    <p:extLst>
      <p:ext uri="{BB962C8B-B14F-4D97-AF65-F5344CB8AC3E}">
        <p14:creationId xmlns:p14="http://schemas.microsoft.com/office/powerpoint/2010/main" val="5455044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urface-745">
            <a:extLst xmlns:a="http://schemas.openxmlformats.org/drawingml/2006/main">
              <a:ext uri="{FF2B5EF4-FFF2-40B4-BE49-F238E27FC236}">
                <a16:creationId xmlns:a16="http://schemas.microsoft.com/office/drawing/2014/main" id="{8A954667-C92D-488F-A484-7C5DB092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746">
            <a:extLst xmlns:a="http://schemas.openxmlformats.org/drawingml/2006/main">
              <a:ext uri="{FF2B5EF4-FFF2-40B4-BE49-F238E27FC236}">
                <a16:creationId xmlns:a16="http://schemas.microsoft.com/office/drawing/2014/main" id="{C6ED9EFF-4734-4DC1-8A18-AF9438B1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747">
            <a:extLst xmlns:a="http://schemas.openxmlformats.org/drawingml/2006/main">
              <a:ext uri="{FF2B5EF4-FFF2-40B4-BE49-F238E27FC236}">
                <a16:creationId xmlns:a16="http://schemas.microsoft.com/office/drawing/2014/main" id="{FD4D5674-227F-425E-AB4E-A5BEAEC9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748">
            <a:extLst xmlns:a="http://schemas.openxmlformats.org/drawingml/2006/main">
              <a:ext uri="{FF2B5EF4-FFF2-40B4-BE49-F238E27FC236}">
                <a16:creationId xmlns:a16="http://schemas.microsoft.com/office/drawing/2014/main" id="{F78DE143-718B-42A6-93F1-8136D378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环境改善，最终要回应群众生活需求</a:t>
            </a:r>
          </a:p>
        </p:txBody>
      </p:sp>
      <p:sp>
        <p:nvSpPr>
          <p:cNvPr id="5" name="rule-749">
            <a:extLst xmlns:a="http://schemas.openxmlformats.org/drawingml/2006/main">
              <a:ext uri="{FF2B5EF4-FFF2-40B4-BE49-F238E27FC236}">
                <a16:creationId xmlns:a16="http://schemas.microsoft.com/office/drawing/2014/main" id="{AC42C2EF-AA8A-417D-B842-3E687944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750">
            <a:extLst xmlns:a="http://schemas.openxmlformats.org/drawingml/2006/main">
              <a:ext uri="{FF2B5EF4-FFF2-40B4-BE49-F238E27FC236}">
                <a16:creationId xmlns:a16="http://schemas.microsoft.com/office/drawing/2014/main" id="{55FD79FE-7584-4E1C-8DD0-3E3C6F76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出处：党的二十大报告（2022）；《美丽中国建设意见》（2023）。完整文献及讲解见备注</a:t>
            </a:r>
          </a:p>
        </p:txBody>
      </p:sp>
      <p:sp>
        <p:nvSpPr>
          <p:cNvPr id="7" name="text-751">
            <a:extLst xmlns:a="http://schemas.openxmlformats.org/drawingml/2006/main">
              <a:ext uri="{FF2B5EF4-FFF2-40B4-BE49-F238E27FC236}">
                <a16:creationId xmlns:a16="http://schemas.microsoft.com/office/drawing/2014/main" id="{B6F4858A-9397-47F7-A030-5B6CF5C9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31</a:t>
            </a:r>
          </a:p>
        </p:txBody>
      </p:sp>
      <p:sp>
        <p:nvSpPr>
          <p:cNvPr id="8" name="surface-752">
            <a:extLst xmlns:a="http://schemas.openxmlformats.org/drawingml/2006/main">
              <a:ext uri="{FF2B5EF4-FFF2-40B4-BE49-F238E27FC236}">
                <a16:creationId xmlns:a16="http://schemas.microsoft.com/office/drawing/2014/main" id="{BB86414D-61A8-48A9-8847-1E8D4E8D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5276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753">
            <a:extLst xmlns:a="http://schemas.openxmlformats.org/drawingml/2006/main">
              <a:ext uri="{FF2B5EF4-FFF2-40B4-BE49-F238E27FC236}">
                <a16:creationId xmlns:a16="http://schemas.microsoft.com/office/drawing/2014/main" id="{C2C7AAA5-8272-4033-B439-1E86788C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62075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核心观察</a:t>
            </a:r>
          </a:p>
        </p:txBody>
      </p:sp>
      <p:sp>
        <p:nvSpPr>
          <p:cNvPr id="10" name="red-accent-754">
            <a:extLst xmlns:a="http://schemas.openxmlformats.org/drawingml/2006/main">
              <a:ext uri="{FF2B5EF4-FFF2-40B4-BE49-F238E27FC236}">
                <a16:creationId xmlns:a16="http://schemas.microsoft.com/office/drawing/2014/main" id="{0C25C52A-3CE0-4FDC-816F-EE68BF1A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d-accent-755">
            <a:extLst xmlns:a="http://schemas.openxmlformats.org/drawingml/2006/main">
              <a:ext uri="{FF2B5EF4-FFF2-40B4-BE49-F238E27FC236}">
                <a16:creationId xmlns:a16="http://schemas.microsoft.com/office/drawing/2014/main" id="{18CFE449-96CB-4E78-865E-049A2DBD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d-accent-756">
            <a:extLst xmlns:a="http://schemas.openxmlformats.org/drawingml/2006/main">
              <a:ext uri="{FF2B5EF4-FFF2-40B4-BE49-F238E27FC236}">
                <a16:creationId xmlns:a16="http://schemas.microsoft.com/office/drawing/2014/main" id="{CA60E9C9-221D-4FB4-90AD-5EA27E70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d-accent-757">
            <a:extLst xmlns:a="http://schemas.openxmlformats.org/drawingml/2006/main">
              <a:ext uri="{FF2B5EF4-FFF2-40B4-BE49-F238E27FC236}">
                <a16:creationId xmlns:a16="http://schemas.microsoft.com/office/drawing/2014/main" id="{C93D29AD-6066-4F34-8239-6915E8E1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d-accent-758">
            <a:extLst xmlns:a="http://schemas.openxmlformats.org/drawingml/2006/main">
              <a:ext uri="{FF2B5EF4-FFF2-40B4-BE49-F238E27FC236}">
                <a16:creationId xmlns:a16="http://schemas.microsoft.com/office/drawing/2014/main" id="{CB282C82-BC7B-4EB9-A364-DF06243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171450" cy="1238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759">
            <a:extLst xmlns:a="http://schemas.openxmlformats.org/drawingml/2006/main">
              <a:ext uri="{FF2B5EF4-FFF2-40B4-BE49-F238E27FC236}">
                <a16:creationId xmlns:a16="http://schemas.microsoft.com/office/drawing/2014/main" id="{92B28295-FC59-4A35-A1EF-61F88FCD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6" name="text-760">
            <a:extLst xmlns:a="http://schemas.openxmlformats.org/drawingml/2006/main">
              <a:ext uri="{FF2B5EF4-FFF2-40B4-BE49-F238E27FC236}">
                <a16:creationId xmlns:a16="http://schemas.microsoft.com/office/drawing/2014/main" id="{D27FB392-09E7-4230-89C6-AE6609DA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977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看身边问题</a:t>
            </a:r>
          </a:p>
        </p:txBody>
      </p:sp>
      <p:sp>
        <p:nvSpPr>
          <p:cNvPr id="17" name="text-761">
            <a:extLst xmlns:a="http://schemas.openxmlformats.org/drawingml/2006/main">
              <a:ext uri="{FF2B5EF4-FFF2-40B4-BE49-F238E27FC236}">
                <a16:creationId xmlns:a16="http://schemas.microsoft.com/office/drawing/2014/main" id="{B15B21FA-DE15-43BA-82DA-74AABEED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003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关注噪声、异味和身边污染</a:t>
            </a:r>
          </a:p>
        </p:txBody>
      </p:sp>
      <p:sp>
        <p:nvSpPr>
          <p:cNvPr id="18" name="text-762">
            <a:extLst xmlns:a="http://schemas.openxmlformats.org/drawingml/2006/main">
              <a:ext uri="{FF2B5EF4-FFF2-40B4-BE49-F238E27FC236}">
                <a16:creationId xmlns:a16="http://schemas.microsoft.com/office/drawing/2014/main" id="{C98C5CBD-546E-4444-84CC-8A83B68E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9" name="text-763">
            <a:extLst xmlns:a="http://schemas.openxmlformats.org/drawingml/2006/main">
              <a:ext uri="{FF2B5EF4-FFF2-40B4-BE49-F238E27FC236}">
                <a16:creationId xmlns:a16="http://schemas.microsoft.com/office/drawing/2014/main" id="{1584BEFD-A588-450F-8694-088CB802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看群体差异</a:t>
            </a:r>
          </a:p>
        </p:txBody>
      </p:sp>
      <p:sp>
        <p:nvSpPr>
          <p:cNvPr id="20" name="text-764">
            <a:extLst xmlns:a="http://schemas.openxmlformats.org/drawingml/2006/main">
              <a:ext uri="{FF2B5EF4-FFF2-40B4-BE49-F238E27FC236}">
                <a16:creationId xmlns:a16="http://schemas.microsoft.com/office/drawing/2014/main" id="{BB1724AC-6334-4DB6-91DB-CC761A99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75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关心儿童、老人和户外劳动者</a:t>
            </a:r>
          </a:p>
        </p:txBody>
      </p:sp>
      <p:sp>
        <p:nvSpPr>
          <p:cNvPr id="21" name="text-765">
            <a:extLst xmlns:a="http://schemas.openxmlformats.org/drawingml/2006/main">
              <a:ext uri="{FF2B5EF4-FFF2-40B4-BE49-F238E27FC236}">
                <a16:creationId xmlns:a16="http://schemas.microsoft.com/office/drawing/2014/main" id="{98517425-DE8E-49A5-81BE-C01EB779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text-766">
            <a:extLst xmlns:a="http://schemas.openxmlformats.org/drawingml/2006/main">
              <a:ext uri="{FF2B5EF4-FFF2-40B4-BE49-F238E27FC236}">
                <a16:creationId xmlns:a16="http://schemas.microsoft.com/office/drawing/2014/main" id="{FC7527C5-EE54-4632-889B-634A353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24325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看回应机制</a:t>
            </a:r>
          </a:p>
        </p:txBody>
      </p:sp>
      <p:sp>
        <p:nvSpPr>
          <p:cNvPr id="23" name="text-767">
            <a:extLst xmlns:a="http://schemas.openxmlformats.org/drawingml/2006/main">
              <a:ext uri="{FF2B5EF4-FFF2-40B4-BE49-F238E27FC236}">
                <a16:creationId xmlns:a16="http://schemas.microsoft.com/office/drawing/2014/main" id="{BB9FB866-61ED-4066-B619-DEF8239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48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完善服务、公开与反馈</a:t>
            </a:r>
          </a:p>
        </p:txBody>
      </p:sp>
      <p:sp>
        <p:nvSpPr>
          <p:cNvPr id="24" name="surface-768">
            <a:extLst xmlns:a="http://schemas.openxmlformats.org/drawingml/2006/main">
              <a:ext uri="{FF2B5EF4-FFF2-40B4-BE49-F238E27FC236}">
                <a16:creationId xmlns:a16="http://schemas.microsoft.com/office/drawing/2014/main" id="{9D822C90-D254-4EDA-BC23-3C435EAE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19200"/>
            <a:ext cx="564832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25" name="circle-769">
            <a:extLst xmlns:a="http://schemas.openxmlformats.org/drawingml/2006/main">
              <a:ext uri="{FF2B5EF4-FFF2-40B4-BE49-F238E27FC236}">
                <a16:creationId xmlns:a16="http://schemas.microsoft.com/office/drawing/2014/main" id="{73B96811-287D-4181-8836-EC84E37D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859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0D0D0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6F11D-1C0C-4A62-B087-77A70DD918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0ee9fd03441ff">
            <a:extLst>
              <a:ext uri="{96DAC541-7B7A-43D3-8B79-37D633B846F1}">
                <asvg:svgBlip xmlns:asvg="http://schemas.microsoft.com/office/drawing/2016/SVG/main" r:embed="Rb5abae6f12f944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57975" y="1952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7" name="text-770">
            <a:extLst xmlns:a="http://schemas.openxmlformats.org/drawingml/2006/main">
              <a:ext uri="{FF2B5EF4-FFF2-40B4-BE49-F238E27FC236}">
                <a16:creationId xmlns:a16="http://schemas.microsoft.com/office/drawing/2014/main" id="{2EB8ADE5-0C38-49BB-B2F6-50388A79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57525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群众需求</a:t>
            </a:r>
          </a:p>
        </p:txBody>
      </p:sp>
      <p:sp>
        <p:nvSpPr>
          <p:cNvPr id="28" name="circle-771">
            <a:extLst xmlns:a="http://schemas.openxmlformats.org/drawingml/2006/main">
              <a:ext uri="{FF2B5EF4-FFF2-40B4-BE49-F238E27FC236}">
                <a16:creationId xmlns:a16="http://schemas.microsoft.com/office/drawing/2014/main" id="{73ABFD43-835F-4308-A4C9-67790ED3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19050">
            <a:solidFill>
              <a:srgbClr val="D0D0D0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46C132-191D-4AA4-85F7-5C652CCBC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f3aab290b4968">
            <a:extLst>
              <a:ext uri="{96DAC541-7B7A-43D3-8B79-37D633B846F1}">
                <asvg:svgBlip xmlns:asvg="http://schemas.microsoft.com/office/drawing/2016/SVG/main" r:embed="Rf2956945d8c246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72475" y="1952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0" name="text-772">
            <a:extLst xmlns:a="http://schemas.openxmlformats.org/drawingml/2006/main">
              <a:ext uri="{FF2B5EF4-FFF2-40B4-BE49-F238E27FC236}">
                <a16:creationId xmlns:a16="http://schemas.microsoft.com/office/drawing/2014/main" id="{DA942893-8194-4FFD-A225-D020CAB9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057525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公共服务</a:t>
            </a:r>
          </a:p>
        </p:txBody>
      </p:sp>
      <p:sp>
        <p:nvSpPr>
          <p:cNvPr id="31" name="circle-773">
            <a:extLst xmlns:a="http://schemas.openxmlformats.org/drawingml/2006/main">
              <a:ext uri="{FF2B5EF4-FFF2-40B4-BE49-F238E27FC236}">
                <a16:creationId xmlns:a16="http://schemas.microsoft.com/office/drawing/2014/main" id="{60FDBC4D-632D-48C2-9A6A-4C7057E6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859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0D0D0"/>
            </a:solidFill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26EF9C-314A-44C5-A456-3B6E933531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20d74b1dd4547">
            <a:extLst>
              <a:ext uri="{96DAC541-7B7A-43D3-8B79-37D633B846F1}">
                <asvg:svgBlip xmlns:asvg="http://schemas.microsoft.com/office/drawing/2016/SVG/main" r:embed="R04ffa498386e46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86975" y="1952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3" name="text-774">
            <a:extLst xmlns:a="http://schemas.openxmlformats.org/drawingml/2006/main">
              <a:ext uri="{FF2B5EF4-FFF2-40B4-BE49-F238E27FC236}">
                <a16:creationId xmlns:a16="http://schemas.microsoft.com/office/drawing/2014/main" id="{F9A66932-86D5-4368-98F6-DA2CC660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57525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治理回应</a:t>
            </a:r>
          </a:p>
        </p:txBody>
      </p:sp>
      <p:sp>
        <p:nvSpPr>
          <p:cNvPr id="34" name="surface-775">
            <a:extLst xmlns:a="http://schemas.openxmlformats.org/drawingml/2006/main">
              <a:ext uri="{FF2B5EF4-FFF2-40B4-BE49-F238E27FC236}">
                <a16:creationId xmlns:a16="http://schemas.microsoft.com/office/drawing/2014/main" id="{4F46274F-2B1D-450F-9C31-E990FA39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56483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776">
            <a:extLst xmlns:a="http://schemas.openxmlformats.org/drawingml/2006/main">
              <a:ext uri="{FF2B5EF4-FFF2-40B4-BE49-F238E27FC236}">
                <a16:creationId xmlns:a16="http://schemas.microsoft.com/office/drawing/2014/main" id="{A0C77870-9A4E-4A4D-85AF-7EF6CBB9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05300"/>
            <a:ext cx="5229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生态环境改善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要让群众可感、可及</a:t>
            </a:r>
          </a:p>
        </p:txBody>
      </p:sp>
      <p:sp>
        <p:nvSpPr>
          <p:cNvPr id="36" name="surface-777">
            <a:extLst xmlns:a="http://schemas.openxmlformats.org/drawingml/2006/main">
              <a:ext uri="{FF2B5EF4-FFF2-40B4-BE49-F238E27FC236}">
                <a16:creationId xmlns:a16="http://schemas.microsoft.com/office/drawing/2014/main" id="{43450772-EC08-4027-BA11-0DE58F3F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circle-778">
            <a:extLst xmlns:a="http://schemas.openxmlformats.org/drawingml/2006/main">
              <a:ext uri="{FF2B5EF4-FFF2-40B4-BE49-F238E27FC236}">
                <a16:creationId xmlns:a16="http://schemas.microsoft.com/office/drawing/2014/main" id="{F8B5C9A0-C619-4EC3-BE0D-3633D69E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24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941849-2B90-44D8-A7F7-5BACDF9F9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e143d4e2f4bd5">
            <a:extLst>
              <a:ext uri="{96DAC541-7B7A-43D3-8B79-37D633B846F1}">
                <asvg:svgBlip xmlns:asvg="http://schemas.microsoft.com/office/drawing/2016/SVG/main" r:embed="R35c6c184200340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10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9" name="text-779">
            <a:extLst xmlns:a="http://schemas.openxmlformats.org/drawingml/2006/main">
              <a:ext uri="{FF2B5EF4-FFF2-40B4-BE49-F238E27FC236}">
                <a16:creationId xmlns:a16="http://schemas.microsoft.com/office/drawing/2014/main" id="{6E0ABE19-10D8-4E25-B9B8-55AEDECC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40" name="text-780">
            <a:extLst xmlns:a="http://schemas.openxmlformats.org/drawingml/2006/main">
              <a:ext uri="{FF2B5EF4-FFF2-40B4-BE49-F238E27FC236}">
                <a16:creationId xmlns:a16="http://schemas.microsoft.com/office/drawing/2014/main" id="{A966988F-28BE-4AF2-9871-9A2E1A0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家门口的哪些环境问题，最需要优先回应？</a:t>
            </a:r>
          </a:p>
        </p:txBody>
      </p:sp>
    </p:spTree>
    <p:extLst>
      <p:ext uri="{BB962C8B-B14F-4D97-AF65-F5344CB8AC3E}">
        <p14:creationId xmlns:p14="http://schemas.microsoft.com/office/powerpoint/2010/main" val="18100131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-781">
            <a:extLst xmlns:a="http://schemas.openxmlformats.org/drawingml/2006/main">
              <a:ext uri="{FF2B5EF4-FFF2-40B4-BE49-F238E27FC236}">
                <a16:creationId xmlns:a16="http://schemas.microsoft.com/office/drawing/2014/main" id="{F67F1D5C-CDAE-4A2D-9F9E-105DCA4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782">
            <a:extLst xmlns:a="http://schemas.openxmlformats.org/drawingml/2006/main">
              <a:ext uri="{FF2B5EF4-FFF2-40B4-BE49-F238E27FC236}">
                <a16:creationId xmlns:a16="http://schemas.microsoft.com/office/drawing/2014/main" id="{324963B8-00A4-44E0-8675-FD0F6AF0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783">
            <a:extLst xmlns:a="http://schemas.openxmlformats.org/drawingml/2006/main">
              <a:ext uri="{FF2B5EF4-FFF2-40B4-BE49-F238E27FC236}">
                <a16:creationId xmlns:a16="http://schemas.microsoft.com/office/drawing/2014/main" id="{E316007E-B72A-44CE-9770-D225DFFD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784">
            <a:extLst xmlns:a="http://schemas.openxmlformats.org/drawingml/2006/main">
              <a:ext uri="{FF2B5EF4-FFF2-40B4-BE49-F238E27FC236}">
                <a16:creationId xmlns:a16="http://schemas.microsoft.com/office/drawing/2014/main" id="{0E6F1974-90E2-44F4-8E5D-82717650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科学治理，让监测与证据进入决策</a:t>
            </a:r>
          </a:p>
        </p:txBody>
      </p:sp>
      <p:sp>
        <p:nvSpPr>
          <p:cNvPr id="5" name="rule-785">
            <a:extLst xmlns:a="http://schemas.openxmlformats.org/drawingml/2006/main">
              <a:ext uri="{FF2B5EF4-FFF2-40B4-BE49-F238E27FC236}">
                <a16:creationId xmlns:a16="http://schemas.microsoft.com/office/drawing/2014/main" id="{BB47C3D3-B40B-463C-8864-28423A0B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786">
            <a:extLst xmlns:a="http://schemas.openxmlformats.org/drawingml/2006/main">
              <a:ext uri="{FF2B5EF4-FFF2-40B4-BE49-F238E27FC236}">
                <a16:creationId xmlns:a16="http://schemas.microsoft.com/office/drawing/2014/main" id="{D24C72E9-37AE-402E-A98F-DEED8016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出处：全国生态环保大会公开报道（2023）；《美丽中国建设意见》（2023）。完整文献及讲解见备注</a:t>
            </a:r>
          </a:p>
        </p:txBody>
      </p:sp>
      <p:sp>
        <p:nvSpPr>
          <p:cNvPr id="7" name="text-787">
            <a:extLst xmlns:a="http://schemas.openxmlformats.org/drawingml/2006/main">
              <a:ext uri="{FF2B5EF4-FFF2-40B4-BE49-F238E27FC236}">
                <a16:creationId xmlns:a16="http://schemas.microsoft.com/office/drawing/2014/main" id="{CEC8909C-570E-4D9C-B5A5-537EEE59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8" name="surface-788">
            <a:extLst xmlns:a="http://schemas.openxmlformats.org/drawingml/2006/main">
              <a:ext uri="{FF2B5EF4-FFF2-40B4-BE49-F238E27FC236}">
                <a16:creationId xmlns:a16="http://schemas.microsoft.com/office/drawing/2014/main" id="{CE68AB4B-1B57-4573-A0C1-88DB8A4F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789">
            <a:extLst xmlns:a="http://schemas.openxmlformats.org/drawingml/2006/main">
              <a:ext uri="{FF2B5EF4-FFF2-40B4-BE49-F238E27FC236}">
                <a16:creationId xmlns:a16="http://schemas.microsoft.com/office/drawing/2014/main" id="{E0B2142D-F3A4-4728-A92B-20FE8F87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790">
            <a:extLst xmlns:a="http://schemas.openxmlformats.org/drawingml/2006/main">
              <a:ext uri="{FF2B5EF4-FFF2-40B4-BE49-F238E27FC236}">
                <a16:creationId xmlns:a16="http://schemas.microsoft.com/office/drawing/2014/main" id="{80B5FF9C-6E14-49EB-A475-D66C1BC8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-791">
            <a:extLst xmlns:a="http://schemas.openxmlformats.org/drawingml/2006/main">
              <a:ext uri="{FF2B5EF4-FFF2-40B4-BE49-F238E27FC236}">
                <a16:creationId xmlns:a16="http://schemas.microsoft.com/office/drawing/2014/main" id="{30517710-2C8B-4BC8-BBB9-F5AD1DB2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发现与识别</a:t>
            </a:r>
          </a:p>
        </p:txBody>
      </p:sp>
      <p:sp>
        <p:nvSpPr>
          <p:cNvPr id="12" name="text-792">
            <a:extLst xmlns:a="http://schemas.openxmlformats.org/drawingml/2006/main">
              <a:ext uri="{FF2B5EF4-FFF2-40B4-BE49-F238E27FC236}">
                <a16:creationId xmlns:a16="http://schemas.microsoft.com/office/drawing/2014/main" id="{C68C1A95-DE95-4BC7-857F-4516CE0A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通过监测追踪变化、识别问题线索</a:t>
            </a:r>
          </a:p>
        </p:txBody>
      </p:sp>
      <p:sp>
        <p:nvSpPr>
          <p:cNvPr id="13" name="arrow-793">
            <a:extLst xmlns:a="http://schemas.openxmlformats.org/drawingml/2006/main">
              <a:ext uri="{FF2B5EF4-FFF2-40B4-BE49-F238E27FC236}">
                <a16:creationId xmlns:a16="http://schemas.microsoft.com/office/drawing/2014/main" id="{12DE109E-17F4-413A-83E7-E6567304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-794">
            <a:extLst xmlns:a="http://schemas.openxmlformats.org/drawingml/2006/main">
              <a:ext uri="{FF2B5EF4-FFF2-40B4-BE49-F238E27FC236}">
                <a16:creationId xmlns:a16="http://schemas.microsoft.com/office/drawing/2014/main" id="{C6793C8A-B750-4C72-85E1-50D8B4EF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urface-795">
            <a:extLst xmlns:a="http://schemas.openxmlformats.org/drawingml/2006/main">
              <a:ext uri="{FF2B5EF4-FFF2-40B4-BE49-F238E27FC236}">
                <a16:creationId xmlns:a16="http://schemas.microsoft.com/office/drawing/2014/main" id="{B8BDDCC8-81C9-4E5A-A23A-F1AF9EC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96">
            <a:extLst xmlns:a="http://schemas.openxmlformats.org/drawingml/2006/main">
              <a:ext uri="{FF2B5EF4-FFF2-40B4-BE49-F238E27FC236}">
                <a16:creationId xmlns:a16="http://schemas.microsoft.com/office/drawing/2014/main" id="{3E1E4184-2EAB-4469-B46B-1651CD6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-797">
            <a:extLst xmlns:a="http://schemas.openxmlformats.org/drawingml/2006/main">
              <a:ext uri="{FF2B5EF4-FFF2-40B4-BE49-F238E27FC236}">
                <a16:creationId xmlns:a16="http://schemas.microsoft.com/office/drawing/2014/main" id="{E7EAFCCA-3BB7-4A7E-BE0A-51652D06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分析与施策</a:t>
            </a:r>
          </a:p>
        </p:txBody>
      </p:sp>
      <p:sp>
        <p:nvSpPr>
          <p:cNvPr id="18" name="text-798">
            <a:extLst xmlns:a="http://schemas.openxmlformats.org/drawingml/2006/main">
              <a:ext uri="{FF2B5EF4-FFF2-40B4-BE49-F238E27FC236}">
                <a16:creationId xmlns:a16="http://schemas.microsoft.com/office/drawing/2014/main" id="{64E40795-B9E2-4540-8457-9F8874C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结合成因、范围和条件选择治理措施</a:t>
            </a:r>
          </a:p>
        </p:txBody>
      </p:sp>
      <p:sp>
        <p:nvSpPr>
          <p:cNvPr id="19" name="arrow-799">
            <a:extLst xmlns:a="http://schemas.openxmlformats.org/drawingml/2006/main">
              <a:ext uri="{FF2B5EF4-FFF2-40B4-BE49-F238E27FC236}">
                <a16:creationId xmlns:a16="http://schemas.microsoft.com/office/drawing/2014/main" id="{47E54C5E-EEA1-4D2F-BB88-A704FFB8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24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-800">
            <a:extLst xmlns:a="http://schemas.openxmlformats.org/drawingml/2006/main">
              <a:ext uri="{FF2B5EF4-FFF2-40B4-BE49-F238E27FC236}">
                <a16:creationId xmlns:a16="http://schemas.microsoft.com/office/drawing/2014/main" id="{4CEBC5DE-E83A-43CF-85AF-6520028B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urface-801">
            <a:extLst xmlns:a="http://schemas.openxmlformats.org/drawingml/2006/main">
              <a:ext uri="{FF2B5EF4-FFF2-40B4-BE49-F238E27FC236}">
                <a16:creationId xmlns:a16="http://schemas.microsoft.com/office/drawing/2014/main" id="{84E3848E-DBF4-4378-BEF1-141567A1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390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802">
            <a:extLst xmlns:a="http://schemas.openxmlformats.org/drawingml/2006/main">
              <a:ext uri="{FF2B5EF4-FFF2-40B4-BE49-F238E27FC236}">
                <a16:creationId xmlns:a16="http://schemas.microsoft.com/office/drawing/2014/main" id="{255822B9-7C96-4E88-89DA-9FCEF6DD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text-803">
            <a:extLst xmlns:a="http://schemas.openxmlformats.org/drawingml/2006/main">
              <a:ext uri="{FF2B5EF4-FFF2-40B4-BE49-F238E27FC236}">
                <a16:creationId xmlns:a16="http://schemas.microsoft.com/office/drawing/2014/main" id="{7EE559F8-7903-4BA5-96EC-D499A547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检验与调整</a:t>
            </a:r>
          </a:p>
        </p:txBody>
      </p:sp>
      <p:sp>
        <p:nvSpPr>
          <p:cNvPr id="24" name="text-804">
            <a:extLst xmlns:a="http://schemas.openxmlformats.org/drawingml/2006/main">
              <a:ext uri="{FF2B5EF4-FFF2-40B4-BE49-F238E27FC236}">
                <a16:creationId xmlns:a16="http://schemas.microsoft.com/office/drawing/2014/main" id="{60723599-6FDD-4B4B-96DD-B4AB01FA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核查治理效果，持续修正行动</a:t>
            </a:r>
          </a:p>
        </p:txBody>
      </p:sp>
      <p:sp>
        <p:nvSpPr>
          <p:cNvPr id="25" name="surface-805">
            <a:extLst xmlns:a="http://schemas.openxmlformats.org/drawingml/2006/main">
              <a:ext uri="{FF2B5EF4-FFF2-40B4-BE49-F238E27FC236}">
                <a16:creationId xmlns:a16="http://schemas.microsoft.com/office/drawing/2014/main" id="{B6B18265-632D-4EBC-BCE4-893EEA4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806">
            <a:extLst xmlns:a="http://schemas.openxmlformats.org/drawingml/2006/main">
              <a:ext uri="{FF2B5EF4-FFF2-40B4-BE49-F238E27FC236}">
                <a16:creationId xmlns:a16="http://schemas.microsoft.com/office/drawing/2014/main" id="{097B5578-2F13-49DD-90C2-F739B89F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真实数据与适宜方法共同支撑治理</a:t>
            </a:r>
          </a:p>
        </p:txBody>
      </p:sp>
      <p:sp>
        <p:nvSpPr>
          <p:cNvPr id="27" name="surface-807">
            <a:extLst xmlns:a="http://schemas.openxmlformats.org/drawingml/2006/main">
              <a:ext uri="{FF2B5EF4-FFF2-40B4-BE49-F238E27FC236}">
                <a16:creationId xmlns:a16="http://schemas.microsoft.com/office/drawing/2014/main" id="{027D1D33-3504-49DB-9F97-DF82A2BD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circle-808">
            <a:extLst xmlns:a="http://schemas.openxmlformats.org/drawingml/2006/main">
              <a:ext uri="{FF2B5EF4-FFF2-40B4-BE49-F238E27FC236}">
                <a16:creationId xmlns:a16="http://schemas.microsoft.com/office/drawing/2014/main" id="{3601AA4A-0DED-4F92-B7DA-BF708055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72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AE9F5-58CC-4446-B451-44627FECF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c3eb0e1834155">
            <a:extLst>
              <a:ext uri="{96DAC541-7B7A-43D3-8B79-37D633B846F1}">
                <asvg:svgBlip xmlns:asvg="http://schemas.microsoft.com/office/drawing/2016/SVG/main" r:embed="R02fd38e0b0c345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578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" name="text-809">
            <a:extLst xmlns:a="http://schemas.openxmlformats.org/drawingml/2006/main">
              <a:ext uri="{FF2B5EF4-FFF2-40B4-BE49-F238E27FC236}">
                <a16:creationId xmlns:a16="http://schemas.microsoft.com/office/drawing/2014/main" id="{E494EF81-A66E-44D7-BD71-7922B8CA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31" name="text-810">
            <a:extLst xmlns:a="http://schemas.openxmlformats.org/drawingml/2006/main">
              <a:ext uri="{FF2B5EF4-FFF2-40B4-BE49-F238E27FC236}">
                <a16:creationId xmlns:a16="http://schemas.microsoft.com/office/drawing/2014/main" id="{2AA698C0-A537-4499-BD48-D0A2DAAA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435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一个监测点，能代表整座城市的情况吗？</a:t>
            </a:r>
          </a:p>
        </p:txBody>
      </p:sp>
    </p:spTree>
    <p:extLst>
      <p:ext uri="{BB962C8B-B14F-4D97-AF65-F5344CB8AC3E}">
        <p14:creationId xmlns:p14="http://schemas.microsoft.com/office/powerpoint/2010/main" val="5775971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-811">
            <a:extLst xmlns:a="http://schemas.openxmlformats.org/drawingml/2006/main">
              <a:ext uri="{FF2B5EF4-FFF2-40B4-BE49-F238E27FC236}">
                <a16:creationId xmlns:a16="http://schemas.microsoft.com/office/drawing/2014/main" id="{2C85043A-FC9B-452F-A7E0-8649D3C1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812">
            <a:extLst xmlns:a="http://schemas.openxmlformats.org/drawingml/2006/main">
              <a:ext uri="{FF2B5EF4-FFF2-40B4-BE49-F238E27FC236}">
                <a16:creationId xmlns:a16="http://schemas.microsoft.com/office/drawing/2014/main" id="{B637EEE1-7143-4EBF-99D2-422C5AB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813">
            <a:extLst xmlns:a="http://schemas.openxmlformats.org/drawingml/2006/main">
              <a:ext uri="{FF2B5EF4-FFF2-40B4-BE49-F238E27FC236}">
                <a16:creationId xmlns:a16="http://schemas.microsoft.com/office/drawing/2014/main" id="{655F93C8-4900-47FF-AE7A-E664AF8A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14">
            <a:extLst xmlns:a="http://schemas.openxmlformats.org/drawingml/2006/main">
              <a:ext uri="{FF2B5EF4-FFF2-40B4-BE49-F238E27FC236}">
                <a16:creationId xmlns:a16="http://schemas.microsoft.com/office/drawing/2014/main" id="{01A59C3A-2AE8-4917-9B31-342E13A2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怎样用证据理解“举世瞩目”</a:t>
            </a:r>
          </a:p>
        </p:txBody>
      </p:sp>
      <p:sp>
        <p:nvSpPr>
          <p:cNvPr id="5" name="rule-815">
            <a:extLst xmlns:a="http://schemas.openxmlformats.org/drawingml/2006/main">
              <a:ext uri="{FF2B5EF4-FFF2-40B4-BE49-F238E27FC236}">
                <a16:creationId xmlns:a16="http://schemas.microsoft.com/office/drawing/2014/main" id="{DA2DBC25-B7B7-4720-B089-9D150DFB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816">
            <a:extLst xmlns:a="http://schemas.openxmlformats.org/drawingml/2006/main">
              <a:ext uri="{FF2B5EF4-FFF2-40B4-BE49-F238E27FC236}">
                <a16:creationId xmlns:a16="http://schemas.microsoft.com/office/drawing/2014/main" id="{8D6ACDC4-C383-4E13-8711-AD5E5AB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出处：党的二十大报告（2022）；全国生态环保大会公开报道（2023）；《2023中国生态环境状况公报》。完整文献及讲解见备注</a:t>
            </a:r>
          </a:p>
        </p:txBody>
      </p:sp>
      <p:sp>
        <p:nvSpPr>
          <p:cNvPr id="7" name="text-817">
            <a:extLst xmlns:a="http://schemas.openxmlformats.org/drawingml/2006/main">
              <a:ext uri="{FF2B5EF4-FFF2-40B4-BE49-F238E27FC236}">
                <a16:creationId xmlns:a16="http://schemas.microsoft.com/office/drawing/2014/main" id="{37EF8398-21C9-477D-87C6-E5444C7E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33</a:t>
            </a:r>
          </a:p>
        </p:txBody>
      </p:sp>
      <p:sp>
        <p:nvSpPr>
          <p:cNvPr id="8" name="surface-818">
            <a:extLst xmlns:a="http://schemas.openxmlformats.org/drawingml/2006/main">
              <a:ext uri="{FF2B5EF4-FFF2-40B4-BE49-F238E27FC236}">
                <a16:creationId xmlns:a16="http://schemas.microsoft.com/office/drawing/2014/main" id="{15BBBA3B-66F7-4A4D-A17D-198DBB72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ircle-819">
            <a:extLst xmlns:a="http://schemas.openxmlformats.org/drawingml/2006/main">
              <a:ext uri="{FF2B5EF4-FFF2-40B4-BE49-F238E27FC236}">
                <a16:creationId xmlns:a16="http://schemas.microsoft.com/office/drawing/2014/main" id="{6CD65665-3004-4713-B286-7CA59CC2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6AB8A-A537-4598-AA71-90DC3ED2C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8ffb93dd44133">
            <a:extLst>
              <a:ext uri="{96DAC541-7B7A-43D3-8B79-37D633B846F1}">
                <asvg:svgBlip xmlns:asvg="http://schemas.microsoft.com/office/drawing/2016/SVG/main" r:embed="R4bfea546cd6547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1" name="text-820">
            <a:extLst xmlns:a="http://schemas.openxmlformats.org/drawingml/2006/main">
              <a:ext uri="{FF2B5EF4-FFF2-40B4-BE49-F238E27FC236}">
                <a16:creationId xmlns:a16="http://schemas.microsoft.com/office/drawing/2014/main" id="{4BDF02C9-0869-46FF-8C1B-1352584C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环境改善</a:t>
            </a:r>
          </a:p>
        </p:txBody>
      </p:sp>
      <p:sp>
        <p:nvSpPr>
          <p:cNvPr id="12" name="text-821">
            <a:extLst xmlns:a="http://schemas.openxmlformats.org/drawingml/2006/main">
              <a:ext uri="{FF2B5EF4-FFF2-40B4-BE49-F238E27FC236}">
                <a16:creationId xmlns:a16="http://schemas.microsoft.com/office/drawing/2014/main" id="{54539AA0-82C8-42A3-BC14-6D926259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用年度公报与同口径指标说明变化</a:t>
            </a:r>
          </a:p>
        </p:txBody>
      </p:sp>
      <p:sp>
        <p:nvSpPr>
          <p:cNvPr id="13" name="surface-822">
            <a:extLst xmlns:a="http://schemas.openxmlformats.org/drawingml/2006/main">
              <a:ext uri="{FF2B5EF4-FFF2-40B4-BE49-F238E27FC236}">
                <a16:creationId xmlns:a16="http://schemas.microsoft.com/office/drawing/2014/main" id="{ABA8D290-AFC4-4090-BB59-FA688CE0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ircle-823">
            <a:extLst xmlns:a="http://schemas.openxmlformats.org/drawingml/2006/main">
              <a:ext uri="{FF2B5EF4-FFF2-40B4-BE49-F238E27FC236}">
                <a16:creationId xmlns:a16="http://schemas.microsoft.com/office/drawing/2014/main" id="{3128A57E-15A7-4344-AEE4-F4F787D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5D2E3-A614-4351-85DB-D8569C55BD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db33a090b4c5e">
            <a:extLst>
              <a:ext uri="{96DAC541-7B7A-43D3-8B79-37D633B846F1}">
                <asvg:svgBlip xmlns:asvg="http://schemas.microsoft.com/office/drawing/2016/SVG/main" r:embed="R296be5ea5f5b40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6" name="text-824">
            <a:extLst xmlns:a="http://schemas.openxmlformats.org/drawingml/2006/main">
              <a:ext uri="{FF2B5EF4-FFF2-40B4-BE49-F238E27FC236}">
                <a16:creationId xmlns:a16="http://schemas.microsoft.com/office/drawing/2014/main" id="{494C1857-6F9A-4A78-94A5-5C4E45AB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制度进步</a:t>
            </a:r>
          </a:p>
        </p:txBody>
      </p:sp>
      <p:sp>
        <p:nvSpPr>
          <p:cNvPr id="17" name="text-825">
            <a:extLst xmlns:a="http://schemas.openxmlformats.org/drawingml/2006/main">
              <a:ext uri="{FF2B5EF4-FFF2-40B4-BE49-F238E27FC236}">
                <a16:creationId xmlns:a16="http://schemas.microsoft.com/office/drawing/2014/main" id="{3593411E-4813-4D38-9215-B3FA8C0C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用责任、规则和实施机制说明保障</a:t>
            </a:r>
          </a:p>
        </p:txBody>
      </p:sp>
      <p:sp>
        <p:nvSpPr>
          <p:cNvPr id="18" name="surface-826">
            <a:extLst xmlns:a="http://schemas.openxmlformats.org/drawingml/2006/main">
              <a:ext uri="{FF2B5EF4-FFF2-40B4-BE49-F238E27FC236}">
                <a16:creationId xmlns:a16="http://schemas.microsoft.com/office/drawing/2014/main" id="{CF1E3F63-D3A9-4303-BC6F-BC5C3DAE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62075"/>
            <a:ext cx="3390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ircle-827">
            <a:extLst xmlns:a="http://schemas.openxmlformats.org/drawingml/2006/main">
              <a:ext uri="{FF2B5EF4-FFF2-40B4-BE49-F238E27FC236}">
                <a16:creationId xmlns:a16="http://schemas.microsoft.com/office/drawing/2014/main" id="{3A9BA5E9-3FB7-49CE-B631-4B4E9F8F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764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76F50-EBD7-4D6C-B65E-58A7196A2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84f16c9fe45d8">
            <a:extLst>
              <a:ext uri="{96DAC541-7B7A-43D3-8B79-37D633B846F1}">
                <asvg:svgBlip xmlns:asvg="http://schemas.microsoft.com/office/drawing/2016/SVG/main" r:embed="R8f4ae12fddb946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1885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1" name="text-828">
            <a:extLst xmlns:a="http://schemas.openxmlformats.org/drawingml/2006/main">
              <a:ext uri="{FF2B5EF4-FFF2-40B4-BE49-F238E27FC236}">
                <a16:creationId xmlns:a16="http://schemas.microsoft.com/office/drawing/2014/main" id="{2085F499-9E55-4D1C-B7DE-38C3F3DD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241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综合影响</a:t>
            </a:r>
          </a:p>
        </p:txBody>
      </p:sp>
      <p:sp>
        <p:nvSpPr>
          <p:cNvPr id="22" name="text-829">
            <a:extLst xmlns:a="http://schemas.openxmlformats.org/drawingml/2006/main">
              <a:ext uri="{FF2B5EF4-FFF2-40B4-BE49-F238E27FC236}">
                <a16:creationId xmlns:a16="http://schemas.microsoft.com/office/drawing/2014/main" id="{BCD21034-E0F1-45C0-A8AD-E3B002DC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147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用具体实践与合作行动说明贡献</a:t>
            </a:r>
          </a:p>
        </p:txBody>
      </p:sp>
      <p:sp>
        <p:nvSpPr>
          <p:cNvPr id="23" name="surface-830">
            <a:extLst xmlns:a="http://schemas.openxmlformats.org/drawingml/2006/main">
              <a:ext uri="{FF2B5EF4-FFF2-40B4-BE49-F238E27FC236}">
                <a16:creationId xmlns:a16="http://schemas.microsoft.com/office/drawing/2014/main" id="{F80731F2-DF4F-450C-AE0A-B1040090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123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831">
            <a:extLst xmlns:a="http://schemas.openxmlformats.org/drawingml/2006/main">
              <a:ext uri="{FF2B5EF4-FFF2-40B4-BE49-F238E27FC236}">
                <a16:creationId xmlns:a16="http://schemas.microsoft.com/office/drawing/2014/main" id="{F8C016CB-47FA-40E5-A877-3555DFA5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每一个成就判断，都要找到对应证据</a:t>
            </a:r>
          </a:p>
        </p:txBody>
      </p:sp>
    </p:spTree>
    <p:extLst>
      <p:ext uri="{BB962C8B-B14F-4D97-AF65-F5344CB8AC3E}">
        <p14:creationId xmlns:p14="http://schemas.microsoft.com/office/powerpoint/2010/main" val="11196935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urface-832">
            <a:extLst xmlns:a="http://schemas.openxmlformats.org/drawingml/2006/main">
              <a:ext uri="{FF2B5EF4-FFF2-40B4-BE49-F238E27FC236}">
                <a16:creationId xmlns:a16="http://schemas.microsoft.com/office/drawing/2014/main" id="{A81D6813-D2FA-467C-8336-56ABF419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833">
            <a:extLst xmlns:a="http://schemas.openxmlformats.org/drawingml/2006/main">
              <a:ext uri="{FF2B5EF4-FFF2-40B4-BE49-F238E27FC236}">
                <a16:creationId xmlns:a16="http://schemas.microsoft.com/office/drawing/2014/main" id="{FA695EBF-A0B0-490D-8316-7DB46573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834">
            <a:extLst xmlns:a="http://schemas.openxmlformats.org/drawingml/2006/main">
              <a:ext uri="{FF2B5EF4-FFF2-40B4-BE49-F238E27FC236}">
                <a16:creationId xmlns:a16="http://schemas.microsoft.com/office/drawing/2014/main" id="{8E862CCB-C99C-4049-9B7F-314AAAB6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35">
            <a:extLst xmlns:a="http://schemas.openxmlformats.org/drawingml/2006/main">
              <a:ext uri="{FF2B5EF4-FFF2-40B4-BE49-F238E27FC236}">
                <a16:creationId xmlns:a16="http://schemas.microsoft.com/office/drawing/2014/main" id="{6B10EC8C-73A3-4985-B547-0994144A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肯定成就，也要认识治理的长期性</a:t>
            </a:r>
          </a:p>
        </p:txBody>
      </p:sp>
      <p:sp>
        <p:nvSpPr>
          <p:cNvPr id="5" name="rule-836">
            <a:extLst xmlns:a="http://schemas.openxmlformats.org/drawingml/2006/main">
              <a:ext uri="{FF2B5EF4-FFF2-40B4-BE49-F238E27FC236}">
                <a16:creationId xmlns:a16="http://schemas.microsoft.com/office/drawing/2014/main" id="{FC08D98F-D3B8-46FD-99A6-E416C282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837">
            <a:extLst xmlns:a="http://schemas.openxmlformats.org/drawingml/2006/main">
              <a:ext uri="{FF2B5EF4-FFF2-40B4-BE49-F238E27FC236}">
                <a16:creationId xmlns:a16="http://schemas.microsoft.com/office/drawing/2014/main" id="{6C15B751-6ECC-4F96-A585-7004EF78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出处：全国生态环保大会公开报道（2023）；《美丽中国建设意见》（2023）；《空气质量持续改善行动计划》（2023）。完整文献及讲解见备注</a:t>
            </a:r>
          </a:p>
        </p:txBody>
      </p:sp>
      <p:sp>
        <p:nvSpPr>
          <p:cNvPr id="7" name="text-838">
            <a:extLst xmlns:a="http://schemas.openxmlformats.org/drawingml/2006/main">
              <a:ext uri="{FF2B5EF4-FFF2-40B4-BE49-F238E27FC236}">
                <a16:creationId xmlns:a16="http://schemas.microsoft.com/office/drawing/2014/main" id="{187BA1F1-5A93-4B9A-8138-0EDEED63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34</a:t>
            </a:r>
          </a:p>
        </p:txBody>
      </p:sp>
      <p:sp>
        <p:nvSpPr>
          <p:cNvPr id="8" name="surface-839">
            <a:extLst xmlns:a="http://schemas.openxmlformats.org/drawingml/2006/main">
              <a:ext uri="{FF2B5EF4-FFF2-40B4-BE49-F238E27FC236}">
                <a16:creationId xmlns:a16="http://schemas.microsoft.com/office/drawing/2014/main" id="{EA475280-F531-4837-905D-602C87A6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41972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urface-840">
            <a:extLst xmlns:a="http://schemas.openxmlformats.org/drawingml/2006/main">
              <a:ext uri="{FF2B5EF4-FFF2-40B4-BE49-F238E27FC236}">
                <a16:creationId xmlns:a16="http://schemas.microsoft.com/office/drawing/2014/main" id="{7D162410-AFAE-4A45-9879-ACC56DD8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419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DC644-2F7D-4FC8-877F-F6C3A72B1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dc2d0c5bd46b4">
            <a:extLst>
              <a:ext uri="{96DAC541-7B7A-43D3-8B79-37D633B846F1}">
                <asvg:svgBlip xmlns:asvg="http://schemas.microsoft.com/office/drawing/2016/SVG/main" r:embed="Rd8daae9afe0841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9070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11" name="text-841">
            <a:extLst xmlns:a="http://schemas.openxmlformats.org/drawingml/2006/main">
              <a:ext uri="{FF2B5EF4-FFF2-40B4-BE49-F238E27FC236}">
                <a16:creationId xmlns:a16="http://schemas.microsoft.com/office/drawing/2014/main" id="{35F78C37-2069-4031-9862-F530385D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876425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386B56"/>
                </a:solidFill>
                <a:latin typeface="Noto Sans CJK SC"/>
                <a:ea typeface="Noto Sans CJK SC"/>
                <a:cs typeface="Noto Sans CJK SC"/>
              </a:rPr>
              <a:t>成就与基础</a:t>
            </a:r>
          </a:p>
        </p:txBody>
      </p:sp>
      <p:sp>
        <p:nvSpPr>
          <p:cNvPr id="12" name="text-842">
            <a:extLst xmlns:a="http://schemas.openxmlformats.org/drawingml/2006/main">
              <a:ext uri="{FF2B5EF4-FFF2-40B4-BE49-F238E27FC236}">
                <a16:creationId xmlns:a16="http://schemas.microsoft.com/office/drawing/2014/main" id="{487D5E4F-161F-4C88-B3A7-FAA24DE2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47339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环境改善与治理经验提供继续前进的基础</a:t>
            </a:r>
          </a:p>
        </p:txBody>
      </p:sp>
      <p:sp>
        <p:nvSpPr>
          <p:cNvPr id="13" name="surface-843">
            <a:extLst xmlns:a="http://schemas.openxmlformats.org/drawingml/2006/main">
              <a:ext uri="{FF2B5EF4-FFF2-40B4-BE49-F238E27FC236}">
                <a16:creationId xmlns:a16="http://schemas.microsoft.com/office/drawing/2014/main" id="{4C6C68FE-86DC-4F2A-88D2-FC3CEA0D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381125"/>
            <a:ext cx="541972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urface-844">
            <a:extLst xmlns:a="http://schemas.openxmlformats.org/drawingml/2006/main">
              <a:ext uri="{FF2B5EF4-FFF2-40B4-BE49-F238E27FC236}">
                <a16:creationId xmlns:a16="http://schemas.microsoft.com/office/drawing/2014/main" id="{C0F83A4E-7294-4BA3-8E11-5E78DDA2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381125"/>
            <a:ext cx="54197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1A340-8F06-466A-9C7D-CA6F571A8D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35a802325450b">
            <a:extLst>
              <a:ext uri="{96DAC541-7B7A-43D3-8B79-37D633B846F1}">
                <asvg:svgBlip xmlns:asvg="http://schemas.microsoft.com/office/drawing/2016/SVG/main" r:embed="R06f411e2604d42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62725" y="179070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16" name="text-845">
            <a:extLst xmlns:a="http://schemas.openxmlformats.org/drawingml/2006/main">
              <a:ext uri="{FF2B5EF4-FFF2-40B4-BE49-F238E27FC236}">
                <a16:creationId xmlns:a16="http://schemas.microsoft.com/office/drawing/2014/main" id="{3F5ACB4C-4BCE-42CF-BDFF-4ECB57D7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压力与任务</a:t>
            </a:r>
          </a:p>
        </p:txBody>
      </p:sp>
      <p:sp>
        <p:nvSpPr>
          <p:cNvPr id="17" name="text-846">
            <a:extLst xmlns:a="http://schemas.openxmlformats.org/drawingml/2006/main">
              <a:ext uri="{FF2B5EF4-FFF2-40B4-BE49-F238E27FC236}">
                <a16:creationId xmlns:a16="http://schemas.microsoft.com/office/drawing/2014/main" id="{46DADDFB-0308-475B-A1C7-154C6A81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05125"/>
            <a:ext cx="47339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结构转型、生态修复与身边问题仍需推进</a:t>
            </a:r>
          </a:p>
        </p:txBody>
      </p:sp>
      <p:sp>
        <p:nvSpPr>
          <p:cNvPr id="18" name="surface-847">
            <a:extLst xmlns:a="http://schemas.openxmlformats.org/drawingml/2006/main">
              <a:ext uri="{FF2B5EF4-FFF2-40B4-BE49-F238E27FC236}">
                <a16:creationId xmlns:a16="http://schemas.microsoft.com/office/drawing/2014/main" id="{A5C9CCC9-D3FE-435F-85AA-E613F03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53025"/>
            <a:ext cx="11239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848">
            <a:extLst xmlns:a="http://schemas.openxmlformats.org/drawingml/2006/main">
              <a:ext uri="{FF2B5EF4-FFF2-40B4-BE49-F238E27FC236}">
                <a16:creationId xmlns:a16="http://schemas.microsoft.com/office/drawing/2014/main" id="{1D6155A4-ED6C-4CE1-9EFC-8FD96F4C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坚持精准、科学、依法治污</a:t>
            </a:r>
          </a:p>
        </p:txBody>
      </p:sp>
    </p:spTree>
    <p:extLst>
      <p:ext uri="{BB962C8B-B14F-4D97-AF65-F5344CB8AC3E}">
        <p14:creationId xmlns:p14="http://schemas.microsoft.com/office/powerpoint/2010/main" val="115708960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-849">
            <a:extLst xmlns:a="http://schemas.openxmlformats.org/drawingml/2006/main">
              <a:ext uri="{FF2B5EF4-FFF2-40B4-BE49-F238E27FC236}">
                <a16:creationId xmlns:a16="http://schemas.microsoft.com/office/drawing/2014/main" id="{F206949A-5367-4D9A-8547-5BEDAD3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850">
            <a:extLst xmlns:a="http://schemas.openxmlformats.org/drawingml/2006/main">
              <a:ext uri="{FF2B5EF4-FFF2-40B4-BE49-F238E27FC236}">
                <a16:creationId xmlns:a16="http://schemas.microsoft.com/office/drawing/2014/main" id="{B63493B2-9927-4853-965F-DAF133EE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851">
            <a:extLst xmlns:a="http://schemas.openxmlformats.org/drawingml/2006/main">
              <a:ext uri="{FF2B5EF4-FFF2-40B4-BE49-F238E27FC236}">
                <a16:creationId xmlns:a16="http://schemas.microsoft.com/office/drawing/2014/main" id="{633D0899-C70E-46A2-9F3C-D9B8224F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52">
            <a:extLst xmlns:a="http://schemas.openxmlformats.org/drawingml/2006/main">
              <a:ext uri="{FF2B5EF4-FFF2-40B4-BE49-F238E27FC236}">
                <a16:creationId xmlns:a16="http://schemas.microsoft.com/office/drawing/2014/main" id="{E3C68B7F-98F7-46EB-A36C-2E67413C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课堂辨析：投入大，修复效果就好吗</a:t>
            </a:r>
          </a:p>
        </p:txBody>
      </p:sp>
      <p:sp>
        <p:nvSpPr>
          <p:cNvPr id="5" name="rule-853">
            <a:extLst xmlns:a="http://schemas.openxmlformats.org/drawingml/2006/main">
              <a:ext uri="{FF2B5EF4-FFF2-40B4-BE49-F238E27FC236}">
                <a16:creationId xmlns:a16="http://schemas.microsoft.com/office/drawing/2014/main" id="{F8F08A3E-3279-4C62-9707-622D07D6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854">
            <a:extLst xmlns:a="http://schemas.openxmlformats.org/drawingml/2006/main">
              <a:ext uri="{FF2B5EF4-FFF2-40B4-BE49-F238E27FC236}">
                <a16:creationId xmlns:a16="http://schemas.microsoft.com/office/drawing/2014/main" id="{21EF2CE0-0F4F-4F06-A4F9-B1375D0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出处：全国生态环保大会公开报道（2023）。完整文献及讲解见备注</a:t>
            </a:r>
          </a:p>
        </p:txBody>
      </p:sp>
      <p:sp>
        <p:nvSpPr>
          <p:cNvPr id="7" name="text-855">
            <a:extLst xmlns:a="http://schemas.openxmlformats.org/drawingml/2006/main">
              <a:ext uri="{FF2B5EF4-FFF2-40B4-BE49-F238E27FC236}">
                <a16:creationId xmlns:a16="http://schemas.microsoft.com/office/drawing/2014/main" id="{2BD5D300-883E-4218-BDD1-35921AE4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35</a:t>
            </a:r>
          </a:p>
        </p:txBody>
      </p:sp>
      <p:sp>
        <p:nvSpPr>
          <p:cNvPr id="8" name="surface-856">
            <a:extLst xmlns:a="http://schemas.openxmlformats.org/drawingml/2006/main">
              <a:ext uri="{FF2B5EF4-FFF2-40B4-BE49-F238E27FC236}">
                <a16:creationId xmlns:a16="http://schemas.microsoft.com/office/drawing/2014/main" id="{F7F6B37D-A8E9-413C-AE7F-DDC7F6E1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95400"/>
            <a:ext cx="11239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</p:sp>
      <p:sp>
        <p:nvSpPr>
          <p:cNvPr id="9" name="text-857">
            <a:extLst xmlns:a="http://schemas.openxmlformats.org/drawingml/2006/main">
              <a:ext uri="{FF2B5EF4-FFF2-40B4-BE49-F238E27FC236}">
                <a16:creationId xmlns:a16="http://schemas.microsoft.com/office/drawing/2014/main" id="{4EC8F4A0-9E3F-4FA2-8B9D-0C1C9E8F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70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河岸全部硬化，再种上景观植物，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30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就能说明生态修复做得好吗？</a:t>
            </a:r>
          </a:p>
        </p:txBody>
      </p:sp>
      <p:sp>
        <p:nvSpPr>
          <p:cNvPr id="10" name="surface-858">
            <a:extLst xmlns:a="http://schemas.openxmlformats.org/drawingml/2006/main">
              <a:ext uri="{FF2B5EF4-FFF2-40B4-BE49-F238E27FC236}">
                <a16:creationId xmlns:a16="http://schemas.microsoft.com/office/drawing/2014/main" id="{198E0EFE-3D37-41D6-B897-A4D15466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95625"/>
            <a:ext cx="3390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-859">
            <a:extLst xmlns:a="http://schemas.openxmlformats.org/drawingml/2006/main">
              <a:ext uri="{FF2B5EF4-FFF2-40B4-BE49-F238E27FC236}">
                <a16:creationId xmlns:a16="http://schemas.microsoft.com/office/drawing/2014/main" id="{A3EB6D5F-0CD7-4915-A05F-10A2411C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33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先看目标</a:t>
            </a:r>
          </a:p>
        </p:txBody>
      </p:sp>
      <p:sp>
        <p:nvSpPr>
          <p:cNvPr id="12" name="text-860">
            <a:extLst xmlns:a="http://schemas.openxmlformats.org/drawingml/2006/main">
              <a:ext uri="{FF2B5EF4-FFF2-40B4-BE49-F238E27FC236}">
                <a16:creationId xmlns:a16="http://schemas.microsoft.com/office/drawing/2014/main" id="{1B769843-A131-4E48-8988-493791D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要解决什么问题？</a:t>
            </a:r>
          </a:p>
        </p:txBody>
      </p:sp>
      <p:sp>
        <p:nvSpPr>
          <p:cNvPr id="13" name="surface-861">
            <a:extLst xmlns:a="http://schemas.openxmlformats.org/drawingml/2006/main">
              <a:ext uri="{FF2B5EF4-FFF2-40B4-BE49-F238E27FC236}">
                <a16:creationId xmlns:a16="http://schemas.microsoft.com/office/drawing/2014/main" id="{337CAEF9-9D95-47A5-8F97-DEDA5DA6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90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-862">
            <a:extLst xmlns:a="http://schemas.openxmlformats.org/drawingml/2006/main">
              <a:ext uri="{FF2B5EF4-FFF2-40B4-BE49-F238E27FC236}">
                <a16:creationId xmlns:a16="http://schemas.microsoft.com/office/drawing/2014/main" id="{6AC9C9A6-89B1-4791-9D04-E1358869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再看措施</a:t>
            </a:r>
          </a:p>
        </p:txBody>
      </p:sp>
      <p:sp>
        <p:nvSpPr>
          <p:cNvPr id="15" name="text-863">
            <a:extLst xmlns:a="http://schemas.openxmlformats.org/drawingml/2006/main">
              <a:ext uri="{FF2B5EF4-FFF2-40B4-BE49-F238E27FC236}">
                <a16:creationId xmlns:a16="http://schemas.microsoft.com/office/drawing/2014/main" id="{AA14049C-CC37-4445-9CAA-99B3C40D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措施是否适合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当地自然条件？</a:t>
            </a:r>
          </a:p>
        </p:txBody>
      </p:sp>
      <p:sp>
        <p:nvSpPr>
          <p:cNvPr id="16" name="surface-864">
            <a:extLst xmlns:a="http://schemas.openxmlformats.org/drawingml/2006/main">
              <a:ext uri="{FF2B5EF4-FFF2-40B4-BE49-F238E27FC236}">
                <a16:creationId xmlns:a16="http://schemas.microsoft.com/office/drawing/2014/main" id="{873D3507-0140-432F-B434-EF4A39D1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95625"/>
            <a:ext cx="3390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865">
            <a:extLst xmlns:a="http://schemas.openxmlformats.org/drawingml/2006/main">
              <a:ext uri="{FF2B5EF4-FFF2-40B4-BE49-F238E27FC236}">
                <a16:creationId xmlns:a16="http://schemas.microsoft.com/office/drawing/2014/main" id="{D44B6DE1-7B54-4D59-B49C-0FE01611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33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最后看结果</a:t>
            </a:r>
          </a:p>
        </p:txBody>
      </p:sp>
      <p:sp>
        <p:nvSpPr>
          <p:cNvPr id="18" name="text-866">
            <a:extLst xmlns:a="http://schemas.openxmlformats.org/drawingml/2006/main">
              <a:ext uri="{FF2B5EF4-FFF2-40B4-BE49-F238E27FC236}">
                <a16:creationId xmlns:a16="http://schemas.microsoft.com/office/drawing/2014/main" id="{47E441B0-12BB-4C50-806C-8A52E576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95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水质、生境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与群众受益如何？</a:t>
            </a:r>
          </a:p>
        </p:txBody>
      </p:sp>
      <p:sp>
        <p:nvSpPr>
          <p:cNvPr id="19" name="surface-867">
            <a:extLst xmlns:a="http://schemas.openxmlformats.org/drawingml/2006/main">
              <a:ext uri="{FF2B5EF4-FFF2-40B4-BE49-F238E27FC236}">
                <a16:creationId xmlns:a16="http://schemas.microsoft.com/office/drawing/2014/main" id="{AEB2B83F-B6EB-456B-87F5-280901D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123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circle-868">
            <a:extLst xmlns:a="http://schemas.openxmlformats.org/drawingml/2006/main">
              <a:ext uri="{FF2B5EF4-FFF2-40B4-BE49-F238E27FC236}">
                <a16:creationId xmlns:a16="http://schemas.microsoft.com/office/drawing/2014/main" id="{D82D58AB-FB38-41C9-A015-DDBEC41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72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39AD0-9AC5-4A7B-A0CB-0AD60471EA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e5698addb41cf">
            <a:extLst>
              <a:ext uri="{96DAC541-7B7A-43D3-8B79-37D633B846F1}">
                <asvg:svgBlip xmlns:asvg="http://schemas.microsoft.com/office/drawing/2016/SVG/main" r:embed="R75adcde1fbe743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58578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text-869">
            <a:extLst xmlns:a="http://schemas.openxmlformats.org/drawingml/2006/main">
              <a:ext uri="{FF2B5EF4-FFF2-40B4-BE49-F238E27FC236}">
                <a16:creationId xmlns:a16="http://schemas.microsoft.com/office/drawing/2014/main" id="{36FA1880-2B8E-41BF-8DFE-B429B76B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课程思考</a:t>
            </a:r>
          </a:p>
        </p:txBody>
      </p:sp>
      <p:sp>
        <p:nvSpPr>
          <p:cNvPr id="23" name="text-870">
            <a:extLst xmlns:a="http://schemas.openxmlformats.org/drawingml/2006/main">
              <a:ext uri="{FF2B5EF4-FFF2-40B4-BE49-F238E27FC236}">
                <a16:creationId xmlns:a16="http://schemas.microsoft.com/office/drawing/2014/main" id="{E1BE5C56-B1F8-4468-9189-E9EB194C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435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同桌讨论1分钟：用一个评价指标说明判断理由</a:t>
            </a:r>
          </a:p>
        </p:txBody>
      </p:sp>
    </p:spTree>
    <p:extLst>
      <p:ext uri="{BB962C8B-B14F-4D97-AF65-F5344CB8AC3E}">
        <p14:creationId xmlns:p14="http://schemas.microsoft.com/office/powerpoint/2010/main" val="20636561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-871">
            <a:extLst xmlns:a="http://schemas.openxmlformats.org/drawingml/2006/main">
              <a:ext uri="{FF2B5EF4-FFF2-40B4-BE49-F238E27FC236}">
                <a16:creationId xmlns:a16="http://schemas.microsoft.com/office/drawing/2014/main" id="{20D66459-8291-440B-94BC-8A3E169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872">
            <a:extLst xmlns:a="http://schemas.openxmlformats.org/drawingml/2006/main">
              <a:ext uri="{FF2B5EF4-FFF2-40B4-BE49-F238E27FC236}">
                <a16:creationId xmlns:a16="http://schemas.microsoft.com/office/drawing/2014/main" id="{646EDBAF-8C63-4C30-95B7-D13D4A2D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873">
            <a:extLst xmlns:a="http://schemas.openxmlformats.org/drawingml/2006/main">
              <a:ext uri="{FF2B5EF4-FFF2-40B4-BE49-F238E27FC236}">
                <a16:creationId xmlns:a16="http://schemas.microsoft.com/office/drawing/2014/main" id="{2A967CE1-8EF7-4FB3-BFA9-7E2455FC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74">
            <a:extLst xmlns:a="http://schemas.openxmlformats.org/drawingml/2006/main">
              <a:ext uri="{FF2B5EF4-FFF2-40B4-BE49-F238E27FC236}">
                <a16:creationId xmlns:a16="http://schemas.microsoft.com/office/drawing/2014/main" id="{5AAEA73E-B2A1-407E-9EFE-D1068299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第一部分小结：从四个方面理解成就</a:t>
            </a:r>
          </a:p>
        </p:txBody>
      </p:sp>
      <p:sp>
        <p:nvSpPr>
          <p:cNvPr id="5" name="rule-875">
            <a:extLst xmlns:a="http://schemas.openxmlformats.org/drawingml/2006/main">
              <a:ext uri="{FF2B5EF4-FFF2-40B4-BE49-F238E27FC236}">
                <a16:creationId xmlns:a16="http://schemas.microsoft.com/office/drawing/2014/main" id="{FEB9009E-2763-4D05-80D2-25BE6AD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876">
            <a:extLst xmlns:a="http://schemas.openxmlformats.org/drawingml/2006/main">
              <a:ext uri="{FF2B5EF4-FFF2-40B4-BE49-F238E27FC236}">
                <a16:creationId xmlns:a16="http://schemas.microsoft.com/office/drawing/2014/main" id="{3E22C754-1097-4AD3-AA14-159C0C87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出处：党的二十大报告（2022）；全国生态环保大会公开报道（2023）；《美丽中国建设意见》（2023）。完整文献及讲解见备注</a:t>
            </a:r>
          </a:p>
        </p:txBody>
      </p:sp>
      <p:sp>
        <p:nvSpPr>
          <p:cNvPr id="7" name="text-877">
            <a:extLst xmlns:a="http://schemas.openxmlformats.org/drawingml/2006/main">
              <a:ext uri="{FF2B5EF4-FFF2-40B4-BE49-F238E27FC236}">
                <a16:creationId xmlns:a16="http://schemas.microsoft.com/office/drawing/2014/main" id="{53708D0D-83DF-4FDF-B849-609B7D31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36</a:t>
            </a:r>
          </a:p>
        </p:txBody>
      </p:sp>
      <p:sp>
        <p:nvSpPr>
          <p:cNvPr id="8" name="surface-878">
            <a:extLst xmlns:a="http://schemas.openxmlformats.org/drawingml/2006/main">
              <a:ext uri="{FF2B5EF4-FFF2-40B4-BE49-F238E27FC236}">
                <a16:creationId xmlns:a16="http://schemas.microsoft.com/office/drawing/2014/main" id="{2D13A5B1-FF0C-4AE1-8E79-24E4E76A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04925"/>
            <a:ext cx="54197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D32E7-33B3-47C9-B0EB-520DC5D5A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af641824443ce">
            <a:extLst>
              <a:ext uri="{96DAC541-7B7A-43D3-8B79-37D633B846F1}">
                <asvg:svgBlip xmlns:asvg="http://schemas.microsoft.com/office/drawing/2016/SVG/main" r:embed="R82abd6a8ac8b4a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1552575"/>
            <a:ext cx="561975" cy="561975"/>
          </a:xfrm>
          <a:prstGeom xmlns:a="http://schemas.openxmlformats.org/drawingml/2006/main" prst="rect">
            <a:avLst/>
          </a:prstGeom>
        </p:spPr>
      </p:pic>
      <p:sp>
        <p:nvSpPr>
          <p:cNvPr id="10" name="text-879">
            <a:extLst xmlns:a="http://schemas.openxmlformats.org/drawingml/2006/main">
              <a:ext uri="{FF2B5EF4-FFF2-40B4-BE49-F238E27FC236}">
                <a16:creationId xmlns:a16="http://schemas.microsoft.com/office/drawing/2014/main" id="{83BCC8F5-AEBD-429C-8623-EE07885E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5257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理念深化</a:t>
            </a:r>
          </a:p>
        </p:txBody>
      </p:sp>
      <p:sp>
        <p:nvSpPr>
          <p:cNvPr id="11" name="text-880">
            <a:extLst xmlns:a="http://schemas.openxmlformats.org/drawingml/2006/main">
              <a:ext uri="{FF2B5EF4-FFF2-40B4-BE49-F238E27FC236}">
                <a16:creationId xmlns:a16="http://schemas.microsoft.com/office/drawing/2014/main" id="{E5A29BA3-0030-47A0-A595-88D9BEE3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05050"/>
            <a:ext cx="486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人与自然和谐共生融入发展认识</a:t>
            </a:r>
          </a:p>
        </p:txBody>
      </p:sp>
      <p:sp>
        <p:nvSpPr>
          <p:cNvPr id="12" name="surface-881">
            <a:extLst xmlns:a="http://schemas.openxmlformats.org/drawingml/2006/main">
              <a:ext uri="{FF2B5EF4-FFF2-40B4-BE49-F238E27FC236}">
                <a16:creationId xmlns:a16="http://schemas.microsoft.com/office/drawing/2014/main" id="{168D54FF-AB48-47BF-97E8-17371FFA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304925"/>
            <a:ext cx="54197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FDBFD-53D7-4FE2-9FD3-5138DA711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f80655bbc4ab5">
            <a:extLst>
              <a:ext uri="{96DAC541-7B7A-43D3-8B79-37D633B846F1}">
                <asvg:svgBlip xmlns:asvg="http://schemas.microsoft.com/office/drawing/2016/SVG/main" r:embed="R89985001d70645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43675" y="1552575"/>
            <a:ext cx="561975" cy="561975"/>
          </a:xfrm>
          <a:prstGeom xmlns:a="http://schemas.openxmlformats.org/drawingml/2006/main" prst="rect">
            <a:avLst/>
          </a:prstGeom>
        </p:spPr>
      </p:pic>
      <p:sp>
        <p:nvSpPr>
          <p:cNvPr id="14" name="text-882">
            <a:extLst xmlns:a="http://schemas.openxmlformats.org/drawingml/2006/main">
              <a:ext uri="{FF2B5EF4-FFF2-40B4-BE49-F238E27FC236}">
                <a16:creationId xmlns:a16="http://schemas.microsoft.com/office/drawing/2014/main" id="{E81EA50C-E1FE-4B18-8FB6-9F1555A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55257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质量改善</a:t>
            </a:r>
          </a:p>
        </p:txBody>
      </p:sp>
      <p:sp>
        <p:nvSpPr>
          <p:cNvPr id="15" name="text-883">
            <a:extLst xmlns:a="http://schemas.openxmlformats.org/drawingml/2006/main">
              <a:ext uri="{FF2B5EF4-FFF2-40B4-BE49-F238E27FC236}">
                <a16:creationId xmlns:a16="http://schemas.microsoft.com/office/drawing/2014/main" id="{67311270-07A0-4E36-AEFE-25207A25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86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环境质量改善回应群众生活需求</a:t>
            </a:r>
          </a:p>
        </p:txBody>
      </p:sp>
      <p:sp>
        <p:nvSpPr>
          <p:cNvPr id="16" name="surface-884">
            <a:extLst xmlns:a="http://schemas.openxmlformats.org/drawingml/2006/main">
              <a:ext uri="{FF2B5EF4-FFF2-40B4-BE49-F238E27FC236}">
                <a16:creationId xmlns:a16="http://schemas.microsoft.com/office/drawing/2014/main" id="{328A68BC-5B06-4E81-94F9-1845A275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0425"/>
            <a:ext cx="54197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01C44-F7DE-4EF6-B12C-0AB977521A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f06bd4afd4bef">
            <a:extLst>
              <a:ext uri="{96DAC541-7B7A-43D3-8B79-37D633B846F1}">
                <asvg:svgBlip xmlns:asvg="http://schemas.microsoft.com/office/drawing/2016/SVG/main" r:embed="R474c7653946d47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3648075"/>
            <a:ext cx="561975" cy="561975"/>
          </a:xfrm>
          <a:prstGeom xmlns:a="http://schemas.openxmlformats.org/drawingml/2006/main" prst="rect">
            <a:avLst/>
          </a:prstGeom>
        </p:spPr>
      </p:pic>
      <p:sp>
        <p:nvSpPr>
          <p:cNvPr id="18" name="text-885">
            <a:extLst xmlns:a="http://schemas.openxmlformats.org/drawingml/2006/main">
              <a:ext uri="{FF2B5EF4-FFF2-40B4-BE49-F238E27FC236}">
                <a16:creationId xmlns:a16="http://schemas.microsoft.com/office/drawing/2014/main" id="{DF2B29E1-ABDD-4568-BE03-6E19FD7B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4807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体系健全</a:t>
            </a:r>
          </a:p>
        </p:txBody>
      </p:sp>
      <p:sp>
        <p:nvSpPr>
          <p:cNvPr id="19" name="text-886">
            <a:extLst xmlns:a="http://schemas.openxmlformats.org/drawingml/2006/main">
              <a:ext uri="{FF2B5EF4-FFF2-40B4-BE49-F238E27FC236}">
                <a16:creationId xmlns:a16="http://schemas.microsoft.com/office/drawing/2014/main" id="{0CC50B24-D06C-42F1-9372-5EDEFB19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00550"/>
            <a:ext cx="486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责任、规则、监测和协作更加健全</a:t>
            </a:r>
          </a:p>
        </p:txBody>
      </p:sp>
      <p:sp>
        <p:nvSpPr>
          <p:cNvPr id="20" name="surface-887">
            <a:extLst xmlns:a="http://schemas.openxmlformats.org/drawingml/2006/main">
              <a:ext uri="{FF2B5EF4-FFF2-40B4-BE49-F238E27FC236}">
                <a16:creationId xmlns:a16="http://schemas.microsoft.com/office/drawing/2014/main" id="{48C15277-ECB6-4983-8CCE-657B6CB1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00425"/>
            <a:ext cx="54197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7738F-D7B3-4A73-957D-9A10501982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56e328d7e4d7a">
            <a:extLst>
              <a:ext uri="{96DAC541-7B7A-43D3-8B79-37D633B846F1}">
                <asvg:svgBlip xmlns:asvg="http://schemas.microsoft.com/office/drawing/2016/SVG/main" r:embed="R25e9f687c93449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43675" y="3648075"/>
            <a:ext cx="561975" cy="561975"/>
          </a:xfrm>
          <a:prstGeom xmlns:a="http://schemas.openxmlformats.org/drawingml/2006/main" prst="rect">
            <a:avLst/>
          </a:prstGeom>
        </p:spPr>
      </p:pic>
      <p:sp>
        <p:nvSpPr>
          <p:cNvPr id="22" name="text-888">
            <a:extLst xmlns:a="http://schemas.openxmlformats.org/drawingml/2006/main">
              <a:ext uri="{FF2B5EF4-FFF2-40B4-BE49-F238E27FC236}">
                <a16:creationId xmlns:a16="http://schemas.microsoft.com/office/drawing/2014/main" id="{AFF5A691-605A-457A-926D-AD01B22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64807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绿色发展</a:t>
            </a:r>
          </a:p>
        </p:txBody>
      </p:sp>
      <p:sp>
        <p:nvSpPr>
          <p:cNvPr id="23" name="text-889">
            <a:extLst xmlns:a="http://schemas.openxmlformats.org/drawingml/2006/main">
              <a:ext uri="{FF2B5EF4-FFF2-40B4-BE49-F238E27FC236}">
                <a16:creationId xmlns:a16="http://schemas.microsoft.com/office/drawing/2014/main" id="{076E69B9-E9C9-4E58-94DF-304F42D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86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绿色转型贯穿生产与生活</a:t>
            </a:r>
          </a:p>
        </p:txBody>
      </p:sp>
      <p:sp>
        <p:nvSpPr>
          <p:cNvPr id="24" name="text-890">
            <a:extLst xmlns:a="http://schemas.openxmlformats.org/drawingml/2006/main">
              <a:ext uri="{FF2B5EF4-FFF2-40B4-BE49-F238E27FC236}">
                <a16:creationId xmlns:a16="http://schemas.microsoft.com/office/drawing/2014/main" id="{69EA4504-99DF-4F13-807E-3CB8A65C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9775"/>
            <a:ext cx="11239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请用家乡一个案例，对应这四个方面</a:t>
            </a:r>
          </a:p>
        </p:txBody>
      </p:sp>
    </p:spTree>
    <p:extLst>
      <p:ext uri="{BB962C8B-B14F-4D97-AF65-F5344CB8AC3E}">
        <p14:creationId xmlns:p14="http://schemas.microsoft.com/office/powerpoint/2010/main" val="4357658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urface-891">
            <a:extLst xmlns:a="http://schemas.openxmlformats.org/drawingml/2006/main">
              <a:ext uri="{FF2B5EF4-FFF2-40B4-BE49-F238E27FC236}">
                <a16:creationId xmlns:a16="http://schemas.microsoft.com/office/drawing/2014/main" id="{37FB3252-0D48-4079-A562-5B1C40F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-892">
            <a:extLst xmlns:a="http://schemas.openxmlformats.org/drawingml/2006/main">
              <a:ext uri="{FF2B5EF4-FFF2-40B4-BE49-F238E27FC236}">
                <a16:creationId xmlns:a16="http://schemas.microsoft.com/office/drawing/2014/main" id="{F814CFD2-781D-40FC-9BF5-BF414BDD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893">
            <a:extLst xmlns:a="http://schemas.openxmlformats.org/drawingml/2006/main">
              <a:ext uri="{FF2B5EF4-FFF2-40B4-BE49-F238E27FC236}">
                <a16:creationId xmlns:a16="http://schemas.microsoft.com/office/drawing/2014/main" id="{EBBB17E5-1BF6-49B1-8683-B98852DD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94">
            <a:extLst xmlns:a="http://schemas.openxmlformats.org/drawingml/2006/main">
              <a:ext uri="{FF2B5EF4-FFF2-40B4-BE49-F238E27FC236}">
                <a16:creationId xmlns:a16="http://schemas.microsoft.com/office/drawing/2014/main" id="{8B7663BB-D1EE-4AA3-A4B4-E80E79BE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怎样把治理成效转化为长效保障</a:t>
            </a:r>
          </a:p>
        </p:txBody>
      </p:sp>
      <p:sp>
        <p:nvSpPr>
          <p:cNvPr id="5" name="rule-895">
            <a:extLst xmlns:a="http://schemas.openxmlformats.org/drawingml/2006/main">
              <a:ext uri="{FF2B5EF4-FFF2-40B4-BE49-F238E27FC236}">
                <a16:creationId xmlns:a16="http://schemas.microsoft.com/office/drawing/2014/main" id="{C890AB95-3335-4DBA-A6F0-FFF6DCF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2025"/>
            <a:ext cx="1126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6" name="text-896">
            <a:extLst xmlns:a="http://schemas.openxmlformats.org/drawingml/2006/main">
              <a:ext uri="{FF2B5EF4-FFF2-40B4-BE49-F238E27FC236}">
                <a16:creationId xmlns:a16="http://schemas.microsoft.com/office/drawing/2014/main" id="{B6193184-2A7D-42CC-93C4-891EF37F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77000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rPr>
              <a:t>出处：党的二十大报告（2022）；《宪法》（2018年修正）；《环境保护法》（2014年修订）。完整文献及讲解见备注</a:t>
            </a:r>
          </a:p>
        </p:txBody>
      </p:sp>
      <p:sp>
        <p:nvSpPr>
          <p:cNvPr id="7" name="text-897">
            <a:extLst xmlns:a="http://schemas.openxmlformats.org/drawingml/2006/main">
              <a:ext uri="{FF2B5EF4-FFF2-40B4-BE49-F238E27FC236}">
                <a16:creationId xmlns:a16="http://schemas.microsoft.com/office/drawing/2014/main" id="{072ED484-1F5D-4A17-A3FD-72FB290D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38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37</a:t>
            </a:r>
          </a:p>
        </p:txBody>
      </p:sp>
      <p:sp>
        <p:nvSpPr>
          <p:cNvPr id="8" name="surface-898">
            <a:extLst xmlns:a="http://schemas.openxmlformats.org/drawingml/2006/main">
              <a:ext uri="{FF2B5EF4-FFF2-40B4-BE49-F238E27FC236}">
                <a16:creationId xmlns:a16="http://schemas.microsoft.com/office/drawing/2014/main" id="{3C8FEC05-9B18-4F7F-A3B7-93179447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23975"/>
            <a:ext cx="528637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F2"/>
          </a:solidFill>
          <a:ln xmlns:a="http://schemas.openxmlformats.org/drawingml/2006/main" w="11430">
            <a:solidFill>
              <a:srgbClr val="D0D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899">
            <a:extLst xmlns:a="http://schemas.openxmlformats.org/drawingml/2006/main">
              <a:ext uri="{FF2B5EF4-FFF2-40B4-BE49-F238E27FC236}">
                <a16:creationId xmlns:a16="http://schemas.microsoft.com/office/drawing/2014/main" id="{BC3F0F1C-3248-4CCC-AD29-79C6B039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629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2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42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从一时有效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42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走向长期有效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76B2F-D2CA-46DD-B713-67C5CEF8F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a4602385c4cce">
            <a:extLst>
              <a:ext uri="{96DAC541-7B7A-43D3-8B79-37D633B846F1}">
                <asvg:svgBlip xmlns:asvg="http://schemas.microsoft.com/office/drawing/2016/SVG/main" r:embed="R1fe03dc492574a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19375" y="42386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11" name="text-900">
            <a:extLst xmlns:a="http://schemas.openxmlformats.org/drawingml/2006/main">
              <a:ext uri="{FF2B5EF4-FFF2-40B4-BE49-F238E27FC236}">
                <a16:creationId xmlns:a16="http://schemas.microsoft.com/office/drawing/2014/main" id="{71EC2FD9-6A63-4809-AA03-9DC8E0F6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668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成效需要持续</a:t>
            </a:r>
          </a:p>
        </p:txBody>
      </p:sp>
      <p:sp>
        <p:nvSpPr>
          <p:cNvPr id="12" name="text-901">
            <a:extLst xmlns:a="http://schemas.openxmlformats.org/drawingml/2006/main">
              <a:ext uri="{FF2B5EF4-FFF2-40B4-BE49-F238E27FC236}">
                <a16:creationId xmlns:a16="http://schemas.microsoft.com/office/drawing/2014/main" id="{33124AD3-7AE5-4E1A-9387-DC887D2F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24050"/>
            <a:ext cx="525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长期投入与多方协作需要稳定预期</a:t>
            </a:r>
          </a:p>
        </p:txBody>
      </p:sp>
      <p:sp>
        <p:nvSpPr>
          <p:cNvPr id="13" name="text-902">
            <a:extLst xmlns:a="http://schemas.openxmlformats.org/drawingml/2006/main">
              <a:ext uri="{FF2B5EF4-FFF2-40B4-BE49-F238E27FC236}">
                <a16:creationId xmlns:a16="http://schemas.microsoft.com/office/drawing/2014/main" id="{CCA9AE0D-084F-4E5F-A622-853D9E7E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194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规则明确责任</a:t>
            </a:r>
          </a:p>
        </p:txBody>
      </p:sp>
      <p:sp>
        <p:nvSpPr>
          <p:cNvPr id="14" name="text-903">
            <a:extLst xmlns:a="http://schemas.openxmlformats.org/drawingml/2006/main">
              <a:ext uri="{FF2B5EF4-FFF2-40B4-BE49-F238E27FC236}">
                <a16:creationId xmlns:a16="http://schemas.microsoft.com/office/drawing/2014/main" id="{EF3C490C-0341-4769-8A2B-A2EEC1FF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76600"/>
            <a:ext cx="525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明确权责、规范行为、提供救济</a:t>
            </a:r>
          </a:p>
        </p:txBody>
      </p:sp>
      <p:sp>
        <p:nvSpPr>
          <p:cNvPr id="15" name="text-904">
            <a:extLst xmlns:a="http://schemas.openxmlformats.org/drawingml/2006/main">
              <a:ext uri="{FF2B5EF4-FFF2-40B4-BE49-F238E27FC236}">
                <a16:creationId xmlns:a16="http://schemas.microsoft.com/office/drawing/2014/main" id="{C67CE46A-7AEF-4B20-AAC5-9DAC23B9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719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5161B"/>
                </a:solidFill>
                <a:latin typeface="Noto Sans CJK SC"/>
                <a:ea typeface="Noto Sans CJK SC"/>
                <a:cs typeface="Noto Sans CJK SC"/>
              </a:rPr>
              <a:t>走向下一部分</a:t>
            </a:r>
          </a:p>
        </p:txBody>
      </p:sp>
      <p:sp>
        <p:nvSpPr>
          <p:cNvPr id="16" name="text-905">
            <a:extLst xmlns:a="http://schemas.openxmlformats.org/drawingml/2006/main">
              <a:ext uri="{FF2B5EF4-FFF2-40B4-BE49-F238E27FC236}">
                <a16:creationId xmlns:a16="http://schemas.microsoft.com/office/drawing/2014/main" id="{F51B0013-5BD6-4B0F-B498-5A52B2A9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29150"/>
            <a:ext cx="5257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认识编纂施行生态环境法典的重大意义</a:t>
            </a:r>
          </a:p>
        </p:txBody>
      </p:sp>
      <p:sp>
        <p:nvSpPr>
          <p:cNvPr id="17" name="surface-906">
            <a:extLst xmlns:a="http://schemas.openxmlformats.org/drawingml/2006/main">
              <a:ext uri="{FF2B5EF4-FFF2-40B4-BE49-F238E27FC236}">
                <a16:creationId xmlns:a16="http://schemas.microsoft.com/office/drawing/2014/main" id="{5D230D7C-7D03-4D10-90CF-1B80D812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1123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907">
            <a:extLst xmlns:a="http://schemas.openxmlformats.org/drawingml/2006/main">
              <a:ext uri="{FF2B5EF4-FFF2-40B4-BE49-F238E27FC236}">
                <a16:creationId xmlns:a16="http://schemas.microsoft.com/office/drawing/2014/main" id="{C4388C55-2038-4A99-A2CB-62CD125C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下一部分：充分认识编纂施行生态环境法典的重大意义</a:t>
            </a:r>
          </a:p>
        </p:txBody>
      </p:sp>
    </p:spTree>
    <p:extLst>
      <p:ext uri="{BB962C8B-B14F-4D97-AF65-F5344CB8AC3E}">
        <p14:creationId xmlns:p14="http://schemas.microsoft.com/office/powerpoint/2010/main" val="1648097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2026-10-21T07:31:56.5300000Z</dcterms:created>
  <dcterms:modified xsi:type="dcterms:W3CDTF">2026-10-21T07:31:56.5300000Z</dcterms:modified>
</coreProperties>
</file>