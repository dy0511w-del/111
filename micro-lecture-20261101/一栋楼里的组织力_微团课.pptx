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4902dede0f46fd" /><Relationship Type="http://schemas.openxmlformats.org/officeDocument/2006/relationships/extended-properties" Target="/docProps/app.xml" Id="R0eb1c76bc3cb4dc7" /><Relationship Type="http://schemas.openxmlformats.org/officeDocument/2006/relationships/officeDocument" Target="/ppt/presentation.xml" Id="R41ad6fa309aa4d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a1578bfb4e42be"/>
  </p:sldMasterIdLst>
  <p:notesMasterIdLst>
    <p:notesMasterId xmlns:r="http://schemas.openxmlformats.org/officeDocument/2006/relationships" r:id="R1cd0140516964022"/>
  </p:notesMasterIdLst>
  <p:sldIdLst>
    <p:sldId xmlns:r="http://schemas.openxmlformats.org/officeDocument/2006/relationships" id="256" r:id="Rd020addc1ec045f1"/>
    <p:sldId xmlns:r="http://schemas.openxmlformats.org/officeDocument/2006/relationships" id="257" r:id="R619de3554b424bc7"/>
    <p:sldId xmlns:r="http://schemas.openxmlformats.org/officeDocument/2006/relationships" id="258" r:id="Re4e083fa46ad40a3"/>
    <p:sldId xmlns:r="http://schemas.openxmlformats.org/officeDocument/2006/relationships" id="259" r:id="R6d1a54b7ba16405c"/>
    <p:sldId xmlns:r="http://schemas.openxmlformats.org/officeDocument/2006/relationships" id="260" r:id="R0bdcf4823604478d"/>
    <p:sldId xmlns:r="http://schemas.openxmlformats.org/officeDocument/2006/relationships" id="261" r:id="R89a285d7c0204c30"/>
    <p:sldId xmlns:r="http://schemas.openxmlformats.org/officeDocument/2006/relationships" id="262" r:id="R0988ed491d06445b"/>
    <p:sldId xmlns:r="http://schemas.openxmlformats.org/officeDocument/2006/relationships" id="263" r:id="Rd9292618cb13418b"/>
    <p:sldId xmlns:r="http://schemas.openxmlformats.org/officeDocument/2006/relationships" id="264" r:id="R37cc1df63cb7488a"/>
    <p:sldId xmlns:r="http://schemas.openxmlformats.org/officeDocument/2006/relationships" id="265" r:id="R04bec26f58ec4546"/>
    <p:sldId xmlns:r="http://schemas.openxmlformats.org/officeDocument/2006/relationships" id="266" r:id="Ree440b12c3fb466d"/>
    <p:sldId xmlns:r="http://schemas.openxmlformats.org/officeDocument/2006/relationships" id="267" r:id="R910a72b0a9ce444f"/>
    <p:sldId xmlns:r="http://schemas.openxmlformats.org/officeDocument/2006/relationships" id="268" r:id="R4d76f81ed2eb446c"/>
    <p:sldId xmlns:r="http://schemas.openxmlformats.org/officeDocument/2006/relationships" id="269" r:id="Ra5c42ce8e4dd46c1"/>
    <p:sldId xmlns:r="http://schemas.openxmlformats.org/officeDocument/2006/relationships" id="270" r:id="R09caf274ad364dd9"/>
    <p:sldId xmlns:r="http://schemas.openxmlformats.org/officeDocument/2006/relationships" id="271" r:id="R211caa7c43bc4e2e"/>
    <p:sldId xmlns:r="http://schemas.openxmlformats.org/officeDocument/2006/relationships" id="272" r:id="R8aa8a776ea9c439a"/>
    <p:sldId xmlns:r="http://schemas.openxmlformats.org/officeDocument/2006/relationships" id="273" r:id="R6ad01398bf394a4f"/>
    <p:sldId xmlns:r="http://schemas.openxmlformats.org/officeDocument/2006/relationships" id="274" r:id="R16e69d58e12942d5"/>
    <p:sldId xmlns:r="http://schemas.openxmlformats.org/officeDocument/2006/relationships" id="275" r:id="R9285bbc9b7604b16"/>
    <p:sldId xmlns:r="http://schemas.openxmlformats.org/officeDocument/2006/relationships" id="276" r:id="Rd10e49fb8a3b4102"/>
    <p:sldId xmlns:r="http://schemas.openxmlformats.org/officeDocument/2006/relationships" id="277" r:id="R9de22c0aa28b47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238a66bd164ae1" /><Relationship Type="http://schemas.openxmlformats.org/officeDocument/2006/relationships/slideMaster" Target="/ppt/slideMasters/slideMaster1.xml" Id="R8fa1578bfb4e42be" /><Relationship Type="http://schemas.openxmlformats.org/officeDocument/2006/relationships/notesMaster" Target="/ppt/notesMasters/notesMaster1.xml" Id="R1cd0140516964022" /><Relationship Type="http://schemas.openxmlformats.org/officeDocument/2006/relationships/presProps" Target="/ppt/presProps.xml" Id="R12b20aee356d499e" /><Relationship Type="http://schemas.openxmlformats.org/officeDocument/2006/relationships/tableStyles" Target="/ppt/tableStyles.xml" Id="Rebcd1e2cf8604e41" /><Relationship Type="http://schemas.openxmlformats.org/officeDocument/2006/relationships/slide" Target="/ppt/slides/slide1.xml" Id="Rd020addc1ec045f1" /><Relationship Type="http://schemas.openxmlformats.org/officeDocument/2006/relationships/slide" Target="/ppt/slides/slide2.xml" Id="R619de3554b424bc7" /><Relationship Type="http://schemas.openxmlformats.org/officeDocument/2006/relationships/slide" Target="/ppt/slides/slide3.xml" Id="Re4e083fa46ad40a3" /><Relationship Type="http://schemas.openxmlformats.org/officeDocument/2006/relationships/slide" Target="/ppt/slides/slide4.xml" Id="R6d1a54b7ba16405c" /><Relationship Type="http://schemas.openxmlformats.org/officeDocument/2006/relationships/slide" Target="/ppt/slides/slide5.xml" Id="R0bdcf4823604478d" /><Relationship Type="http://schemas.openxmlformats.org/officeDocument/2006/relationships/slide" Target="/ppt/slides/slide6.xml" Id="R89a285d7c0204c30" /><Relationship Type="http://schemas.openxmlformats.org/officeDocument/2006/relationships/slide" Target="/ppt/slides/slide7.xml" Id="R0988ed491d06445b" /><Relationship Type="http://schemas.openxmlformats.org/officeDocument/2006/relationships/slide" Target="/ppt/slides/slide8.xml" Id="Rd9292618cb13418b" /><Relationship Type="http://schemas.openxmlformats.org/officeDocument/2006/relationships/slide" Target="/ppt/slides/slide9.xml" Id="R37cc1df63cb7488a" /><Relationship Type="http://schemas.openxmlformats.org/officeDocument/2006/relationships/slide" Target="/ppt/slides/slide10.xml" Id="R04bec26f58ec4546" /><Relationship Type="http://schemas.openxmlformats.org/officeDocument/2006/relationships/slide" Target="/ppt/slides/slide11.xml" Id="Ree440b12c3fb466d" /><Relationship Type="http://schemas.openxmlformats.org/officeDocument/2006/relationships/slide" Target="/ppt/slides/slide12.xml" Id="R910a72b0a9ce444f" /><Relationship Type="http://schemas.openxmlformats.org/officeDocument/2006/relationships/slide" Target="/ppt/slides/slide13.xml" Id="R4d76f81ed2eb446c" /><Relationship Type="http://schemas.openxmlformats.org/officeDocument/2006/relationships/slide" Target="/ppt/slides/slide14.xml" Id="Ra5c42ce8e4dd46c1" /><Relationship Type="http://schemas.openxmlformats.org/officeDocument/2006/relationships/slide" Target="/ppt/slides/slide15.xml" Id="R09caf274ad364dd9" /><Relationship Type="http://schemas.openxmlformats.org/officeDocument/2006/relationships/slide" Target="/ppt/slides/slide16.xml" Id="R211caa7c43bc4e2e" /><Relationship Type="http://schemas.openxmlformats.org/officeDocument/2006/relationships/slide" Target="/ppt/slides/slide17.xml" Id="R8aa8a776ea9c439a" /><Relationship Type="http://schemas.openxmlformats.org/officeDocument/2006/relationships/slide" Target="/ppt/slides/slide18.xml" Id="R6ad01398bf394a4f" /><Relationship Type="http://schemas.openxmlformats.org/officeDocument/2006/relationships/slide" Target="/ppt/slides/slide19.xml" Id="R16e69d58e12942d5" /><Relationship Type="http://schemas.openxmlformats.org/officeDocument/2006/relationships/slide" Target="/ppt/slides/slide20.xml" Id="R9285bbc9b7604b16" /><Relationship Type="http://schemas.openxmlformats.org/officeDocument/2006/relationships/slide" Target="/ppt/slides/slide21.xml" Id="Rd10e49fb8a3b4102" /><Relationship Type="http://schemas.openxmlformats.org/officeDocument/2006/relationships/slide" Target="/ppt/slides/slide22.xml" Id="R9de22c0aa28b47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3a518246da47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1651a8cca24873" /><Relationship Type="http://schemas.openxmlformats.org/officeDocument/2006/relationships/notesMaster" Target="/ppt/notesMasters/notesMaster1.xml" Id="R0f7ed5eb70e543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b5d4bcc7634ddf" /><Relationship Type="http://schemas.openxmlformats.org/officeDocument/2006/relationships/notesMaster" Target="/ppt/notesMasters/notesMaster1.xml" Id="Rbf6f1ca04bc543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4e70cb19e545ef" /><Relationship Type="http://schemas.openxmlformats.org/officeDocument/2006/relationships/notesMaster" Target="/ppt/notesMasters/notesMaster1.xml" Id="R7130f286226742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08a9ac94134330" /><Relationship Type="http://schemas.openxmlformats.org/officeDocument/2006/relationships/notesMaster" Target="/ppt/notesMasters/notesMaster1.xml" Id="R4fff1adb345d41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1c111c496c4f5a" /><Relationship Type="http://schemas.openxmlformats.org/officeDocument/2006/relationships/notesMaster" Target="/ppt/notesMasters/notesMaster1.xml" Id="R01ee19ea3a2940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3775da9de840b2" /><Relationship Type="http://schemas.openxmlformats.org/officeDocument/2006/relationships/notesMaster" Target="/ppt/notesMasters/notesMaster1.xml" Id="Rb724112fe61744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98d567ca5e4eff" /><Relationship Type="http://schemas.openxmlformats.org/officeDocument/2006/relationships/notesMaster" Target="/ppt/notesMasters/notesMaster1.xml" Id="Rcf4bfe108fd549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bf80a6e9cb4544" /><Relationship Type="http://schemas.openxmlformats.org/officeDocument/2006/relationships/notesMaster" Target="/ppt/notesMasters/notesMaster1.xml" Id="R9336bd1e649a4b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12ffe8bc79428a" /><Relationship Type="http://schemas.openxmlformats.org/officeDocument/2006/relationships/notesMaster" Target="/ppt/notesMasters/notesMaster1.xml" Id="Rb33300a57c914e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3cb69dd8ac4f56" /><Relationship Type="http://schemas.openxmlformats.org/officeDocument/2006/relationships/notesMaster" Target="/ppt/notesMasters/notesMaster1.xml" Id="Rb78350d2670546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d68634ce104173" /><Relationship Type="http://schemas.openxmlformats.org/officeDocument/2006/relationships/notesMaster" Target="/ppt/notesMasters/notesMaster1.xml" Id="Ra2fae86479c548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19c49c056b4f58" /><Relationship Type="http://schemas.openxmlformats.org/officeDocument/2006/relationships/notesMaster" Target="/ppt/notesMasters/notesMaster1.xml" Id="Ra366dbf3e6a140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fdf7f0b5854a52" /><Relationship Type="http://schemas.openxmlformats.org/officeDocument/2006/relationships/notesMaster" Target="/ppt/notesMasters/notesMaster1.xml" Id="R1bfb185b8ebc43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8795840bf44b18" /><Relationship Type="http://schemas.openxmlformats.org/officeDocument/2006/relationships/notesMaster" Target="/ppt/notesMasters/notesMaster1.xml" Id="R7b81b84d0fbe43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f66a58ebf04069" /><Relationship Type="http://schemas.openxmlformats.org/officeDocument/2006/relationships/notesMaster" Target="/ppt/notesMasters/notesMaster1.xml" Id="R76440c78837c46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652c08e34742a7" /><Relationship Type="http://schemas.openxmlformats.org/officeDocument/2006/relationships/notesMaster" Target="/ppt/notesMasters/notesMaster1.xml" Id="R442bfb13916745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5bb0e0f11a4dde" /><Relationship Type="http://schemas.openxmlformats.org/officeDocument/2006/relationships/notesMaster" Target="/ppt/notesMasters/notesMaster1.xml" Id="R493d8c7c442d40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b9ed1003c14b9b" /><Relationship Type="http://schemas.openxmlformats.org/officeDocument/2006/relationships/notesMaster" Target="/ppt/notesMasters/notesMaster1.xml" Id="Rd2edabd0688e468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e655e818a34e67" /><Relationship Type="http://schemas.openxmlformats.org/officeDocument/2006/relationships/notesMaster" Target="/ppt/notesMasters/notesMaster1.xml" Id="R7b347c71c85b486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07e783ed344e9b" /><Relationship Type="http://schemas.openxmlformats.org/officeDocument/2006/relationships/notesMaster" Target="/ppt/notesMasters/notesMaster1.xml" Id="R98af564b90974c3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b00e61ed08f43d7" /><Relationship Type="http://schemas.openxmlformats.org/officeDocument/2006/relationships/notesMaster" Target="/ppt/notesMasters/notesMaster1.xml" Id="Rc3124f58f6ee4d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aa6b3fbd14749e0" /><Relationship Type="http://schemas.openxmlformats.org/officeDocument/2006/relationships/notesMaster" Target="/ppt/notesMasters/notesMaster1.xml" Id="R7aaf6f43436a48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同学们好，欢迎来到今天的微团课。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br/>
            <a:br/>
            <a:r>
              <a:t>配图：上海城市实景：外滩望陆家嘴（2018）</a:t>
            </a:r>
            <a:br/>
            <a:r>
              <a:t>作者：David Zhang</a:t>
            </a:r>
            <a:br/>
            <a:r>
              <a:t>来源：https://commons.wikimedia.org/wiki/File:Pudong_night_skyline_viewed_from_the_Bund_in_Shanghai_(41199899084).jpg</a:t>
            </a:r>
            <a:br/>
            <a:r>
              <a:t>图片副本：https://github.com/ChrisWiles/china-2026-trip/blob/main/images/shanghai/bund-night-skyline.jpg</a:t>
            </a:r>
            <a:br/>
            <a:r>
              <a:t>许可：CC BY-SA 2.0 https://creativecommons.org/licenses/by-sa/2.0/</a:t>
            </a:r>
            <a:br/>
            <a:r>
              <a:t>处理：缩放、JPEG压缩；版面局部裁切；图像改编部分按CC BY-SA 2.0发布。并非案例大厦或天目西路街道照片。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建议讲述时间：18秒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在正式开讲之前，我想先提一个问题：上海每天有多少白领进出写字楼？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（停顿）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要形成直观的感受，我们不妨把镜头拉近，从上海的一条街道看起。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br/>
            <a:br/>
            <a:r>
              <a:t>配图：上海城市实景：外滩望陆家嘴（2018）</a:t>
            </a:r>
            <a:br/>
            <a:r>
              <a:t>作者：David Zhang</a:t>
            </a:r>
            <a:br/>
            <a:r>
              <a:t>来源：https://commons.wikimedia.org/wiki/File:Pudong_night_skyline_viewed_from_the_Bund_in_Shanghai_(41199899084).jpg</a:t>
            </a:r>
            <a:br/>
            <a:r>
              <a:t>图片副本：https://github.com/ChrisWiles/china-2026-trip/blob/main/images/shanghai/bund-night-skyline.jpg</a:t>
            </a:r>
            <a:br/>
            <a:r>
              <a:t>许可：CC BY-SA 2.0 https://creativecommons.org/licenses/by-sa/2.0/</a:t>
            </a:r>
            <a:br/>
            <a:r>
              <a:t>处理：缩放、JPEG压缩；版面局部裁切；图像改编部分按CC BY-SA 2.0发布。并非案例大厦或天目西路街道照片。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建议讲述时间：25秒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静安区天目西路街道，面积只有1.94平方公里。据静安区2025年公布的资料，这片不到两平方公里的区域内，分布着64幢商务楼宇、5600余家注册企业，汇聚着5万余名白领。∥∥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楼宇使人们在空间上相聚，怎样将分散的党员联系起来、把青年的力量组织起来，是城市基层党建的现实课题。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S1 天目西路街道数据</a:t>
            </a:r>
          </a:p>
          <a:p xmlns:a="http://schemas.openxmlformats.org/drawingml/2006/main">
            <a:r>
              <a:t>静安区，2025-03-13</a:t>
            </a:r>
          </a:p>
          <a:p xmlns:a="http://schemas.openxmlformats.org/drawingml/2006/main">
            <a:r>
              <a:t>https://www.jingan.gov.cn/rmtzx/003001/20250313/4806bb9d-4cfa-428f-8b83-211054b9384c.html</a:t>
            </a:r>
          </a:p>
          <a:p xmlns:a="http://schemas.openxmlformats.org/drawingml/2006/main">
            <a:br/>
            <a:br/>
            <a:r>
              <a:t>视觉说明：本页图解或文字摘录根据讲稿和所引史料重新绘制，不是建筑复原、原件影像或历史现场照片。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建议讲述时间：25秒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2007年10月，习近平同志离开上海之际，在向上海市委组织部干部告别时，留下了一句嘱托：“上海的党建要成为中央的一个点。”（语气加重）这句话，他反复讲了两遍。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带着对这个课题的思考，让我们走进同在静安区的静安寺街道，聚焦中华企业大厦，探讨全面从严治党如何在基层凝聚青年。∥∥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S2 “中央的一个点”史料</a:t>
            </a:r>
          </a:p>
          <a:p xmlns:a="http://schemas.openxmlformats.org/drawingml/2006/main">
            <a:r>
              <a:t>习近平在上海（七），2021</a:t>
            </a:r>
          </a:p>
          <a:p xmlns:a="http://schemas.openxmlformats.org/drawingml/2006/main">
            <a:r>
              <a:t>https://www.12371.cn/2021/09/11/ARTI1631326363850698.shtml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习近平总书记指出：“全面从严治党，核心是加强党的领导，基础在全面，关键在严，要害在治。”党的二十届五中全会审议通过《中共中央关于持之以恒推进全面从严治党若干重大问题的决定》，对持之以恒推进全面从严治党作出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S3 全面从严治党基本内涵</a:t>
            </a:r>
          </a:p>
          <a:p xmlns:a="http://schemas.openxmlformats.org/drawingml/2006/main">
            <a:r>
              <a:t>习近平，2016年中央纪委六次全会讲话</a:t>
            </a:r>
          </a:p>
          <a:p xmlns:a="http://schemas.openxmlformats.org/drawingml/2006/main">
            <a:r>
              <a:t>https://news.12371.cn/2016/05/03/ARTI1462226060266788.shtml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 二十届五中全会公报</a:t>
            </a:r>
          </a:p>
          <a:p xmlns:a="http://schemas.openxmlformats.org/drawingml/2006/main">
            <a:r>
              <a:t>新华社，2026-10-29</a:t>
            </a:r>
          </a:p>
          <a:p xmlns:a="http://schemas.openxmlformats.org/drawingml/2006/main">
            <a:r>
              <a:t>https://www.mofcom.gov.cn/xwfb/ldrhd/art/2026/art_fb8c81bfc5fa4e31a625d097c890fb8c.html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建议讲述时间：15秒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要想理解这一要求如何落实到基层，我们既要从组织体系出发，认识党的执政根基；又要从党员队伍入手，把握从严教育管理；更要从群众路线着眼，理解青年力量的凝聚。∥∥∥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组织体系来看，全面从严治党要把党的领导落实到基层。（右手）习近平总书记指出：“党的组织路线是为党的政治路线服务的。”加强组织建设，根本目的是坚持和加强党的全面领导，为党的事业提供坚强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S5 新时代党的组织路线</a:t>
            </a:r>
          </a:p>
          <a:p xmlns:a="http://schemas.openxmlformats.org/drawingml/2006/main">
            <a:r>
              <a:t>习近平，求是，2020</a:t>
            </a:r>
          </a:p>
          <a:p xmlns:a="http://schemas.openxmlformats.org/drawingml/2006/main">
            <a:r>
              <a:t>https://www.12371.cn/2020/07/31/ARTI1596179920315419.shtml</a:t>
            </a:r>
          </a:p>
          <a:p xmlns:a="http://schemas.openxmlformats.org/drawingml/2006/main">
            <a:br/>
            <a:br/>
            <a:r>
              <a:t>视觉说明：本页图解或文字摘录根据讲稿和所引史料重新绘制，不是建筑复原、原件影像或历史现场照片。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党组织的政治功能，体现在把握政治方向、开展理论武装、贯彻落实党的路线方针政策；组织功能，则体现在联系党员群众、组织动员、推动落实等方面。组织功能为政治功能的发挥提供支撑，二者相互贯通。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理解了这一点，我们再来看中华企业大厦。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S5 新时代党的组织路线</a:t>
            </a:r>
          </a:p>
          <a:p xmlns:a="http://schemas.openxmlformats.org/drawingml/2006/main">
            <a:r>
              <a:t>习近平，求是，2020</a:t>
            </a:r>
          </a:p>
          <a:p xmlns:a="http://schemas.openxmlformats.org/drawingml/2006/main">
            <a:r>
              <a:t>https://www.12371.cn/2020/07/31/ARTI1596179920315419.shtml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 政治功能与组织功能</a:t>
            </a:r>
          </a:p>
          <a:p xmlns:a="http://schemas.openxmlformats.org/drawingml/2006/main">
            <a:r>
              <a:t>人民日报，2023-02-15</a:t>
            </a:r>
          </a:p>
          <a:p xmlns:a="http://schemas.openxmlformats.org/drawingml/2006/main">
            <a:r>
              <a:t>https://www.12371.cn/2023/02/15/ARTI1676415917900672.shtml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世纪初，面对分散在商务楼宇里的党员，静安寺街道的党群工作者王长燕，带着印有自己电话号码的小纸条，逐层走访楼里的企业。有人来电咨询组织关系转接，也有人提出入党申请。在街道和楼宇物业的支持下，大厦辟出空间，2002年，上海首个商务楼宇党员服务点在这里挂牌。∥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S7 中华企业大厦案例</a:t>
            </a:r>
          </a:p>
          <a:p xmlns:a="http://schemas.openxmlformats.org/drawingml/2006/main">
            <a:r>
              <a:t>文汇报，2019-04-23</a:t>
            </a:r>
          </a:p>
          <a:p xmlns:a="http://schemas.openxmlformats.org/drawingml/2006/main">
            <a:r>
              <a:t>https://wenhui.whb.cn/third/kuaichuan/201904/23/257857.html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S8 首个党员服务点挂牌史实</a:t>
            </a:r>
          </a:p>
          <a:p xmlns:a="http://schemas.openxmlformats.org/drawingml/2006/main">
            <a:r>
              <a:t>上海市政府，2025-06-28</a:t>
            </a:r>
          </a:p>
          <a:p xmlns:a="http://schemas.openxmlformats.org/drawingml/2006/main">
            <a:r>
              <a:t>https://www.shanghai.gov.cn/nw4411/20250628/3d26541db033477aa12164c20bee4eb2.html</a:t>
            </a:r>
          </a:p>
          <a:p xmlns:a="http://schemas.openxmlformats.org/drawingml/2006/main">
            <a:br/>
            <a:br/>
            <a:r>
              <a:t>视觉说明：本页图解或文字摘录根据讲稿和所引史料重新绘制，不是建筑复原、原件影像或历史现场照片。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一张小纸条，联系起分散的党员；一处服务点，为组织活动提供依托。这种探索启示我们，组织建设要适应经济社会结构和人员流动的新变化，使党员的工作生活有组织联系、有教育管理。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党的二十届五中全会对强化党组织政治功能和组织功能、突出抓好新兴领域党的建设作出部署。用今天的要求回看这栋楼，更能理解组织覆盖的意义：既要让党员找到组织，也要使党组织能够有效开展工作，把党的要求落实到具体岗位和具体行动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可见，严密组织体系，是将党的领导落实到基层的重要保证；从组织覆盖走向作用发挥，体现的正是组织建设服务党的事业这一内在要求。（右手）∥∥∥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S7 中华企业大厦案例</a:t>
            </a:r>
          </a:p>
          <a:p xmlns:a="http://schemas.openxmlformats.org/drawingml/2006/main">
            <a:r>
              <a:t>文汇报，2019-04-23</a:t>
            </a:r>
          </a:p>
          <a:p xmlns:a="http://schemas.openxmlformats.org/drawingml/2006/main">
            <a:r>
              <a:t>https://wenhui.whb.cn/third/kuaichuan/201904/23/257857.html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 《决定》新闻发布会解读</a:t>
            </a:r>
          </a:p>
          <a:p xmlns:a="http://schemas.openxmlformats.org/drawingml/2006/main">
            <a:r>
              <a:t>人民日报，2026-10-31</a:t>
            </a:r>
          </a:p>
          <a:p xmlns:a="http://schemas.openxmlformats.org/drawingml/2006/main">
            <a:r>
              <a:t>https://cpc.people.com.cn/n1/2026/1031/c64387-40825028.html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组织体系回答力量如何组织起来，党员队伍建设则进一步回答组织力量由谁来体现。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同学们，党组织建进楼宇，是不是就意味着组织力能够自然形成呢？要回答这个问题，还需要理解党员教育管理为什么必须从严。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党的二十届五中全会提出，增强党性是全面从严治党的根本性任务。党员的先进性和纯洁性，需要在经常性的教育、严格的管理和具体的实践中不断锤炼。∥∥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S4 二十届五中全会公报</a:t>
            </a:r>
          </a:p>
          <a:p xmlns:a="http://schemas.openxmlformats.org/drawingml/2006/main">
            <a:r>
              <a:t>新华社，2026-10-29</a:t>
            </a:r>
          </a:p>
          <a:p xmlns:a="http://schemas.openxmlformats.org/drawingml/2006/main">
            <a:r>
              <a:t>https://www.mofcom.gov.cn/xwfb/ldrhd/art/2026/art_fb8c81bfc5fa4e31a625d097c890fb8c.html</a:t>
            </a:r>
          </a:p>
          <a:p xmlns:a="http://schemas.openxmlformats.org/drawingml/2006/main">
            <a:br/>
            <a:br/>
            <a:r>
              <a:t>视觉说明：本页图解或文字摘录根据讲稿和所引史料重新绘制，不是建筑复原、原件影像或历史现场照片。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从思想教育来看，要通过党的创新理论学习，使党员坚定理想信念，理解党的性质宗旨，明确肩负的责任；从制度约束来看，要通过规范的组织生活和日常监督，使党员按照党章党规党纪履行义务、规范行为。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这正体现了思想建党与制度治党相结合的要求：通过思想教育增强行动自觉，通过制度约束提供行为规范。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S10 思想建党与制度治党</a:t>
            </a:r>
          </a:p>
          <a:p xmlns:a="http://schemas.openxmlformats.org/drawingml/2006/main">
            <a:r>
              <a:t>中央纪委国家监委，2026-09-09</a:t>
            </a:r>
          </a:p>
          <a:p xmlns:a="http://schemas.openxmlformats.org/drawingml/2006/main">
            <a:r>
              <a:t>https://www.ccdi.gov.cn/yaowenn/202609/t20260909_511278.html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建议讲述时间：25秒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《中国共产党党员教育管理工作条例》对“三会一课”、组织生活会、民主评议党员等作出了规定，并要求坚持从严教育管理和热情关心爱护相统一。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把这些要求落实到楼宇中的党员，就是要在理论学习中明确方向，在组织生活中检视不足，在联系服务群众中履行责任、接受监督。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S11 党员教育管理工作条例</a:t>
            </a:r>
          </a:p>
          <a:p xmlns:a="http://schemas.openxmlformats.org/drawingml/2006/main">
            <a:r>
              <a:t>新华社受权发布，2019-05-21</a:t>
            </a:r>
          </a:p>
          <a:p xmlns:a="http://schemas.openxmlformats.org/drawingml/2006/main">
            <a:r>
              <a:t>https://www.xinhuanet.com/politics/2019-05/21/c_1124524932.htm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党员遇到困难，组织及时关心帮助；发现思想作风上的偏差，组织及时提醒纠正。∥∥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党支部承担教育、管理、监督党员的职责，党员则在履行义务、改进不足、兑现承诺中体现自身作用。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由此可见，将思想教育与制度约束相结合，将严格管理与关心爱护相统一，才能使党员的先进性和纯洁性体现在日常工作、学习和生活之中。（双手）∥∥∥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S11 党员教育管理工作条例</a:t>
            </a:r>
          </a:p>
          <a:p xmlns:a="http://schemas.openxmlformats.org/drawingml/2006/main">
            <a:r>
              <a:t>新华社受权发布，2019-05-21</a:t>
            </a:r>
          </a:p>
          <a:p xmlns:a="http://schemas.openxmlformats.org/drawingml/2006/main">
            <a:r>
              <a:t>https://www.xinhuanet.com/politics/2019-05/21/c_1124524932.htm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理解了组织体系的作用（右），认识了党员队伍建设的要求（左），全面从严治党又如何与青年发展联系起来呢？这就需要进一步理解党的群众路线。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S12 党的群众路线</a:t>
            </a:r>
          </a:p>
          <a:p xmlns:a="http://schemas.openxmlformats.org/drawingml/2006/main">
            <a:r>
              <a:t>中组部党员教育中心，2013</a:t>
            </a:r>
          </a:p>
          <a:p xmlns:a="http://schemas.openxmlformats.org/drawingml/2006/main">
            <a:r>
              <a:t>https://news.12371.cn/2013/08/19/ARTI1376897209062190.shtml</a:t>
            </a:r>
          </a:p>
          <a:p xmlns:a="http://schemas.openxmlformats.org/drawingml/2006/main">
            <a:br/>
            <a:br/>
            <a:r>
              <a:t>配图：上海城市实景：外滩望陆家嘴（2018）</a:t>
            </a:r>
            <a:br/>
            <a:r>
              <a:t>作者：David Zhang</a:t>
            </a:r>
            <a:br/>
            <a:r>
              <a:t>来源：https://commons.wikimedia.org/wiki/File:Pudong_night_skyline_viewed_from_the_Bund_in_Shanghai_(41199899084).jpg</a:t>
            </a:r>
            <a:br/>
            <a:r>
              <a:t>图片副本：https://github.com/ChrisWiles/china-2026-trip/blob/main/images/shanghai/bund-night-skyline.jpg</a:t>
            </a:r>
            <a:br/>
            <a:r>
              <a:t>许可：CC BY-SA 2.0 https://creativecommons.org/licenses/by-sa/2.0/</a:t>
            </a:r>
            <a:br/>
            <a:r>
              <a:t>处理：缩放、JPEG压缩；版面局部裁切；图像改编部分按CC BY-SA 2.0发布。并非案例大厦或天目西路街道照片。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党章强调密切联系群众的重要性。党的群众路线，要求一切为了群众、一切依靠群众，从群众中来、到群众中去。从群众中来，就是深入群众、了解实际、集中意见；到群众中去，就是将集中形成的意见向群众宣传解释，组织群众共同实践，并在实践中检验和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S12 党的群众路线</a:t>
            </a:r>
          </a:p>
          <a:p xmlns:a="http://schemas.openxmlformats.org/drawingml/2006/main">
            <a:r>
              <a:t>中组部党员教育中心，2013</a:t>
            </a:r>
          </a:p>
          <a:p xmlns:a="http://schemas.openxmlformats.org/drawingml/2006/main">
            <a:r>
              <a:t>https://news.12371.cn/2013/08/19/ARTI1376897209062190.shtml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建议讲述时间：35秒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让我们再回到中华企业大厦。《文汇报》记录过一个细节：大厦业主发生变更时，原来的物业管理方被租户们集体挽留。长期以来，楼宇物业配合党群工作者了解白领党员情况和需求，为组织生活、党群活动提供空间和支持。∥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从这个细节中，我们可以进一步思考：联系是否及时、承诺是否兑现、问题是否得到回应，会怎样影响群众对身边党员和基层组织的认识？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全会对走好新时代党的群众路线作出部署。落实到基层，就要倾听意见、认真办事、及时反馈，使党员履职的实际成效接受群众检验。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S7 中华企业大厦案例</a:t>
            </a:r>
          </a:p>
          <a:p xmlns:a="http://schemas.openxmlformats.org/drawingml/2006/main">
            <a:r>
              <a:t>文汇报，2019-04-23</a:t>
            </a:r>
          </a:p>
          <a:p xmlns:a="http://schemas.openxmlformats.org/drawingml/2006/main">
            <a:r>
              <a:t>https://wenhui.whb.cn/third/kuaichuan/201904/23/257857.html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 《决定》新闻发布会解读</a:t>
            </a:r>
          </a:p>
          <a:p xmlns:a="http://schemas.openxmlformats.org/drawingml/2006/main">
            <a:r>
              <a:t>人民日报，2026-10-31</a:t>
            </a:r>
          </a:p>
          <a:p xmlns:a="http://schemas.openxmlformats.org/drawingml/2006/main">
            <a:r>
              <a:t>https://cpc.people.com.cn/n1/2026/1031/c64387-40825028.html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青年工作同样需要遵循这样的要求。党建带团建，包括思想引领以及组织建设、工作作风等方面的带动。党组织指导和支持团组织开展工作，团组织发挥联系青年的桥梁纽带作用，将青年需求了解充分，把服务和参与的渠道建设扎实。∥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S13 加强党建带团建工作</a:t>
            </a:r>
          </a:p>
          <a:p xmlns:a="http://schemas.openxmlformats.org/drawingml/2006/main">
            <a:r>
              <a:t>中共中央办公厅意见，2026</a:t>
            </a:r>
          </a:p>
          <a:p xmlns:a="http://schemas.openxmlformats.org/drawingml/2006/main">
            <a:r>
              <a:t>https://cpc.people.com.cn/n1/2026/0321/c64387-40686057.html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“十五五”规划纲要设置“支持青年发展”专节，提出帮助青年解决求学工作、住房保障、社会融入等实际困难，完善利益表达和诉求响应机制，拓展青年参与社会治理的渠道。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支持青年发展，既要回应现实需求，也要创造参与空间。让楼宇中的青年能够表达诉求、获得回应，也能够参与公共事务、发挥专业所长，就是观察这些要求如何落地的具体视角。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可见，践行群众路线、加强党建带团建，使组织建设与青年发展在基层实践中相衔接，也为检验组织建设成效提供了具体视角。∥∥∥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S14 “支持青年发展”专节</a:t>
            </a:r>
          </a:p>
          <a:p xmlns:a="http://schemas.openxmlformats.org/drawingml/2006/main">
            <a:r>
              <a:t>十五五规划纲要，第四十六章第三节</a:t>
            </a:r>
          </a:p>
          <a:p xmlns:a="http://schemas.openxmlformats.org/drawingml/2006/main">
            <a:r>
              <a:t>https://www.12371.cn/2026/03/13/ARTI1773410307876581.shtml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同学们，从一栋楼出发，我们理解了三个相互联系的方面：组织体系是基础，党员队伍是支撑，群众路线贯穿其中。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回到开篇的那句嘱托——“上海的党建要成为中央的一个点。”地方实践通过回应具体问题、总结工作经验，为理解党的建设理论提供了生动素材。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而逢盛世，青年当有为。我们可以依托团支部走进楼宇党群服务阵地，在走访中了解组织如何工作，在服务中观察政策如何落实，在听取反馈中检验所学。将课堂学习与社会实践结合起来，才能在学思践悟中深化认识，在参与服务中锤炼本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好的同学们，今天的课就上到这里，谢谢大家！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br/>
            <a:br/>
            <a:r>
              <a:t>视觉说明：本页图解或文字摘录根据讲稿和所引史料重新绘制，不是建筑复原、原件影像或历史现场照片。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参考资料附录，不朗读。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S1 天目西路街道数据</a:t>
            </a:r>
          </a:p>
          <a:p xmlns:a="http://schemas.openxmlformats.org/drawingml/2006/main">
            <a:r>
              <a:t>静安区，2025-03-13</a:t>
            </a:r>
          </a:p>
          <a:p xmlns:a="http://schemas.openxmlformats.org/drawingml/2006/main">
            <a:r>
              <a:t>https://www.jingan.gov.cn/rmtzx/003001/20250313/4806bb9d-4cfa-428f-8b83-211054b9384c.html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 “中央的一个点”史料</a:t>
            </a:r>
          </a:p>
          <a:p xmlns:a="http://schemas.openxmlformats.org/drawingml/2006/main">
            <a:r>
              <a:t>习近平在上海（七），2021</a:t>
            </a:r>
          </a:p>
          <a:p xmlns:a="http://schemas.openxmlformats.org/drawingml/2006/main">
            <a:r>
              <a:t>https://www.12371.cn/2021/09/11/ARTI1631326363850698.shtml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 全面从严治党基本内涵</a:t>
            </a:r>
          </a:p>
          <a:p xmlns:a="http://schemas.openxmlformats.org/drawingml/2006/main">
            <a:r>
              <a:t>习近平，2016年中央纪委六次全会讲话</a:t>
            </a:r>
          </a:p>
          <a:p xmlns:a="http://schemas.openxmlformats.org/drawingml/2006/main">
            <a:r>
              <a:t>https://news.12371.cn/2016/05/03/ARTI1462226060266788.shtml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 二十届五中全会公报</a:t>
            </a:r>
          </a:p>
          <a:p xmlns:a="http://schemas.openxmlformats.org/drawingml/2006/main">
            <a:r>
              <a:t>新华社，2026-10-29</a:t>
            </a:r>
          </a:p>
          <a:p xmlns:a="http://schemas.openxmlformats.org/drawingml/2006/main">
            <a:r>
              <a:t>https://www.mofcom.gov.cn/xwfb/ldrhd/art/2026/art_fb8c81bfc5fa4e31a625d097c890fb8c.html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 新时代党的组织路线</a:t>
            </a:r>
          </a:p>
          <a:p xmlns:a="http://schemas.openxmlformats.org/drawingml/2006/main">
            <a:r>
              <a:t>习近平，求是，2020</a:t>
            </a:r>
          </a:p>
          <a:p xmlns:a="http://schemas.openxmlformats.org/drawingml/2006/main">
            <a:r>
              <a:t>https://www.12371.cn/2020/07/31/ARTI1596179920315419.shtml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S6 政治功能与组织功能</a:t>
            </a:r>
          </a:p>
          <a:p xmlns:a="http://schemas.openxmlformats.org/drawingml/2006/main">
            <a:r>
              <a:t>人民日报，2023-02-15</a:t>
            </a:r>
          </a:p>
          <a:p xmlns:a="http://schemas.openxmlformats.org/drawingml/2006/main">
            <a:r>
              <a:t>https://www.12371.cn/2023/02/15/ARTI1676415917900672.shtml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S7 中华企业大厦案例</a:t>
            </a:r>
          </a:p>
          <a:p xmlns:a="http://schemas.openxmlformats.org/drawingml/2006/main">
            <a:r>
              <a:t>文汇报，2019-04-23</a:t>
            </a:r>
          </a:p>
          <a:p xmlns:a="http://schemas.openxmlformats.org/drawingml/2006/main">
            <a:r>
              <a:t>https://wenhui.whb.cn/third/kuaichuan/201904/23/257857.html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S8 首个党员服务点挂牌史实</a:t>
            </a:r>
          </a:p>
          <a:p xmlns:a="http://schemas.openxmlformats.org/drawingml/2006/main">
            <a:r>
              <a:t>上海市政府，2025-06-28</a:t>
            </a:r>
          </a:p>
          <a:p xmlns:a="http://schemas.openxmlformats.org/drawingml/2006/main">
            <a:r>
              <a:t>https://www.shanghai.gov.cn/nw4411/20250628/3d26541db033477aa12164c20bee4eb2.html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 《决定》新闻发布会解读</a:t>
            </a:r>
          </a:p>
          <a:p xmlns:a="http://schemas.openxmlformats.org/drawingml/2006/main">
            <a:r>
              <a:t>人民日报，2026-10-31</a:t>
            </a:r>
          </a:p>
          <a:p xmlns:a="http://schemas.openxmlformats.org/drawingml/2006/main">
            <a:r>
              <a:t>https://cpc.people.com.cn/n1/2026/1031/c64387-40825028.html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思想建党与制度治党</a:t>
            </a:r>
          </a:p>
          <a:p xmlns:a="http://schemas.openxmlformats.org/drawingml/2006/main">
            <a:r>
              <a:t>中央纪委国家监委，2026-09-09</a:t>
            </a:r>
          </a:p>
          <a:p xmlns:a="http://schemas.openxmlformats.org/drawingml/2006/main">
            <a:r>
              <a:t>https://www.ccdi.gov.cn/yaowenn/202609/t20260909_511278.html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党员教育管理工作条例</a:t>
            </a:r>
          </a:p>
          <a:p xmlns:a="http://schemas.openxmlformats.org/drawingml/2006/main">
            <a:r>
              <a:t>新华社受权发布，2019-05-21</a:t>
            </a:r>
          </a:p>
          <a:p xmlns:a="http://schemas.openxmlformats.org/drawingml/2006/main">
            <a:r>
              <a:t>https://www.xinhuanet.com/politics/2019-05/21/c_1124524932.htm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党的群众路线</a:t>
            </a:r>
          </a:p>
          <a:p xmlns:a="http://schemas.openxmlformats.org/drawingml/2006/main">
            <a:r>
              <a:t>中组部党员教育中心，2013</a:t>
            </a:r>
          </a:p>
          <a:p xmlns:a="http://schemas.openxmlformats.org/drawingml/2006/main">
            <a:r>
              <a:t>https://news.12371.cn/2013/08/19/ARTI1376897209062190.shtml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加强党建带团建工作</a:t>
            </a:r>
          </a:p>
          <a:p xmlns:a="http://schemas.openxmlformats.org/drawingml/2006/main">
            <a:r>
              <a:t>中共中央办公厅意见，2026</a:t>
            </a:r>
          </a:p>
          <a:p xmlns:a="http://schemas.openxmlformats.org/drawingml/2006/main">
            <a:r>
              <a:t>https://cpc.people.com.cn/n1/2026/0321/c64387-40686057.html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“支持青年发展”专节</a:t>
            </a:r>
          </a:p>
          <a:p xmlns:a="http://schemas.openxmlformats.org/drawingml/2006/main">
            <a:r>
              <a:t>十五五规划纲要，第四十六章第三节</a:t>
            </a:r>
          </a:p>
          <a:p xmlns:a="http://schemas.openxmlformats.org/drawingml/2006/main">
            <a:r>
              <a:t>https://www.12371.cn/2026/03/13/ARTI1773410307876581.shtml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图片来源与使用说明附录，不朗读。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br/>
            <a:br/>
            <a:r>
              <a:t>配图：上海城市实景：外滩望陆家嘴（2018）</a:t>
            </a:r>
            <a:br/>
            <a:r>
              <a:t>作者：David Zhang</a:t>
            </a:r>
            <a:br/>
            <a:r>
              <a:t>来源：https://commons.wikimedia.org/wiki/File:Pudong_night_skyline_viewed_from_the_Bund_in_Shanghai_(41199899084).jpg</a:t>
            </a:r>
            <a:br/>
            <a:r>
              <a:t>图片副本：https://github.com/ChrisWiles/china-2026-trip/blob/main/images/shanghai/bund-night-skyline.jpg</a:t>
            </a:r>
            <a:br/>
            <a:r>
              <a:t>许可：CC BY-SA 2.0 https://creativecommons.org/licenses/by-sa/2.0/</a:t>
            </a:r>
            <a:br/>
            <a:r>
              <a:t>处理：缩放、JPEG压缩；版面局部裁切；图像改编部分按CC BY-SA 2.0发布。并非案例大厦或天目西路街道照片。</a:t>
            </a:r>
          </a:p>
          <a:p xmlns:a="http://schemas.openxmlformats.org/drawingml/2006/main">
            <a:br/>
            <a:br/>
            <a:r>
              <a:t>以上照片的作者、原始链接、许可链接和处理方式均列于页面及配图备注。图解按所引政策与史实整理，属于教学示意。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3da2cdfe84a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33343817845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db99236244c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c6813b9b749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31b8eed0546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8a0dcc9cd141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3CBD83-C4C5-4F68-BC31-9ABDFFCEA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AEF622-DFD4-4C83-BEF1-5D24B9AF70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F614F0-6DB1-4A35-87D7-D0B377B3C5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F2D499-E706-4E0D-B735-E1AA6B5B8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5460A1-0035-4DAD-818B-2683D17941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B9E711-B695-4E32-AF98-8335A41497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89FC60-BE00-4A91-930F-3FE4813D91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3B96DE-B43C-4A27-AE45-9630668F2F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D9B844-941D-4E44-9127-ECA2EA3D14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21C9E9-7A82-4495-820B-6F203D3D40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b087a898d24bb8" /><Relationship Type="http://schemas.openxmlformats.org/officeDocument/2006/relationships/slideLayout" Target="/ppt/slideLayouts/slideLayout1.xml" Id="Ra9c19c16b8e949a8" /><Relationship Type="http://schemas.openxmlformats.org/officeDocument/2006/relationships/slideLayout" Target="/ppt/slideLayouts/slideLayout2.xml" Id="Re095204bdf6d4f82" /><Relationship Type="http://schemas.openxmlformats.org/officeDocument/2006/relationships/slideLayout" Target="/ppt/slideLayouts/slideLayout3.xml" Id="Rab3a2eb629494ccd" /><Relationship Type="http://schemas.openxmlformats.org/officeDocument/2006/relationships/slideLayout" Target="/ppt/slideLayouts/slideLayout4.xml" Id="Rcba4f7b136c349ed" /><Relationship Type="http://schemas.openxmlformats.org/officeDocument/2006/relationships/slideLayout" Target="/ppt/slideLayouts/slideLayout5.xml" Id="Rdb36c897662c4b07" /><Relationship Type="http://schemas.openxmlformats.org/officeDocument/2006/relationships/slideLayout" Target="/ppt/slideLayouts/slideLayout6.xml" Id="R348a884774ac49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c19c16b8e949a8"/>
    <p:sldLayoutId xmlns:r="http://schemas.openxmlformats.org/officeDocument/2006/relationships" id="2147483650" r:id="Re095204bdf6d4f82"/>
    <p:sldLayoutId xmlns:r="http://schemas.openxmlformats.org/officeDocument/2006/relationships" id="2147483651" r:id="Rab3a2eb629494ccd"/>
    <p:sldLayoutId xmlns:r="http://schemas.openxmlformats.org/officeDocument/2006/relationships" id="2147483652" r:id="Rcba4f7b136c349ed"/>
    <p:sldLayoutId xmlns:r="http://schemas.openxmlformats.org/officeDocument/2006/relationships" id="2147483653" r:id="Rdb36c897662c4b07"/>
    <p:sldLayoutId xmlns:r="http://schemas.openxmlformats.org/officeDocument/2006/relationships" id="2147483654" r:id="R348a884774ac49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024c8d2524056" /><Relationship Type="http://schemas.openxmlformats.org/officeDocument/2006/relationships/image" Target="/ppt/media/image.jpeg" Id="R638fd64971284da7" /><Relationship Type="http://schemas.openxmlformats.org/officeDocument/2006/relationships/notesSlide" Target="/ppt/notesSlides/notesSlide1.xml" Id="R485bcddde2cd4e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488b4db504793" /><Relationship Type="http://schemas.openxmlformats.org/officeDocument/2006/relationships/image" Target="/ppt/media/image2.jpeg" Id="R31525319adfb41a6" /><Relationship Type="http://schemas.openxmlformats.org/officeDocument/2006/relationships/notesSlide" Target="/ppt/notesSlides/notesSlide2.xml" Id="Ra7d5c53736c34d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4f69c29ad40ea" /><Relationship Type="http://schemas.openxmlformats.org/officeDocument/2006/relationships/notesSlide" Target="/ppt/notesSlides/notesSlide3.xml" Id="R403bcd5ff84448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904f55f5647c6" /><Relationship Type="http://schemas.openxmlformats.org/officeDocument/2006/relationships/notesSlide" Target="/ppt/notesSlides/notesSlide4.xml" Id="R9e777d0b4f6948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e2567f88374e72" /><Relationship Type="http://schemas.openxmlformats.org/officeDocument/2006/relationships/notesSlide" Target="/ppt/notesSlides/notesSlide5.xml" Id="R200a3393c93145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4feb748fb4479" /><Relationship Type="http://schemas.openxmlformats.org/officeDocument/2006/relationships/notesSlide" Target="/ppt/notesSlides/notesSlide6.xml" Id="Rb75d433354124d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0613f838b441b" /><Relationship Type="http://schemas.openxmlformats.org/officeDocument/2006/relationships/notesSlide" Target="/ppt/notesSlides/notesSlide7.xml" Id="Rb424a6fa639e49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2febd68a874e0a" /><Relationship Type="http://schemas.openxmlformats.org/officeDocument/2006/relationships/notesSlide" Target="/ppt/notesSlides/notesSlide8.xml" Id="R210e8d2bf7cf48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7517f595b74757" /><Relationship Type="http://schemas.openxmlformats.org/officeDocument/2006/relationships/notesSlide" Target="/ppt/notesSlides/notesSlide9.xml" Id="R2d2c0fa65d234b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fd636ab2be4f26" /><Relationship Type="http://schemas.openxmlformats.org/officeDocument/2006/relationships/notesSlide" Target="/ppt/notesSlides/notesSlide10.xml" Id="R185dcbba1c8b41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0bac062f7456e" /><Relationship Type="http://schemas.openxmlformats.org/officeDocument/2006/relationships/notesSlide" Target="/ppt/notesSlides/notesSlide11.xml" Id="R867f3f638d4d43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aa54f0ea245ba" /><Relationship Type="http://schemas.openxmlformats.org/officeDocument/2006/relationships/notesSlide" Target="/ppt/notesSlides/notesSlide12.xml" Id="R4c94da0b40054e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de199882f48d6" /><Relationship Type="http://schemas.openxmlformats.org/officeDocument/2006/relationships/notesSlide" Target="/ppt/notesSlides/notesSlide13.xml" Id="Rf7a3ca166f3644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50dc4c4e64832" /><Relationship Type="http://schemas.openxmlformats.org/officeDocument/2006/relationships/notesSlide" Target="/ppt/notesSlides/notesSlide14.xml" Id="R0500f64d8bdf42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b37130eb744f2" /><Relationship Type="http://schemas.openxmlformats.org/officeDocument/2006/relationships/image" Target="/ppt/media/image3.jpeg" Id="R8a01a1dc55fe4924" /><Relationship Type="http://schemas.openxmlformats.org/officeDocument/2006/relationships/notesSlide" Target="/ppt/notesSlides/notesSlide15.xml" Id="R8f818ff6dae844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8ee9cafdd44a94" /><Relationship Type="http://schemas.openxmlformats.org/officeDocument/2006/relationships/notesSlide" Target="/ppt/notesSlides/notesSlide16.xml" Id="R908bd40d0f1a4f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42127cf94a4b1a" /><Relationship Type="http://schemas.openxmlformats.org/officeDocument/2006/relationships/notesSlide" Target="/ppt/notesSlides/notesSlide17.xml" Id="R252f89a1a57648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0e11043a0437a" /><Relationship Type="http://schemas.openxmlformats.org/officeDocument/2006/relationships/notesSlide" Target="/ppt/notesSlides/notesSlide18.xml" Id="R0b33234706d540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b7d06a7fec4329" /><Relationship Type="http://schemas.openxmlformats.org/officeDocument/2006/relationships/notesSlide" Target="/ppt/notesSlides/notesSlide19.xml" Id="Rcf9a2baaedba43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6cb913dedf4d63" /><Relationship Type="http://schemas.openxmlformats.org/officeDocument/2006/relationships/notesSlide" Target="/ppt/notesSlides/notesSlide20.xml" Id="R9130f4c056d54c3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40629106f14dd6" /><Relationship Type="http://schemas.openxmlformats.org/officeDocument/2006/relationships/hyperlink" Target="https://www.jingan.gov.cn/rmtzx/003001/20250313/4806bb9d-4cfa-428f-8b83-211054b9384c.html" TargetMode="External" Id="R10c6037eb3e24efc" /><Relationship Type="http://schemas.openxmlformats.org/officeDocument/2006/relationships/hyperlink" Target="https://www.12371.cn/2021/09/11/ARTI1631326363850698.shtml" TargetMode="External" Id="R07d30c9ee8ad441c" /><Relationship Type="http://schemas.openxmlformats.org/officeDocument/2006/relationships/hyperlink" Target="https://news.12371.cn/2016/05/03/ARTI1462226060266788.shtml" TargetMode="External" Id="R87a88df0d92a4194" /><Relationship Type="http://schemas.openxmlformats.org/officeDocument/2006/relationships/hyperlink" Target="https://www.mofcom.gov.cn/xwfb/ldrhd/art/2026/art_fb8c81bfc5fa4e31a625d097c890fb8c.html" TargetMode="External" Id="Re8689eb562ff497c" /><Relationship Type="http://schemas.openxmlformats.org/officeDocument/2006/relationships/hyperlink" Target="https://www.12371.cn/2020/07/31/ARTI1596179920315419.shtml" TargetMode="External" Id="R83f81606592c490d" /><Relationship Type="http://schemas.openxmlformats.org/officeDocument/2006/relationships/hyperlink" Target="https://www.12371.cn/2023/02/15/ARTI1676415917900672.shtml" TargetMode="External" Id="R83e64d88a1e24145" /><Relationship Type="http://schemas.openxmlformats.org/officeDocument/2006/relationships/hyperlink" Target="https://wenhui.whb.cn/third/kuaichuan/201904/23/257857.html" TargetMode="External" Id="R429d3387248a4c4e" /><Relationship Type="http://schemas.openxmlformats.org/officeDocument/2006/relationships/hyperlink" Target="https://www.shanghai.gov.cn/nw4411/20250628/3d26541db033477aa12164c20bee4eb2.html" TargetMode="External" Id="Ra673910468b3404f" /><Relationship Type="http://schemas.openxmlformats.org/officeDocument/2006/relationships/hyperlink" Target="https://cpc.people.com.cn/n1/2026/1031/c64387-40825028.html" TargetMode="External" Id="Ra2f89138a0564557" /><Relationship Type="http://schemas.openxmlformats.org/officeDocument/2006/relationships/hyperlink" Target="https://www.ccdi.gov.cn/yaowenn/202609/t20260909_511278.html" TargetMode="External" Id="R8ba6a93aaaf24556" /><Relationship Type="http://schemas.openxmlformats.org/officeDocument/2006/relationships/hyperlink" Target="https://www.xinhuanet.com/politics/2019-05/21/c_1124524932.htm" TargetMode="External" Id="R8d98018ea66c46d3" /><Relationship Type="http://schemas.openxmlformats.org/officeDocument/2006/relationships/hyperlink" Target="https://news.12371.cn/2013/08/19/ARTI1376897209062190.shtml" TargetMode="External" Id="R0f6fe2301a3e4dba" /><Relationship Type="http://schemas.openxmlformats.org/officeDocument/2006/relationships/hyperlink" Target="https://cpc.people.com.cn/n1/2026/0321/c64387-40686057.html" TargetMode="External" Id="R825c578faba5438d" /><Relationship Type="http://schemas.openxmlformats.org/officeDocument/2006/relationships/hyperlink" Target="https://www.12371.cn/2026/03/13/ARTI1773410307876581.shtml" TargetMode="External" Id="R31cbb5373df94c21" /><Relationship Type="http://schemas.openxmlformats.org/officeDocument/2006/relationships/notesSlide" Target="/ppt/notesSlides/notesSlide21.xml" Id="R447d2e6d5ce14a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f7979f6b84e88" /><Relationship Type="http://schemas.openxmlformats.org/officeDocument/2006/relationships/image" Target="/ppt/media/image4.jpeg" Id="R446b0a90f617421a" /><Relationship Type="http://schemas.openxmlformats.org/officeDocument/2006/relationships/hyperlink" Target="https://commons.wikimedia.org/wiki/File:Pudong_night_skyline_viewed_from_the_Bund_in_Shanghai_(41199899084).jpg" TargetMode="External" Id="Ra82033c76447443f" /><Relationship Type="http://schemas.openxmlformats.org/officeDocument/2006/relationships/hyperlink" Target="https://creativecommons.org/licenses/by-sa/2.0/" TargetMode="External" Id="R050e52d783484885" /><Relationship Type="http://schemas.openxmlformats.org/officeDocument/2006/relationships/notesSlide" Target="/ppt/notesSlides/notesSlide22.xml" Id="R4751292607c246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B1BFF4A6-F84A-4137-83BD-6318F3C5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B10B778-3C53-458C-B1D2-2EF4B1D0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30510681-C185-44E1-A6A9-E197169D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25D12EC-84CC-4F0E-9C3E-1B65C5D7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652623F-A907-4815-B639-0A26F036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微团课展示交流  ·  上海楼宇党建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92EBF4C1-1DD6-46F3-AEC2-BEE5CEE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7AC75-D191-4446-9529-156C831CAD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fd64971284da7"/>
          <a:srcRect xmlns:a="http://schemas.openxmlformats.org/drawingml/2006/main" l="33468" t="0" r="334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D9C5B70-260E-43C9-9705-E3122DAC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579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4EBAFE05-8067-4D52-B809-65F912EF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5436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上海陆家嘴夜景 · 城市背景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3237AC24-B353-47B8-9324-D18E2648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E539D98C-8B55-417C-BAB3-2E0AFB10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AC5D0B9-D357-407C-A57F-433E42C2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青春奋进“十五五”  挺膺担当向未来</a:t>
            </a:r>
          </a:p>
        </p:txBody>
      </p:sp>
      <p:sp>
        <p:nvSpPr>
          <p:cNvPr id="13" name="cover-title-top">
            <a:extLst xmlns:a="http://schemas.openxmlformats.org/drawingml/2006/main">
              <a:ext uri="{FF2B5EF4-FFF2-40B4-BE49-F238E27FC236}">
                <a16:creationId xmlns:a16="http://schemas.microsoft.com/office/drawing/2014/main" id="{7110EA19-5864-4357-A4A6-EC890EE9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一栋楼里的</a:t>
            </a:r>
          </a:p>
        </p:txBody>
      </p:sp>
      <p:sp>
        <p:nvSpPr>
          <p:cNvPr id="14" name="cover-title-main">
            <a:extLst xmlns:a="http://schemas.openxmlformats.org/drawingml/2006/main">
              <a:ext uri="{FF2B5EF4-FFF2-40B4-BE49-F238E27FC236}">
                <a16:creationId xmlns:a16="http://schemas.microsoft.com/office/drawing/2014/main" id="{3F0C14DF-76F6-4526-B546-4EEC000A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47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组织力</a:t>
            </a:r>
          </a:p>
        </p:txBody>
      </p:sp>
      <p:sp>
        <p:nvSpPr>
          <p:cNvPr id="1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F2FE9D3-88AE-4668-8C76-C69D6499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从上海楼宇党建看</a:t>
            </a:r>
          </a:p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全面从严治党如何凝聚青年</a:t>
            </a:r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C12ED947-A342-4716-8405-5EEDB6B3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67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微团课  ·  8—10分钟</a:t>
            </a:r>
          </a:p>
        </p:txBody>
      </p:sp>
    </p:spTree>
    <p:extLst>
      <p:ext uri="{BB962C8B-B14F-4D97-AF65-F5344CB8AC3E}">
        <p14:creationId xmlns:p14="http://schemas.microsoft.com/office/powerpoint/2010/main" val="125019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933D3CAD-1606-4FB4-AAB6-2A27B0EB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B1E41E3-393D-48B9-AB1E-8BF1E99C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A7BEBC11-8E95-4DE9-91AF-7F11627C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6983BB0-A653-4FC4-8FEA-BE1709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19EEC7C-3935-4CC4-8E7B-0E8FD833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微团课展示交流  ·  上海楼宇党建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A1DCC6E9-82AC-4C9D-9E23-5E4EB558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6E20F-F49A-4804-ABE0-39E8DB27EB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25319adfb41a6"/>
          <a:srcRect xmlns:a="http://schemas.openxmlformats.org/drawingml/2006/main" l="9306" t="0" r="93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C36F897-CECD-4908-9F84-7BB4C90E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AB11FE24-CC5A-4317-8B7C-9CB6B9E8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6543675"/>
            <a:ext cx="1196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上海陆家嘴夜景 · 城市背景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DEF9789E-7E43-4855-B711-54403A9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00A">
              <a:alpha val="4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4FF56F8F-C376-43A6-BC3D-7D0EB1F3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FE4C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E4C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E4C8"/>
                </a:solidFill>
                <a:latin typeface="Noto Sans CJK SC"/>
                <a:ea typeface="Noto Sans CJK SC"/>
                <a:cs typeface="Noto Sans CJK SC"/>
              </a:rPr>
              <a:t>从一个日常问题开始</a:t>
            </a:r>
          </a:p>
        </p:txBody>
      </p:sp>
      <p:sp>
        <p:nvSpPr>
          <p:cNvPr id="12" name="opening-question">
            <a:extLst xmlns:a="http://schemas.openxmlformats.org/drawingml/2006/main">
              <a:ext uri="{FF2B5EF4-FFF2-40B4-BE49-F238E27FC236}">
                <a16:creationId xmlns:a16="http://schemas.microsoft.com/office/drawing/2014/main" id="{78AEF99B-6B2E-4702-AC29-83724BDD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66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上海每天有多少白领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进出写字楼？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D4249C-9F46-4BAC-8F95-95B2DCD9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把镜头拉近，从一条街道看起。</a:t>
            </a:r>
          </a:p>
        </p:txBody>
      </p:sp>
    </p:spTree>
    <p:extLst>
      <p:ext uri="{BB962C8B-B14F-4D97-AF65-F5344CB8AC3E}">
        <p14:creationId xmlns:p14="http://schemas.microsoft.com/office/powerpoint/2010/main" val="323814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urface">
            <a:extLst xmlns:a="http://schemas.openxmlformats.org/drawingml/2006/main">
              <a:ext uri="{FF2B5EF4-FFF2-40B4-BE49-F238E27FC236}">
                <a16:creationId xmlns:a16="http://schemas.microsoft.com/office/drawing/2014/main" id="{8B86B17B-8CC7-47F6-BDA6-257C41D8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D1DDD62-1FFE-41C2-9F3A-5E81A2E2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导入  /  空间集聚与组织联系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7A444FF-6C1B-4950-835B-1A790050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8589D88E-5413-47EA-A572-6255BE52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不到两平方公里，汇聚五万余名白领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D64F3B6-D09F-4888-82DD-96D818C9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BD5B356-396E-4A62-AEA4-A3F4D03D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依据：〔S1〕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38888E51-FB39-4D70-955E-633B2700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2C7C5A-380B-4183-9CCE-577E3B11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静安区 · 天目西路街道  /  2025年公开资料</a:t>
            </a:r>
          </a:p>
        </p:txBody>
      </p:sp>
      <p:sp>
        <p:nvSpPr>
          <p:cNvPr id="9" name="metric-0">
            <a:extLst xmlns:a="http://schemas.openxmlformats.org/drawingml/2006/main">
              <a:ext uri="{FF2B5EF4-FFF2-40B4-BE49-F238E27FC236}">
                <a16:creationId xmlns:a16="http://schemas.microsoft.com/office/drawing/2014/main" id="{9CE4BDE9-3471-46AC-B317-1578272D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1.94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D2BC1F0-CC7B-4194-8CFD-C25580E9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平方公里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20ADC8D-A81C-43D0-81CA-B5A01A3B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66950"/>
            <a:ext cx="9525" cy="1219200"/>
          </a:xfrm>
          <a:custGeom xmlns:a="http://schemas.openxmlformats.org/drawingml/2006/main">
            <a:pathLst>
              <a:path w="9525"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2" name="metric-1">
            <a:extLst xmlns:a="http://schemas.openxmlformats.org/drawingml/2006/main">
              <a:ext uri="{FF2B5EF4-FFF2-40B4-BE49-F238E27FC236}">
                <a16:creationId xmlns:a16="http://schemas.microsoft.com/office/drawing/2014/main" id="{A6040429-8483-4F9A-B371-99F89DAA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1455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64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D37AA2-18D5-4E4E-AEC0-67DF6D3B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05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幢商务楼宇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BA98E7C3-E4B0-4E21-89C9-A32DAC19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66950"/>
            <a:ext cx="9525" cy="1219200"/>
          </a:xfrm>
          <a:custGeom xmlns:a="http://schemas.openxmlformats.org/drawingml/2006/main">
            <a:pathLst>
              <a:path w="9525"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5" name="metric-2">
            <a:extLst xmlns:a="http://schemas.openxmlformats.org/drawingml/2006/main">
              <a:ext uri="{FF2B5EF4-FFF2-40B4-BE49-F238E27FC236}">
                <a16:creationId xmlns:a16="http://schemas.microsoft.com/office/drawing/2014/main" id="{DF2A2B63-E315-4CB4-A307-94DE4E65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1455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5600余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3D69299-0602-4C90-8A43-06776E63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家注册企业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0BA1759B-C460-401A-A9AC-7ABCA82F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9525" cy="1219200"/>
          </a:xfrm>
          <a:custGeom xmlns:a="http://schemas.openxmlformats.org/drawingml/2006/main">
            <a:pathLst>
              <a:path w="9525"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8" name="metric-3">
            <a:extLst xmlns:a="http://schemas.openxmlformats.org/drawingml/2006/main">
              <a:ext uri="{FF2B5EF4-FFF2-40B4-BE49-F238E27FC236}">
                <a16:creationId xmlns:a16="http://schemas.microsoft.com/office/drawing/2014/main" id="{C1DBE198-9B59-472A-B49B-29D45DED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1455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5万余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6EEACC1-AF0A-458E-8628-058026A0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05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名白领</a:t>
            </a:r>
          </a:p>
        </p:txBody>
      </p:sp>
      <p:sp>
        <p:nvSpPr>
          <p:cNvPr id="20" name="illustrated-district">
            <a:extLst xmlns:a="http://schemas.openxmlformats.org/drawingml/2006/main">
              <a:ext uri="{FF2B5EF4-FFF2-40B4-BE49-F238E27FC236}">
                <a16:creationId xmlns:a16="http://schemas.microsoft.com/office/drawing/2014/main" id="{A3E5449B-472D-42B0-B1DE-7DD453FB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E421B4F9-42B7-4B4E-A3E5-4C66BCF2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" y="5267325"/>
            <a:ext cx="103536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151F16C8-E2EB-4E5B-93DE-8811EBAD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" y="537210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22696D25-AD80-4096-B293-9514665D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" y="556260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8E85A626-D4E5-4895-883D-6A4E02CD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" y="575310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DFA9ABF0-31B7-4888-9B16-5E225790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573" y="5029200"/>
            <a:ext cx="1035368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0AC4BD2A-4B38-419F-BD08-3DF5D8CB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298" y="5133975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8C5EFAB1-3176-4D01-AA3F-75320E86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298" y="5324475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DD1CC436-DC0D-4337-861D-04D4754B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298" y="5514975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6D581F0A-95D2-4F28-83DB-78C8B5B6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4791075"/>
            <a:ext cx="1035368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8491F7AA-EF42-46EE-9581-63A34705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965" y="489585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rface">
            <a:extLst xmlns:a="http://schemas.openxmlformats.org/drawingml/2006/main">
              <a:ext uri="{FF2B5EF4-FFF2-40B4-BE49-F238E27FC236}">
                <a16:creationId xmlns:a16="http://schemas.microsoft.com/office/drawing/2014/main" id="{9D6905A1-71D9-4876-9241-C273F83B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965" y="508635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67787BAC-EBCE-41FE-9BE5-5D2F1884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965" y="527685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urface">
            <a:extLst xmlns:a="http://schemas.openxmlformats.org/drawingml/2006/main">
              <a:ext uri="{FF2B5EF4-FFF2-40B4-BE49-F238E27FC236}">
                <a16:creationId xmlns:a16="http://schemas.microsoft.com/office/drawing/2014/main" id="{610A34CC-4661-4FD7-9BB6-E27B9EE6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908" y="5267325"/>
            <a:ext cx="103536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urface">
            <a:extLst xmlns:a="http://schemas.openxmlformats.org/drawingml/2006/main">
              <a:ext uri="{FF2B5EF4-FFF2-40B4-BE49-F238E27FC236}">
                <a16:creationId xmlns:a16="http://schemas.microsoft.com/office/drawing/2014/main" id="{4C975E1A-39D3-4DAF-87EF-9450685C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633" y="537210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0E35EA08-20EE-44A4-9918-C97FE90E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633" y="556260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urface">
            <a:extLst xmlns:a="http://schemas.openxmlformats.org/drawingml/2006/main">
              <a:ext uri="{FF2B5EF4-FFF2-40B4-BE49-F238E27FC236}">
                <a16:creationId xmlns:a16="http://schemas.microsoft.com/office/drawing/2014/main" id="{AE20D87A-B97F-4974-8591-4AFE78C3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633" y="575310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urface">
            <a:extLst xmlns:a="http://schemas.openxmlformats.org/drawingml/2006/main">
              <a:ext uri="{FF2B5EF4-FFF2-40B4-BE49-F238E27FC236}">
                <a16:creationId xmlns:a16="http://schemas.microsoft.com/office/drawing/2014/main" id="{68C5AD96-1881-4E2B-9CC0-59A4201B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029200"/>
            <a:ext cx="1035368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urface">
            <a:extLst xmlns:a="http://schemas.openxmlformats.org/drawingml/2006/main">
              <a:ext uri="{FF2B5EF4-FFF2-40B4-BE49-F238E27FC236}">
                <a16:creationId xmlns:a16="http://schemas.microsoft.com/office/drawing/2014/main" id="{D987A3BA-9A1E-465B-BDF4-B3AD72A3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33975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urface">
            <a:extLst xmlns:a="http://schemas.openxmlformats.org/drawingml/2006/main">
              <a:ext uri="{FF2B5EF4-FFF2-40B4-BE49-F238E27FC236}">
                <a16:creationId xmlns:a16="http://schemas.microsoft.com/office/drawing/2014/main" id="{AF443159-26DD-446D-8878-5072436E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24475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urface">
            <a:extLst xmlns:a="http://schemas.openxmlformats.org/drawingml/2006/main">
              <a:ext uri="{FF2B5EF4-FFF2-40B4-BE49-F238E27FC236}">
                <a16:creationId xmlns:a16="http://schemas.microsoft.com/office/drawing/2014/main" id="{C2DE7C20-EAE1-4469-A127-B86D2C69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14975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urface">
            <a:extLst xmlns:a="http://schemas.openxmlformats.org/drawingml/2006/main">
              <a:ext uri="{FF2B5EF4-FFF2-40B4-BE49-F238E27FC236}">
                <a16:creationId xmlns:a16="http://schemas.microsoft.com/office/drawing/2014/main" id="{50E3A15C-0FBD-48EA-8865-8D9150E4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243" y="4791075"/>
            <a:ext cx="1035368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urface">
            <a:extLst xmlns:a="http://schemas.openxmlformats.org/drawingml/2006/main">
              <a:ext uri="{FF2B5EF4-FFF2-40B4-BE49-F238E27FC236}">
                <a16:creationId xmlns:a16="http://schemas.microsoft.com/office/drawing/2014/main" id="{E4E26375-7700-44B2-A803-66150A94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968" y="489585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urface">
            <a:extLst xmlns:a="http://schemas.openxmlformats.org/drawingml/2006/main">
              <a:ext uri="{FF2B5EF4-FFF2-40B4-BE49-F238E27FC236}">
                <a16:creationId xmlns:a16="http://schemas.microsoft.com/office/drawing/2014/main" id="{BCE4E8AC-F96D-4A32-B856-FF73321D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968" y="508635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urface">
            <a:extLst xmlns:a="http://schemas.openxmlformats.org/drawingml/2006/main">
              <a:ext uri="{FF2B5EF4-FFF2-40B4-BE49-F238E27FC236}">
                <a16:creationId xmlns:a16="http://schemas.microsoft.com/office/drawing/2014/main" id="{5D6E7F1D-FA8A-4438-A628-77E1928D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968" y="527685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urface">
            <a:extLst xmlns:a="http://schemas.openxmlformats.org/drawingml/2006/main">
              <a:ext uri="{FF2B5EF4-FFF2-40B4-BE49-F238E27FC236}">
                <a16:creationId xmlns:a16="http://schemas.microsoft.com/office/drawing/2014/main" id="{7AB50547-5D33-4C29-9E19-0A1DE490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910" y="5267325"/>
            <a:ext cx="103536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urface">
            <a:extLst xmlns:a="http://schemas.openxmlformats.org/drawingml/2006/main">
              <a:ext uri="{FF2B5EF4-FFF2-40B4-BE49-F238E27FC236}">
                <a16:creationId xmlns:a16="http://schemas.microsoft.com/office/drawing/2014/main" id="{D73D6BC1-5AFD-4499-A802-5F5558EC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635" y="537210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urface">
            <a:extLst xmlns:a="http://schemas.openxmlformats.org/drawingml/2006/main">
              <a:ext uri="{FF2B5EF4-FFF2-40B4-BE49-F238E27FC236}">
                <a16:creationId xmlns:a16="http://schemas.microsoft.com/office/drawing/2014/main" id="{9672D20E-D666-4B3D-9EEC-7956B68B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635" y="556260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urface">
            <a:extLst xmlns:a="http://schemas.openxmlformats.org/drawingml/2006/main">
              <a:ext uri="{FF2B5EF4-FFF2-40B4-BE49-F238E27FC236}">
                <a16:creationId xmlns:a16="http://schemas.microsoft.com/office/drawing/2014/main" id="{A060F550-4FC1-4C8F-AC91-DD51E4B1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635" y="5753100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urface">
            <a:extLst xmlns:a="http://schemas.openxmlformats.org/drawingml/2006/main">
              <a:ext uri="{FF2B5EF4-FFF2-40B4-BE49-F238E27FC236}">
                <a16:creationId xmlns:a16="http://schemas.microsoft.com/office/drawing/2014/main" id="{CF90B59D-1BC1-4AA0-9C27-CC40A2F5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578" y="5029200"/>
            <a:ext cx="1035368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urface">
            <a:extLst xmlns:a="http://schemas.openxmlformats.org/drawingml/2006/main">
              <a:ext uri="{FF2B5EF4-FFF2-40B4-BE49-F238E27FC236}">
                <a16:creationId xmlns:a16="http://schemas.microsoft.com/office/drawing/2014/main" id="{B7F7F32C-58B1-42C5-A5DF-F7170251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3" y="5133975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urface">
            <a:extLst xmlns:a="http://schemas.openxmlformats.org/drawingml/2006/main">
              <a:ext uri="{FF2B5EF4-FFF2-40B4-BE49-F238E27FC236}">
                <a16:creationId xmlns:a16="http://schemas.microsoft.com/office/drawing/2014/main" id="{59198934-736C-4A99-8AB1-457F0724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3" y="5324475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urface">
            <a:extLst xmlns:a="http://schemas.openxmlformats.org/drawingml/2006/main">
              <a:ext uri="{FF2B5EF4-FFF2-40B4-BE49-F238E27FC236}">
                <a16:creationId xmlns:a16="http://schemas.microsoft.com/office/drawing/2014/main" id="{CAC4DC82-C896-47CB-8E61-953BCEB7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3" y="5514975"/>
            <a:ext cx="86391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2D74FC60-9F41-493D-BA2C-F08A5ABC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" y="4095750"/>
            <a:ext cx="919734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楼宇里的空间集聚，提出新的组织联系课题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5B645EE3-6910-4808-B404-EFE12154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" y="5838825"/>
            <a:ext cx="91973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楼宇示意；统计数据依据静安区2025年公开资料</a:t>
            </a:r>
          </a:p>
        </p:txBody>
      </p:sp>
    </p:spTree>
    <p:extLst>
      <p:ext uri="{BB962C8B-B14F-4D97-AF65-F5344CB8AC3E}">
        <p14:creationId xmlns:p14="http://schemas.microsoft.com/office/powerpoint/2010/main" val="2027225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E45D15E2-7AE9-4084-ADB9-B279F08A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0197B43-EB0A-4DF7-936F-631109CC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导入  /  从地方实践理解党的建设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11A9195-43B2-45CE-9A97-974D36AA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59214CB2-CA9C-4CA4-A93D-66A01C0F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一句嘱托，连接上海探索与党建全局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8A1F45BA-41E5-4EDF-A75C-B4AB7FDC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B040465-FC08-44AE-9C8E-81AA86A1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依据：〔S2〕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024F698C-4F90-40FC-ACB4-526347E8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4856D1C-0E05-421C-8D80-F8AC4D47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71625"/>
            <a:ext cx="95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2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82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82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rPr>
              <a:t>“</a:t>
            </a:r>
          </a:p>
        </p:txBody>
      </p:sp>
      <p:sp>
        <p:nvSpPr>
          <p:cNvPr id="9" name="central-quote">
            <a:extLst xmlns:a="http://schemas.openxmlformats.org/drawingml/2006/main">
              <a:ext uri="{FF2B5EF4-FFF2-40B4-BE49-F238E27FC236}">
                <a16:creationId xmlns:a16="http://schemas.microsoft.com/office/drawing/2014/main" id="{5AE51633-8BDC-4881-AE88-4E673749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76500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A32D25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A32D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A32D25"/>
                </a:solidFill>
                <a:latin typeface="Noto Serif CJK SC"/>
                <a:ea typeface="Noto Serif CJK SC"/>
                <a:cs typeface="Noto Serif CJK SC"/>
              </a:rPr>
              <a:t>上海的党建要成为</a:t>
            </a:r>
          </a:p>
          <a:p xmlns:a="http://schemas.openxmlformats.org/drawingml/2006/main">
            <a:pPr algn="l">
              <a:defRPr sz="4350" b="1">
                <a:solidFill>
                  <a:srgbClr val="A32D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A32D25"/>
                </a:solidFill>
                <a:latin typeface="Noto Serif CJK SC"/>
                <a:ea typeface="Noto Serif CJK SC"/>
                <a:cs typeface="Noto Serif CJK SC"/>
              </a:rPr>
              <a:t>中央的一个点。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B1EAFCE-F7B6-44F5-81FB-EFD05235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714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2007年10月 · 离开上海之际</a:t>
            </a:r>
          </a:p>
          <a:p xmlns:a="http://schemas.openxmlformats.org/drawingml/2006/main">
            <a:pPr algn="l">
              <a:defRPr sz="17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向上海市委组织部干部告别时的嘱托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61A3E335-B88D-4437-AD3B-B05B6FB5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19250"/>
            <a:ext cx="27908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62FF15E9-E297-45DD-AE7F-881DFA30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431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史料出处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678D39D-511A-46CC-8609-59B29111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628900"/>
            <a:ext cx="2333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A32D25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A32D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A32D25"/>
                </a:solidFill>
                <a:latin typeface="Noto Serif CJK SC"/>
                <a:ea typeface="Noto Serif CJK SC"/>
                <a:cs typeface="Noto Serif CJK SC"/>
              </a:rPr>
              <a:t>习近平</a:t>
            </a:r>
          </a:p>
          <a:p xmlns:a="http://schemas.openxmlformats.org/drawingml/2006/main">
            <a:pPr algn="l">
              <a:defRPr sz="3300" b="1">
                <a:solidFill>
                  <a:srgbClr val="A32D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A32D25"/>
                </a:solidFill>
                <a:latin typeface="Noto Serif CJK SC"/>
                <a:ea typeface="Noto Serif CJK SC"/>
                <a:cs typeface="Noto Serif CJK SC"/>
              </a:rPr>
              <a:t>在上海</a:t>
            </a:r>
          </a:p>
          <a:p xmlns:a="http://schemas.openxmlformats.org/drawingml/2006/main">
            <a:pPr algn="l">
              <a:defRPr sz="3300" b="1">
                <a:solidFill>
                  <a:srgbClr val="A32D2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A32D25"/>
                </a:solidFill>
                <a:latin typeface="Noto Serif CJK SC"/>
                <a:ea typeface="Noto Serif CJK SC"/>
                <a:cs typeface="Noto Serif CJK SC"/>
              </a:rPr>
              <a:t>（七）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49A2D0C-506C-45F4-9CBE-61AAA791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435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共产党员网</a:t>
            </a:r>
          </a:p>
          <a:p xmlns:a="http://schemas.openxmlformats.org/drawingml/2006/main">
            <a:pPr algn="l">
              <a:defRPr sz="15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2021年9月11日</a:t>
            </a:r>
          </a:p>
        </p:txBody>
      </p:sp>
    </p:spTree>
    <p:extLst>
      <p:ext uri="{BB962C8B-B14F-4D97-AF65-F5344CB8AC3E}">
        <p14:creationId xmlns:p14="http://schemas.microsoft.com/office/powerpoint/2010/main" val="1053309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A1B26B8E-2D27-4E72-A85D-8E235913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CC2CBD7-E407-4ED9-A1D2-D069843C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总论  /  基本要求与当前部署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312C7D5-4B58-4901-9335-5601BA3F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261A7D71-9F34-4FBB-B9DF-D9DE8ACD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全面从严治党的基本内涵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A7F4998-3E4C-491D-98FC-A1C31662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8CA890E-05CB-4ECB-8071-2E500CC1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依据：〔S3〕 〔S4〕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EA1FDA67-71FB-4729-B0DB-0BFB827C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9E6BA51C-4038-46DB-BE4F-E4EC01D6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核心</a:t>
            </a:r>
          </a:p>
        </p:txBody>
      </p:sp>
      <p:sp>
        <p:nvSpPr>
          <p:cNvPr id="9" name="core-0">
            <a:extLst xmlns:a="http://schemas.openxmlformats.org/drawingml/2006/main">
              <a:ext uri="{FF2B5EF4-FFF2-40B4-BE49-F238E27FC236}">
                <a16:creationId xmlns:a16="http://schemas.microsoft.com/office/drawing/2014/main" id="{A3F6DEA2-E79A-470E-9794-FFACC14A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加强党的领导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9D93A138-B384-48B5-A041-F1A9E246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3244387B-46BC-4A0D-98BF-7AA8ACF1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19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基础</a:t>
            </a:r>
          </a:p>
        </p:txBody>
      </p:sp>
      <p:sp>
        <p:nvSpPr>
          <p:cNvPr id="12" name="core-1">
            <a:extLst xmlns:a="http://schemas.openxmlformats.org/drawingml/2006/main">
              <a:ext uri="{FF2B5EF4-FFF2-40B4-BE49-F238E27FC236}">
                <a16:creationId xmlns:a16="http://schemas.microsoft.com/office/drawing/2014/main" id="{81EDEFDB-B785-46B0-9875-8A4E38D6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384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全面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CA436ED7-1FD0-454A-BD21-716ACBC2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76625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E43EA366-C0BC-4D28-BD89-4752CAD6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19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关键</a:t>
            </a:r>
          </a:p>
        </p:txBody>
      </p:sp>
      <p:sp>
        <p:nvSpPr>
          <p:cNvPr id="15" name="core-2">
            <a:extLst xmlns:a="http://schemas.openxmlformats.org/drawingml/2006/main">
              <a:ext uri="{FF2B5EF4-FFF2-40B4-BE49-F238E27FC236}">
                <a16:creationId xmlns:a16="http://schemas.microsoft.com/office/drawing/2014/main" id="{F2106C94-D079-4254-9080-43965A76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严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1F4049F1-901F-416C-A568-FCE6AABC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98B0AEFD-D1A0-4B88-88EA-34418B18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19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要害</a:t>
            </a:r>
          </a:p>
        </p:txBody>
      </p:sp>
      <p:sp>
        <p:nvSpPr>
          <p:cNvPr id="18" name="core-3">
            <a:extLst xmlns:a="http://schemas.openxmlformats.org/drawingml/2006/main">
              <a:ext uri="{FF2B5EF4-FFF2-40B4-BE49-F238E27FC236}">
                <a16:creationId xmlns:a16="http://schemas.microsoft.com/office/drawing/2014/main" id="{DD2A876D-8826-411A-A629-A2DACF64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384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治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C882E346-E68E-4A13-AC5B-419746E0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98B809DF-005C-4890-AC6A-F63CD969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820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B6FE0E3E-8624-489D-ADC9-A8E11A2D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党的二十届五中全会审议通过</a:t>
            </a:r>
          </a:p>
        </p:txBody>
      </p:sp>
      <p:sp>
        <p:nvSpPr>
          <p:cNvPr id="22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4CDA3B54-6127-4E21-922F-7C5B16A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《中共中央关于持之以恒推进全面从严治党</a:t>
            </a:r>
          </a:p>
          <a:p xmlns:a="http://schemas.openxmlformats.org/drawingml/2006/main">
            <a:pPr algn="l">
              <a:def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若干重大问题的决定》</a:t>
            </a:r>
          </a:p>
        </p:txBody>
      </p:sp>
    </p:spTree>
    <p:extLst>
      <p:ext uri="{BB962C8B-B14F-4D97-AF65-F5344CB8AC3E}">
        <p14:creationId xmlns:p14="http://schemas.microsoft.com/office/powerpoint/2010/main" val="1158918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F69D1A11-BF16-4713-B0C9-6CF78180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DF442E0-0385-4352-B160-85F64D18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目录  /  组织基础 · 党员队伍 · 群众基础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6B0739B-5827-436C-83FF-0020127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BF57439F-EB58-4949-9C56-B40048E7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从一栋楼，理解三个理论层次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D79622D0-1EC3-4E05-8059-0378A206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5373A87-2C37-4F9F-B517-AA7846AA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微团课展示交流  ·  上海楼宇党建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614DB7CB-A77C-4F4C-BC14-6E787C38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257F725-6601-4F5D-839C-5041D3A7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5F441F-F444-4B1F-BC35-F5A0BC71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6212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严密组织体系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D5A9BFF-CD0C-4778-A6DF-E15250B3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33625"/>
            <a:ext cx="904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党的领导落实到基层的重要保证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C953E80-A97C-4720-84DB-9D7F6283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24175"/>
            <a:ext cx="9315450" cy="9525"/>
          </a:xfrm>
          <a:custGeom xmlns:a="http://schemas.openxmlformats.org/drawingml/2006/main">
            <a:pathLst>
              <a:path w="9315450" h="9525">
                <a:moveTo>
                  <a:pt x="0" y="0"/>
                </a:moveTo>
                <a:lnTo>
                  <a:pt x="9315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2E32F1F-9A99-4C4C-A151-A23DF8EB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13D3FA5-D446-4662-A390-23D38F16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7182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从严教育管理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F4B6A12-0D5B-44E1-9960-0B2859B3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43325"/>
            <a:ext cx="904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保持党员队伍先进性和纯洁性的重要保障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C1F9F739-B7F7-4535-ACCB-A8607A9A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9315450" cy="9525"/>
          </a:xfrm>
          <a:custGeom xmlns:a="http://schemas.openxmlformats.org/drawingml/2006/main">
            <a:pathLst>
              <a:path w="9315450" h="9525">
                <a:moveTo>
                  <a:pt x="0" y="0"/>
                </a:moveTo>
                <a:lnTo>
                  <a:pt x="9315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50331DD-A742-4A5E-8566-83C3164A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B06D325-28BF-4388-B51C-8DBA94B9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81525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密切联系群众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34DACFE-C1DE-4A5E-ADF9-1367A49F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53025"/>
            <a:ext cx="904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凝聚青年发展力量的重要基础</a:t>
            </a:r>
          </a:p>
        </p:txBody>
      </p:sp>
    </p:spTree>
    <p:extLst>
      <p:ext uri="{BB962C8B-B14F-4D97-AF65-F5344CB8AC3E}">
        <p14:creationId xmlns:p14="http://schemas.microsoft.com/office/powerpoint/2010/main" val="812008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7C2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illustrated-tower">
            <a:extLst xmlns:a="http://schemas.openxmlformats.org/drawingml/2006/main">
              <a:ext uri="{FF2B5EF4-FFF2-40B4-BE49-F238E27FC236}">
                <a16:creationId xmlns:a16="http://schemas.microsoft.com/office/drawing/2014/main" id="{28009E2C-F20A-4E46-8FE5-BF588BCC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FCDF215-54DD-4065-B694-D30D5B41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960120"/>
            <a:ext cx="2651760" cy="459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5FDC996-0CF4-4643-986F-46381057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160" y="845820"/>
            <a:ext cx="201168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E959E1E8-DBD1-487C-8D27-50D4FA92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296" y="1281760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1119FD31-8673-4143-81B4-C5C509F6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907" y="1281760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7BD0FBA9-4FDE-47A6-B1C3-BAC7CF8E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518" y="1281760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BF0C523-A0BE-4CA2-BD05-0FD53174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128" y="1281760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57CB953-694C-48CF-9CC8-974EA70E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296" y="176422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DA547CD7-74C1-4225-8271-54EC916F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907" y="176422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5E9AD045-BB94-46C5-B858-D96AC4D3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518" y="176422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04C35DF5-5CB4-433D-A4A4-F6028447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128" y="176422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78910CA0-5BFD-4929-A1C9-3CA75B09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296" y="224668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B4565AD2-426D-43DC-BFEE-A763E6F3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907" y="224668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18FF216-967C-4C33-AE23-83362592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518" y="224668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545E6EEC-49A6-4572-ADEC-54818A0E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128" y="224668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96F2A5BA-9C6E-4CC2-91FB-E47C05A1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296" y="272914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778F681E-C8C4-47B9-ACEB-6D47FD8E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907" y="272914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09BB75F6-7ECF-4EAE-8F0F-CAAE734C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518" y="272914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AF1DFAE5-1FFE-4C68-BB9F-E60F1CFF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128" y="272914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1F89367F-3A43-4B5D-A75C-A1B5CAB2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296" y="321160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12067624-7186-4A64-8283-68A5FF7C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907" y="321160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FDEA6531-BEF7-4C0A-93DA-AB6B776D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518" y="321160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445EACBB-A17D-4072-B103-0EF18122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128" y="3211601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FB813A6A-C110-462F-8874-61475CA7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296" y="3694062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D562260F-F6A9-4DDE-A62D-ED5436BB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907" y="3694062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45385CB4-6731-4E4E-9413-3E88AFF7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518" y="3694062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ECC5D5C0-5131-434C-AECE-EA0D563F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128" y="3694062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B8B0207B-55F0-425D-809B-31116687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296" y="4176522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DBEBA131-A70A-4520-A321-AF13071F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907" y="4176522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BE1F1776-7196-4CF8-9E39-3A01F14C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518" y="4176522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rface">
            <a:extLst xmlns:a="http://schemas.openxmlformats.org/drawingml/2006/main">
              <a:ext uri="{FF2B5EF4-FFF2-40B4-BE49-F238E27FC236}">
                <a16:creationId xmlns:a16="http://schemas.microsoft.com/office/drawing/2014/main" id="{7A709C0B-309B-4EF4-B0C9-387CBD52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128" y="4176522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908E0382-4834-43C9-AEF7-D5C7271B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296" y="4658982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urface">
            <a:extLst xmlns:a="http://schemas.openxmlformats.org/drawingml/2006/main">
              <a:ext uri="{FF2B5EF4-FFF2-40B4-BE49-F238E27FC236}">
                <a16:creationId xmlns:a16="http://schemas.microsoft.com/office/drawing/2014/main" id="{7CB61E05-FCAD-4791-8F80-921B4914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907" y="4658982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urface">
            <a:extLst xmlns:a="http://schemas.openxmlformats.org/drawingml/2006/main">
              <a:ext uri="{FF2B5EF4-FFF2-40B4-BE49-F238E27FC236}">
                <a16:creationId xmlns:a16="http://schemas.microsoft.com/office/drawing/2014/main" id="{07B558C1-C52D-4D6A-BEEE-435725B3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518" y="4658982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02CD32D6-FE2F-4A46-8116-CAA5FFAA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128" y="4658982"/>
            <a:ext cx="318211" cy="26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urface">
            <a:extLst xmlns:a="http://schemas.openxmlformats.org/drawingml/2006/main">
              <a:ext uri="{FF2B5EF4-FFF2-40B4-BE49-F238E27FC236}">
                <a16:creationId xmlns:a16="http://schemas.microsoft.com/office/drawing/2014/main" id="{49CC6EB4-A98C-4D1D-8E53-3518675E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859" y="5003597"/>
            <a:ext cx="424282" cy="551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184121FA-5DD5-4195-B827-15BB09DE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9788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中华企业大厦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D73608CF-B7EB-40E4-ADCD-D1222BC1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37794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现静安高和大厦 · 华山路2号</a:t>
            </a:r>
          </a:p>
        </p:txBody>
      </p:sp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6B5068AE-ED52-4F56-B71F-C8022F9A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楼宇示意 · 非建筑复原图</a:t>
            </a:r>
          </a:p>
        </p:txBody>
      </p:sp>
      <p:sp>
        <p:nvSpPr>
          <p:cNvPr id="40" name="surface">
            <a:extLst xmlns:a="http://schemas.openxmlformats.org/drawingml/2006/main">
              <a:ext uri="{FF2B5EF4-FFF2-40B4-BE49-F238E27FC236}">
                <a16:creationId xmlns:a16="http://schemas.microsoft.com/office/drawing/2014/main" id="{16941C5A-160D-4AA8-900B-3B71D2C7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urface">
            <a:extLst xmlns:a="http://schemas.openxmlformats.org/drawingml/2006/main">
              <a:ext uri="{FF2B5EF4-FFF2-40B4-BE49-F238E27FC236}">
                <a16:creationId xmlns:a16="http://schemas.microsoft.com/office/drawing/2014/main" id="{88155CC8-7C25-4EF5-9279-42AFC4A2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29DFA974-3474-48E3-BCCD-554782B9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一栋楼里的组织力</a:t>
            </a:r>
          </a:p>
        </p:txBody>
      </p:sp>
      <p:sp>
        <p:nvSpPr>
          <p:cNvPr id="43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C938F124-8577-4677-8193-B628A94C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428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0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630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630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rPr>
              <a:t>壹</a:t>
            </a:r>
          </a:p>
        </p:txBody>
      </p:sp>
      <p:sp>
        <p:nvSpPr>
          <p:cNvPr id="44" name="chapter-headline">
            <a:extLst xmlns:a="http://schemas.openxmlformats.org/drawingml/2006/main">
              <a:ext uri="{FF2B5EF4-FFF2-40B4-BE49-F238E27FC236}">
                <a16:creationId xmlns:a16="http://schemas.microsoft.com/office/drawing/2014/main" id="{12FD76D8-1BCB-4FDB-ADAF-E0CDC6C4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57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严密组织体系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是党的领导落实到基层的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重要保证</a:t>
            </a:r>
          </a:p>
        </p:txBody>
      </p:sp>
      <p:sp>
        <p:nvSpPr>
          <p:cNvPr id="45" name="chapter-subtitle">
            <a:extLst xmlns:a="http://schemas.openxmlformats.org/drawingml/2006/main">
              <a:ext uri="{FF2B5EF4-FFF2-40B4-BE49-F238E27FC236}">
                <a16:creationId xmlns:a16="http://schemas.microsoft.com/office/drawing/2014/main" id="{972DBA70-EBA1-4722-8CCF-41B2C803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4DCD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4DCD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4DCD4"/>
                </a:solidFill>
                <a:latin typeface="Noto Sans CJK SC"/>
                <a:ea typeface="Noto Sans CJK SC"/>
                <a:cs typeface="Noto Sans CJK SC"/>
              </a:rPr>
              <a:t>组织路线为政治路线服务</a:t>
            </a:r>
          </a:p>
        </p:txBody>
      </p:sp>
    </p:spTree>
    <p:extLst>
      <p:ext uri="{BB962C8B-B14F-4D97-AF65-F5344CB8AC3E}">
        <p14:creationId xmlns:p14="http://schemas.microsoft.com/office/powerpoint/2010/main" val="1302402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1B3C1149-28E4-4B73-B645-ED50F749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59CC5CB-48E3-40DE-89CF-5BEBF0D0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第一章  /  理论解释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702DB9B-32B3-458B-BE80-DF4F6E27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DE2E4047-E4DF-4372-814E-DBE9AE34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政治功能与组织功能相互贯通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4388BD14-26C7-4891-B790-A7B8B679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B9CB0B-3075-4846-8713-2349BA52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依据：〔S5〕 〔S6〕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A10280A3-F258-4055-9BBD-ED81713E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B5D9EB4-75B4-4CD3-998E-2253DCD3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495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6B104B-7866-401E-8163-1D959F9D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403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政治功能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1FDB8415-78C8-4EE9-8C60-57DC3533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oint-0">
            <a:extLst xmlns:a="http://schemas.openxmlformats.org/drawingml/2006/main">
              <a:ext uri="{FF2B5EF4-FFF2-40B4-BE49-F238E27FC236}">
                <a16:creationId xmlns:a16="http://schemas.microsoft.com/office/drawing/2014/main" id="{702A1A64-5948-49CD-BD81-A7784928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86075"/>
            <a:ext cx="4038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把握政治方向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EB742A9-F5B1-4630-A7B0-07658421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oint-1">
            <a:extLst xmlns:a="http://schemas.openxmlformats.org/drawingml/2006/main">
              <a:ext uri="{FF2B5EF4-FFF2-40B4-BE49-F238E27FC236}">
                <a16:creationId xmlns:a16="http://schemas.microsoft.com/office/drawing/2014/main" id="{1ACD91B7-6623-4A5C-AA01-8EAAD69B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038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开展理论武装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6B51516C-D8EC-45E0-8A7F-6870A60F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oint-2">
            <a:extLst xmlns:a="http://schemas.openxmlformats.org/drawingml/2006/main">
              <a:ext uri="{FF2B5EF4-FFF2-40B4-BE49-F238E27FC236}">
                <a16:creationId xmlns:a16="http://schemas.microsoft.com/office/drawing/2014/main" id="{843A24D7-88A6-4C0D-A52F-01914798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71975"/>
            <a:ext cx="4038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贯彻路线方针政策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DCBC92BF-C4A3-49EE-9940-CA27C2D4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57375"/>
            <a:ext cx="4495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5D35156-FA5C-41D5-8B55-5DA6CA50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71675"/>
            <a:ext cx="403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组织功能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CC67495A-719B-4F42-9AF1-4FCB9155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19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oint-0">
            <a:extLst xmlns:a="http://schemas.openxmlformats.org/drawingml/2006/main">
              <a:ext uri="{FF2B5EF4-FFF2-40B4-BE49-F238E27FC236}">
                <a16:creationId xmlns:a16="http://schemas.microsoft.com/office/drawing/2014/main" id="{35BFDFB2-B95D-4F3F-9451-03999BB7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86075"/>
            <a:ext cx="4038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联系党员群众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6D102634-A728-493E-AE97-036183D9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62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oint-1">
            <a:extLst xmlns:a="http://schemas.openxmlformats.org/drawingml/2006/main">
              <a:ext uri="{FF2B5EF4-FFF2-40B4-BE49-F238E27FC236}">
                <a16:creationId xmlns:a16="http://schemas.microsoft.com/office/drawing/2014/main" id="{BEAA4FB0-BE29-4940-A0DA-5FD48670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29025"/>
            <a:ext cx="4038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组织动员</a:t>
            </a:r>
          </a:p>
        </p:txBody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55C44830-4C27-4B2D-A673-602F73CA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05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oint-2">
            <a:extLst xmlns:a="http://schemas.openxmlformats.org/drawingml/2006/main">
              <a:ext uri="{FF2B5EF4-FFF2-40B4-BE49-F238E27FC236}">
                <a16:creationId xmlns:a16="http://schemas.microsoft.com/office/drawing/2014/main" id="{3B678090-3C3E-4C7E-B12F-1BC2BFFF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71975"/>
            <a:ext cx="4038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推动任务落实</a:t>
            </a:r>
          </a:p>
        </p:txBody>
      </p:sp>
      <p:sp>
        <p:nvSpPr>
          <p:cNvPr id="24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0C49A47D-F49A-4B7D-B6B5-CAEB2689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76600"/>
            <a:ext cx="666750" cy="666750"/>
          </a:xfrm>
          <a:custGeom xmlns:a="http://schemas.openxmlformats.org/drawingml/2006/main">
            <a:pathLst>
              <a:path w="666750" h="666750">
                <a:moveTo>
                  <a:pt x="57150" y="323850"/>
                </a:moveTo>
                <a:lnTo>
                  <a:pt x="209550" y="190500"/>
                </a:lnTo>
                <a:lnTo>
                  <a:pt x="209550" y="295275"/>
                </a:lnTo>
                <a:lnTo>
                  <a:pt x="457200" y="295275"/>
                </a:lnTo>
                <a:lnTo>
                  <a:pt x="457200" y="190500"/>
                </a:lnTo>
                <a:lnTo>
                  <a:pt x="609600" y="323850"/>
                </a:lnTo>
                <a:lnTo>
                  <a:pt x="457200" y="457200"/>
                </a:lnTo>
                <a:lnTo>
                  <a:pt x="457200" y="352425"/>
                </a:lnTo>
                <a:lnTo>
                  <a:pt x="209550" y="352425"/>
                </a:lnTo>
                <a:lnTo>
                  <a:pt x="209550" y="457200"/>
                </a:lnTo>
                <a:close/>
              </a:path>
            </a:pathLst>
          </a:cu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97350A6-0FF9-452C-8888-45AC9353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6197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组织功能为政治功能发挥提供支撑</a:t>
            </a:r>
          </a:p>
        </p:txBody>
      </p:sp>
    </p:spTree>
    <p:extLst>
      <p:ext uri="{BB962C8B-B14F-4D97-AF65-F5344CB8AC3E}">
        <p14:creationId xmlns:p14="http://schemas.microsoft.com/office/powerpoint/2010/main" val="4128700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7E1E5D3B-6A51-4345-8A34-E64B6A6C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0014A0D-F744-4B44-A26B-0EBB2A63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第一章  /  中华企业大厦的组织覆盖探索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74C1E77-A15F-426C-B1F9-1B7D6682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39FA8EF5-9B1B-49A3-BA04-CA5D380B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一张小纸条，联系起分散的党员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DA4F9EC-10D2-4CD2-A4C7-B661317C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CA315C9-6A7C-4115-98F7-7709FAA1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依据：〔S7〕 〔S8〕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6FE699C9-4AF0-450E-8494-514C015C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8" name="illustrated-archival">
            <a:extLst xmlns:a="http://schemas.openxmlformats.org/drawingml/2006/main">
              <a:ext uri="{FF2B5EF4-FFF2-40B4-BE49-F238E27FC236}">
                <a16:creationId xmlns:a16="http://schemas.microsoft.com/office/drawing/2014/main" id="{0F79A1F0-D5F6-418E-B01C-76BE84D9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286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158158DC-2857-458D-88F0-7C34D02B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047875"/>
            <a:ext cx="5810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4380D246-DC4D-471B-B9C8-EC2AED8A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219325"/>
            <a:ext cx="535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据《文汇报》2019年报道整理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154DF1B8-EBB3-4751-858D-FEB3319F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384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E756CA8-6CF1-4E69-B29F-F142101F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76550"/>
            <a:ext cx="5353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一张联系纸条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E976F3A-5640-4640-BB75-328775E6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733800"/>
            <a:ext cx="5353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2424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24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75" b="0">
                <a:solidFill>
                  <a:srgbClr val="242424"/>
                </a:solidFill>
                <a:latin typeface="Noto Serif CJK SC"/>
                <a:ea typeface="Noto Serif CJK SC"/>
                <a:cs typeface="Noto Serif CJK SC"/>
              </a:rPr>
              <a:t>“我是王长燕，专门负责党群工作，</a:t>
            </a:r>
          </a:p>
          <a:p xmlns:a="http://schemas.openxmlformats.org/drawingml/2006/main">
            <a:pPr algn="l">
              <a:defRPr sz="2175" b="0">
                <a:solidFill>
                  <a:srgbClr val="24242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75" b="0">
                <a:solidFill>
                  <a:srgbClr val="242424"/>
                </a:solidFill>
                <a:latin typeface="Noto Serif CJK SC"/>
                <a:ea typeface="Noto Serif CJK SC"/>
                <a:cs typeface="Noto Serif CJK SC"/>
              </a:rPr>
              <a:t>若有事请来找我。”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224549D-159C-415A-B9A6-256A9F4B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29175"/>
            <a:ext cx="535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逐层走访企业，联系楼里的党员。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0D4F1E4-4CAA-4BA8-BC4D-2C4963D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219700"/>
            <a:ext cx="535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文字摘录与示意排版，非纸条原件影像</a:t>
            </a:r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7A8F45FB-6C6A-4339-AE60-AC731CF6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A67CEFF-B7EB-4107-BC22-8F1F5BD4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57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逐层走访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FF1622B-FCB0-41E4-B1DA-FFBA00DC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90775"/>
            <a:ext cx="404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王长燕联系楼里的党员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98C95E6D-6ED6-4CF1-AE1D-3708919C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00375"/>
            <a:ext cx="4067175" cy="9525"/>
          </a:xfrm>
          <a:custGeom xmlns:a="http://schemas.openxmlformats.org/drawingml/2006/main">
            <a:pathLst>
              <a:path w="4067175" h="9525">
                <a:moveTo>
                  <a:pt x="0" y="0"/>
                </a:moveTo>
                <a:lnTo>
                  <a:pt x="406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82D166E5-B404-4CD0-8C0E-81D7D8F2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385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1652316-951D-485A-BA4C-54507652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718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接续联系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4E03294-37ED-4BD8-A8E7-5DB033DF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705225"/>
            <a:ext cx="404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组织关系转接、入党申请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DBA6D434-7924-4FB7-B3A8-28D8758A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314825"/>
            <a:ext cx="4067175" cy="9525"/>
          </a:xfrm>
          <a:custGeom xmlns:a="http://schemas.openxmlformats.org/drawingml/2006/main">
            <a:pathLst>
              <a:path w="4067175" h="9525">
                <a:moveTo>
                  <a:pt x="0" y="0"/>
                </a:moveTo>
                <a:lnTo>
                  <a:pt x="406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BA8B3D5F-76B4-450D-9573-9CDE60D9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52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527BD19-AEB9-442D-B824-325F468B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862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阵地落地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C66F26A-30BC-405A-B3FD-099157C0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019675"/>
            <a:ext cx="404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2002年首个党员服务点挂牌</a:t>
            </a:r>
          </a:p>
        </p:txBody>
      </p:sp>
    </p:spTree>
    <p:extLst>
      <p:ext uri="{BB962C8B-B14F-4D97-AF65-F5344CB8AC3E}">
        <p14:creationId xmlns:p14="http://schemas.microsoft.com/office/powerpoint/2010/main" val="18649081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urface">
            <a:extLst xmlns:a="http://schemas.openxmlformats.org/drawingml/2006/main">
              <a:ext uri="{FF2B5EF4-FFF2-40B4-BE49-F238E27FC236}">
                <a16:creationId xmlns:a16="http://schemas.microsoft.com/office/drawing/2014/main" id="{4318EA74-B918-48D2-A398-CA3A4E9C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7C065B0-0BB8-4F1D-A044-1194F158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第一章  /  用当前要求理解历史探索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D7E9E0E-0783-4AE3-A09D-1147AB56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6669746F-B905-458F-8C61-8F5B88B3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从组织覆盖，走向作用发挥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C5DBFBB-7158-4B01-A827-396D642C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34B7D3B-50B5-4693-A6DA-176E97A0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依据：〔S7〕 〔S9〕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7C70B9FB-9C3D-4F42-87CB-5E48B4BC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8" name="illustrated-tower">
            <a:extLst xmlns:a="http://schemas.openxmlformats.org/drawingml/2006/main">
              <a:ext uri="{FF2B5EF4-FFF2-40B4-BE49-F238E27FC236}">
                <a16:creationId xmlns:a16="http://schemas.microsoft.com/office/drawing/2014/main" id="{3CCBDD99-5BC8-4A2F-B416-F6E90708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24384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4DE"/>
          </a:solidFill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3C814662-76F0-430B-9DE7-C45D1DF3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indow-0-0">
            <a:extLst xmlns:a="http://schemas.openxmlformats.org/drawingml/2006/main">
              <a:ext uri="{FF2B5EF4-FFF2-40B4-BE49-F238E27FC236}">
                <a16:creationId xmlns:a16="http://schemas.microsoft.com/office/drawing/2014/main" id="{421A0DC7-FD9E-4B8E-88E4-D1DF7C50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47900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1" name="window-0-1">
            <a:extLst xmlns:a="http://schemas.openxmlformats.org/drawingml/2006/main">
              <a:ext uri="{FF2B5EF4-FFF2-40B4-BE49-F238E27FC236}">
                <a16:creationId xmlns:a16="http://schemas.microsoft.com/office/drawing/2014/main" id="{47510B7F-7B8D-45D5-A393-51E3C785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47900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2" name="window-0-2">
            <a:extLst xmlns:a="http://schemas.openxmlformats.org/drawingml/2006/main">
              <a:ext uri="{FF2B5EF4-FFF2-40B4-BE49-F238E27FC236}">
                <a16:creationId xmlns:a16="http://schemas.microsoft.com/office/drawing/2014/main" id="{FFEF6E87-CC44-47B1-A158-A0BF34B4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47900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3" name="window-0-3">
            <a:extLst xmlns:a="http://schemas.openxmlformats.org/drawingml/2006/main">
              <a:ext uri="{FF2B5EF4-FFF2-40B4-BE49-F238E27FC236}">
                <a16:creationId xmlns:a16="http://schemas.microsoft.com/office/drawing/2014/main" id="{F0E4FADF-5AC6-4FF4-8807-F2A064C3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47900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4" name="window-1-0">
            <a:extLst xmlns:a="http://schemas.openxmlformats.org/drawingml/2006/main">
              <a:ext uri="{FF2B5EF4-FFF2-40B4-BE49-F238E27FC236}">
                <a16:creationId xmlns:a16="http://schemas.microsoft.com/office/drawing/2014/main" id="{EF461714-4502-4F9D-A27F-8F7F0AF2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17495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5" name="window-1-1">
            <a:extLst xmlns:a="http://schemas.openxmlformats.org/drawingml/2006/main">
              <a:ext uri="{FF2B5EF4-FFF2-40B4-BE49-F238E27FC236}">
                <a16:creationId xmlns:a16="http://schemas.microsoft.com/office/drawing/2014/main" id="{F3A228E7-17D7-4292-98E6-CC0D6ECF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7495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6" name="window-1-2">
            <a:extLst xmlns:a="http://schemas.openxmlformats.org/drawingml/2006/main">
              <a:ext uri="{FF2B5EF4-FFF2-40B4-BE49-F238E27FC236}">
                <a16:creationId xmlns:a16="http://schemas.microsoft.com/office/drawing/2014/main" id="{166F8A28-4E4C-46C0-A9E2-DFDB4C37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17495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7" name="window-1-3">
            <a:extLst xmlns:a="http://schemas.openxmlformats.org/drawingml/2006/main">
              <a:ext uri="{FF2B5EF4-FFF2-40B4-BE49-F238E27FC236}">
                <a16:creationId xmlns:a16="http://schemas.microsoft.com/office/drawing/2014/main" id="{518D3C17-F232-49E4-BB10-8770E29C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17495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8" name="window-2-0">
            <a:extLst xmlns:a="http://schemas.openxmlformats.org/drawingml/2006/main">
              <a:ext uri="{FF2B5EF4-FFF2-40B4-BE49-F238E27FC236}">
                <a16:creationId xmlns:a16="http://schemas.microsoft.com/office/drawing/2014/main" id="{8C828B34-ED90-412F-BF2F-7AE350EF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87090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19" name="window-2-1">
            <a:extLst xmlns:a="http://schemas.openxmlformats.org/drawingml/2006/main">
              <a:ext uri="{FF2B5EF4-FFF2-40B4-BE49-F238E27FC236}">
                <a16:creationId xmlns:a16="http://schemas.microsoft.com/office/drawing/2014/main" id="{CA0BAA2F-8BD3-41FA-B20B-6B64C19B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87090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20" name="window-2-2">
            <a:extLst xmlns:a="http://schemas.openxmlformats.org/drawingml/2006/main">
              <a:ext uri="{FF2B5EF4-FFF2-40B4-BE49-F238E27FC236}">
                <a16:creationId xmlns:a16="http://schemas.microsoft.com/office/drawing/2014/main" id="{A1721E81-92DC-4315-BA7F-62D7A79A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87090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21" name="window-2-3">
            <a:extLst xmlns:a="http://schemas.openxmlformats.org/drawingml/2006/main">
              <a:ext uri="{FF2B5EF4-FFF2-40B4-BE49-F238E27FC236}">
                <a16:creationId xmlns:a16="http://schemas.microsoft.com/office/drawing/2014/main" id="{C5DA5809-222F-46E7-B874-B14405AD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87090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22" name="window-3-0">
            <a:extLst xmlns:a="http://schemas.openxmlformats.org/drawingml/2006/main">
              <a:ext uri="{FF2B5EF4-FFF2-40B4-BE49-F238E27FC236}">
                <a16:creationId xmlns:a16="http://schemas.microsoft.com/office/drawing/2014/main" id="{D3BA6353-2761-4A77-B457-5C6ECE20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56685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23" name="window-3-1">
            <a:extLst xmlns:a="http://schemas.openxmlformats.org/drawingml/2006/main">
              <a:ext uri="{FF2B5EF4-FFF2-40B4-BE49-F238E27FC236}">
                <a16:creationId xmlns:a16="http://schemas.microsoft.com/office/drawing/2014/main" id="{50C513A9-1492-4183-80A4-72A78087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956685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24" name="window-3-2">
            <a:extLst xmlns:a="http://schemas.openxmlformats.org/drawingml/2006/main">
              <a:ext uri="{FF2B5EF4-FFF2-40B4-BE49-F238E27FC236}">
                <a16:creationId xmlns:a16="http://schemas.microsoft.com/office/drawing/2014/main" id="{8CADE18C-AECB-4396-95CC-907E7AEF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56685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25" name="window-3-3">
            <a:extLst xmlns:a="http://schemas.openxmlformats.org/drawingml/2006/main">
              <a:ext uri="{FF2B5EF4-FFF2-40B4-BE49-F238E27FC236}">
                <a16:creationId xmlns:a16="http://schemas.microsoft.com/office/drawing/2014/main" id="{8C75E75A-12CB-43B9-8785-FF20FCB7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56685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26" name="window-4-0">
            <a:extLst xmlns:a="http://schemas.openxmlformats.org/drawingml/2006/main">
              <a:ext uri="{FF2B5EF4-FFF2-40B4-BE49-F238E27FC236}">
                <a16:creationId xmlns:a16="http://schemas.microsoft.com/office/drawing/2014/main" id="{F439A79A-957C-4818-BFBA-15FAE75D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6280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27" name="window-4-1">
            <a:extLst xmlns:a="http://schemas.openxmlformats.org/drawingml/2006/main">
              <a:ext uri="{FF2B5EF4-FFF2-40B4-BE49-F238E27FC236}">
                <a16:creationId xmlns:a16="http://schemas.microsoft.com/office/drawing/2014/main" id="{EF18BB62-1CF4-4BEF-AC0B-4BDBF7D7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26280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28" name="window-4-2">
            <a:extLst xmlns:a="http://schemas.openxmlformats.org/drawingml/2006/main">
              <a:ext uri="{FF2B5EF4-FFF2-40B4-BE49-F238E27FC236}">
                <a16:creationId xmlns:a16="http://schemas.microsoft.com/office/drawing/2014/main" id="{F65E24A3-8954-41AC-BB14-BB307ACC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26280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29" name="window-4-3">
            <a:extLst xmlns:a="http://schemas.openxmlformats.org/drawingml/2006/main">
              <a:ext uri="{FF2B5EF4-FFF2-40B4-BE49-F238E27FC236}">
                <a16:creationId xmlns:a16="http://schemas.microsoft.com/office/drawing/2014/main" id="{A5112169-3A71-4004-AE58-4021F0E0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26280"/>
            <a:ext cx="400050" cy="48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1FFE030C-F7AC-4461-B577-6A51AC3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3450"/>
            <a:ext cx="53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17396F5-0133-4F31-8803-A91FF797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楼宇联系示意</a:t>
            </a:r>
          </a:p>
        </p:txBody>
      </p:sp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8EA6D2AA-5AF5-4165-8754-4F643640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192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党员工作生活的地方</a:t>
            </a:r>
          </a:p>
        </p:txBody>
      </p:sp>
      <p:sp>
        <p:nvSpPr>
          <p:cNvPr id="33" name="surface">
            <a:extLst xmlns:a="http://schemas.openxmlformats.org/drawingml/2006/main">
              <a:ext uri="{FF2B5EF4-FFF2-40B4-BE49-F238E27FC236}">
                <a16:creationId xmlns:a16="http://schemas.microsoft.com/office/drawing/2014/main" id="{5424FA9C-0A38-45F4-A692-9702FBEB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62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D43E8D86-A3A0-456B-8035-E0E9D8D5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526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29C21957-8F32-4345-BB2E-9557467B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2669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有组织联系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26DB5945-D907-46B9-A8EF-617E5529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336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让分散党员找到组织</a:t>
            </a:r>
          </a:p>
        </p:txBody>
      </p:sp>
      <p:sp>
        <p:nvSpPr>
          <p:cNvPr id="37" name="surface">
            <a:extLst xmlns:a="http://schemas.openxmlformats.org/drawingml/2006/main">
              <a:ext uri="{FF2B5EF4-FFF2-40B4-BE49-F238E27FC236}">
                <a16:creationId xmlns:a16="http://schemas.microsoft.com/office/drawing/2014/main" id="{EBFE7FD0-C051-42EE-A899-E9499D86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29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AC9D158C-DCA2-492E-807D-97AC9F93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194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11C287E1-6A93-40D1-AB55-3276E173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3337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有教育管理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78BB643-309D-4055-9C36-D3F2F585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004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让党的要求落实到岗位</a:t>
            </a:r>
          </a:p>
        </p:txBody>
      </p:sp>
      <p:sp>
        <p:nvSpPr>
          <p:cNvPr id="41" name="surface">
            <a:extLst xmlns:a="http://schemas.openxmlformats.org/drawingml/2006/main">
              <a:ext uri="{FF2B5EF4-FFF2-40B4-BE49-F238E27FC236}">
                <a16:creationId xmlns:a16="http://schemas.microsoft.com/office/drawing/2014/main" id="{0647397C-B115-4BF6-A842-8DE5C23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495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F99B13E3-2F9C-4E74-A10A-F1551801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4862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9B406C17-1D42-4451-B0DC-CD55B013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4005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有作用发挥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CBC86F7A-FE8C-4E23-99D5-6E45829D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8672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把组织联系转化为实际行动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FF08C0FA-7F64-4623-8F3B-51DEB296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机制示意，据讲稿归纳；不代表该楼实际组织架构。</a:t>
            </a:r>
          </a:p>
        </p:txBody>
      </p:sp>
    </p:spTree>
    <p:extLst>
      <p:ext uri="{BB962C8B-B14F-4D97-AF65-F5344CB8AC3E}">
        <p14:creationId xmlns:p14="http://schemas.microsoft.com/office/powerpoint/2010/main" val="19905456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7C2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illustrated-reading">
            <a:extLst xmlns:a="http://schemas.openxmlformats.org/drawingml/2006/main">
              <a:ext uri="{FF2B5EF4-FFF2-40B4-BE49-F238E27FC236}">
                <a16:creationId xmlns:a16="http://schemas.microsoft.com/office/drawing/2014/main" id="{54D2D886-0FAD-47BB-8883-06AB8D22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5FF70A2-1D0E-43F2-AA4E-027B2E7B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940" y="1760220"/>
            <a:ext cx="3474720" cy="2948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E4AC7CB-BE5A-40D0-80CF-D93142F1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40" y="1645920"/>
            <a:ext cx="3474720" cy="2948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AC74D33-9924-497F-9F33-F95BE63D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17370"/>
            <a:ext cx="9525" cy="2606040"/>
          </a:xfrm>
          <a:custGeom xmlns:a="http://schemas.openxmlformats.org/drawingml/2006/main">
            <a:pathLst>
              <a:path w="9525" h="2606040">
                <a:moveTo>
                  <a:pt x="0" y="0"/>
                </a:moveTo>
                <a:lnTo>
                  <a:pt x="0" y="26060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6A268"/>
            </a:solidFill>
            <a:prstDash val="solid"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D46B6D65-118E-47FB-AD8D-05B2D27B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2160270"/>
            <a:ext cx="1344930" cy="9525"/>
          </a:xfrm>
          <a:custGeom xmlns:a="http://schemas.openxmlformats.org/drawingml/2006/main">
            <a:pathLst>
              <a:path w="1344930" h="9525">
                <a:moveTo>
                  <a:pt x="0" y="0"/>
                </a:moveTo>
                <a:lnTo>
                  <a:pt x="1344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F774204E-E8CB-4D40-A023-9637030E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60270"/>
            <a:ext cx="1299210" cy="9525"/>
          </a:xfrm>
          <a:custGeom xmlns:a="http://schemas.openxmlformats.org/drawingml/2006/main">
            <a:pathLst>
              <a:path w="1299210" h="9525">
                <a:moveTo>
                  <a:pt x="0" y="0"/>
                </a:moveTo>
                <a:lnTo>
                  <a:pt x="1299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BBEF64A3-A70E-4623-ACC7-7876BC6F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2543632"/>
            <a:ext cx="1344930" cy="9525"/>
          </a:xfrm>
          <a:custGeom xmlns:a="http://schemas.openxmlformats.org/drawingml/2006/main">
            <a:pathLst>
              <a:path w="1344930" h="9525">
                <a:moveTo>
                  <a:pt x="0" y="0"/>
                </a:moveTo>
                <a:lnTo>
                  <a:pt x="1344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50889FBA-EBD7-436E-A6FB-DC7C5001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43632"/>
            <a:ext cx="1299210" cy="9525"/>
          </a:xfrm>
          <a:custGeom xmlns:a="http://schemas.openxmlformats.org/drawingml/2006/main">
            <a:pathLst>
              <a:path w="1299210" h="9525">
                <a:moveTo>
                  <a:pt x="0" y="0"/>
                </a:moveTo>
                <a:lnTo>
                  <a:pt x="1299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F3FF0D26-E6CD-4CA7-BD6D-DB151A01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2926994"/>
            <a:ext cx="1344930" cy="9525"/>
          </a:xfrm>
          <a:custGeom xmlns:a="http://schemas.openxmlformats.org/drawingml/2006/main">
            <a:pathLst>
              <a:path w="1344930" h="9525">
                <a:moveTo>
                  <a:pt x="0" y="0"/>
                </a:moveTo>
                <a:lnTo>
                  <a:pt x="1344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F9AFB8F-A43B-4DBC-93F5-EC2AC37D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26994"/>
            <a:ext cx="1299210" cy="9525"/>
          </a:xfrm>
          <a:custGeom xmlns:a="http://schemas.openxmlformats.org/drawingml/2006/main">
            <a:pathLst>
              <a:path w="1299210" h="9525">
                <a:moveTo>
                  <a:pt x="0" y="0"/>
                </a:moveTo>
                <a:lnTo>
                  <a:pt x="1299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F4C796CD-B589-49A7-B5C5-8C519B08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3310357"/>
            <a:ext cx="1344930" cy="9525"/>
          </a:xfrm>
          <a:custGeom xmlns:a="http://schemas.openxmlformats.org/drawingml/2006/main">
            <a:pathLst>
              <a:path w="1344930" h="9525">
                <a:moveTo>
                  <a:pt x="0" y="0"/>
                </a:moveTo>
                <a:lnTo>
                  <a:pt x="1344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07E22742-30FA-4171-A0B4-632917FA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10357"/>
            <a:ext cx="1299210" cy="9525"/>
          </a:xfrm>
          <a:custGeom xmlns:a="http://schemas.openxmlformats.org/drawingml/2006/main">
            <a:pathLst>
              <a:path w="1299210" h="9525">
                <a:moveTo>
                  <a:pt x="0" y="0"/>
                </a:moveTo>
                <a:lnTo>
                  <a:pt x="1299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D6E3EFB2-914B-4DD8-9613-111B6667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3693719"/>
            <a:ext cx="1344930" cy="9525"/>
          </a:xfrm>
          <a:custGeom xmlns:a="http://schemas.openxmlformats.org/drawingml/2006/main">
            <a:pathLst>
              <a:path w="1344930" h="9525">
                <a:moveTo>
                  <a:pt x="0" y="0"/>
                </a:moveTo>
                <a:lnTo>
                  <a:pt x="1344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8B918FFD-71DD-4081-977F-F521DB98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93719"/>
            <a:ext cx="1299210" cy="9525"/>
          </a:xfrm>
          <a:custGeom xmlns:a="http://schemas.openxmlformats.org/drawingml/2006/main">
            <a:pathLst>
              <a:path w="1299210" h="9525">
                <a:moveTo>
                  <a:pt x="0" y="0"/>
                </a:moveTo>
                <a:lnTo>
                  <a:pt x="1299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E4AD418-C197-4218-B17A-62AAA569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06340"/>
            <a:ext cx="3886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增强党性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F471362-9F3D-4D25-ACB3-8BE2EF32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29300"/>
            <a:ext cx="388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F4DCD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F4DCD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F4DCD4"/>
                </a:solidFill>
                <a:latin typeface="Noto Sans CJK SC"/>
                <a:ea typeface="Noto Sans CJK SC"/>
                <a:cs typeface="Noto Sans CJK SC"/>
              </a:rPr>
              <a:t>把加强党性修养作为终身课题</a:t>
            </a:r>
          </a:p>
        </p:txBody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63533F81-8112-40A5-A1C7-27A3D82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公报要点 · 2026年10月29日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78DCF9A0-1D36-4DFA-8FE1-60825191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E51E5431-8C9A-4E3C-A85A-9D5DDE86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2724784A-8282-4F84-A8E2-616E507A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一栋楼里的组织力</a:t>
            </a:r>
          </a:p>
        </p:txBody>
      </p:sp>
      <p:sp>
        <p:nvSpPr>
          <p:cNvPr id="21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16DCC70D-AB80-46B9-9273-17807E8F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428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0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630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630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rPr>
              <a:t>贰</a:t>
            </a:r>
          </a:p>
        </p:txBody>
      </p:sp>
      <p:sp>
        <p:nvSpPr>
          <p:cNvPr id="22" name="chapter-headline">
            <a:extLst xmlns:a="http://schemas.openxmlformats.org/drawingml/2006/main">
              <a:ext uri="{FF2B5EF4-FFF2-40B4-BE49-F238E27FC236}">
                <a16:creationId xmlns:a16="http://schemas.microsoft.com/office/drawing/2014/main" id="{1FA5EE6D-E0AF-42C9-A2F9-8325E3F4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57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从严教育管理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是保持党员队伍先进性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和纯洁性的重要保障</a:t>
            </a:r>
          </a:p>
        </p:txBody>
      </p:sp>
      <p:sp>
        <p:nvSpPr>
          <p:cNvPr id="23" name="chapter-subtitle">
            <a:extLst xmlns:a="http://schemas.openxmlformats.org/drawingml/2006/main">
              <a:ext uri="{FF2B5EF4-FFF2-40B4-BE49-F238E27FC236}">
                <a16:creationId xmlns:a16="http://schemas.microsoft.com/office/drawing/2014/main" id="{A984F329-85B9-4985-BF7E-B005D689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4DCD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4DCD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4DCD4"/>
                </a:solidFill>
                <a:latin typeface="Noto Sans CJK SC"/>
                <a:ea typeface="Noto Sans CJK SC"/>
                <a:cs typeface="Noto Sans CJK SC"/>
              </a:rPr>
              <a:t>增强党性 · 教育管理 · 日常锤炼</a:t>
            </a:r>
          </a:p>
        </p:txBody>
      </p:sp>
    </p:spTree>
    <p:extLst>
      <p:ext uri="{BB962C8B-B14F-4D97-AF65-F5344CB8AC3E}">
        <p14:creationId xmlns:p14="http://schemas.microsoft.com/office/powerpoint/2010/main" val="1751660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EA561D4D-3571-443E-AB98-B73BC660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B354016-58D1-4AE4-A99C-5BE70E05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第二章  /  内在自觉与行为规范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EBA9650-01A8-4716-A387-FD18AC29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B3523D9C-2199-4D15-AB3C-0FECC1D6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思想建党与制度治党相结合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E4B455D-129A-4C41-BB58-C1AD885F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FF9A437-86B5-47A4-A239-19E60DF2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依据：〔S10〕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23B5DA13-954F-4BE6-81C9-D3E33CD4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2B82CC1-EC63-4E5D-A139-348A7EFA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4476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BE74AD3D-CF5C-4498-9183-B0C06BE3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47875"/>
            <a:ext cx="4476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97CA5A4-A0EA-443D-AAD5-98230B5F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思想教育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616EC86-92A2-4023-9A6B-DB17E657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352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理想信念</a:t>
            </a:r>
          </a:p>
          <a:p xmlns:a="http://schemas.openxmlformats.org/drawingml/2006/main">
            <a:pPr algn="ctr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性质宗旨</a:t>
            </a:r>
          </a:p>
          <a:p xmlns:a="http://schemas.openxmlformats.org/drawingml/2006/main">
            <a:pPr algn="ctr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责任意识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B09A598-D40C-4986-A2B4-2B692029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336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制度约束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1D7B391-3BEB-4DD5-9ECB-4DDBDB2F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352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组织生活</a:t>
            </a:r>
          </a:p>
          <a:p xmlns:a="http://schemas.openxmlformats.org/drawingml/2006/main">
            <a:pPr algn="ctr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纪律规范</a:t>
            </a:r>
          </a:p>
          <a:p xmlns:a="http://schemas.openxmlformats.org/drawingml/2006/main">
            <a:pPr algn="ctr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日常监督</a:t>
            </a:r>
          </a:p>
        </p:txBody>
      </p:sp>
      <p:sp>
        <p:nvSpPr>
          <p:cNvPr id="14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A91EB2A3-E6DA-465E-9E37-AB9006D9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81350"/>
            <a:ext cx="666750" cy="666750"/>
          </a:xfrm>
          <a:custGeom xmlns:a="http://schemas.openxmlformats.org/drawingml/2006/main">
            <a:pathLst>
              <a:path w="666750" h="666750">
                <a:moveTo>
                  <a:pt x="57150" y="323850"/>
                </a:moveTo>
                <a:lnTo>
                  <a:pt x="209550" y="190500"/>
                </a:lnTo>
                <a:lnTo>
                  <a:pt x="209550" y="295275"/>
                </a:lnTo>
                <a:lnTo>
                  <a:pt x="457200" y="295275"/>
                </a:lnTo>
                <a:lnTo>
                  <a:pt x="457200" y="190500"/>
                </a:lnTo>
                <a:lnTo>
                  <a:pt x="609600" y="323850"/>
                </a:lnTo>
                <a:lnTo>
                  <a:pt x="457200" y="457200"/>
                </a:lnTo>
                <a:lnTo>
                  <a:pt x="457200" y="352425"/>
                </a:lnTo>
                <a:lnTo>
                  <a:pt x="209550" y="352425"/>
                </a:lnTo>
                <a:lnTo>
                  <a:pt x="209550" y="457200"/>
                </a:lnTo>
                <a:close/>
              </a:path>
            </a:pathLst>
          </a:cu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A7637BD-3F04-4C3D-8647-E7CDDAB6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增强行动自觉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8B0678A-FE8E-42DD-B796-BE143ECD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53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提供行为规范</a:t>
            </a:r>
          </a:p>
        </p:txBody>
      </p:sp>
    </p:spTree>
    <p:extLst>
      <p:ext uri="{BB962C8B-B14F-4D97-AF65-F5344CB8AC3E}">
        <p14:creationId xmlns:p14="http://schemas.microsoft.com/office/powerpoint/2010/main" val="5261836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AF8687D6-65D5-4E3C-80D3-B8D00F3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11748BF-5C6F-4F1C-80B4-65EF1D9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第二章  /  组织生活的制度载体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0BB0F58-639C-48B4-8982-3D98336E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D886E96F-2B62-4103-BDB1-DD10D7C8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把严的要求落在经常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4588222-FD1E-4F86-B5B3-CB252213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6A8B483-C270-4537-BC12-F11BB25C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依据：〔S11〕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D055F9F5-5C12-4FB5-AAD7-8F280702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AC3349ED-0C96-4672-BA49-ECA5FEC5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89B25F18-27E9-46B7-8177-70909C9C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CE8D9BE-23BF-4BAD-801E-46A8DB42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39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三会一课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12BA93B-2AEB-43E1-84B1-8D8F4916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390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经常性的教育管理</a:t>
            </a:r>
          </a:p>
        </p:txBody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62EB4655-CBE3-4F59-98C8-361AF551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145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A872870-03D1-4048-AF71-6D2BB413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EF64D08-B790-463A-B21F-8BEB602C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90825"/>
            <a:ext cx="339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组织生活会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0329E30-681F-4A5F-BAFD-E1C14C04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0000"/>
            <a:ext cx="3390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检视问题、推动整改</a:t>
            </a:r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1BBBCDCD-3A59-4A1F-9BE6-6EA43E6D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145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CABB3FFA-3B6A-4235-9171-BC2CBB20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4DFBC5B-48D3-4AF5-AB19-2A8B9E00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90825"/>
            <a:ext cx="339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民主评议党员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1FE2FCC-140C-4739-A2CC-8F6D891A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0000"/>
            <a:ext cx="3390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个人自评、党员互评</a:t>
            </a:r>
          </a:p>
          <a:p xmlns:a="http://schemas.openxmlformats.org/drawingml/2006/main">
            <a:pPr algn="l">
              <a:def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民主测评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3945557D-D036-458D-90B9-9E636E74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1D72F3C-DE76-4B0C-B7B6-6A15CED7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197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学习  →  检视  →  整改  →  监督</a:t>
            </a:r>
          </a:p>
        </p:txBody>
      </p:sp>
    </p:spTree>
    <p:extLst>
      <p:ext uri="{BB962C8B-B14F-4D97-AF65-F5344CB8AC3E}">
        <p14:creationId xmlns:p14="http://schemas.microsoft.com/office/powerpoint/2010/main" val="14803968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C545C20A-07B0-4FE6-948B-0655FD30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20A150A-B457-4525-9BC4-1F541F38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第二章  /  要求与关怀贯穿于日常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0847B94-1938-4776-93F6-CF35B791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E9CF2357-3250-4587-BA44-71AC7DF9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从严管理与关心爱护相统一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B6B98E4-9CCC-432D-8D98-B5878C28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3F68239-912A-4A66-AA09-78801CA5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依据：〔S11〕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77BD9D86-EB78-4AC6-A8A4-FD672127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414A64-8570-416F-A7F4-6625A387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严格管理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7AE07F9F-64DD-4ED1-B765-D3A469CE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oint-0">
            <a:extLst xmlns:a="http://schemas.openxmlformats.org/drawingml/2006/main">
              <a:ext uri="{FF2B5EF4-FFF2-40B4-BE49-F238E27FC236}">
                <a16:creationId xmlns:a16="http://schemas.microsoft.com/office/drawing/2014/main" id="{A72B5AC9-7D5A-4070-8BD1-6E95F3BD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62275"/>
            <a:ext cx="358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发现偏差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764A8220-8927-4963-9012-F3209192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43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oint-1">
            <a:extLst xmlns:a="http://schemas.openxmlformats.org/drawingml/2006/main">
              <a:ext uri="{FF2B5EF4-FFF2-40B4-BE49-F238E27FC236}">
                <a16:creationId xmlns:a16="http://schemas.microsoft.com/office/drawing/2014/main" id="{5B5881CA-FBF3-43D6-9253-6B18B507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9975"/>
            <a:ext cx="358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及时提醒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BE5E230-7114-42B0-BC8E-9C56133C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91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oint-2">
            <a:extLst xmlns:a="http://schemas.openxmlformats.org/drawingml/2006/main">
              <a:ext uri="{FF2B5EF4-FFF2-40B4-BE49-F238E27FC236}">
                <a16:creationId xmlns:a16="http://schemas.microsoft.com/office/drawing/2014/main" id="{7B0331D3-E185-4838-9DE0-4496597B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358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推动纠正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DD04DB5-E1E9-48CF-AA5C-2E5EB2E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关心爱护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AF6F2C69-4B7C-471E-9A9A-6346F077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95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oint-0">
            <a:extLst xmlns:a="http://schemas.openxmlformats.org/drawingml/2006/main">
              <a:ext uri="{FF2B5EF4-FFF2-40B4-BE49-F238E27FC236}">
                <a16:creationId xmlns:a16="http://schemas.microsoft.com/office/drawing/2014/main" id="{D29A360E-CCBB-464A-856B-03C06866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62275"/>
            <a:ext cx="358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了解困难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43BC49DE-0DD3-43D8-A476-67D8C6EF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43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oint-1">
            <a:extLst xmlns:a="http://schemas.openxmlformats.org/drawingml/2006/main">
              <a:ext uri="{FF2B5EF4-FFF2-40B4-BE49-F238E27FC236}">
                <a16:creationId xmlns:a16="http://schemas.microsoft.com/office/drawing/2014/main" id="{74E6915E-8C62-4793-9183-0460B738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09975"/>
            <a:ext cx="358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关怀帮扶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09775CA8-0926-449B-ABA2-582E7C77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91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oint-2">
            <a:extLst xmlns:a="http://schemas.openxmlformats.org/drawingml/2006/main">
              <a:ext uri="{FF2B5EF4-FFF2-40B4-BE49-F238E27FC236}">
                <a16:creationId xmlns:a16="http://schemas.microsoft.com/office/drawing/2014/main" id="{4C113CF2-927D-4F82-9601-C32DBEB1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57675"/>
            <a:ext cx="358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激励担当</a:t>
            </a:r>
          </a:p>
        </p:txBody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2C8D0233-4FFA-4239-9D97-1EF20B14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432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2BA6B0C-6245-4224-A791-1CEEFB08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00400"/>
            <a:ext cx="1638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日常</a:t>
            </a:r>
          </a:p>
          <a:p xmlns:a="http://schemas.openxmlformats.org/drawingml/2006/main">
            <a:pPr algn="ctr">
              <a:defRPr sz="25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教育管理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FD8AF006-D159-4B91-920A-E6C11D97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81425"/>
            <a:ext cx="590550" cy="9525"/>
          </a:xfrm>
          <a:custGeom xmlns:a="http://schemas.openxmlformats.org/drawingml/2006/main">
            <a:pathLst>
              <a:path w="590550" h="9525">
                <a:moveTo>
                  <a:pt x="0" y="0"/>
                </a:moveTo>
                <a:lnTo>
                  <a:pt x="59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6A268"/>
            </a:solidFill>
            <a:prstDash val="solid"/>
          </a:ln>
        </p:spPr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DA2FECD7-4B96-4E65-AE23-2E75CD58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81425"/>
            <a:ext cx="247650" cy="9525"/>
          </a:xfrm>
          <a:custGeom xmlns:a="http://schemas.openxmlformats.org/drawingml/2006/main"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6A268"/>
            </a:solidFill>
            <a:prstDash val="solid"/>
          </a:ln>
        </p:spPr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12DFE206-0390-4843-A045-84953096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9525"/>
          </a:xfrm>
          <a:custGeom xmlns:a="http://schemas.openxmlformats.org/drawingml/2006/main"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1909BE7-2B57-45F1-9440-40B11BDC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388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职责落实   →   承诺兑现   →   实际行动接受检验</a:t>
            </a:r>
          </a:p>
        </p:txBody>
      </p:sp>
    </p:spTree>
    <p:extLst>
      <p:ext uri="{BB962C8B-B14F-4D97-AF65-F5344CB8AC3E}">
        <p14:creationId xmlns:p14="http://schemas.microsoft.com/office/powerpoint/2010/main" val="4682689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7C2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E9178-5666-40B9-8642-F6C37F3085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1a1dc55fe4924"/>
          <a:srcRect xmlns:a="http://schemas.openxmlformats.org/drawingml/2006/main" l="34740" t="0" r="347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FA3F708-C9A7-4884-879E-314DE59A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579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9D62DD20-326B-4616-88FA-65A23C96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543675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上海陆家嘴夜景 · 城市背景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B8092147-437A-407C-85AE-C03F1115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6C4071FE-690B-4870-B2FF-404B6D4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A30326E8-408E-4E3F-B82E-471747A1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一栋楼里的组织力</a:t>
            </a:r>
          </a:p>
        </p:txBody>
      </p:sp>
      <p:sp>
        <p:nvSpPr>
          <p:cNvPr id="7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F19EF31F-7F0C-4E1E-8A32-1ADBD484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428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0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630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630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rPr>
              <a:t>叁</a:t>
            </a:r>
          </a:p>
        </p:txBody>
      </p:sp>
      <p:sp>
        <p:nvSpPr>
          <p:cNvPr id="8" name="chapter-headline">
            <a:extLst xmlns:a="http://schemas.openxmlformats.org/drawingml/2006/main">
              <a:ext uri="{FF2B5EF4-FFF2-40B4-BE49-F238E27FC236}">
                <a16:creationId xmlns:a16="http://schemas.microsoft.com/office/drawing/2014/main" id="{20DD32A5-F173-4BC3-A9BF-BC3DBD90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57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密切联系群众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是凝聚青年发展力量的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重要基础</a:t>
            </a:r>
          </a:p>
        </p:txBody>
      </p:sp>
      <p:sp>
        <p:nvSpPr>
          <p:cNvPr id="9" name="chapter-subtitle">
            <a:extLst xmlns:a="http://schemas.openxmlformats.org/drawingml/2006/main">
              <a:ext uri="{FF2B5EF4-FFF2-40B4-BE49-F238E27FC236}">
                <a16:creationId xmlns:a16="http://schemas.microsoft.com/office/drawing/2014/main" id="{5FB8FC6A-D849-4CD6-871F-42672F74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4DCD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F4DCD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4DCD4"/>
                </a:solidFill>
                <a:latin typeface="Noto Sans CJK SC"/>
                <a:ea typeface="Noto Sans CJK SC"/>
                <a:cs typeface="Noto Sans CJK SC"/>
              </a:rPr>
              <a:t>群众路线 · 党建带团建 · 青年发展</a:t>
            </a:r>
          </a:p>
        </p:txBody>
      </p:sp>
    </p:spTree>
    <p:extLst>
      <p:ext uri="{BB962C8B-B14F-4D97-AF65-F5344CB8AC3E}">
        <p14:creationId xmlns:p14="http://schemas.microsoft.com/office/powerpoint/2010/main" val="19142969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F2D87BF1-E2C0-4941-9F03-9FF134FE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25600CF-0CFB-45E7-8791-9DD29711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第三章  /  认识与实践的循环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EDAF841-EECA-4D1E-9505-416EC948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1A3CE41F-6625-4F0B-8144-31D46E7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从群众中来，到群众中去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86EB605-0EF2-4940-B101-33EC3892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2A5A18C-D814-4E2D-8318-7300C664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依据：〔S12〕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2883BCE5-0324-476D-93D6-D80FFA4A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490D7FB5-42CB-4758-99D5-8051E435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9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从群众中来</a:t>
            </a:r>
          </a:p>
        </p:txBody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8D340D6F-10F4-485E-B04A-A70B1374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719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到群众中去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B147D149-E3FE-46A7-A758-CF4960D0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90775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B66083C-C130-46F3-98F7-ED8C2C95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809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深入群众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9B005CDC-A83D-4DDF-885E-73096699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90775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00BEFD0-FE5F-4154-BD85-3008625B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809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了解实际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86FD8CF7-26E2-41A2-99D7-62F92CE1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90775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787420A-7BDF-4403-BA9B-E1879236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2809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集中意见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AB1EC9DD-80CA-41CB-A33D-030ED27E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867275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32DA7CF-1349-450C-BF68-864B3925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48250"/>
            <a:ext cx="2809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宣传解释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A10FA87D-A98F-410D-9D63-172C29BB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67275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C24873A-23C5-42E1-A353-282F4AE8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48250"/>
            <a:ext cx="2809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共同实践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F359BC56-54A9-4151-97A9-0A1303F5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67275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B55601F-1945-4CEE-AAFF-56032059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2809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反馈改进</a:t>
            </a:r>
          </a:p>
        </p:txBody>
      </p:sp>
      <p:sp>
        <p:nvSpPr>
          <p:cNvPr id="22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24691A28-30CB-453A-BEE9-4C9BAD35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38400"/>
            <a:ext cx="666750" cy="666750"/>
          </a:xfrm>
          <a:custGeom xmlns:a="http://schemas.openxmlformats.org/drawingml/2006/main">
            <a:pathLst>
              <a:path w="666750" h="666750">
                <a:moveTo>
                  <a:pt x="114300" y="295275"/>
                </a:moveTo>
                <a:lnTo>
                  <a:pt x="457200" y="295275"/>
                </a:lnTo>
                <a:lnTo>
                  <a:pt x="457200" y="190500"/>
                </a:lnTo>
                <a:lnTo>
                  <a:pt x="609600" y="323850"/>
                </a:lnTo>
                <a:lnTo>
                  <a:pt x="457200" y="457200"/>
                </a:lnTo>
                <a:lnTo>
                  <a:pt x="457200" y="352425"/>
                </a:lnTo>
                <a:lnTo>
                  <a:pt x="114300" y="352425"/>
                </a:lnTo>
                <a:close/>
              </a:path>
            </a:pathLst>
          </a:cu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E8FBEA7C-87DB-42E6-BA28-E4E37655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38400"/>
            <a:ext cx="666750" cy="666750"/>
          </a:xfrm>
          <a:custGeom xmlns:a="http://schemas.openxmlformats.org/drawingml/2006/main">
            <a:pathLst>
              <a:path w="666750" h="666750">
                <a:moveTo>
                  <a:pt x="114300" y="295275"/>
                </a:moveTo>
                <a:lnTo>
                  <a:pt x="457200" y="295275"/>
                </a:lnTo>
                <a:lnTo>
                  <a:pt x="457200" y="190500"/>
                </a:lnTo>
                <a:lnTo>
                  <a:pt x="609600" y="323850"/>
                </a:lnTo>
                <a:lnTo>
                  <a:pt x="457200" y="457200"/>
                </a:lnTo>
                <a:lnTo>
                  <a:pt x="457200" y="352425"/>
                </a:lnTo>
                <a:lnTo>
                  <a:pt x="114300" y="352425"/>
                </a:lnTo>
                <a:close/>
              </a:path>
            </a:pathLst>
          </a:cu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73E725C0-8CE5-4640-96C0-50825943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09950"/>
            <a:ext cx="666750" cy="666750"/>
          </a:xfrm>
          <a:custGeom xmlns:a="http://schemas.openxmlformats.org/drawingml/2006/main">
            <a:pathLst>
              <a:path w="666750" h="666750">
                <a:moveTo>
                  <a:pt x="295275" y="114300"/>
                </a:moveTo>
                <a:lnTo>
                  <a:pt x="352425" y="114300"/>
                </a:lnTo>
                <a:lnTo>
                  <a:pt x="352425" y="457200"/>
                </a:lnTo>
                <a:lnTo>
                  <a:pt x="457200" y="457200"/>
                </a:lnTo>
                <a:lnTo>
                  <a:pt x="323850" y="609600"/>
                </a:lnTo>
                <a:lnTo>
                  <a:pt x="190500" y="457200"/>
                </a:lnTo>
                <a:lnTo>
                  <a:pt x="295275" y="457200"/>
                </a:lnTo>
                <a:close/>
              </a:path>
            </a:pathLst>
          </a:cu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C633A1EB-BE75-4684-9DBE-B8468071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876800"/>
            <a:ext cx="666750" cy="666750"/>
          </a:xfrm>
          <a:custGeom xmlns:a="http://schemas.openxmlformats.org/drawingml/2006/main">
            <a:pathLst>
              <a:path w="666750" h="666750">
                <a:moveTo>
                  <a:pt x="552450" y="295275"/>
                </a:moveTo>
                <a:lnTo>
                  <a:pt x="209550" y="295275"/>
                </a:lnTo>
                <a:lnTo>
                  <a:pt x="209550" y="190500"/>
                </a:lnTo>
                <a:lnTo>
                  <a:pt x="57150" y="323850"/>
                </a:lnTo>
                <a:lnTo>
                  <a:pt x="209550" y="457200"/>
                </a:lnTo>
                <a:lnTo>
                  <a:pt x="209550" y="352425"/>
                </a:lnTo>
                <a:lnTo>
                  <a:pt x="552450" y="352425"/>
                </a:lnTo>
                <a:close/>
              </a:path>
            </a:pathLst>
          </a:cu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6B0EAA90-238E-4E7B-BDB6-73B20F55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76800"/>
            <a:ext cx="666750" cy="666750"/>
          </a:xfrm>
          <a:custGeom xmlns:a="http://schemas.openxmlformats.org/drawingml/2006/main">
            <a:pathLst>
              <a:path w="666750" h="666750">
                <a:moveTo>
                  <a:pt x="552450" y="295275"/>
                </a:moveTo>
                <a:lnTo>
                  <a:pt x="209550" y="295275"/>
                </a:lnTo>
                <a:lnTo>
                  <a:pt x="209550" y="190500"/>
                </a:lnTo>
                <a:lnTo>
                  <a:pt x="57150" y="323850"/>
                </a:lnTo>
                <a:lnTo>
                  <a:pt x="209550" y="457200"/>
                </a:lnTo>
                <a:lnTo>
                  <a:pt x="209550" y="352425"/>
                </a:lnTo>
                <a:lnTo>
                  <a:pt x="552450" y="352425"/>
                </a:lnTo>
                <a:close/>
              </a:path>
            </a:pathLst>
          </a:cu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E6A87C8A-823A-439C-AAE3-AF968FE5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409950"/>
            <a:ext cx="666750" cy="666750"/>
          </a:xfrm>
          <a:custGeom xmlns:a="http://schemas.openxmlformats.org/drawingml/2006/main">
            <a:pathLst>
              <a:path w="666750" h="666750">
                <a:moveTo>
                  <a:pt x="295275" y="552450"/>
                </a:moveTo>
                <a:lnTo>
                  <a:pt x="352425" y="552450"/>
                </a:lnTo>
                <a:lnTo>
                  <a:pt x="352425" y="209550"/>
                </a:lnTo>
                <a:lnTo>
                  <a:pt x="457200" y="209550"/>
                </a:lnTo>
                <a:lnTo>
                  <a:pt x="323850" y="57150"/>
                </a:lnTo>
                <a:lnTo>
                  <a:pt x="190500" y="209550"/>
                </a:lnTo>
                <a:lnTo>
                  <a:pt x="295275" y="209550"/>
                </a:lnTo>
                <a:close/>
              </a:path>
            </a:pathLst>
          </a:cu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9D51603-02C2-485F-A074-5E6C3524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33775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一切为了群众 · 一切依靠群众</a:t>
            </a:r>
          </a:p>
        </p:txBody>
      </p:sp>
    </p:spTree>
    <p:extLst>
      <p:ext uri="{BB962C8B-B14F-4D97-AF65-F5344CB8AC3E}">
        <p14:creationId xmlns:p14="http://schemas.microsoft.com/office/powerpoint/2010/main" val="867296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CFB2D06A-E599-45C9-8C37-2EC7ADA5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13BB9A5-750F-4DCF-94D6-5D64468F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第三章  /  回到同一栋楼，观察群众认可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385C3F0-E9A1-49C9-8ACF-FD411C2C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6DAA3D32-C68A-443C-8A16-09197CF9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一份挽留，来自日常服务的积累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E9E1D28-F9E3-4FEF-80E8-570CC61A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D834D30-AEDA-41C9-B465-A945FF7D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依据：〔S7〕 〔S9〕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FBD5F173-1A8C-4CE0-A756-AC0FE0AE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C5E4D88-373D-492C-AB8D-7972344B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3815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FBDB74D8-826D-4D73-ADB4-7F120678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同一栋楼的故事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89C6934-9846-4473-B95D-C49802EE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3771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25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6825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6825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rPr>
              <a:t>2012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A4B7D40-CBC1-4F79-B3F5-96FD4503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3771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业主发生变更</a:t>
            </a:r>
          </a:p>
          <a:p xmlns:a="http://schemas.openxmlformats.org/drawingml/2006/main">
            <a:pPr algn="l">
              <a:def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原物业管理方被集体挽留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1836596-EE86-41A4-ADEF-6C06F821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3771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据《文汇报》报道归纳 · 非文件原件</a:t>
            </a:r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659FA43C-6B9B-4080-9CBB-E2DCDD0A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526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2012年 · 业主变更、更名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04BBE80-D543-4BB1-9624-75A828AD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2412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原来的物业管理方</a:t>
            </a:r>
          </a:p>
          <a:p xmlns:a="http://schemas.openxmlformats.org/drawingml/2006/main">
            <a:pPr algn="l">
              <a:def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被租户们集体挽留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5E349C23-CB1C-4908-9784-7F22CD2D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95750"/>
            <a:ext cx="5905500" cy="9525"/>
          </a:xfrm>
          <a:custGeom xmlns:a="http://schemas.openxmlformats.org/drawingml/2006/main"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B4160E21-CE5C-4315-A6D2-BD15FF9E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24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oint-0">
            <a:extLst xmlns:a="http://schemas.openxmlformats.org/drawingml/2006/main">
              <a:ext uri="{FF2B5EF4-FFF2-40B4-BE49-F238E27FC236}">
                <a16:creationId xmlns:a16="http://schemas.microsoft.com/office/drawing/2014/main" id="{B0D78A10-723C-4EDE-9EE7-1546307B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91025"/>
            <a:ext cx="567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联系是否及时？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AA1D743A-2E75-4393-AAD4-E0DF783D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86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oint-1">
            <a:extLst xmlns:a="http://schemas.openxmlformats.org/drawingml/2006/main">
              <a:ext uri="{FF2B5EF4-FFF2-40B4-BE49-F238E27FC236}">
                <a16:creationId xmlns:a16="http://schemas.microsoft.com/office/drawing/2014/main" id="{4A28668C-F97E-46D4-B614-3A17A418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53000"/>
            <a:ext cx="567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承诺是否兑现？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228E62CD-8053-431C-AEE8-D5EFE8A0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48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oint-2">
            <a:extLst xmlns:a="http://schemas.openxmlformats.org/drawingml/2006/main">
              <a:ext uri="{FF2B5EF4-FFF2-40B4-BE49-F238E27FC236}">
                <a16:creationId xmlns:a16="http://schemas.microsoft.com/office/drawing/2014/main" id="{4CDA2690-1079-4650-AD9C-EF8C79B2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14975"/>
            <a:ext cx="567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问题是否得到回应？</a:t>
            </a:r>
          </a:p>
        </p:txBody>
      </p:sp>
    </p:spTree>
    <p:extLst>
      <p:ext uri="{BB962C8B-B14F-4D97-AF65-F5344CB8AC3E}">
        <p14:creationId xmlns:p14="http://schemas.microsoft.com/office/powerpoint/2010/main" val="5112317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7885869C-6D04-4C58-ABE2-131CF2FA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ACEF54B-F8E1-42CA-A655-AD1BE3D6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第三章  /  党建带团建的工作衔接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395AD75-99AE-4E01-8A5F-5B8C94C5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204CBF1E-3547-42AF-A0E7-5FB37FFF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把联系青年、服务青年的渠道建设扎实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7508E20-1070-46ED-93DC-AE1E2EEE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424D7EE-34DB-43B4-9E55-1759B4E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依据：〔S13〕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18F6C1CE-DD78-4365-AB48-47C570DD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BDAB155-628A-49F5-996B-5EFEE948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1051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41C5C53-583E-47F5-9F3F-E2623CE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838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0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党组织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E79DE4-099A-4CC2-A5A4-85AE691C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指导和支持</a:t>
            </a:r>
          </a:p>
        </p:txBody>
      </p:sp>
      <p:sp>
        <p:nvSpPr>
          <p:cNvPr id="11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3F058DC8-7EFE-4ABB-A81E-379D4287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143125"/>
            <a:ext cx="666750" cy="666750"/>
          </a:xfrm>
          <a:custGeom xmlns:a="http://schemas.openxmlformats.org/drawingml/2006/main">
            <a:pathLst>
              <a:path w="666750" h="666750">
                <a:moveTo>
                  <a:pt x="114300" y="295275"/>
                </a:moveTo>
                <a:lnTo>
                  <a:pt x="457200" y="295275"/>
                </a:lnTo>
                <a:lnTo>
                  <a:pt x="457200" y="190500"/>
                </a:lnTo>
                <a:lnTo>
                  <a:pt x="609600" y="323850"/>
                </a:lnTo>
                <a:lnTo>
                  <a:pt x="457200" y="457200"/>
                </a:lnTo>
                <a:lnTo>
                  <a:pt x="457200" y="352425"/>
                </a:lnTo>
                <a:lnTo>
                  <a:pt x="114300" y="352425"/>
                </a:lnTo>
                <a:close/>
              </a:path>
            </a:pathLst>
          </a:cu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6E9D37AD-D428-48D0-A09B-B27BA50F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66925"/>
            <a:ext cx="31051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65FC60F-175E-44FB-AC62-94517526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38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团组织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6D1AFC2-D4AF-4CA4-9EC8-CFA7D06D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5755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发挥桥梁纽带作用</a:t>
            </a:r>
          </a:p>
        </p:txBody>
      </p:sp>
      <p:sp>
        <p:nvSpPr>
          <p:cNvPr id="15" name="direction-arrow">
            <a:extLst xmlns:a="http://schemas.openxmlformats.org/drawingml/2006/main">
              <a:ext uri="{FF2B5EF4-FFF2-40B4-BE49-F238E27FC236}">
                <a16:creationId xmlns:a16="http://schemas.microsoft.com/office/drawing/2014/main" id="{534D4CB8-69C3-418B-83A8-419D59B1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43125"/>
            <a:ext cx="666750" cy="666750"/>
          </a:xfrm>
          <a:custGeom xmlns:a="http://schemas.openxmlformats.org/drawingml/2006/main">
            <a:pathLst>
              <a:path w="666750" h="666750">
                <a:moveTo>
                  <a:pt x="114300" y="295275"/>
                </a:moveTo>
                <a:lnTo>
                  <a:pt x="457200" y="295275"/>
                </a:lnTo>
                <a:lnTo>
                  <a:pt x="457200" y="190500"/>
                </a:lnTo>
                <a:lnTo>
                  <a:pt x="609600" y="323850"/>
                </a:lnTo>
                <a:lnTo>
                  <a:pt x="457200" y="457200"/>
                </a:lnTo>
                <a:lnTo>
                  <a:pt x="457200" y="352425"/>
                </a:lnTo>
                <a:lnTo>
                  <a:pt x="114300" y="352425"/>
                </a:lnTo>
                <a:close/>
              </a:path>
            </a:pathLst>
          </a:custGeom>
          <a:solidFill xmlns:a="http://schemas.openxmlformats.org/drawingml/2006/main">
            <a:srgbClr val="C6A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80801087-DBDE-447D-9104-8B25ED8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66925"/>
            <a:ext cx="31051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EC3B38A-6BFF-4E8E-8772-1823D79A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38375"/>
            <a:ext cx="2838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0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青年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1BBD139-C6AD-40A6-9151-E379B6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5755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表达需求、参与服务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746BB3BD-37DE-4AFB-87A8-9DD9F323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000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0674260-0DE0-4700-8543-F35E6563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167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了解需求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F363309-8799-4B89-B334-74538F60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72000"/>
            <a:ext cx="167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回应诉求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60CA42A-0328-4AEF-B3D5-C7A454D3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67325"/>
            <a:ext cx="3581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组织参与 · 持续反馈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E6E8AC9-209F-431E-9FBE-0EB87CCC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910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思想引领</a:t>
            </a:r>
          </a:p>
          <a:p xmlns:a="http://schemas.openxmlformats.org/drawingml/2006/main">
            <a:pPr algn="l">
              <a:defRPr sz="24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组织建设</a:t>
            </a:r>
          </a:p>
          <a:p xmlns:a="http://schemas.openxmlformats.org/drawingml/2006/main">
            <a:pPr algn="l">
              <a:defRPr sz="24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工作作风</a:t>
            </a:r>
          </a:p>
        </p:txBody>
      </p:sp>
    </p:spTree>
    <p:extLst>
      <p:ext uri="{BB962C8B-B14F-4D97-AF65-F5344CB8AC3E}">
        <p14:creationId xmlns:p14="http://schemas.microsoft.com/office/powerpoint/2010/main" val="5751381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38CB827A-A846-48D8-B2C1-57CCB840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B350637-53EC-4BFB-94F7-AE830DB6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第三章  /  “十五五”规划纲要·支持青年发展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C889C2F-C07B-49BD-80B9-1657E2D7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0656A1EA-57A7-468F-947D-A5E273FA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回应现实需求，也创造参与空间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8588E455-4EE5-4C88-BEEF-BBF8BA8F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61FD2C7-4BC9-496A-86EE-502D8DEF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依据：〔S14〕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F541A53C-1B60-40AD-910D-DABEB598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0D28A6D-FE87-47CD-8D4A-330E1D10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7747E99-490C-48F0-B8FD-D578B782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回应实际困难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734A494-94F8-419B-81CC-789192AA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143250" cy="9525"/>
          </a:xfrm>
          <a:custGeom xmlns:a="http://schemas.openxmlformats.org/drawingml/2006/main"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3DA01DD-85FE-41C6-815D-481FDE66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390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求学工作 · 住房保障</a:t>
            </a:r>
          </a:p>
          <a:p xmlns:a="http://schemas.openxmlformats.org/drawingml/2006/main">
            <a: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社会融入等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1FF2656-7165-4105-A4D7-67295BDA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288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6EF92A0-FF20-4C87-A26E-215DE7D6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241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畅通诉求表达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3CEB6F3E-A90D-47A7-AF89-E9D2A124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3143250" cy="9525"/>
          </a:xfrm>
          <a:custGeom xmlns:a="http://schemas.openxmlformats.org/drawingml/2006/main"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6C45CCE-6A1F-4B2D-B03B-F2B4CD92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67175"/>
            <a:ext cx="3390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完善利益表达</a:t>
            </a:r>
          </a:p>
          <a:p xmlns:a="http://schemas.openxmlformats.org/drawingml/2006/main">
            <a: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和诉求响应机制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7F478AB-125B-4DB3-979D-32C018F2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288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 xmlns:a="http://schemas.openxmlformats.org/drawingml/2006/main">
            <a:pPr algn="l">
              <a:def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850" b="0">
                <a:solidFill>
                  <a:srgbClr val="C6A268"/>
                </a:solidFill>
                <a:latin typeface="Noto Serif CJK SC"/>
                <a:ea typeface="Noto Serif CJK SC"/>
                <a:cs typeface="Noto Serif CJK SC"/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4CDB8FA-F9E3-465C-B611-2A98D71E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241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拓展社会参与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3F7842C5-1FE9-4F64-B09B-0E4F8E83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3143250" cy="9525"/>
          </a:xfrm>
          <a:custGeom xmlns:a="http://schemas.openxmlformats.org/drawingml/2006/main"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85360FA-39C7-4AFF-AE75-D950F23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67175"/>
            <a:ext cx="3390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参与社会治理</a:t>
            </a:r>
          </a:p>
          <a:p xmlns:a="http://schemas.openxmlformats.org/drawingml/2006/main">
            <a:pPr algn="l">
              <a:def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发挥专业所长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2CBEEA8B-9AF6-4D08-8BD9-E85C3C47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5C7F0EE-1BB3-4A34-A3AC-A73DB9F0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规划纲要 · 第四十六章第三节“支持青年发展”</a:t>
            </a:r>
          </a:p>
        </p:txBody>
      </p:sp>
    </p:spTree>
    <p:extLst>
      <p:ext uri="{BB962C8B-B14F-4D97-AF65-F5344CB8AC3E}">
        <p14:creationId xmlns:p14="http://schemas.microsoft.com/office/powerpoint/2010/main" val="495768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surface">
            <a:extLst xmlns:a="http://schemas.openxmlformats.org/drawingml/2006/main">
              <a:ext uri="{FF2B5EF4-FFF2-40B4-BE49-F238E27FC236}">
                <a16:creationId xmlns:a16="http://schemas.microsoft.com/office/drawing/2014/main" id="{1E1538D7-B67B-4832-95CD-9CE9A289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5001EC4-B2F6-4A19-8CF8-A3C09FD5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结语  /  把课堂学习与社会实践结合起来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8B0C8C7-2F29-4188-94BD-CB67CA7F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F2C40C14-83DA-42A1-97D5-DDC18FF0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从一栋楼，理解党的建设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F964CA5-3F59-4930-AFF6-983497C3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6999756-584A-4776-9995-9388E3F1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微团课展示交流  ·  上海楼宇党建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D920814E-163F-40D5-9026-7DA4C1AE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8" name="illustrated-tower">
            <a:extLst xmlns:a="http://schemas.openxmlformats.org/drawingml/2006/main">
              <a:ext uri="{FF2B5EF4-FFF2-40B4-BE49-F238E27FC236}">
                <a16:creationId xmlns:a16="http://schemas.microsoft.com/office/drawing/2014/main" id="{31348687-5C27-417F-8133-65D32558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76400"/>
            <a:ext cx="34575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9E33BAB9-D646-4F3C-9CD6-00F86094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716" y="2303145"/>
            <a:ext cx="2005394" cy="29994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C9C1"/>
            </a:solidFill>
            <a:prstDash val="solid"/>
          </a:ln>
        </p:spPr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89DCEDB0-6DC9-4B1D-834D-2686F561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6746" y="2188845"/>
            <a:ext cx="152133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B5CA2144-D9F2-4656-8108-D4A62B48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255" y="2513105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540094EB-C2E3-4DEE-BB52-14F082FE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361" y="2513105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73DF3D03-AEC2-4D03-BFA2-17C8ACA4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466" y="2513105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B7AED78-4EA3-491D-9F86-153B73EE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72" y="2513105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018B6691-537C-4438-A468-79FA22F5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255" y="2828044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7FE689AF-65B6-44A7-B9B1-9C29FD86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361" y="2828044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F0737A4E-B90E-49F9-AF7E-6EDF926F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466" y="2828044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6CEE6C2D-86CD-4FDC-9F6F-8E47BB33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72" y="2828044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3037CB7E-019F-44A0-B4F7-A84AAD1E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255" y="3142983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1B67B14A-2375-4872-9C51-2E2AEFAD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361" y="3142983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C5B03E19-5CFF-4DFC-B05A-70543C6E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466" y="3142983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B4CA746E-4512-4B02-A0E5-DB53DCD0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72" y="3142983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18BDA5D5-1770-498D-B625-752EB124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255" y="3457923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9D2A26FE-3833-4BA0-AAA6-409D08A6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361" y="3457923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B7108880-8EF2-43A8-94F0-7CB504E0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466" y="3457923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32C7055F-20B9-48C7-9E00-2669BF4F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72" y="3457923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85C90DE6-8EC4-47BA-BCDB-4251C263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255" y="3772862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B37131FD-1282-4642-A3BB-ADD2F24D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361" y="3772862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DF994D91-F278-4487-B08A-477E9F7F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466" y="3772862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6A271C13-006E-426D-80E9-924A2808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72" y="3772862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rface">
            <a:extLst xmlns:a="http://schemas.openxmlformats.org/drawingml/2006/main">
              <a:ext uri="{FF2B5EF4-FFF2-40B4-BE49-F238E27FC236}">
                <a16:creationId xmlns:a16="http://schemas.microsoft.com/office/drawing/2014/main" id="{EA509EBC-9FB6-46E6-80A1-816E5F80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255" y="4087801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BC0C7D9B-6E91-45E6-9CED-73908D55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361" y="4087801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urface">
            <a:extLst xmlns:a="http://schemas.openxmlformats.org/drawingml/2006/main">
              <a:ext uri="{FF2B5EF4-FFF2-40B4-BE49-F238E27FC236}">
                <a16:creationId xmlns:a16="http://schemas.microsoft.com/office/drawing/2014/main" id="{78D3F6FE-C9B7-482D-AEFA-13EC5886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466" y="4087801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urface">
            <a:extLst xmlns:a="http://schemas.openxmlformats.org/drawingml/2006/main">
              <a:ext uri="{FF2B5EF4-FFF2-40B4-BE49-F238E27FC236}">
                <a16:creationId xmlns:a16="http://schemas.microsoft.com/office/drawing/2014/main" id="{64475DD9-6540-42BF-921B-6BAFFE55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72" y="4087801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9CB07D41-9789-4DB0-B050-55DB27CA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255" y="4402741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urface">
            <a:extLst xmlns:a="http://schemas.openxmlformats.org/drawingml/2006/main">
              <a:ext uri="{FF2B5EF4-FFF2-40B4-BE49-F238E27FC236}">
                <a16:creationId xmlns:a16="http://schemas.microsoft.com/office/drawing/2014/main" id="{8A815785-3E0C-452C-98C1-2D9974B6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361" y="4402741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urface">
            <a:extLst xmlns:a="http://schemas.openxmlformats.org/drawingml/2006/main">
              <a:ext uri="{FF2B5EF4-FFF2-40B4-BE49-F238E27FC236}">
                <a16:creationId xmlns:a16="http://schemas.microsoft.com/office/drawing/2014/main" id="{768C8C25-8341-4576-8B58-BF17C139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466" y="4402741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urface">
            <a:extLst xmlns:a="http://schemas.openxmlformats.org/drawingml/2006/main">
              <a:ext uri="{FF2B5EF4-FFF2-40B4-BE49-F238E27FC236}">
                <a16:creationId xmlns:a16="http://schemas.microsoft.com/office/drawing/2014/main" id="{F3DFBCE4-7947-4603-9F4A-0F45463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72" y="4402741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urface">
            <a:extLst xmlns:a="http://schemas.openxmlformats.org/drawingml/2006/main">
              <a:ext uri="{FF2B5EF4-FFF2-40B4-BE49-F238E27FC236}">
                <a16:creationId xmlns:a16="http://schemas.microsoft.com/office/drawing/2014/main" id="{BD4B6694-DB35-41CB-86C8-6649B99D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255" y="4717680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urface">
            <a:extLst xmlns:a="http://schemas.openxmlformats.org/drawingml/2006/main">
              <a:ext uri="{FF2B5EF4-FFF2-40B4-BE49-F238E27FC236}">
                <a16:creationId xmlns:a16="http://schemas.microsoft.com/office/drawing/2014/main" id="{95832061-A4EC-4A24-AD10-42EF0151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361" y="4717680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urface">
            <a:extLst xmlns:a="http://schemas.openxmlformats.org/drawingml/2006/main">
              <a:ext uri="{FF2B5EF4-FFF2-40B4-BE49-F238E27FC236}">
                <a16:creationId xmlns:a16="http://schemas.microsoft.com/office/drawing/2014/main" id="{A9B5BAA4-1900-45F3-A7F5-0AF1192D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466" y="4717680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urface">
            <a:extLst xmlns:a="http://schemas.openxmlformats.org/drawingml/2006/main">
              <a:ext uri="{FF2B5EF4-FFF2-40B4-BE49-F238E27FC236}">
                <a16:creationId xmlns:a16="http://schemas.microsoft.com/office/drawing/2014/main" id="{E8489F72-E36A-437D-B7C2-920A9A80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72" y="4717680"/>
            <a:ext cx="240647" cy="1709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urface">
            <a:extLst xmlns:a="http://schemas.openxmlformats.org/drawingml/2006/main">
              <a:ext uri="{FF2B5EF4-FFF2-40B4-BE49-F238E27FC236}">
                <a16:creationId xmlns:a16="http://schemas.microsoft.com/office/drawing/2014/main" id="{1015EE13-D6A5-47FC-8198-462F758B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981" y="4942637"/>
            <a:ext cx="320863" cy="3599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F2A79909-7C6B-46EE-B967-1F60F1D0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7943" y="5526405"/>
            <a:ext cx="29389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42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742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2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中华企业大厦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E3863F2D-3A2F-44C1-AFD7-9C3E5EE6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7943" y="5839778"/>
            <a:ext cx="293893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52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252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52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现静安高和大厦 · 华山路2号</a:t>
            </a:r>
          </a:p>
        </p:txBody>
      </p:sp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5B4448C2-2030-4A05-84F8-31D240F6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7943" y="1885950"/>
            <a:ext cx="293893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楼宇示意 · 非建筑复原图</a:t>
            </a:r>
          </a:p>
        </p:txBody>
      </p:sp>
      <p:sp>
        <p:nvSpPr>
          <p:cNvPr id="47" name="eyebrow">
            <a:extLst xmlns:a="http://schemas.openxmlformats.org/drawingml/2006/main">
              <a:ext uri="{FF2B5EF4-FFF2-40B4-BE49-F238E27FC236}">
                <a16:creationId xmlns:a16="http://schemas.microsoft.com/office/drawing/2014/main" id="{B8302131-45E9-4EC3-9036-B358FCCB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AA85EB4F-10C2-43B9-A0DF-11D8A9F2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050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组织体系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D4D0BB81-6F77-48E1-8FA3-BEB71B8A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7650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是基础</a:t>
            </a:r>
          </a:p>
        </p:txBody>
      </p:sp>
      <p:sp>
        <p:nvSpPr>
          <p:cNvPr id="50" name="eyebrow">
            <a:extLst xmlns:a="http://schemas.openxmlformats.org/drawingml/2006/main">
              <a:ext uri="{FF2B5EF4-FFF2-40B4-BE49-F238E27FC236}">
                <a16:creationId xmlns:a16="http://schemas.microsoft.com/office/drawing/2014/main" id="{01F96DED-AB1C-4AB3-A658-22F1CD1E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94B3708B-CEEC-42FF-B825-6797ABD8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480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党员队伍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BB44E8CC-2E22-4049-9C26-C6BF0137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1950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是支撑</a:t>
            </a:r>
          </a:p>
        </p:txBody>
      </p:sp>
      <p:sp>
        <p:nvSpPr>
          <p:cNvPr id="53" name="eyebrow">
            <a:extLst xmlns:a="http://schemas.openxmlformats.org/drawingml/2006/main">
              <a:ext uri="{FF2B5EF4-FFF2-40B4-BE49-F238E27FC236}">
                <a16:creationId xmlns:a16="http://schemas.microsoft.com/office/drawing/2014/main" id="{53A78302-050E-4CDD-AFCE-4DC90889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15B7FCD7-F013-47BB-90AA-F6A844E1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910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群众路线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38AE4CF0-79A7-47B5-A6D9-BE8B7916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250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贯穿其中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B92A8D88-43B4-4077-ACB6-1C9A793D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7086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走访了解组织 · 服务观察政策 · 反馈检验所学</a:t>
            </a:r>
          </a:p>
        </p:txBody>
      </p:sp>
    </p:spTree>
    <p:extLst>
      <p:ext uri="{BB962C8B-B14F-4D97-AF65-F5344CB8AC3E}">
        <p14:creationId xmlns:p14="http://schemas.microsoft.com/office/powerpoint/2010/main" val="11513824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urface">
            <a:extLst xmlns:a="http://schemas.openxmlformats.org/drawingml/2006/main">
              <a:ext uri="{FF2B5EF4-FFF2-40B4-BE49-F238E27FC236}">
                <a16:creationId xmlns:a16="http://schemas.microsoft.com/office/drawing/2014/main" id="{2FBE223B-DF04-4D50-8992-52193157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13D5E82-292D-429E-B523-406CE77F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资料附录  /  不作现场讲述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A632875-1B3F-4A55-8F2A-BB3981CA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7FFCE258-777A-4831-B5D7-5B790C8F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政策与史实来源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F3C9A5A-0FB6-4D28-977D-F7FBE51F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239C103-6477-429A-8C02-005D1BBF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依据：〔S1〕 〔S2〕 〔S3〕 〔S4〕 〔S5〕 〔S6〕 〔S7〕 〔S8〕 〔S9〕 〔S10〕 〔S11〕 〔S12〕 〔S13〕 〔S14〕  ·  完整出处见附录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7059D239-43F6-42CF-BB39-A0F1ABD5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D5484E4-8B4C-4E12-B184-6A127B67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1850831-2FF0-4367-BCB2-3E9EFA6F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10c6037eb3e24efc"/>
              </a:rPr>
              <a:t>天目西路街道数据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DF48B86-E181-41BA-92CA-58EF8609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静安区，2025-03-13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732B2C5-82E2-4B3F-B897-4712E15E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90D2CFC-902F-480D-86B6-36ABD29A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860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7d30c9ee8ad441c"/>
              </a:rPr>
              <a:t>“中央的一个点”史料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5F737EB-79EF-4DE7-B913-B39A67C2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032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习近平在上海（七），2021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7CD489D-D6C7-4D1E-B725-309C19FF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B74FA4C-301A-44E8-BC63-6CFDEB95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146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87a88df0d92a4194"/>
              </a:rPr>
              <a:t>全面从严治党基本内涵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4A9050C-568C-40E8-9D98-8DE651A5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习近平，2016年中央纪委六次全会讲话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D40E36F-B944-4B22-808C-2645888A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FECF297-490E-459A-A8A5-5A6346E7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e8689eb562ff497c"/>
              </a:rPr>
              <a:t>二十届五中全会公报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829C2EC-0080-4FA5-9D01-AFA8D224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5762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新华社，2026-10-29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055183B-F048-4AE5-87AE-31147F2E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S5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4C34648-A588-4797-95E0-2C8D963C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83f81606592c490d"/>
              </a:rPr>
              <a:t>新时代党的组织路线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4E8CCB7-DB97-4BF0-B5EF-138621BA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8627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习近平，求是，2020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409E0A3-1B20-447D-8B4B-7B8B9541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S6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D783C04-C392-40B5-8E6D-C49D2387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83e64d88a1e24145"/>
              </a:rPr>
              <a:t>政治功能与组织功能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13CB4DB-6242-49DA-A2F2-4AF16F87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1492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人民日报，2023-02-15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E9943AD-575A-42EE-8A1F-E0F44463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S7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1674FA0-77DE-44F1-95B3-7BE89A56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292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429d3387248a4c4e"/>
              </a:rPr>
              <a:t>中华企业大厦案例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2A9E7B1-6EB3-44E8-9C0D-5921021C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4357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文汇报，2019-04-23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B57DE3A9-D4EF-458C-8EEC-B7876378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S8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0535959D-9FC4-45F7-A4CC-AC3C77DE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a673910468b3404f"/>
              </a:rPr>
              <a:t>首个党员服务点挂牌史实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0BD8405-27D8-4153-A42A-4A1544B4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7167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上海市政府，2025-06-28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70982AC-9CEF-43DD-A8C3-A4E303B5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S9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A82F2BE-CD32-4C27-96D2-0E494A0D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a2f89138a0564557"/>
              </a:rPr>
              <a:t>《决定》新闻发布会解读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BEEE5EED-22F9-471C-8EFE-38490F96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人民日报，2026-10-31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ED3E3F62-C524-4881-811E-25E19751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S10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EF8777B-B096-422A-BF22-693BB4CF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8ba6a93aaaf24556"/>
              </a:rPr>
              <a:t>思想建党与制度治党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D0AFA78B-E6B8-46C7-A3DF-983CC24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2897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中央纪委国家监委，2026-09-09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C6389B2F-BA9A-4B70-A652-224E0CDA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S11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584CE6FC-0A34-4E34-9D2C-EB9C7261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433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8d98018ea66c46d3"/>
              </a:rPr>
              <a:t>党员教育管理工作条例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E8AD6715-9591-449A-878E-5B9B470C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新华社受权发布，2019-05-21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FDB9163A-33C7-404C-82DF-A7FBAC25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S12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00D6291E-D026-4DA0-92F1-3D60E3CA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f6fe2301a3e4dba"/>
              </a:rPr>
              <a:t>党的群众路线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5CBE7C18-610E-43D4-955E-69F34040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627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中组部党员教育中心，2013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8ED55C9A-FFF7-447C-BC2B-DC1298E2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00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S13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1101182D-7741-42C6-8717-16562D56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006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825c578faba5438d"/>
              </a:rPr>
              <a:t>加强党建带团建工作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F40A0209-1FE1-4C0D-AD70-5E0A817F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1492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中共中央办公厅意见，2026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2CB13F02-9386-49A6-BD3E-0089C926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29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S14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D61C517C-7A52-4962-A5D9-A892D9EC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292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31cbb5373df94c21"/>
              </a:rPr>
              <a:t>“支持青年发展”专节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E9FF1C03-1A96-4998-8791-6381E8EA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4357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十五五规划纲要，第四十六章第三节</a:t>
            </a:r>
          </a:p>
        </p:txBody>
      </p:sp>
    </p:spTree>
    <p:extLst>
      <p:ext uri="{BB962C8B-B14F-4D97-AF65-F5344CB8AC3E}">
        <p14:creationId xmlns:p14="http://schemas.microsoft.com/office/powerpoint/2010/main" val="15937303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45999F45-D080-4B61-A3A6-DF7FE79D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C625AF5-F394-4D3A-A03A-B9DC4CE8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资料附录  /  照片、史料与示意分开标注</a:t>
            </a:r>
          </a:p>
        </p:txBody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23A33BB-ED84-4F0E-8EB0-B6497132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39116209-C6B6-4562-9563-E49BC837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1068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图片来源与图解说明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88E43E3-8703-4763-B08A-9C2D97E0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C9C1"/>
            </a:solidFill>
            <a:prstDash val="solid"/>
          </a:ln>
        </p:spPr>
      </p:sp>
      <p:sp>
        <p:nvSpPr>
          <p:cNvPr id="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A59576E-435E-4EEF-B1A7-65FB61FD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微团课展示交流  ·  上海楼宇党建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7B9A8084-98B6-436B-B496-17AE9C82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9DFF2-F5AD-46FD-84F3-2509F5D71C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b0a90f617421a"/>
          <a:stretch xmlns:a="http://schemas.openxmlformats.org/drawingml/2006/main"/>
        </p:blipFill>
        <p:spPr>
          <a:xfrm xmlns:a="http://schemas.openxmlformats.org/drawingml/2006/main">
            <a:off x="685800" y="1695785"/>
            <a:ext cx="5095875" cy="2332955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3D0F1B2-032C-4B2E-9A04-BF023131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上海陆家嘴夜景 · 城市背景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AAC8E70-8E76-4E48-A4E8-4F65D110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50958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David Zhang · 2018年4月</a:t>
            </a:r>
          </a:p>
          <a:p xmlns:a="http://schemas.openxmlformats.org/drawingml/2006/main">
            <a:pPr algn="l">
              <a:defRPr sz="14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CC BY-SA 2.0 · 缩放、压缩、局部裁切</a:t>
            </a:r>
          </a:p>
          <a:p xmlns:a="http://schemas.openxmlformats.org/drawingml/2006/main">
            <a:pPr algn="l">
              <a:defRPr sz="14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图像改编部分按原许可发布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CFA62FE-B826-4417-8D82-587D9C86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a82033c76447443f"/>
              </a:rPr>
              <a:t>原始照片及许可 ↗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C120BA0-9DF1-402A-8EEB-A2BF2012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772150"/>
            <a:ext cx="5229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50e52d783484885"/>
              </a:rPr>
              <a:t>CC BY-SA 2.0许可文本 ↗</a:t>
            </a:r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B4F901A2-1B5C-4863-BACE-D85C00CC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33550"/>
            <a:ext cx="522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A268"/>
                </a:solidFill>
                <a:latin typeface="Noto Sans CJK SC"/>
                <a:ea typeface="Noto Sans CJK SC"/>
                <a:cs typeface="Noto Sans CJK SC"/>
              </a:rPr>
              <a:t>可编辑图解与史料排版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CAA3A9E-09C4-46AD-B4FE-9798A5D2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09800"/>
            <a:ext cx="52292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楼宇示意、组织功能关系图、</a:t>
            </a:r>
          </a:p>
          <a:p xmlns:a="http://schemas.openxmlformats.org/drawingml/2006/main">
            <a:pPr algn="l">
              <a:defRPr sz="21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32D25"/>
                </a:solidFill>
                <a:latin typeface="Noto Sans CJK SC"/>
                <a:ea typeface="Noto Sans CJK SC"/>
                <a:cs typeface="Noto Sans CJK SC"/>
              </a:rPr>
              <a:t>教育管理图解、群众路线循环图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E5A21B3-3C8B-4E9A-81B2-92929AB6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438525"/>
            <a:ext cx="522922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均根据讲稿和所引资料重新绘制。</a:t>
            </a:r>
          </a:p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联系纸条为据报道重新排版的文字摘录，</a:t>
            </a:r>
          </a:p>
          <a:p xmlns:a="http://schemas.openxmlformats.org/drawingml/2006/main">
            <a:pPr algn="l">
              <a:def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不作为原件影像展示。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5F13249-40BA-4A1B-8942-ED843401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14900"/>
            <a:ext cx="5229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照片仅作上海城市背景；楼宇、楼层及流程</a:t>
            </a:r>
          </a:p>
          <a:p xmlns:a="http://schemas.openxmlformats.org/drawingml/2006/main">
            <a:pPr algn="l">
              <a:defRPr sz="15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68625E"/>
                </a:solidFill>
                <a:latin typeface="Noto Sans CJK SC"/>
                <a:ea typeface="Noto Sans CJK SC"/>
                <a:cs typeface="Noto Sans CJK SC"/>
              </a:rPr>
              <a:t>示意不代表案例楼宇的建筑或组织架构。</a:t>
            </a:r>
          </a:p>
        </p:txBody>
      </p:sp>
    </p:spTree>
    <p:extLst>
      <p:ext uri="{BB962C8B-B14F-4D97-AF65-F5344CB8AC3E}">
        <p14:creationId xmlns:p14="http://schemas.microsoft.com/office/powerpoint/2010/main" val="219535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2026-11-01T03:30:19.8260000Z</dcterms:created>
  <dcterms:modified xsi:type="dcterms:W3CDTF">2026-11-01T03:30:19.8260000Z</dcterms:modified>
</coreProperties>
</file>